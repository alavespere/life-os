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ECDC4"/>
                </a:solidFill>
                <a:latin typeface="Segoe UI"/>
              </a:defRPr>
            </a:pPr>
            <a:r>
              <a:t>Target Markets &amp; Commercial Contractor Landscape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4747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ECDC4"/>
                </a:solidFill>
                <a:latin typeface="Segoe UI"/>
              </a:defRPr>
            </a:pPr>
            <a:r>
              <a:t>United States</a:t>
            </a:r>
          </a:p>
          <a:p>
            <a:r>
              <a:t>Target Regions</a:t>
            </a:r>
          </a:p>
        </p:txBody>
      </p:sp>
      <p:sp>
        <p:nvSpPr>
          <p:cNvPr id="6" name="Oval 5"/>
          <p:cNvSpPr/>
          <p:nvPr/>
        </p:nvSpPr>
        <p:spPr>
          <a:xfrm>
            <a:off x="4389120" y="4754880"/>
            <a:ext cx="548640" cy="548640"/>
          </a:xfrm>
          <a:prstGeom prst="ellipse">
            <a:avLst/>
          </a:prstGeom>
          <a:solidFill>
            <a:srgbClr val="4ECDC4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365D"/>
                </a:solidFill>
                <a:latin typeface="Segoe UI"/>
              </a:defRPr>
            </a:pPr>
            <a:r>
              <a:t>FL</a:t>
            </a:r>
          </a:p>
        </p:txBody>
      </p:sp>
      <p:sp>
        <p:nvSpPr>
          <p:cNvPr id="7" name="Oval 6"/>
          <p:cNvSpPr/>
          <p:nvPr/>
        </p:nvSpPr>
        <p:spPr>
          <a:xfrm>
            <a:off x="2926080" y="4389120"/>
            <a:ext cx="548640" cy="548640"/>
          </a:xfrm>
          <a:prstGeom prst="ellipse">
            <a:avLst/>
          </a:prstGeom>
          <a:solidFill>
            <a:srgbClr val="4ECDC4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365D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474720"/>
            <a:ext cx="548640" cy="548640"/>
          </a:xfrm>
          <a:prstGeom prst="ellipse">
            <a:avLst/>
          </a:prstGeom>
          <a:solidFill>
            <a:srgbClr val="4ECDC4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365D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2926080"/>
            <a:ext cx="548640" cy="548640"/>
          </a:xfrm>
          <a:prstGeom prst="ellipse">
            <a:avLst/>
          </a:prstGeom>
          <a:solidFill>
            <a:srgbClr val="4ECDC4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365D"/>
                </a:solidFill>
                <a:latin typeface="Segoe UI"/>
              </a:defRPr>
            </a:pPr>
            <a:r>
              <a:t>DC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2560320"/>
            <a:ext cx="548640" cy="548640"/>
          </a:xfrm>
          <a:prstGeom prst="ellipse">
            <a:avLst/>
          </a:prstGeom>
          <a:solidFill>
            <a:srgbClr val="4ECDC4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365D"/>
                </a:solidFill>
                <a:latin typeface="Segoe UI"/>
              </a:defRPr>
            </a:pPr>
            <a:r>
              <a:t>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ECDC4"/>
                </a:solidFill>
                <a:latin typeface="Segoe UI"/>
              </a:defRPr>
            </a:pPr>
            <a:r>
              <a:t>Target Market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651760"/>
            <a:ext cx="4663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6974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Florida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880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ECDC4"/>
                </a:solidFill>
                <a:latin typeface="Segoe UI"/>
              </a:defRPr>
            </a:pPr>
            <a:r>
              <a:t>8,500+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8036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E6E1"/>
                </a:solidFill>
                <a:latin typeface="Segoe UI"/>
              </a:defRPr>
            </a:pPr>
            <a:r>
              <a:t>Commercial GCs ($100M+ volume)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3063240"/>
            <a:ext cx="640080" cy="137160"/>
          </a:xfrm>
          <a:prstGeom prst="roundRect">
            <a:avLst/>
          </a:prstGeom>
          <a:solidFill>
            <a:srgbClr val="F18F0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Priority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337560"/>
            <a:ext cx="4663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3832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Texas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5661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ECDC4"/>
                </a:solidFill>
                <a:latin typeface="Segoe UI"/>
              </a:defRPr>
            </a:pPr>
            <a:r>
              <a:t>12,200+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56616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E6E1"/>
                </a:solidFill>
                <a:latin typeface="Segoe UI"/>
              </a:defRPr>
            </a:pPr>
            <a:r>
              <a:t>Commercial GCs ($100M+ volume)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3749040"/>
            <a:ext cx="640080" cy="137160"/>
          </a:xfrm>
          <a:prstGeom prst="roundRect">
            <a:avLst/>
          </a:prstGeom>
          <a:solidFill>
            <a:srgbClr val="F18F0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Priority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023360"/>
            <a:ext cx="4663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0690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Southern California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251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ECDC4"/>
                </a:solidFill>
                <a:latin typeface="Segoe UI"/>
              </a:defRPr>
            </a:pPr>
            <a:r>
              <a:t>6,800+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25196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E6E1"/>
                </a:solidFill>
                <a:latin typeface="Segoe UI"/>
              </a:defRPr>
            </a:pPr>
            <a:r>
              <a:t>Commercial GCs ($100M+ volume)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4434840"/>
            <a:ext cx="640080" cy="137160"/>
          </a:xfrm>
          <a:prstGeom prst="roundRect">
            <a:avLst/>
          </a:prstGeom>
          <a:solidFill>
            <a:srgbClr val="4ECDC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365D"/>
                </a:solidFill>
                <a:latin typeface="Segoe UI"/>
              </a:defRPr>
            </a:pPr>
            <a:r>
              <a:t>Priority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709160"/>
            <a:ext cx="4663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7548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Metro 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ECDC4"/>
                </a:solidFill>
                <a:latin typeface="Segoe UI"/>
              </a:defRPr>
            </a:pPr>
            <a:r>
              <a:t>3,200+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3776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E6E1"/>
                </a:solidFill>
                <a:latin typeface="Segoe UI"/>
              </a:defRPr>
            </a:pPr>
            <a:r>
              <a:t>Commercial GCs ($100M+ volume)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0" y="5120640"/>
            <a:ext cx="640080" cy="137160"/>
          </a:xfrm>
          <a:prstGeom prst="roundRect">
            <a:avLst/>
          </a:prstGeom>
          <a:solidFill>
            <a:srgbClr val="4ECDC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365D"/>
                </a:solidFill>
                <a:latin typeface="Segoe UI"/>
              </a:defRPr>
            </a:pPr>
            <a:r>
              <a:t>Priority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5394960"/>
            <a:ext cx="4663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54406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Metro 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623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ECDC4"/>
                </a:solidFill>
                <a:latin typeface="Segoe UI"/>
              </a:defRPr>
            </a:pPr>
            <a:r>
              <a:t>4,800+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62356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E6E1"/>
                </a:solidFill>
                <a:latin typeface="Segoe UI"/>
              </a:defRPr>
            </a:pPr>
            <a:r>
              <a:t>Commercial GCs ($100M+ volume)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0" y="5806440"/>
            <a:ext cx="640080" cy="137160"/>
          </a:xfrm>
          <a:prstGeom prst="roundRect">
            <a:avLst/>
          </a:prstGeom>
          <a:solidFill>
            <a:srgbClr val="4ECDC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365D"/>
                </a:solidFill>
                <a:latin typeface="Segoe UI"/>
              </a:defRPr>
            </a:pPr>
            <a:r>
              <a:t>Priority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5852160"/>
            <a:ext cx="4663440" cy="73152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5943600"/>
            <a:ext cx="4297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8F01"/>
                </a:solidFill>
                <a:latin typeface="Segoe UI"/>
              </a:defRPr>
            </a:pPr>
            <a:r>
              <a:t>Total Addressable Market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612648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35,500+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6446520"/>
            <a:ext cx="4297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E6E1"/>
                </a:solidFill>
                <a:latin typeface="Segoe UI"/>
              </a:defRPr>
            </a:pPr>
            <a:r>
              <a:t>Commercial General Contractors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E6E1"/>
                </a:solidFill>
                <a:latin typeface="Segoe UI"/>
              </a:defRPr>
            </a:pPr>
            <a:r>
              <a:t>BuildSafe IQ™ Confidential | Go-to-Market Strategy | Target Market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