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77" r:id="rId2"/>
    <p:sldId id="597" r:id="rId3"/>
    <p:sldId id="598" r:id="rId4"/>
    <p:sldId id="599" r:id="rId5"/>
    <p:sldId id="600" r:id="rId6"/>
    <p:sldId id="563" r:id="rId7"/>
    <p:sldId id="606" r:id="rId8"/>
    <p:sldId id="602" r:id="rId9"/>
    <p:sldId id="603" r:id="rId10"/>
    <p:sldId id="604" r:id="rId11"/>
    <p:sldId id="605" r:id="rId12"/>
    <p:sldId id="607" r:id="rId13"/>
    <p:sldId id="567" r:id="rId14"/>
    <p:sldId id="569" r:id="rId15"/>
    <p:sldId id="585" r:id="rId16"/>
    <p:sldId id="570" r:id="rId17"/>
    <p:sldId id="558" r:id="rId18"/>
    <p:sldId id="608" r:id="rId19"/>
    <p:sldId id="609" r:id="rId20"/>
    <p:sldId id="596" r:id="rId21"/>
    <p:sldId id="534" r:id="rId2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2"/>
        </a:solidFill>
        <a:latin typeface="News Gothic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orient="horz" pos="4128">
          <p15:clr>
            <a:srgbClr val="A4A3A4"/>
          </p15:clr>
        </p15:guide>
        <p15:guide id="3" orient="horz" pos="144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768">
          <p15:clr>
            <a:srgbClr val="A4A3A4"/>
          </p15:clr>
        </p15:guide>
        <p15:guide id="6" pos="4560">
          <p15:clr>
            <a:srgbClr val="A4A3A4"/>
          </p15:clr>
        </p15:guide>
        <p15:guide id="7" pos="240">
          <p15:clr>
            <a:srgbClr val="A4A3A4"/>
          </p15:clr>
        </p15:guide>
        <p15:guide id="8" pos="5520">
          <p15:clr>
            <a:srgbClr val="A4A3A4"/>
          </p15:clr>
        </p15:guide>
        <p15:guide id="9" pos="384">
          <p15:clr>
            <a:srgbClr val="A4A3A4"/>
          </p15:clr>
        </p15:guide>
        <p15:guide id="10" pos="10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b" initials="B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800000"/>
    <a:srgbClr val="003300"/>
    <a:srgbClr val="996600"/>
    <a:srgbClr val="0000CC"/>
    <a:srgbClr val="006600"/>
    <a:srgbClr val="86001E"/>
    <a:srgbClr val="4D4D4D"/>
    <a:srgbClr val="FFFF99"/>
    <a:srgbClr val="E27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97851" autoAdjust="0"/>
  </p:normalViewPr>
  <p:slideViewPr>
    <p:cSldViewPr>
      <p:cViewPr varScale="1">
        <p:scale>
          <a:sx n="108" d="100"/>
          <a:sy n="108" d="100"/>
        </p:scale>
        <p:origin x="384" y="108"/>
      </p:cViewPr>
      <p:guideLst>
        <p:guide orient="horz" pos="480"/>
        <p:guide orient="horz" pos="4128"/>
        <p:guide orient="horz" pos="144"/>
        <p:guide orient="horz" pos="1008"/>
        <p:guide orient="horz" pos="768"/>
        <p:guide pos="4560"/>
        <p:guide pos="240"/>
        <p:guide pos="5520"/>
        <p:guide pos="384"/>
        <p:guide pos="1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1962" y="-84"/>
      </p:cViewPr>
      <p:guideLst>
        <p:guide orient="horz" pos="2927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072796934865901E-2"/>
          <c:y val="2.9622762495419817E-2"/>
          <c:w val="0.86398467432950188"/>
          <c:h val="0.940754475009160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Est'd Cincinatti Renewal Premium</c:v>
                </c:pt>
              </c:strCache>
            </c:strRef>
          </c:tx>
          <c:spPr>
            <a:solidFill>
              <a:schemeClr val="tx1"/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$585,640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Sheet1!$B$2:$B$3</c:f>
              <c:numCache>
                <c:formatCode>"$"#,##0_);[Red]\("$"#,##0\)</c:formatCode>
                <c:ptCount val="2"/>
                <c:pt idx="0">
                  <c:v>585640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Fund Premium: Est’d claims for SME up to $100,000 each</c:v>
                </c:pt>
              </c:strCache>
            </c:strRef>
          </c:tx>
          <c:spPr>
            <a:solidFill>
              <a:srgbClr val="800000"/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$211,646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Sheet1!$C$2:$C$3</c:f>
              <c:numCache>
                <c:formatCode>"$"#,##0_);[Red]\("$"#,##0\)</c:formatCode>
                <c:ptCount val="2"/>
                <c:pt idx="1">
                  <c:v>211646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Fund Premium: Est’d claims for the group from $100K to $400K</c:v>
                </c:pt>
              </c:strCache>
            </c:strRef>
          </c:tx>
          <c:spPr>
            <a:solidFill>
              <a:srgbClr val="CC0000"/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$93,202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Sheet1!$D$2:$D$3</c:f>
              <c:numCache>
                <c:formatCode>"$"#,##0_);[Red]\("$"#,##0\)</c:formatCode>
                <c:ptCount val="2"/>
                <c:pt idx="1">
                  <c:v>93202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Reinsurance And Fronting Costs</c:v>
                </c:pt>
              </c:strCache>
            </c:strRef>
          </c:tx>
          <c:spPr>
            <a:solidFill>
              <a:schemeClr val="tx1"/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$141,489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Sheet1!$E$2:$E$3</c:f>
              <c:numCache>
                <c:formatCode>"$"#,##0_);[Red]\("$"#,##0\)</c:formatCode>
                <c:ptCount val="2"/>
                <c:pt idx="1">
                  <c:v>141489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Surcharges and Broker Fee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$71,613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Sheet1!$F$2:$F$3</c:f>
              <c:numCache>
                <c:formatCode>"$"#,##0_);[Red]\("$"#,##0\)</c:formatCode>
                <c:ptCount val="2"/>
                <c:pt idx="1">
                  <c:v>71613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</c:strCache>
            </c:strRef>
          </c:tx>
          <c:spPr>
            <a:solidFill>
              <a:schemeClr val="bg1"/>
            </a:solidFill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 Premium Paid</c:v>
                </c:pt>
                <c:pt idx="1">
                  <c:v>Captive Pay-In Premium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9302952"/>
        <c:axId val="189303344"/>
      </c:barChart>
      <c:catAx>
        <c:axId val="1893029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89303344"/>
        <c:crosses val="autoZero"/>
        <c:auto val="1"/>
        <c:lblAlgn val="ctr"/>
        <c:lblOffset val="100"/>
        <c:noMultiLvlLbl val="0"/>
      </c:catAx>
      <c:valAx>
        <c:axId val="189303344"/>
        <c:scaling>
          <c:orientation val="minMax"/>
        </c:scaling>
        <c:delete val="1"/>
        <c:axPos val="l"/>
        <c:numFmt formatCode="&quot;$&quot;#,##0_);[Red]\(&quot;$&quot;#,##0\)" sourceLinked="1"/>
        <c:majorTickMark val="out"/>
        <c:minorTickMark val="none"/>
        <c:tickLblPos val="nextTo"/>
        <c:crossAx val="189302952"/>
        <c:crosses val="autoZero"/>
        <c:crossBetween val="between"/>
      </c:valAx>
    </c:plotArea>
    <c:plotVisOnly val="1"/>
    <c:dispBlanksAs val="gap"/>
    <c:showDLblsOverMax val="0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882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40" y="4413250"/>
            <a:ext cx="5140325" cy="418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9" tIns="45305" rIns="92229" bIns="45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32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7"/>
          <p:cNvSpPr>
            <a:spLocks noChangeArrowheads="1"/>
          </p:cNvSpPr>
          <p:nvPr userDrawn="1"/>
        </p:nvSpPr>
        <p:spPr bwMode="auto">
          <a:xfrm>
            <a:off x="-9526" y="609600"/>
            <a:ext cx="9153526" cy="6248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-9526" y="2667000"/>
            <a:ext cx="1685925" cy="2286000"/>
          </a:xfrm>
          <a:prstGeom prst="rect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619125" y="1447800"/>
            <a:ext cx="8534400" cy="2438400"/>
          </a:xfrm>
          <a:prstGeom prst="rect">
            <a:avLst/>
          </a:prstGeom>
          <a:gradFill rotWithShape="0">
            <a:gsLst>
              <a:gs pos="0">
                <a:srgbClr val="86001E"/>
              </a:gs>
              <a:gs pos="100000">
                <a:srgbClr val="C00000"/>
              </a:gs>
            </a:gsLst>
            <a:lin ang="18900000" scaled="1"/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09725" y="3200400"/>
            <a:ext cx="7543800" cy="28956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783138"/>
            <a:ext cx="2590800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1600200" y="2743200"/>
            <a:ext cx="7162800" cy="304800"/>
          </a:xfrm>
        </p:spPr>
        <p:txBody>
          <a:bodyPr anchor="b">
            <a:spAutoFit/>
          </a:bodyPr>
          <a:lstStyle>
            <a:lvl1pPr>
              <a:spcBef>
                <a:spcPct val="0"/>
              </a:spcBef>
              <a:buFont typeface="Monotype Sort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600200" y="1611313"/>
            <a:ext cx="7162800" cy="522287"/>
          </a:xfrm>
        </p:spPr>
        <p:txBody>
          <a:bodyPr>
            <a:sp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37"/>
          <p:cNvSpPr>
            <a:spLocks noChangeArrowheads="1"/>
          </p:cNvSpPr>
          <p:nvPr userDrawn="1"/>
        </p:nvSpPr>
        <p:spPr bwMode="auto">
          <a:xfrm>
            <a:off x="-9526" y="-9526"/>
            <a:ext cx="9153526" cy="6953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1" name="Rectangle 37"/>
          <p:cNvSpPr>
            <a:spLocks noChangeArrowheads="1"/>
          </p:cNvSpPr>
          <p:nvPr userDrawn="1"/>
        </p:nvSpPr>
        <p:spPr bwMode="auto">
          <a:xfrm>
            <a:off x="-1" y="0"/>
            <a:ext cx="9153526" cy="12096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00000"/>
              <a:buFont typeface="Wingdings" pitchFamily="2" charset="2"/>
              <a:buChar char="§"/>
              <a:defRPr/>
            </a:lvl1pPr>
            <a:lvl2pPr marL="576263" indent="-238125">
              <a:buFontTx/>
              <a:buChar char="‒"/>
              <a:defRPr/>
            </a:lvl2pPr>
            <a:lvl3pPr marL="920750" indent="-342900">
              <a:buSzPct val="75000"/>
              <a:buFont typeface="Wingdings" pitchFamily="2" charset="2"/>
              <a:buChar char="§"/>
              <a:defRPr/>
            </a:lvl3pPr>
            <a:lvl5pPr>
              <a:buClr>
                <a:srgbClr val="86001E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600200" y="192088"/>
            <a:ext cx="7162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A7EEB-07A5-4AF2-AE91-BE3FA2FA80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 userDrawn="1"/>
        </p:nvSpPr>
        <p:spPr bwMode="auto">
          <a:xfrm>
            <a:off x="1600200" y="192088"/>
            <a:ext cx="7162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900" b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5662E-259F-4092-B60A-88AE763327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18288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buClr>
                <a:srgbClr val="86001E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8288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buClr>
                <a:srgbClr val="86001E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AFCB6-AC79-40CB-B69E-ED4E39F334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7483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14599"/>
            <a:ext cx="4040188" cy="3611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buClr>
                <a:srgbClr val="86001E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874838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599"/>
            <a:ext cx="4041775" cy="3611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buClr>
                <a:srgbClr val="86001E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600200" y="192088"/>
            <a:ext cx="7162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DBBC9-D8A4-4136-B103-EB4A68EC03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C9827-A357-4524-AEA8-15AD5E7B59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600200" y="192088"/>
            <a:ext cx="7162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F4ABE-4A32-4695-8D4E-D624193DB3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97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28800"/>
            <a:ext cx="5111750" cy="4297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buClr>
                <a:srgbClr val="86001E"/>
              </a:buCl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28800"/>
            <a:ext cx="3008313" cy="42973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DF743-D4A5-486A-9B3F-CE07E43D93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81199"/>
            <a:ext cx="5486400" cy="2746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05679-C5E3-4279-88E3-AC9D220B41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376A0-C6E9-4585-924E-3BB7774838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2300" y="1981200"/>
            <a:ext cx="1790700" cy="3962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0200" y="1981200"/>
            <a:ext cx="5219700" cy="3962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685D0-E367-423C-AE49-2222E3C511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92088"/>
            <a:ext cx="7162800" cy="431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600200" y="1828800"/>
            <a:ext cx="71628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F5E7-5AFA-457F-8154-568AB4081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001E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-9525" y="533400"/>
            <a:ext cx="7239000" cy="1066800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chemeClr val="bg1">
                  <a:lumMod val="75000"/>
                </a:schemeClr>
              </a:gs>
            </a:gsLst>
            <a:lin ang="18900000" scaled="1"/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828800"/>
            <a:ext cx="7543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477000"/>
            <a:ext cx="1219200" cy="228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449862C-56E9-4969-B6FD-1618812863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228725" y="-9525"/>
            <a:ext cx="7924800" cy="1219200"/>
          </a:xfrm>
          <a:prstGeom prst="rect">
            <a:avLst/>
          </a:prstGeom>
          <a:gradFill rotWithShape="0">
            <a:gsLst>
              <a:gs pos="0">
                <a:srgbClr val="86001E"/>
              </a:gs>
              <a:gs pos="100000">
                <a:srgbClr val="C00000"/>
              </a:gs>
            </a:gsLst>
            <a:lin ang="18900000" scaled="1"/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600200" y="192088"/>
            <a:ext cx="7162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pic>
        <p:nvPicPr>
          <p:cNvPr id="1031" name="Picture 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70825" y="6432550"/>
            <a:ext cx="874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609601" y="6334625"/>
            <a:ext cx="1219200" cy="3717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61" r:id="rId2"/>
    <p:sldLayoutId id="2147483972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2pPr>
      <a:lvl3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3pPr>
      <a:lvl4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4pPr>
      <a:lvl5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News Gothic" pitchFamily="34" charset="0"/>
        </a:defRPr>
      </a:lvl9pPr>
    </p:titleStyle>
    <p:bodyStyle>
      <a:lvl1pPr marL="342900" indent="-342900" algn="l" defTabSz="684213" rtl="0" eaLnBrk="0" fontAlgn="base" hangingPunct="0">
        <a:spcBef>
          <a:spcPct val="50000"/>
        </a:spcBef>
        <a:spcAft>
          <a:spcPct val="0"/>
        </a:spcAft>
        <a:buClr>
          <a:srgbClr val="86001E"/>
        </a:buClr>
        <a:buSzPct val="70000"/>
        <a:buFont typeface="Wingdings 3" pitchFamily="18" charset="2"/>
        <a:buChar char="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8125" algn="l" defTabSz="684213" rtl="0" eaLnBrk="0" fontAlgn="base" hangingPunct="0">
        <a:spcBef>
          <a:spcPct val="40000"/>
        </a:spcBef>
        <a:spcAft>
          <a:spcPct val="0"/>
        </a:spcAft>
        <a:buClr>
          <a:srgbClr val="86001E"/>
        </a:buClr>
        <a:buSzPct val="85000"/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2pPr>
      <a:lvl3pPr marL="801688" indent="-223838" algn="l" defTabSz="684213" rtl="0" eaLnBrk="0" fontAlgn="base" hangingPunct="0">
        <a:spcBef>
          <a:spcPct val="25000"/>
        </a:spcBef>
        <a:spcAft>
          <a:spcPct val="0"/>
        </a:spcAft>
        <a:buClr>
          <a:srgbClr val="86001E"/>
        </a:buClr>
        <a:buSzPct val="60000"/>
        <a:buFont typeface="Arial" charset="0"/>
        <a:buChar char="•"/>
        <a:defRPr sz="2200">
          <a:solidFill>
            <a:schemeClr val="tx1"/>
          </a:solidFill>
          <a:latin typeface="+mn-lt"/>
        </a:defRPr>
      </a:lvl3pPr>
      <a:lvl4pPr marL="1150938" indent="-233363" algn="l" defTabSz="684213" rtl="0" eaLnBrk="0" fontAlgn="base" hangingPunct="0">
        <a:spcBef>
          <a:spcPct val="15000"/>
        </a:spcBef>
        <a:spcAft>
          <a:spcPct val="0"/>
        </a:spcAft>
        <a:buClr>
          <a:srgbClr val="86001E"/>
        </a:buClr>
        <a:buSzPct val="55000"/>
        <a:buFont typeface="Symbol" pitchFamily="18" charset="2"/>
        <a:buChar char=""/>
        <a:defRPr sz="2200">
          <a:solidFill>
            <a:schemeClr val="tx1"/>
          </a:solidFill>
          <a:latin typeface="+mn-lt"/>
        </a:defRPr>
      </a:lvl4pPr>
      <a:lvl5pPr marL="1366838" indent="-219075" algn="l" defTabSz="684213" rtl="0" eaLnBrk="0" fontAlgn="base" hangingPunct="0">
        <a:spcBef>
          <a:spcPct val="5000"/>
        </a:spcBef>
        <a:spcAft>
          <a:spcPct val="0"/>
        </a:spcAft>
        <a:buClr>
          <a:srgbClr val="86001E"/>
        </a:buClr>
        <a:buSzPct val="50000"/>
        <a:buFont typeface="Wingdings" pitchFamily="2" charset="2"/>
        <a:buChar char=""/>
        <a:defRPr sz="2200">
          <a:solidFill>
            <a:schemeClr val="tx1"/>
          </a:solidFill>
          <a:latin typeface="+mn-lt"/>
        </a:defRPr>
      </a:lvl5pPr>
      <a:lvl6pPr marL="1704975" indent="-219075" algn="l" defTabSz="684213" rtl="0" fontAlgn="base">
        <a:spcBef>
          <a:spcPct val="5000"/>
        </a:spcBef>
        <a:spcAft>
          <a:spcPct val="0"/>
        </a:spcAft>
        <a:buClr>
          <a:srgbClr val="C0C0C0"/>
        </a:buClr>
        <a:buSzPct val="50000"/>
        <a:buFont typeface="Monotype Sorts" pitchFamily="2" charset="2"/>
        <a:buChar char="n"/>
        <a:defRPr sz="2200">
          <a:solidFill>
            <a:schemeClr val="tx1"/>
          </a:solidFill>
          <a:latin typeface="+mn-lt"/>
        </a:defRPr>
      </a:lvl6pPr>
      <a:lvl7pPr marL="2162175" indent="-219075" algn="l" defTabSz="684213" rtl="0" fontAlgn="base">
        <a:spcBef>
          <a:spcPct val="5000"/>
        </a:spcBef>
        <a:spcAft>
          <a:spcPct val="0"/>
        </a:spcAft>
        <a:buClr>
          <a:srgbClr val="C0C0C0"/>
        </a:buClr>
        <a:buSzPct val="50000"/>
        <a:buFont typeface="Monotype Sorts" pitchFamily="2" charset="2"/>
        <a:buChar char="n"/>
        <a:defRPr sz="2200">
          <a:solidFill>
            <a:schemeClr val="tx1"/>
          </a:solidFill>
          <a:latin typeface="+mn-lt"/>
        </a:defRPr>
      </a:lvl7pPr>
      <a:lvl8pPr marL="2619375" indent="-219075" algn="l" defTabSz="684213" rtl="0" fontAlgn="base">
        <a:spcBef>
          <a:spcPct val="5000"/>
        </a:spcBef>
        <a:spcAft>
          <a:spcPct val="0"/>
        </a:spcAft>
        <a:buClr>
          <a:srgbClr val="C0C0C0"/>
        </a:buClr>
        <a:buSzPct val="50000"/>
        <a:buFont typeface="Monotype Sorts" pitchFamily="2" charset="2"/>
        <a:buChar char="n"/>
        <a:defRPr sz="2200">
          <a:solidFill>
            <a:schemeClr val="tx1"/>
          </a:solidFill>
          <a:latin typeface="+mn-lt"/>
        </a:defRPr>
      </a:lvl8pPr>
      <a:lvl9pPr marL="3076575" indent="-219075" algn="l" defTabSz="684213" rtl="0" fontAlgn="base">
        <a:spcBef>
          <a:spcPct val="5000"/>
        </a:spcBef>
        <a:spcAft>
          <a:spcPct val="0"/>
        </a:spcAft>
        <a:buClr>
          <a:srgbClr val="C0C0C0"/>
        </a:buClr>
        <a:buSzPct val="50000"/>
        <a:buFont typeface="Monotype Sort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>
          <a:xfrm>
            <a:off x="1828800" y="5350073"/>
            <a:ext cx="7162800" cy="307777"/>
          </a:xfrm>
        </p:spPr>
        <p:txBody>
          <a:bodyPr/>
          <a:lstStyle/>
          <a:p>
            <a:r>
              <a:rPr lang="en-US" dirty="0" smtClean="0"/>
              <a:t>June 28, 2017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 sz="quarter"/>
          </p:nvPr>
        </p:nvSpPr>
        <p:spPr>
          <a:xfrm>
            <a:off x="1600200" y="1593383"/>
            <a:ext cx="7162800" cy="98488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CRB Builders, LLC  </a:t>
            </a:r>
            <a:br>
              <a:rPr lang="en-US" sz="3200" dirty="0" smtClean="0"/>
            </a:br>
            <a:r>
              <a:rPr lang="en-US" sz="3200" dirty="0" smtClean="0"/>
              <a:t>Group </a:t>
            </a:r>
            <a:r>
              <a:rPr lang="en-US" sz="3200" dirty="0" smtClean="0"/>
              <a:t>Captive Insurance Option</a:t>
            </a:r>
            <a:endParaRPr lang="en-US" sz="3200" dirty="0"/>
          </a:p>
        </p:txBody>
      </p:sp>
      <p:pic>
        <p:nvPicPr>
          <p:cNvPr id="3" name="Picture 2" descr="Captive Resour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6172200"/>
            <a:ext cx="2438400" cy="45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3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CRB Builders Loss </a:t>
            </a:r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911052"/>
              </p:ext>
            </p:extLst>
          </p:nvPr>
        </p:nvGraphicFramePr>
        <p:xfrm>
          <a:off x="1219200" y="1981200"/>
          <a:ext cx="5714999" cy="3657599"/>
        </p:xfrm>
        <a:graphic>
          <a:graphicData uri="http://schemas.openxmlformats.org/drawingml/2006/table">
            <a:tbl>
              <a:tblPr firstRow="1" firstCol="1" bandRow="1"/>
              <a:tblGrid>
                <a:gridCol w="1339374"/>
                <a:gridCol w="1099026"/>
                <a:gridCol w="1143000"/>
                <a:gridCol w="1066800"/>
                <a:gridCol w="1066799"/>
              </a:tblGrid>
              <a:tr h="7551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Policy Year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General Liability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Business Auto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Workers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Comp.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Total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2016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to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2017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$1,068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$21,739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$22,807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2015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to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2016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$522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$286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$808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2014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to 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2015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$2,110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$2,110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2013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to 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2014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$3,580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$3,580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2012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to 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2013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$2,549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$2,549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Total</a:t>
                      </a:r>
                      <a:endParaRPr lang="en-US" sz="1600" b="1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600" b="1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$9,829</a:t>
                      </a:r>
                      <a:endParaRPr lang="en-US" sz="1600" b="1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$22,025</a:t>
                      </a:r>
                      <a:endParaRPr lang="en-US" sz="1600" b="1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$31,854</a:t>
                      </a:r>
                      <a:endParaRPr lang="en-US" sz="1600" b="1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45394" y="5791200"/>
            <a:ext cx="6403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Losses valued </a:t>
            </a:r>
            <a:r>
              <a:rPr lang="en-US" sz="1400" dirty="0" smtClean="0">
                <a:solidFill>
                  <a:schemeClr val="tx1"/>
                </a:solidFill>
              </a:rPr>
              <a:t>April 2017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Total losses for five years: </a:t>
            </a:r>
            <a:r>
              <a:rPr lang="en-US" dirty="0" smtClean="0"/>
              <a:t>$31,854</a:t>
            </a:r>
            <a:endParaRPr lang="en-US" dirty="0" smtClean="0"/>
          </a:p>
          <a:p>
            <a:r>
              <a:rPr lang="en-US" dirty="0" smtClean="0"/>
              <a:t>Average annual losses: </a:t>
            </a:r>
            <a:r>
              <a:rPr lang="en-US" dirty="0" smtClean="0"/>
              <a:t>$6,371</a:t>
            </a:r>
            <a:endParaRPr lang="en-US" dirty="0"/>
          </a:p>
          <a:p>
            <a:r>
              <a:rPr lang="en-US" dirty="0" smtClean="0"/>
              <a:t>But </a:t>
            </a:r>
            <a:r>
              <a:rPr lang="en-US" dirty="0" smtClean="0"/>
              <a:t>to project losses, the prior losses need to be adjusted for:</a:t>
            </a:r>
          </a:p>
          <a:p>
            <a:pPr lvl="1"/>
            <a:r>
              <a:rPr lang="en-US" dirty="0" smtClean="0"/>
              <a:t>Firm growth</a:t>
            </a:r>
          </a:p>
          <a:p>
            <a:pPr lvl="1"/>
            <a:r>
              <a:rPr lang="en-US" dirty="0" smtClean="0"/>
              <a:t>Expected development to reach final ultimate cost</a:t>
            </a:r>
          </a:p>
          <a:p>
            <a:pPr lvl="1"/>
            <a:r>
              <a:rPr lang="en-US" dirty="0" smtClean="0"/>
              <a:t>Capped at $100,000 per occurrence (A Fund)</a:t>
            </a:r>
          </a:p>
          <a:p>
            <a:pPr lvl="1"/>
            <a:r>
              <a:rPr lang="en-US" dirty="0" smtClean="0"/>
              <a:t>Inflation</a:t>
            </a:r>
          </a:p>
          <a:p>
            <a:pPr lvl="1"/>
            <a:r>
              <a:rPr lang="en-US" dirty="0" smtClean="0"/>
              <a:t>Losses for similar firms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CRB Builders</a:t>
            </a:r>
            <a:r>
              <a:rPr lang="en-US" dirty="0" smtClean="0"/>
              <a:t> </a:t>
            </a:r>
            <a:r>
              <a:rPr lang="en-US" dirty="0"/>
              <a:t>Loss 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342900" lvl="1" indent="-342900">
              <a:spcBef>
                <a:spcPct val="50000"/>
              </a:spcBef>
              <a:buSzPct val="100000"/>
              <a:buFont typeface="Wingdings" pitchFamily="2" charset="2"/>
              <a:buChar char="§"/>
            </a:pPr>
            <a:r>
              <a:rPr lang="en-US" dirty="0" smtClean="0"/>
              <a:t>Projected A Fund losses for the </a:t>
            </a:r>
            <a:r>
              <a:rPr lang="en-US" dirty="0" smtClean="0"/>
              <a:t>2017/18 </a:t>
            </a:r>
            <a:r>
              <a:rPr lang="en-US" dirty="0" smtClean="0"/>
              <a:t>policy year are </a:t>
            </a:r>
            <a:r>
              <a:rPr lang="en-US" dirty="0" smtClean="0"/>
              <a:t>$211,646</a:t>
            </a:r>
            <a:endParaRPr lang="en-US" dirty="0" smtClean="0"/>
          </a:p>
          <a:p>
            <a:pPr lvl="1"/>
            <a:r>
              <a:rPr lang="en-US" dirty="0" smtClean="0"/>
              <a:t>Presumes future exposures and loss rates will be similar to those in the past</a:t>
            </a:r>
          </a:p>
          <a:p>
            <a:pPr lvl="1"/>
            <a:r>
              <a:rPr lang="en-US" dirty="0" smtClean="0"/>
              <a:t>Prepared by independent actuarial firm </a:t>
            </a:r>
            <a:r>
              <a:rPr lang="en-US" dirty="0"/>
              <a:t>Pinnacle Actuarial Resources, </a:t>
            </a:r>
            <a:r>
              <a:rPr lang="en-US" dirty="0" smtClean="0"/>
              <a:t>Inc.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CRB Builders Loss </a:t>
            </a:r>
            <a:r>
              <a:rPr lang="en-US" dirty="0"/>
              <a:t>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5122" name="Picture 2" descr="Pinnacle Actuarial Resouces, Inc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419600"/>
            <a:ext cx="2133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53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Captive Program vs. Traditional Insurance</a:t>
            </a:r>
            <a:br>
              <a:rPr lang="en-US" sz="2800" dirty="0" smtClean="0"/>
            </a:br>
            <a:r>
              <a:rPr lang="en-US" sz="2800" dirty="0" smtClean="0"/>
              <a:t>(Initial Pay-in)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713090850"/>
              </p:ext>
            </p:extLst>
          </p:nvPr>
        </p:nvGraphicFramePr>
        <p:xfrm>
          <a:off x="457200" y="1608632"/>
          <a:ext cx="6629400" cy="4715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 bwMode="auto">
          <a:xfrm>
            <a:off x="762000" y="6182289"/>
            <a:ext cx="6019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428325" y="1777425"/>
            <a:ext cx="322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2017/18 </a:t>
            </a:r>
            <a:r>
              <a:rPr lang="en-US" sz="1600" b="1" dirty="0" smtClean="0">
                <a:solidFill>
                  <a:schemeClr val="tx1"/>
                </a:solidFill>
              </a:rPr>
              <a:t>Renewal Premium for 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Current </a:t>
            </a:r>
            <a:r>
              <a:rPr lang="en-US" sz="1600" b="1" dirty="0" smtClean="0">
                <a:solidFill>
                  <a:schemeClr val="tx1"/>
                </a:solidFill>
              </a:rPr>
              <a:t>Program</a:t>
            </a:r>
            <a:endParaRPr 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58125" y="1791867"/>
            <a:ext cx="20854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Captive Pay-In </a:t>
            </a:r>
            <a:r>
              <a:rPr lang="en-US" sz="1600" b="1" dirty="0" smtClean="0">
                <a:solidFill>
                  <a:schemeClr val="tx1"/>
                </a:solidFill>
              </a:rPr>
              <a:t>Premium (Annual)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13842" y="2287167"/>
            <a:ext cx="11740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$</a:t>
            </a:r>
            <a:r>
              <a:rPr lang="en-US" sz="1200" dirty="0" smtClean="0">
                <a:solidFill>
                  <a:schemeClr val="tx1"/>
                </a:solidFill>
              </a:rPr>
              <a:t>517,950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15945" y="2848957"/>
            <a:ext cx="2180255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Surcharges and Broker Fee </a:t>
            </a:r>
            <a:r>
              <a:rPr lang="en-US" sz="1200" dirty="0" smtClean="0">
                <a:solidFill>
                  <a:schemeClr val="tx1"/>
                </a:solidFill>
              </a:rPr>
              <a:t>(est’d state surcharges and broker compensation)</a:t>
            </a:r>
            <a:endParaRPr lang="en-US" sz="1200" b="1" dirty="0" smtClean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1200" b="1" dirty="0" smtClean="0">
                <a:solidFill>
                  <a:schemeClr val="tx1"/>
                </a:solidFill>
              </a:rPr>
              <a:t>Program Expenses </a:t>
            </a:r>
            <a:r>
              <a:rPr lang="en-US" sz="1200" dirty="0" smtClean="0">
                <a:solidFill>
                  <a:schemeClr val="tx1"/>
                </a:solidFill>
              </a:rPr>
              <a:t>(reinsurance, fronting, and captive and claims fees)</a:t>
            </a:r>
          </a:p>
          <a:p>
            <a:pPr>
              <a:spcBef>
                <a:spcPts val="1200"/>
              </a:spcBef>
            </a:pPr>
            <a:endParaRPr lang="en-US" sz="100" dirty="0" smtClean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</a:pPr>
            <a:r>
              <a:rPr lang="en-US" sz="1200" b="1" dirty="0" smtClean="0">
                <a:solidFill>
                  <a:schemeClr val="tx1"/>
                </a:solidFill>
              </a:rPr>
              <a:t>B </a:t>
            </a:r>
            <a:r>
              <a:rPr lang="en-US" sz="1200" b="1" dirty="0">
                <a:solidFill>
                  <a:schemeClr val="tx1"/>
                </a:solidFill>
              </a:rPr>
              <a:t>Fund Premium: </a:t>
            </a:r>
            <a:r>
              <a:rPr lang="en-US" sz="1200" dirty="0" smtClean="0">
                <a:solidFill>
                  <a:schemeClr val="tx1"/>
                </a:solidFill>
              </a:rPr>
              <a:t>For claims from </a:t>
            </a:r>
            <a:r>
              <a:rPr lang="en-US" sz="1200" dirty="0">
                <a:solidFill>
                  <a:schemeClr val="tx1"/>
                </a:solidFill>
              </a:rPr>
              <a:t>$100K to $</a:t>
            </a:r>
            <a:r>
              <a:rPr lang="en-US" sz="1200" dirty="0" smtClean="0">
                <a:solidFill>
                  <a:schemeClr val="tx1"/>
                </a:solidFill>
              </a:rPr>
              <a:t>400K each</a:t>
            </a:r>
          </a:p>
          <a:p>
            <a:pPr>
              <a:spcBef>
                <a:spcPts val="3000"/>
              </a:spcBef>
            </a:pPr>
            <a:r>
              <a:rPr lang="en-US" sz="1200" b="1" dirty="0" smtClean="0">
                <a:solidFill>
                  <a:schemeClr val="tx1"/>
                </a:solidFill>
              </a:rPr>
              <a:t>A </a:t>
            </a:r>
            <a:r>
              <a:rPr lang="en-US" sz="1200" b="1" dirty="0">
                <a:solidFill>
                  <a:schemeClr val="tx1"/>
                </a:solidFill>
              </a:rPr>
              <a:t>Fund Premium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 smtClean="0">
                <a:solidFill>
                  <a:schemeClr val="tx1"/>
                </a:solidFill>
              </a:rPr>
              <a:t>                  For claims up </a:t>
            </a: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dirty="0" smtClean="0">
                <a:solidFill>
                  <a:schemeClr val="tx1"/>
                </a:solidFill>
              </a:rPr>
              <a:t>                          $100K </a:t>
            </a:r>
            <a:r>
              <a:rPr lang="en-US" sz="1200" dirty="0">
                <a:solidFill>
                  <a:schemeClr val="tx1"/>
                </a:solidFill>
              </a:rPr>
              <a:t>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1600200"/>
            <a:ext cx="2057400" cy="1277273"/>
          </a:xfrm>
          <a:prstGeom prst="rect">
            <a:avLst/>
          </a:prstGeom>
          <a:noFill/>
          <a:ln w="28575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</a:rPr>
              <a:t>The </a:t>
            </a:r>
            <a:r>
              <a:rPr lang="en-US" sz="1200" b="1" dirty="0">
                <a:solidFill>
                  <a:schemeClr val="tx1"/>
                </a:solidFill>
              </a:rPr>
              <a:t>M</a:t>
            </a:r>
            <a:r>
              <a:rPr lang="en-US" sz="1200" b="1" dirty="0" smtClean="0">
                <a:solidFill>
                  <a:schemeClr val="tx1"/>
                </a:solidFill>
              </a:rPr>
              <a:t>aximum</a:t>
            </a:r>
            <a:r>
              <a:rPr lang="en-US" sz="1200" dirty="0" smtClean="0">
                <a:solidFill>
                  <a:schemeClr val="tx1"/>
                </a:solidFill>
              </a:rPr>
              <a:t> cost is:</a:t>
            </a:r>
          </a:p>
          <a:p>
            <a:pPr>
              <a:spcBef>
                <a:spcPts val="600"/>
              </a:spcBef>
              <a:tabLst>
                <a:tab pos="173038" algn="l"/>
              </a:tabLst>
            </a:pPr>
            <a:r>
              <a:rPr lang="en-US" sz="1200" dirty="0">
                <a:solidFill>
                  <a:schemeClr val="tx1"/>
                </a:solidFill>
              </a:rPr>
              <a:t>	</a:t>
            </a:r>
            <a:r>
              <a:rPr lang="en-US" sz="1200" dirty="0" smtClean="0">
                <a:solidFill>
                  <a:schemeClr val="tx1"/>
                </a:solidFill>
              </a:rPr>
              <a:t>Pay-In Premium</a:t>
            </a:r>
          </a:p>
          <a:p>
            <a:pPr>
              <a:tabLst>
                <a:tab pos="173038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+ </a:t>
            </a:r>
            <a:r>
              <a:rPr lang="en-US" sz="1200" u="sng" dirty="0" smtClean="0">
                <a:solidFill>
                  <a:schemeClr val="tx1"/>
                </a:solidFill>
              </a:rPr>
              <a:t>	One Additional A Fund</a:t>
            </a:r>
          </a:p>
          <a:p>
            <a:pPr>
              <a:tabLst>
                <a:tab pos="173038" algn="l"/>
              </a:tabLst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smtClean="0">
                <a:solidFill>
                  <a:schemeClr val="tx1"/>
                </a:solidFill>
              </a:rPr>
              <a:t>   </a:t>
            </a:r>
            <a:r>
              <a:rPr lang="en-US" sz="1200" dirty="0" smtClean="0">
                <a:solidFill>
                  <a:schemeClr val="tx1"/>
                </a:solidFill>
              </a:rPr>
              <a:t>$729,596 </a:t>
            </a:r>
            <a:r>
              <a:rPr lang="en-US" sz="1200" dirty="0" smtClean="0">
                <a:solidFill>
                  <a:schemeClr val="tx1"/>
                </a:solidFill>
              </a:rPr>
              <a:t>- 	Investment Income   </a:t>
            </a:r>
          </a:p>
          <a:p>
            <a:pPr>
              <a:tabLst>
                <a:tab pos="173038" algn="l"/>
              </a:tabLst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smtClean="0">
                <a:solidFill>
                  <a:schemeClr val="tx1"/>
                </a:solidFill>
              </a:rPr>
              <a:t>   (TBD)</a:t>
            </a:r>
          </a:p>
        </p:txBody>
      </p:sp>
    </p:spTree>
    <p:extLst>
      <p:ext uri="{BB962C8B-B14F-4D97-AF65-F5344CB8AC3E}">
        <p14:creationId xmlns:p14="http://schemas.microsoft.com/office/powerpoint/2010/main" val="243554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1800" dirty="0" smtClean="0"/>
              <a:t>The captive program will pay a dividend, or make an experience adjustment, based on:</a:t>
            </a:r>
          </a:p>
          <a:p>
            <a:pPr lvl="1">
              <a:spcBef>
                <a:spcPts val="1200"/>
              </a:spcBef>
            </a:pPr>
            <a:r>
              <a:rPr lang="en-US" sz="1600" dirty="0" smtClean="0"/>
              <a:t>Losses </a:t>
            </a:r>
            <a:r>
              <a:rPr lang="en-US" sz="1600" b="1" dirty="0" smtClean="0"/>
              <a:t>under $100,000 each </a:t>
            </a:r>
            <a:r>
              <a:rPr lang="en-US" sz="1600" dirty="0" smtClean="0">
                <a:solidFill>
                  <a:srgbClr val="800000"/>
                </a:solidFill>
              </a:rPr>
              <a:t>(A Fund)</a:t>
            </a:r>
            <a:r>
              <a:rPr lang="en-US" sz="1600" dirty="0" smtClean="0"/>
              <a:t>; capped at 2 times A Fund</a:t>
            </a:r>
          </a:p>
          <a:p>
            <a:pPr lvl="1">
              <a:spcBef>
                <a:spcPts val="1200"/>
              </a:spcBef>
            </a:pPr>
            <a:r>
              <a:rPr lang="en-US" sz="1600" dirty="0" smtClean="0"/>
              <a:t>Losses </a:t>
            </a:r>
            <a:r>
              <a:rPr lang="en-US" sz="1600" b="1" dirty="0" smtClean="0"/>
              <a:t>between $</a:t>
            </a:r>
            <a:r>
              <a:rPr lang="en-US" sz="1600" b="1" dirty="0"/>
              <a:t>100,000 </a:t>
            </a:r>
            <a:r>
              <a:rPr lang="en-US" sz="1600" b="1" dirty="0" smtClean="0"/>
              <a:t>and $400,000 each </a:t>
            </a:r>
            <a:r>
              <a:rPr lang="en-US" sz="1600" dirty="0" smtClean="0">
                <a:solidFill>
                  <a:srgbClr val="800000"/>
                </a:solidFill>
              </a:rPr>
              <a:t>(B Fund)</a:t>
            </a:r>
            <a:r>
              <a:rPr lang="en-US" sz="1600" dirty="0" smtClean="0"/>
              <a:t>; capped at 1 times B Fund</a:t>
            </a:r>
          </a:p>
          <a:p>
            <a:pPr lvl="1">
              <a:spcBef>
                <a:spcPts val="1200"/>
              </a:spcBef>
            </a:pPr>
            <a:r>
              <a:rPr lang="en-US" sz="1600" dirty="0" smtClean="0"/>
              <a:t>AIG will pay for the portion of any individual loss that </a:t>
            </a:r>
            <a:r>
              <a:rPr lang="en-US" sz="1600" b="1" dirty="0" smtClean="0"/>
              <a:t>exceeds $400,000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800000"/>
                </a:solidFill>
              </a:rPr>
              <a:t>(Reinsurance)</a:t>
            </a:r>
          </a:p>
          <a:p>
            <a:pPr>
              <a:spcBef>
                <a:spcPts val="1200"/>
              </a:spcBef>
            </a:pPr>
            <a:r>
              <a:rPr lang="en-US" sz="1800" dirty="0" smtClean="0"/>
              <a:t>There will also be:</a:t>
            </a:r>
          </a:p>
          <a:p>
            <a:pPr lvl="1">
              <a:spcBef>
                <a:spcPts val="1200"/>
              </a:spcBef>
            </a:pPr>
            <a:r>
              <a:rPr lang="en-US" sz="1600" dirty="0"/>
              <a:t>Risk </a:t>
            </a:r>
            <a:r>
              <a:rPr lang="en-US" sz="1600" dirty="0" smtClean="0"/>
              <a:t>Sharing (for losses of others that exceed their B Fund premium or 2 times their A Fund)</a:t>
            </a:r>
            <a:endParaRPr lang="en-US" sz="1600" dirty="0"/>
          </a:p>
          <a:p>
            <a:pPr lvl="1">
              <a:spcBef>
                <a:spcPts val="1200"/>
              </a:spcBef>
            </a:pPr>
            <a:r>
              <a:rPr lang="en-US" sz="1600" dirty="0"/>
              <a:t>Tail </a:t>
            </a:r>
            <a:r>
              <a:rPr lang="en-US" sz="1600" dirty="0" smtClean="0"/>
              <a:t>Fund (cost to close out a policy year)</a:t>
            </a:r>
          </a:p>
          <a:p>
            <a:pPr lvl="1">
              <a:spcBef>
                <a:spcPts val="1200"/>
              </a:spcBef>
            </a:pPr>
            <a:r>
              <a:rPr lang="en-US" sz="1600" dirty="0" smtClean="0"/>
              <a:t>And if </a:t>
            </a:r>
            <a:r>
              <a:rPr lang="en-US" sz="1600" dirty="0" smtClean="0"/>
              <a:t>CRB Builders </a:t>
            </a:r>
            <a:r>
              <a:rPr lang="en-US" sz="1600" dirty="0" smtClean="0"/>
              <a:t>causes </a:t>
            </a:r>
            <a:r>
              <a:rPr lang="en-US" sz="1600" b="1" dirty="0" smtClean="0"/>
              <a:t>risk sharing</a:t>
            </a:r>
            <a:r>
              <a:rPr lang="en-US" sz="1600" dirty="0" smtClean="0"/>
              <a:t>, it will reduce or eliminate the potential dividend paid to </a:t>
            </a:r>
            <a:r>
              <a:rPr lang="en-US" sz="1600" dirty="0" smtClean="0"/>
              <a:t>CRB Builders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Losses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98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19200" y="1828800"/>
            <a:ext cx="7391400" cy="4114800"/>
          </a:xfrm>
          <a:noFill/>
        </p:spPr>
        <p:txBody>
          <a:bodyPr/>
          <a:lstStyle/>
          <a:p>
            <a:r>
              <a:rPr lang="en-US" sz="2000" b="1" dirty="0" smtClean="0"/>
              <a:t>Investment Income</a:t>
            </a:r>
          </a:p>
          <a:p>
            <a:pPr lvl="1"/>
            <a:r>
              <a:rPr lang="en-US" sz="1800" dirty="0" smtClean="0"/>
              <a:t>Amount: $</a:t>
            </a:r>
            <a:r>
              <a:rPr lang="en-US" sz="1800" dirty="0" smtClean="0"/>
              <a:t>30,485 </a:t>
            </a:r>
            <a:r>
              <a:rPr lang="en-US" sz="1800" dirty="0"/>
              <a:t>based </a:t>
            </a:r>
            <a:r>
              <a:rPr lang="en-US" sz="1800" dirty="0" smtClean="0"/>
              <a:t>on expected loss level, payout patterns, and prior returns of Captive Investors Fund</a:t>
            </a:r>
          </a:p>
          <a:p>
            <a:pPr lvl="1"/>
            <a:r>
              <a:rPr lang="en-US" sz="1800" dirty="0" smtClean="0"/>
              <a:t>Amount will be higher with fewer losses and lower with more losses</a:t>
            </a:r>
          </a:p>
          <a:p>
            <a:pPr lvl="1"/>
            <a:r>
              <a:rPr lang="en-US" sz="1800" dirty="0" smtClean="0"/>
              <a:t>Future investment returns are not known or guaranteed </a:t>
            </a:r>
          </a:p>
          <a:p>
            <a:r>
              <a:rPr lang="en-US" sz="2000" b="1" dirty="0" smtClean="0"/>
              <a:t>Timing of Dividend Payments and Policy Year Close-Out</a:t>
            </a:r>
          </a:p>
          <a:p>
            <a:pPr lvl="1"/>
            <a:r>
              <a:rPr lang="en-US" sz="1800" dirty="0" smtClean="0"/>
              <a:t>Payment </a:t>
            </a:r>
            <a:r>
              <a:rPr lang="en-US" sz="1800" dirty="0"/>
              <a:t>of dividends and </a:t>
            </a:r>
            <a:r>
              <a:rPr lang="en-US" sz="1800" dirty="0" smtClean="0"/>
              <a:t>close-out </a:t>
            </a:r>
            <a:r>
              <a:rPr lang="en-US" sz="1800" dirty="0"/>
              <a:t>of a policy year are decided </a:t>
            </a:r>
            <a:r>
              <a:rPr lang="en-US" sz="1800" dirty="0" smtClean="0"/>
              <a:t>upon </a:t>
            </a:r>
            <a:r>
              <a:rPr lang="en-US" sz="1800" dirty="0"/>
              <a:t>by committee members and are subject to </a:t>
            </a:r>
            <a:r>
              <a:rPr lang="en-US" sz="1800" dirty="0" smtClean="0"/>
              <a:t>change</a:t>
            </a:r>
            <a:endParaRPr lang="en-US" sz="1800" dirty="0"/>
          </a:p>
          <a:p>
            <a:r>
              <a:rPr lang="en-US" sz="2000" b="1" dirty="0" smtClean="0"/>
              <a:t>Cost of Risk Sharing and Tail Fund</a:t>
            </a:r>
          </a:p>
          <a:p>
            <a:pPr lvl="1"/>
            <a:r>
              <a:rPr lang="en-US" sz="1800" dirty="0" smtClean="0"/>
              <a:t>$</a:t>
            </a:r>
            <a:r>
              <a:rPr lang="en-US" sz="1800" dirty="0" smtClean="0"/>
              <a:t>24,669 </a:t>
            </a:r>
            <a:r>
              <a:rPr lang="en-US" sz="1800" dirty="0"/>
              <a:t>(est’d amount </a:t>
            </a:r>
            <a:r>
              <a:rPr lang="en-US" sz="1800" dirty="0" smtClean="0"/>
              <a:t>that will vary by policy year and with amount of losses)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8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What if </a:t>
            </a:r>
            <a:r>
              <a:rPr lang="en-US" sz="2400" dirty="0" smtClean="0"/>
              <a:t>CRB Builders </a:t>
            </a:r>
            <a:r>
              <a:rPr lang="en-US" sz="2400" dirty="0" smtClean="0"/>
              <a:t>has </a:t>
            </a:r>
            <a:r>
              <a:rPr lang="en-US" sz="2400" dirty="0" smtClean="0"/>
              <a:t>“normal” losses in </a:t>
            </a:r>
            <a:r>
              <a:rPr lang="en-US" sz="2400" dirty="0" smtClean="0"/>
              <a:t>2017/18?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06563"/>
              </p:ext>
            </p:extLst>
          </p:nvPr>
        </p:nvGraphicFramePr>
        <p:xfrm>
          <a:off x="1524000" y="1828800"/>
          <a:ext cx="5867400" cy="3581400"/>
        </p:xfrm>
        <a:graphic>
          <a:graphicData uri="http://schemas.openxmlformats.org/drawingml/2006/table">
            <a:tbl>
              <a:tblPr firstRow="1" firstCol="1" bandRow="1"/>
              <a:tblGrid>
                <a:gridCol w="4038600"/>
                <a:gridCol w="1828800"/>
              </a:tblGrid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Losses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$6,371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 Fund Premium: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$6,371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500" b="1" baseline="30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nd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A Fund Assessment: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 Fund Premium: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Captive Expenses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$141,489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State Surcharges and Assessments: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$3,613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Risk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Sharing and Tail Fund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$24,669</a:t>
                      </a:r>
                      <a:endParaRPr lang="en-US" sz="15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Investment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Income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($30,485)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Broker Fee: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u="sng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$68,000</a:t>
                      </a:r>
                      <a:endParaRPr lang="en-US" sz="1500" u="sng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Final Cost: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$213,657</a:t>
                      </a:r>
                      <a:endParaRPr lang="en-US" sz="15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Renewal</a:t>
                      </a:r>
                      <a:r>
                        <a:rPr lang="en-US" sz="1500" b="1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Premium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$585,640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Savings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(64%):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$371,983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95400" y="5486399"/>
            <a:ext cx="712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Note: </a:t>
            </a:r>
            <a:r>
              <a:rPr lang="en-US" sz="1200" dirty="0" smtClean="0">
                <a:solidFill>
                  <a:schemeClr val="tx1"/>
                </a:solidFill>
              </a:rPr>
              <a:t>Amounts shown are after investment income, dividends, experience adjustments, risk sharing and close-out costs are paid. Final cost calculations requires estimating future costs that are not yet known.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68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0200" y="122515"/>
            <a:ext cx="7162800" cy="431800"/>
          </a:xfrm>
        </p:spPr>
        <p:txBody>
          <a:bodyPr/>
          <a:lstStyle/>
          <a:p>
            <a:r>
              <a:rPr lang="en-US" sz="2200" dirty="0" smtClean="0"/>
              <a:t>What if DLZ losses in </a:t>
            </a:r>
            <a:r>
              <a:rPr lang="en-US" sz="2200" dirty="0" smtClean="0"/>
              <a:t>2017/18 </a:t>
            </a:r>
            <a:r>
              <a:rPr lang="en-US" sz="2400" dirty="0" smtClean="0"/>
              <a:t>equal their best year of </a:t>
            </a:r>
            <a:r>
              <a:rPr lang="en-US" sz="2400" dirty="0"/>
              <a:t>the past five years</a:t>
            </a:r>
            <a:r>
              <a:rPr lang="en-US" sz="2200" dirty="0" smtClean="0"/>
              <a:t>? (</a:t>
            </a:r>
            <a:r>
              <a:rPr lang="en-US" sz="2200" dirty="0" smtClean="0"/>
              <a:t>2015/16)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19100"/>
              </p:ext>
            </p:extLst>
          </p:nvPr>
        </p:nvGraphicFramePr>
        <p:xfrm>
          <a:off x="1447800" y="1828800"/>
          <a:ext cx="5943600" cy="3581400"/>
        </p:xfrm>
        <a:graphic>
          <a:graphicData uri="http://schemas.openxmlformats.org/drawingml/2006/table">
            <a:tbl>
              <a:tblPr firstRow="1" firstCol="1" bandRow="1"/>
              <a:tblGrid>
                <a:gridCol w="4114800"/>
                <a:gridCol w="1828800"/>
              </a:tblGrid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Losses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$808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 Fund Premium: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$808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500" b="1" baseline="30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nd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A Fund Assessment: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 Fund Premium: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Captive Expenses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$141,489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State Surcharges and Assessments: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$3,613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Risk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Sharing and Tail Fund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$24,669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Investment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Income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($30,485)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Broker Fee: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u="sng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$68,000</a:t>
                      </a:r>
                      <a:endParaRPr lang="en-US" sz="1500" u="sng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Final Cost: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$208,094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Renewal</a:t>
                      </a:r>
                      <a:r>
                        <a:rPr lang="en-US" sz="1500" b="1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Premium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$585,640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Est’d Savings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(64%):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$377,546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95400" y="5486399"/>
            <a:ext cx="712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Note: </a:t>
            </a:r>
            <a:r>
              <a:rPr lang="en-US" sz="1200" dirty="0" smtClean="0">
                <a:solidFill>
                  <a:schemeClr val="tx1"/>
                </a:solidFill>
              </a:rPr>
              <a:t>Amounts shown are after investment income, dividends, experience adjustments, risk sharing and close-out costs are paid. Final cost calculations requires estimating future costs that are not yet known.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7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1600200" y="132454"/>
            <a:ext cx="7162800" cy="431800"/>
          </a:xfrm>
        </p:spPr>
        <p:txBody>
          <a:bodyPr/>
          <a:lstStyle/>
          <a:p>
            <a:r>
              <a:rPr lang="en-US" sz="2200" dirty="0"/>
              <a:t>What if </a:t>
            </a:r>
            <a:r>
              <a:rPr lang="en-US" sz="2200" dirty="0" smtClean="0"/>
              <a:t>DLZ losses in </a:t>
            </a:r>
            <a:r>
              <a:rPr lang="en-US" sz="2200" dirty="0" smtClean="0"/>
              <a:t>2017/18 </a:t>
            </a:r>
            <a:r>
              <a:rPr lang="en-US" sz="2200" dirty="0" smtClean="0"/>
              <a:t>equal </a:t>
            </a:r>
            <a:r>
              <a:rPr lang="en-US" sz="2200" dirty="0"/>
              <a:t>their </a:t>
            </a:r>
            <a:r>
              <a:rPr lang="en-US" sz="2200" dirty="0" smtClean="0"/>
              <a:t>worst year </a:t>
            </a:r>
            <a:r>
              <a:rPr lang="en-US" sz="2200" dirty="0"/>
              <a:t>of the past five years? (</a:t>
            </a:r>
            <a:r>
              <a:rPr lang="en-US" sz="2200" dirty="0" smtClean="0"/>
              <a:t>2016/17)</a:t>
            </a:r>
            <a:endParaRPr lang="en-US" sz="2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767271"/>
              </p:ext>
            </p:extLst>
          </p:nvPr>
        </p:nvGraphicFramePr>
        <p:xfrm>
          <a:off x="1600200" y="1828800"/>
          <a:ext cx="5791200" cy="3581400"/>
        </p:xfrm>
        <a:graphic>
          <a:graphicData uri="http://schemas.openxmlformats.org/drawingml/2006/table">
            <a:tbl>
              <a:tblPr firstRow="1" firstCol="1" bandRow="1"/>
              <a:tblGrid>
                <a:gridCol w="3962400"/>
                <a:gridCol w="1828800"/>
              </a:tblGrid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Losses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$22,807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 Fund Premium: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$22,807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500" b="1" baseline="30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nd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A Fund Assessment: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 Fund Premium: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Captive Expenses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$141,489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State Surcharges and Assessments: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$3,613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Risk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Sharing and Tail Fund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$24,669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Investment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Income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($30,485)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Broker Fee: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u="sng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$68,000</a:t>
                      </a:r>
                      <a:endParaRPr lang="en-US" sz="1500" u="sng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Final Cost: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$230,093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Renewal</a:t>
                      </a:r>
                      <a:r>
                        <a:rPr lang="en-US" sz="1500" b="1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Premium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$585,640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Est’d Savings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(61%):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$355,547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95400" y="5486399"/>
            <a:ext cx="712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Note: </a:t>
            </a:r>
            <a:r>
              <a:rPr lang="en-US" sz="1200" dirty="0" smtClean="0">
                <a:solidFill>
                  <a:schemeClr val="tx1"/>
                </a:solidFill>
              </a:rPr>
              <a:t>Amounts shown are after investment income, dividends, experience adjustments, risk sharing and close-out costs are paid. Final cost calculations requires estimating future costs that are not yet known.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96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What if DLZ has “normal” losses in 2015/16 plus a $1M loss?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895634"/>
              </p:ext>
            </p:extLst>
          </p:nvPr>
        </p:nvGraphicFramePr>
        <p:xfrm>
          <a:off x="1447800" y="1828800"/>
          <a:ext cx="5943600" cy="3581400"/>
        </p:xfrm>
        <a:graphic>
          <a:graphicData uri="http://schemas.openxmlformats.org/drawingml/2006/table">
            <a:tbl>
              <a:tblPr firstRow="1" firstCol="1" bandRow="1"/>
              <a:tblGrid>
                <a:gridCol w="4038600"/>
                <a:gridCol w="1905000"/>
              </a:tblGrid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Losses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$6,371 </a:t>
                      </a: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+ $1M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 Fund Premium: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$106,371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 of A Fund Dividend Balance: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$105,275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 Fund Premium: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$93,202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Captive Expenses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$141,489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State Surcharges and Assessments: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$3,613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Risk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Sharing and Tail Fund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$24,669</a:t>
                      </a:r>
                      <a:endParaRPr lang="en-US" sz="15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Investment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Income (est’d):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($15,000)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Broker Fee: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u="sng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$68,000</a:t>
                      </a:r>
                      <a:endParaRPr lang="en-US" sz="1500" u="sng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Final Cost: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$527,619</a:t>
                      </a:r>
                      <a:endParaRPr lang="en-US" sz="15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 Renewal</a:t>
                      </a:r>
                      <a:r>
                        <a:rPr lang="en-US" sz="1500" b="1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Premium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$585,640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b="1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Est’d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Savings (10%):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$58,021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95400" y="5486399"/>
            <a:ext cx="712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Note: </a:t>
            </a:r>
            <a:r>
              <a:rPr lang="en-US" sz="1200" dirty="0" smtClean="0">
                <a:solidFill>
                  <a:schemeClr val="tx1"/>
                </a:solidFill>
              </a:rPr>
              <a:t>Amounts shown are after investment income, dividends, experience adjustments, risk sharing and close-out costs are paid. Final cost calculations requires estimating future costs that are not yet known.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04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sz="1800" b="1" dirty="0" smtClean="0"/>
              <a:t>Stock</a:t>
            </a:r>
          </a:p>
          <a:p>
            <a:pPr lvl="1"/>
            <a:r>
              <a:rPr lang="en-US" sz="1500" dirty="0" smtClean="0"/>
              <a:t>Purchase one share at a cost of $36,000 (by policy inception)</a:t>
            </a:r>
          </a:p>
          <a:p>
            <a:r>
              <a:rPr lang="en-US" sz="1800" b="1" dirty="0" smtClean="0"/>
              <a:t>Premium</a:t>
            </a:r>
          </a:p>
          <a:p>
            <a:pPr lvl="1"/>
            <a:r>
              <a:rPr lang="en-US" sz="1500" dirty="0" smtClean="0"/>
              <a:t>$449,950 </a:t>
            </a:r>
            <a:endParaRPr lang="en-US" sz="1500" dirty="0" smtClean="0"/>
          </a:p>
          <a:p>
            <a:pPr lvl="1"/>
            <a:r>
              <a:rPr lang="en-US" sz="1500" dirty="0" smtClean="0"/>
              <a:t>First </a:t>
            </a:r>
            <a:r>
              <a:rPr lang="en-US" sz="1500" dirty="0"/>
              <a:t>installment is due prior to policy inception</a:t>
            </a:r>
          </a:p>
          <a:p>
            <a:pPr lvl="1"/>
            <a:r>
              <a:rPr lang="en-US" sz="1500" dirty="0"/>
              <a:t>Premium is subject to an exposure audit at the end of the policy year</a:t>
            </a:r>
          </a:p>
          <a:p>
            <a:r>
              <a:rPr lang="en-US" sz="1800" b="1" dirty="0" smtClean="0"/>
              <a:t>Collateral</a:t>
            </a:r>
          </a:p>
          <a:p>
            <a:pPr lvl="1"/>
            <a:r>
              <a:rPr lang="en-US" sz="1500" dirty="0" smtClean="0"/>
              <a:t>Two-thirds of the A Fund this year: </a:t>
            </a:r>
            <a:r>
              <a:rPr lang="en-US" sz="1500" dirty="0" smtClean="0"/>
              <a:t>$141,803</a:t>
            </a:r>
            <a:endParaRPr lang="en-US" sz="1500" dirty="0" smtClean="0"/>
          </a:p>
          <a:p>
            <a:pPr lvl="1"/>
            <a:r>
              <a:rPr lang="en-US" sz="1500" dirty="0" smtClean="0"/>
              <a:t>Plus two-thirds of the A fund in following years until the total collateral is equal to </a:t>
            </a:r>
            <a:r>
              <a:rPr lang="en-US" sz="1500" b="1" dirty="0" smtClean="0">
                <a:solidFill>
                  <a:srgbClr val="800000"/>
                </a:solidFill>
              </a:rPr>
              <a:t>two times the A Fund</a:t>
            </a:r>
          </a:p>
          <a:p>
            <a:pPr lvl="1"/>
            <a:r>
              <a:rPr lang="en-US" sz="1500" dirty="0" smtClean="0"/>
              <a:t>Collateral can be a letter of credit or cash kept in the Captive Investors Fund</a:t>
            </a:r>
          </a:p>
          <a:p>
            <a:pPr lvl="1"/>
            <a:r>
              <a:rPr lang="en-US" sz="1500" dirty="0" smtClean="0"/>
              <a:t>Collateral is due within 60 days of binding coverage</a:t>
            </a:r>
            <a:endParaRPr lang="en-US" sz="1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Experience Adjustment</a:t>
            </a:r>
          </a:p>
          <a:p>
            <a:pPr lvl="1"/>
            <a:r>
              <a:rPr lang="en-US" sz="2000" dirty="0" smtClean="0"/>
              <a:t>If losses exceed certain thresholds, an experience adjustment will occur the following year (see next page)</a:t>
            </a:r>
          </a:p>
          <a:p>
            <a:r>
              <a:rPr lang="en-US" sz="2000" b="1" dirty="0" smtClean="0"/>
              <a:t>Dividend</a:t>
            </a:r>
          </a:p>
          <a:p>
            <a:pPr lvl="1"/>
            <a:r>
              <a:rPr lang="en-US" sz="2000" dirty="0" smtClean="0"/>
              <a:t>Will occur no sooner than three years after expiration of the policy year</a:t>
            </a:r>
          </a:p>
          <a:p>
            <a:pPr lvl="1"/>
            <a:r>
              <a:rPr lang="en-US" sz="2000" dirty="0" smtClean="0"/>
              <a:t>Dividend payments are often spread over several years</a:t>
            </a:r>
          </a:p>
          <a:p>
            <a:r>
              <a:rPr lang="en-US" sz="2000" b="1" dirty="0" smtClean="0"/>
              <a:t>Tail Fund</a:t>
            </a:r>
            <a:endParaRPr lang="en-US" sz="2000" b="1" dirty="0"/>
          </a:p>
          <a:p>
            <a:pPr lvl="1"/>
            <a:r>
              <a:rPr lang="en-US" sz="2000" dirty="0" smtClean="0"/>
              <a:t>When a policy year is closed, a payment will be made to a tail fund to cover future unknown liabilities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Cash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Board meetings</a:t>
            </a:r>
          </a:p>
          <a:p>
            <a:pPr lvl="1"/>
            <a:r>
              <a:rPr lang="en-US" dirty="0" smtClean="0"/>
              <a:t>Twice a year, offshore</a:t>
            </a:r>
          </a:p>
          <a:p>
            <a:r>
              <a:rPr lang="en-US" dirty="0" smtClean="0"/>
              <a:t>In-person risk workshops</a:t>
            </a:r>
          </a:p>
          <a:p>
            <a:pPr lvl="1"/>
            <a:r>
              <a:rPr lang="en-US" dirty="0" smtClean="0"/>
              <a:t>Twice a year</a:t>
            </a:r>
          </a:p>
          <a:p>
            <a:r>
              <a:rPr lang="en-US" dirty="0" smtClean="0"/>
              <a:t>Loss prevention webinars</a:t>
            </a:r>
          </a:p>
          <a:p>
            <a:r>
              <a:rPr lang="en-US" dirty="0" smtClean="0"/>
              <a:t>All members receive a risk score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1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sz="1400" dirty="0"/>
              <a:t>Evolution's management strength lies in its strong committee structure and individual involvement </a:t>
            </a:r>
            <a:r>
              <a:rPr lang="en-US" sz="1400" dirty="0" smtClean="0"/>
              <a:t>by shareholders</a:t>
            </a:r>
            <a:r>
              <a:rPr lang="en-US" sz="1400" dirty="0"/>
              <a:t>. Board and committee meetings are scheduled twice a year in the Cayman Islands </a:t>
            </a:r>
            <a:r>
              <a:rPr lang="en-US" sz="1400" dirty="0" smtClean="0"/>
              <a:t>or other offshore </a:t>
            </a:r>
            <a:r>
              <a:rPr lang="en-US" sz="1400" dirty="0"/>
              <a:t>locations. Shareholders are encouraged to attend all Evolution meetings and actively participate </a:t>
            </a:r>
            <a:r>
              <a:rPr lang="en-US" sz="1400" dirty="0" smtClean="0"/>
              <a:t>in committee </a:t>
            </a:r>
            <a:r>
              <a:rPr lang="en-US" sz="1400" dirty="0"/>
              <a:t>sessions. The committees of the Board and their primary responsibilities are:</a:t>
            </a:r>
          </a:p>
          <a:p>
            <a:pPr lvl="1">
              <a:lnSpc>
                <a:spcPct val="105000"/>
              </a:lnSpc>
              <a:spcBef>
                <a:spcPts val="1200"/>
              </a:spcBef>
            </a:pPr>
            <a:r>
              <a:rPr lang="en-US" sz="1200" b="1" dirty="0"/>
              <a:t>Executive </a:t>
            </a:r>
            <a:r>
              <a:rPr lang="en-US" sz="1200" b="1" dirty="0" smtClean="0"/>
              <a:t>Committee: </a:t>
            </a:r>
            <a:r>
              <a:rPr lang="en-US" sz="1200" dirty="0" smtClean="0"/>
              <a:t>Comprised </a:t>
            </a:r>
            <a:r>
              <a:rPr lang="en-US" sz="1200" dirty="0"/>
              <a:t>of officers and committee chairpersons, the focus of this committee is </a:t>
            </a:r>
            <a:r>
              <a:rPr lang="en-US" sz="1200" dirty="0" smtClean="0"/>
              <a:t>to develop </a:t>
            </a:r>
            <a:r>
              <a:rPr lang="en-US" sz="1200" dirty="0"/>
              <a:t>long-range plans for the Company, based on strategic analysis.</a:t>
            </a:r>
          </a:p>
          <a:p>
            <a:pPr lvl="1">
              <a:lnSpc>
                <a:spcPct val="105000"/>
              </a:lnSpc>
              <a:spcBef>
                <a:spcPts val="1200"/>
              </a:spcBef>
            </a:pPr>
            <a:r>
              <a:rPr lang="en-US" sz="1200" b="1" dirty="0" smtClean="0"/>
              <a:t>Underwriting: </a:t>
            </a:r>
            <a:r>
              <a:rPr lang="en-US" sz="1200" dirty="0" smtClean="0"/>
              <a:t>The </a:t>
            </a:r>
            <a:r>
              <a:rPr lang="en-US" sz="1200" dirty="0"/>
              <a:t>Underwriting Committee advises the Board on desirable risks to be assumed and </a:t>
            </a:r>
            <a:r>
              <a:rPr lang="en-US" sz="1200" dirty="0" smtClean="0"/>
              <a:t>ensures that </a:t>
            </a:r>
            <a:r>
              <a:rPr lang="en-US" sz="1200" dirty="0"/>
              <a:t>the assumed risks are adequately underwritten. From time to time, this committee will also review </a:t>
            </a:r>
            <a:r>
              <a:rPr lang="en-US" sz="1200" dirty="0" smtClean="0"/>
              <a:t>the Company's </a:t>
            </a:r>
            <a:r>
              <a:rPr lang="en-US" sz="1200" dirty="0"/>
              <a:t>retention limits, and recommend to the Board any changes that may be appropriate.</a:t>
            </a:r>
          </a:p>
          <a:p>
            <a:pPr lvl="1">
              <a:lnSpc>
                <a:spcPct val="105000"/>
              </a:lnSpc>
              <a:spcBef>
                <a:spcPts val="1200"/>
              </a:spcBef>
            </a:pPr>
            <a:r>
              <a:rPr lang="en-US" sz="1200" b="1" dirty="0"/>
              <a:t>Risk </a:t>
            </a:r>
            <a:r>
              <a:rPr lang="en-US" sz="1200" b="1" dirty="0" smtClean="0"/>
              <a:t>Control: </a:t>
            </a:r>
            <a:r>
              <a:rPr lang="en-US" sz="1200" dirty="0" smtClean="0"/>
              <a:t>The </a:t>
            </a:r>
            <a:r>
              <a:rPr lang="en-US" sz="1200" dirty="0"/>
              <a:t>Risk Control Committee sets loss control goals for the members, reviews loss </a:t>
            </a:r>
            <a:r>
              <a:rPr lang="en-US" sz="1200" dirty="0" smtClean="0"/>
              <a:t>control reports </a:t>
            </a:r>
            <a:r>
              <a:rPr lang="en-US" sz="1200" dirty="0"/>
              <a:t>and works with members to meet </a:t>
            </a:r>
            <a:r>
              <a:rPr lang="en-US" sz="1200" dirty="0" smtClean="0"/>
              <a:t>the required </a:t>
            </a:r>
            <a:r>
              <a:rPr lang="en-US" sz="1200" dirty="0"/>
              <a:t>loss control goals of Evolution.</a:t>
            </a:r>
          </a:p>
          <a:p>
            <a:pPr lvl="1">
              <a:lnSpc>
                <a:spcPct val="105000"/>
              </a:lnSpc>
              <a:spcBef>
                <a:spcPts val="1200"/>
              </a:spcBef>
            </a:pPr>
            <a:r>
              <a:rPr lang="en-US" sz="1200" b="1" dirty="0"/>
              <a:t>Finance and </a:t>
            </a:r>
            <a:r>
              <a:rPr lang="en-US" sz="1200" b="1" dirty="0" smtClean="0"/>
              <a:t>Investment: </a:t>
            </a:r>
            <a:r>
              <a:rPr lang="en-US" sz="1200" dirty="0" smtClean="0"/>
              <a:t>Chaired </a:t>
            </a:r>
            <a:r>
              <a:rPr lang="en-US" sz="1200" dirty="0"/>
              <a:t>by the Company's Treasurer, the Finance Committee reviews the </a:t>
            </a:r>
            <a:r>
              <a:rPr lang="en-US" sz="1200" dirty="0" smtClean="0"/>
              <a:t>annual audited </a:t>
            </a:r>
            <a:r>
              <a:rPr lang="en-US" sz="1200" dirty="0"/>
              <a:t>financial statements and semi-annual unaudited statements, and advises the Board on policies </a:t>
            </a:r>
            <a:r>
              <a:rPr lang="en-US" sz="1200" dirty="0" smtClean="0"/>
              <a:t>for the </a:t>
            </a:r>
            <a:r>
              <a:rPr lang="en-US" sz="1200" dirty="0"/>
              <a:t>investment of Evolution's assets.</a:t>
            </a:r>
          </a:p>
          <a:p>
            <a:pPr marL="346075" indent="0">
              <a:lnSpc>
                <a:spcPct val="105000"/>
              </a:lnSpc>
              <a:spcBef>
                <a:spcPts val="1200"/>
              </a:spcBef>
              <a:buNone/>
            </a:pPr>
            <a:r>
              <a:rPr lang="en-US" sz="1200" dirty="0"/>
              <a:t>The Board relies on the recommendations of these committees to establish policies.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84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Evolution’s renewal date is April 1</a:t>
            </a:r>
          </a:p>
          <a:p>
            <a:pPr lvl="1"/>
            <a:r>
              <a:rPr lang="en-US" sz="1800" dirty="0" smtClean="0"/>
              <a:t>Change other policies?</a:t>
            </a:r>
          </a:p>
          <a:p>
            <a:r>
              <a:rPr lang="en-US" sz="2000" dirty="0" smtClean="0"/>
              <a:t>What else will be different?</a:t>
            </a:r>
          </a:p>
          <a:p>
            <a:pPr lvl="1"/>
            <a:r>
              <a:rPr lang="en-US" sz="2000" dirty="0" smtClean="0"/>
              <a:t>Unbundled services</a:t>
            </a:r>
          </a:p>
          <a:p>
            <a:pPr lvl="2"/>
            <a:r>
              <a:rPr lang="en-US" sz="1800" dirty="0" smtClean="0"/>
              <a:t>Sedgwick for Claims</a:t>
            </a:r>
          </a:p>
          <a:p>
            <a:pPr lvl="2"/>
            <a:r>
              <a:rPr lang="en-US" sz="1800" dirty="0" smtClean="0"/>
              <a:t>Risk Consultants, Inc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Other</a:t>
            </a:r>
          </a:p>
          <a:p>
            <a:pPr lvl="2"/>
            <a:r>
              <a:rPr lang="en-US" sz="1800" dirty="0" smtClean="0"/>
              <a:t>Buying stock</a:t>
            </a:r>
          </a:p>
          <a:p>
            <a:pPr lvl="2"/>
            <a:r>
              <a:rPr lang="en-US" sz="1800" dirty="0" smtClean="0"/>
              <a:t>Dealing with claims</a:t>
            </a:r>
          </a:p>
          <a:p>
            <a:pPr lvl="2"/>
            <a:r>
              <a:rPr lang="en-US" sz="1800" dirty="0" smtClean="0"/>
              <a:t>Join Board of Directors</a:t>
            </a:r>
          </a:p>
          <a:p>
            <a:pPr lvl="2"/>
            <a:endParaRPr lang="en-US" sz="2000" dirty="0" smtClean="0"/>
          </a:p>
          <a:p>
            <a:pPr lvl="1"/>
            <a:endParaRPr lang="en-US" sz="2000" dirty="0" smtClean="0"/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6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Who can own the share of stock?</a:t>
            </a:r>
            <a:endParaRPr lang="en-US" sz="2000" b="1" dirty="0"/>
          </a:p>
          <a:p>
            <a:pPr lvl="1"/>
            <a:r>
              <a:rPr lang="en-US" sz="1800" dirty="0" smtClean="0"/>
              <a:t>Your company or individuals you select</a:t>
            </a:r>
          </a:p>
          <a:p>
            <a:r>
              <a:rPr lang="en-US" sz="2000" b="1" dirty="0" smtClean="0"/>
              <a:t>How do voting rights work?</a:t>
            </a:r>
            <a:endParaRPr lang="en-US" sz="2000" b="1" dirty="0"/>
          </a:p>
          <a:p>
            <a:pPr lvl="1"/>
            <a:r>
              <a:rPr lang="en-US" sz="1800" dirty="0" smtClean="0"/>
              <a:t>One share per member company; each share gets one vote</a:t>
            </a:r>
          </a:p>
          <a:p>
            <a:r>
              <a:rPr lang="en-US" sz="2000" b="1" dirty="0" smtClean="0"/>
              <a:t>Where are my loss funds and other cash invested?</a:t>
            </a:r>
          </a:p>
          <a:p>
            <a:pPr lvl="1"/>
            <a:r>
              <a:rPr lang="en-US" sz="1800" dirty="0" smtClean="0"/>
              <a:t>The </a:t>
            </a:r>
            <a:r>
              <a:rPr lang="en-US" sz="1800" b="1" dirty="0" smtClean="0"/>
              <a:t>Captive Investors Fund </a:t>
            </a:r>
            <a:r>
              <a:rPr lang="en-US" sz="1800" dirty="0" smtClean="0"/>
              <a:t>with $1.7B in assets; life of fund return of almost 6%</a:t>
            </a:r>
          </a:p>
          <a:p>
            <a:r>
              <a:rPr lang="en-US" sz="2000" b="1" dirty="0" smtClean="0"/>
              <a:t>Are the premiums tax deductible?</a:t>
            </a:r>
          </a:p>
          <a:p>
            <a:pPr lvl="1"/>
            <a:r>
              <a:rPr lang="en-US" sz="1800" dirty="0" smtClean="0"/>
              <a:t>Yes, the same as with traditional insurance</a:t>
            </a:r>
          </a:p>
          <a:p>
            <a:r>
              <a:rPr lang="en-US" sz="2000" b="1" dirty="0" smtClean="0"/>
              <a:t>Is there a penalty to leave?</a:t>
            </a:r>
          </a:p>
          <a:p>
            <a:pPr lvl="1"/>
            <a:r>
              <a:rPr lang="en-US" sz="1800" dirty="0" smtClean="0"/>
              <a:t>No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Commonly Asked Questions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2F4ABE-4A32-4695-8D4E-D624193DB3D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7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Past Five Years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sz="2000" dirty="0" smtClean="0"/>
              <a:t>Est’d Insurer Profit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528614"/>
              </p:ext>
            </p:extLst>
          </p:nvPr>
        </p:nvGraphicFramePr>
        <p:xfrm>
          <a:off x="1371600" y="2133600"/>
          <a:ext cx="7086601" cy="3048000"/>
        </p:xfrm>
        <a:graphic>
          <a:graphicData uri="http://schemas.openxmlformats.org/drawingml/2006/table">
            <a:tbl>
              <a:tblPr firstRow="1" firstCol="1" bandRow="1"/>
              <a:tblGrid>
                <a:gridCol w="2819400"/>
                <a:gridCol w="1412876"/>
                <a:gridCol w="2854325"/>
              </a:tblGrid>
              <a:tr h="7620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Premium: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$2,230,927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Insurer Expenses (35%):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($780,824)</a:t>
                      </a:r>
                      <a:endParaRPr lang="en-US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Losses: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($31,854)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Profit: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$1,418,249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plus investment income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11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Past Five Years (2010/15)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sz="2000" dirty="0" smtClean="0"/>
              <a:t>If DLZ Had Been in the Captive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5486399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Note: </a:t>
            </a:r>
            <a:r>
              <a:rPr lang="en-US" sz="1200" dirty="0" smtClean="0">
                <a:solidFill>
                  <a:schemeClr val="tx1"/>
                </a:solidFill>
              </a:rPr>
              <a:t>Amounts shown are after investment income, dividends, experience adjustments, risk sharing and close-out costs are paid. Final cost calculations requires estimating future costs that are not yet known.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34449"/>
              </p:ext>
            </p:extLst>
          </p:nvPr>
        </p:nvGraphicFramePr>
        <p:xfrm>
          <a:off x="1905000" y="1828800"/>
          <a:ext cx="5486400" cy="3581400"/>
        </p:xfrm>
        <a:graphic>
          <a:graphicData uri="http://schemas.openxmlformats.org/drawingml/2006/table">
            <a:tbl>
              <a:tblPr firstRow="1" firstCol="1" bandRow="1"/>
              <a:tblGrid>
                <a:gridCol w="3505200"/>
                <a:gridCol w="1981200"/>
              </a:tblGrid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Losses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$31,854</a:t>
                      </a:r>
                      <a:endParaRPr lang="en-US" sz="15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Losses in 1st A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Fund: 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$31,854 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Losses in 2nd A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Fund: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 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Losses in B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Fund: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Operating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Costs: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$707,445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Est’d Surcharges </a:t>
                      </a: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and Broker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Fee: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$358,065 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Risk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Sharing: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$111,585 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Tail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Fund: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$11,760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Investment </a:t>
                      </a:r>
                      <a:r>
                        <a:rPr lang="en-US" sz="15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Income:</a:t>
                      </a:r>
                      <a:endParaRPr lang="en-US" sz="15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sng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($152,425)</a:t>
                      </a:r>
                      <a:endParaRPr lang="en-US" sz="1500" b="0" i="0" u="sng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Final Cost: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$1,068,284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Actual Past Five Year</a:t>
                      </a:r>
                      <a:r>
                        <a:rPr lang="en-US" sz="1500" b="1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Premium: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$2,230,927</a:t>
                      </a:r>
                      <a:endParaRPr lang="en-US" sz="15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Savings </a:t>
                      </a:r>
                      <a:r>
                        <a:rPr lang="en-US" sz="15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(52%):</a:t>
                      </a:r>
                      <a:endParaRPr lang="en-US" sz="15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$1,162,643</a:t>
                      </a:r>
                      <a:endParaRPr lang="en-US" sz="1500" u="none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59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Replace insurers for umbrella and property insurance:</a:t>
            </a:r>
          </a:p>
          <a:p>
            <a:r>
              <a:rPr lang="en-US" dirty="0" smtClean="0"/>
              <a:t>Bind Coverage</a:t>
            </a:r>
          </a:p>
          <a:p>
            <a:r>
              <a:rPr lang="en-US" dirty="0" smtClean="0"/>
              <a:t>Issue certificates of insurance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37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9A7EEB-07A5-4AF2-AE91-BE3FA2FA806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Rectangle 61"/>
          <p:cNvSpPr>
            <a:spLocks noChangeArrowheads="1"/>
          </p:cNvSpPr>
          <p:nvPr/>
        </p:nvSpPr>
        <p:spPr bwMode="auto">
          <a:xfrm>
            <a:off x="0" y="2667000"/>
            <a:ext cx="9143999" cy="2031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Monotype Sorts" pitchFamily="2" charset="2"/>
              <a:buNone/>
            </a:pPr>
            <a:r>
              <a:rPr lang="en-US" b="1" dirty="0" smtClean="0">
                <a:solidFill>
                  <a:srgbClr val="800000"/>
                </a:solidFill>
              </a:rPr>
              <a:t>Greyling </a:t>
            </a:r>
            <a:r>
              <a:rPr lang="en-US" b="1" dirty="0">
                <a:solidFill>
                  <a:srgbClr val="800000"/>
                </a:solidFill>
              </a:rPr>
              <a:t>Insurance </a:t>
            </a:r>
            <a:r>
              <a:rPr lang="en-US" b="1" dirty="0" smtClean="0">
                <a:solidFill>
                  <a:srgbClr val="800000"/>
                </a:solidFill>
              </a:rPr>
              <a:t>Brokerage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Monotype Sorts" pitchFamily="2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Atlanta | St. Louis | Tampa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Monotype Sorts" pitchFamily="2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(770) 552-4225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Monotype Sorts" pitchFamily="2" charset="2"/>
              <a:buNone/>
            </a:pPr>
            <a:r>
              <a:rPr lang="en-US" dirty="0" smtClean="0">
                <a:solidFill>
                  <a:srgbClr val="800000"/>
                </a:solidFill>
              </a:rPr>
              <a:t>www.greyling.com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80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E limited bbar">
  <a:themeElements>
    <a:clrScheme name="ACE limited bbar 1">
      <a:dk1>
        <a:srgbClr val="000000"/>
      </a:dk1>
      <a:lt1>
        <a:srgbClr val="FFFFFF"/>
      </a:lt1>
      <a:dk2>
        <a:srgbClr val="81CFEC"/>
      </a:dk2>
      <a:lt2>
        <a:srgbClr val="3A5959"/>
      </a:lt2>
      <a:accent1>
        <a:srgbClr val="70BC1F"/>
      </a:accent1>
      <a:accent2>
        <a:srgbClr val="F0AF00"/>
      </a:accent2>
      <a:accent3>
        <a:srgbClr val="FFFFFF"/>
      </a:accent3>
      <a:accent4>
        <a:srgbClr val="000000"/>
      </a:accent4>
      <a:accent5>
        <a:srgbClr val="BBDAAB"/>
      </a:accent5>
      <a:accent6>
        <a:srgbClr val="D99E00"/>
      </a:accent6>
      <a:hlink>
        <a:srgbClr val="A41128"/>
      </a:hlink>
      <a:folHlink>
        <a:srgbClr val="005C79"/>
      </a:folHlink>
    </a:clrScheme>
    <a:fontScheme name="ACE limited bbar">
      <a:majorFont>
        <a:latin typeface="News Gothic"/>
        <a:ea typeface=""/>
        <a:cs typeface=""/>
      </a:majorFont>
      <a:minorFont>
        <a:latin typeface="News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News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News Gothic" pitchFamily="34" charset="0"/>
          </a:defRPr>
        </a:defPPr>
      </a:lstStyle>
    </a:lnDef>
  </a:objectDefaults>
  <a:extraClrSchemeLst>
    <a:extraClrScheme>
      <a:clrScheme name="ACE limited bbar 1">
        <a:dk1>
          <a:srgbClr val="000000"/>
        </a:dk1>
        <a:lt1>
          <a:srgbClr val="FFFFFF"/>
        </a:lt1>
        <a:dk2>
          <a:srgbClr val="81CFEC"/>
        </a:dk2>
        <a:lt2>
          <a:srgbClr val="3A5959"/>
        </a:lt2>
        <a:accent1>
          <a:srgbClr val="70BC1F"/>
        </a:accent1>
        <a:accent2>
          <a:srgbClr val="F0AF00"/>
        </a:accent2>
        <a:accent3>
          <a:srgbClr val="FFFFFF"/>
        </a:accent3>
        <a:accent4>
          <a:srgbClr val="000000"/>
        </a:accent4>
        <a:accent5>
          <a:srgbClr val="BBDAAB"/>
        </a:accent5>
        <a:accent6>
          <a:srgbClr val="D99E00"/>
        </a:accent6>
        <a:hlink>
          <a:srgbClr val="A41128"/>
        </a:hlink>
        <a:folHlink>
          <a:srgbClr val="005C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C:\WINNT\Profiles\Production\Desktop\ace powerpoint v2\ACE limited bbar.pot</Template>
  <TotalTime>6449</TotalTime>
  <Pages>16</Pages>
  <Words>1742</Words>
  <Application>Microsoft Office PowerPoint</Application>
  <PresentationFormat>On-screen Show (4:3)</PresentationFormat>
  <Paragraphs>319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Monotype Sorts</vt:lpstr>
      <vt:lpstr>News Gothic</vt:lpstr>
      <vt:lpstr>Symbol</vt:lpstr>
      <vt:lpstr>Times New Roman</vt:lpstr>
      <vt:lpstr>Wingdings</vt:lpstr>
      <vt:lpstr>Wingdings 3</vt:lpstr>
      <vt:lpstr>ACE limited bbar</vt:lpstr>
      <vt:lpstr>CRB Builders, LLC   Group Captive Insurance Option</vt:lpstr>
      <vt:lpstr>CRB Builders Loss History</vt:lpstr>
      <vt:lpstr>CRB Builders Loss History</vt:lpstr>
      <vt:lpstr>CRB Builders Loss History</vt:lpstr>
      <vt:lpstr>Captive Program vs. Traditional Insurance (Initial Pay-in)</vt:lpstr>
      <vt:lpstr>Impact of Losses</vt:lpstr>
      <vt:lpstr>Assumptions</vt:lpstr>
      <vt:lpstr>What if CRB Builders has “normal” losses in 2017/18?</vt:lpstr>
      <vt:lpstr>What if DLZ losses in 2017/18 equal their best year of the past five years? (2015/16)</vt:lpstr>
      <vt:lpstr>What if DLZ losses in 2017/18 equal their worst year of the past five years? (2016/17)</vt:lpstr>
      <vt:lpstr>What if DLZ has “normal” losses in 2015/16 plus a $1M loss?</vt:lpstr>
      <vt:lpstr>Cash Flow</vt:lpstr>
      <vt:lpstr>Cash Flow</vt:lpstr>
      <vt:lpstr>Commitment</vt:lpstr>
      <vt:lpstr>Commitment</vt:lpstr>
      <vt:lpstr>Other</vt:lpstr>
      <vt:lpstr>Commonly Asked Questions</vt:lpstr>
      <vt:lpstr>Past Five Years   Est’d Insurer Profit</vt:lpstr>
      <vt:lpstr>Past Five Years (2010/15)   If DLZ Had Been in the Captive</vt:lpstr>
      <vt:lpstr>Next Steps</vt:lpstr>
      <vt:lpstr>Questions</vt:lpstr>
    </vt:vector>
  </TitlesOfParts>
  <Company>Interbrand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Production</dc:creator>
  <cp:lastModifiedBy>Cooper Smith</cp:lastModifiedBy>
  <cp:revision>545</cp:revision>
  <cp:lastPrinted>2015-03-17T21:47:46Z</cp:lastPrinted>
  <dcterms:created xsi:type="dcterms:W3CDTF">2002-03-25T16:57:57Z</dcterms:created>
  <dcterms:modified xsi:type="dcterms:W3CDTF">2017-06-26T18:03:38Z</dcterms:modified>
</cp:coreProperties>
</file>