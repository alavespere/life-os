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47" r:id="rId2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smith" initials="m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BAF3F"/>
    <a:srgbClr val="D16F1A"/>
    <a:srgbClr val="006666"/>
    <a:srgbClr val="778E1D"/>
    <a:srgbClr val="669900"/>
    <a:srgbClr val="C5B5A4"/>
    <a:srgbClr val="323232"/>
    <a:srgbClr val="503C23"/>
    <a:srgbClr val="AFC1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6410" autoAdjust="0"/>
  </p:normalViewPr>
  <p:slideViewPr>
    <p:cSldViewPr>
      <p:cViewPr varScale="1">
        <p:scale>
          <a:sx n="114" d="100"/>
          <a:sy n="114" d="100"/>
        </p:scale>
        <p:origin x="1560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1" d="100"/>
          <a:sy n="81" d="100"/>
        </p:scale>
        <p:origin x="-1998" y="-96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Traditional Insurance</c:v>
                </c:pt>
              </c:strCache>
            </c:strRef>
          </c:tx>
          <c:dLbls>
            <c:dLbl>
              <c:idx val="0"/>
              <c:layout>
                <c:manualLayout>
                  <c:x val="-7.6305031446540897E-2"/>
                  <c:y val="-4.643549364021815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25B-465E-B63A-9450B1438F88}"/>
                </c:ext>
              </c:extLst>
            </c:dLbl>
            <c:dLbl>
              <c:idx val="1"/>
              <c:layout>
                <c:manualLayout>
                  <c:x val="-7.0015723270440255E-2"/>
                  <c:y val="-5.46772518819762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25B-465E-B63A-9450B1438F88}"/>
                </c:ext>
              </c:extLst>
            </c:dLbl>
            <c:dLbl>
              <c:idx val="2"/>
              <c:layout>
                <c:manualLayout>
                  <c:x val="-9.2036225424652104E-2"/>
                  <c:y val="-4.91827463874708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25B-465E-B63A-9450B1438F88}"/>
                </c:ext>
              </c:extLst>
            </c:dLbl>
            <c:dLbl>
              <c:idx val="3"/>
              <c:layout>
                <c:manualLayout>
                  <c:x val="-5.900943396226415E-2"/>
                  <c:y val="-4.643549364021804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25B-465E-B63A-9450B1438F88}"/>
                </c:ext>
              </c:extLst>
            </c:dLbl>
            <c:dLbl>
              <c:idx val="4"/>
              <c:layout>
                <c:manualLayout>
                  <c:x val="-7.6865993165948596E-2"/>
                  <c:y val="-3.81937353984597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25B-465E-B63A-9450B1438F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18 to 19</c:v>
                </c:pt>
                <c:pt idx="1">
                  <c:v>19 to 20</c:v>
                </c:pt>
                <c:pt idx="2">
                  <c:v>20 to 21</c:v>
                </c:pt>
                <c:pt idx="3">
                  <c:v>21 to 22</c:v>
                </c:pt>
                <c:pt idx="4">
                  <c:v>22 to 23</c:v>
                </c:pt>
              </c:strCache>
            </c:strRef>
          </c:cat>
          <c:val>
            <c:numRef>
              <c:f>Sheet1!$B$2:$B$6</c:f>
              <c:numCache>
                <c:formatCode>"$"#,##0_);[Red]\("$"#,##0\)</c:formatCode>
                <c:ptCount val="5"/>
                <c:pt idx="0">
                  <c:v>572469</c:v>
                </c:pt>
                <c:pt idx="1">
                  <c:v>705757</c:v>
                </c:pt>
                <c:pt idx="2">
                  <c:v>1227854</c:v>
                </c:pt>
                <c:pt idx="3">
                  <c:v>1851840</c:v>
                </c:pt>
                <c:pt idx="4">
                  <c:v>2288952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25B-465E-B63A-9450B1438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Cap. Pay-In</c:v>
                </c:pt>
              </c:strCache>
            </c:strRef>
          </c:tx>
          <c:dLbls>
            <c:dLbl>
              <c:idx val="0"/>
              <c:layout>
                <c:manualLayout>
                  <c:x val="-9.3600628930817664E-2"/>
                  <c:y val="3.048758328285887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25B-465E-B63A-9450B1438F88}"/>
                </c:ext>
              </c:extLst>
            </c:dLbl>
            <c:dLbl>
              <c:idx val="1"/>
              <c:layout>
                <c:manualLayout>
                  <c:x val="-5.2720125786163523E-2"/>
                  <c:y val="3.5982088777364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25B-465E-B63A-9450B1438F88}"/>
                </c:ext>
              </c:extLst>
            </c:dLbl>
            <c:dLbl>
              <c:idx val="2"/>
              <c:layout>
                <c:manualLayout>
                  <c:x val="-5.2720125786163578E-2"/>
                  <c:y val="4.971835251362800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7C1-4D31-8AA2-FBB4C3F8A743}"/>
                </c:ext>
              </c:extLst>
            </c:dLbl>
            <c:dLbl>
              <c:idx val="3"/>
              <c:layout>
                <c:manualLayout>
                  <c:x val="-4.1721760015847077E-2"/>
                  <c:y val="4.971835251362810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7C1-4D31-8AA2-FBB4C3F8A743}"/>
                </c:ext>
              </c:extLst>
            </c:dLbl>
            <c:dLbl>
              <c:idx val="4"/>
              <c:layout>
                <c:manualLayout>
                  <c:x val="-4.9436809785569254E-2"/>
                  <c:y val="4.971835251362800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7C1-4D31-8AA2-FBB4C3F8A74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18 to 19</c:v>
                </c:pt>
                <c:pt idx="1">
                  <c:v>19 to 20</c:v>
                </c:pt>
                <c:pt idx="2">
                  <c:v>20 to 21</c:v>
                </c:pt>
                <c:pt idx="3">
                  <c:v>21 to 22</c:v>
                </c:pt>
                <c:pt idx="4">
                  <c:v>22 to 23</c:v>
                </c:pt>
              </c:strCache>
            </c:strRef>
          </c:cat>
          <c:val>
            <c:numRef>
              <c:f>Sheet1!$C$2:$C$6</c:f>
              <c:numCache>
                <c:formatCode>"$"#,##0_);[Red]\("$"#,##0\)</c:formatCode>
                <c:ptCount val="5"/>
                <c:pt idx="0">
                  <c:v>517511</c:v>
                </c:pt>
                <c:pt idx="1">
                  <c:v>574471</c:v>
                </c:pt>
                <c:pt idx="2">
                  <c:v>781694</c:v>
                </c:pt>
                <c:pt idx="3">
                  <c:v>1056608</c:v>
                </c:pt>
                <c:pt idx="4">
                  <c:v>1093279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925B-465E-B63A-9450B1438F8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Est'd Net Cost</c:v>
                </c:pt>
              </c:strCache>
            </c:strRef>
          </c:tx>
          <c:spPr>
            <a:ln>
              <a:solidFill>
                <a:srgbClr val="C00000"/>
              </a:solidFill>
            </a:ln>
          </c:spPr>
          <c:marker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</c:marker>
          <c:dLbls>
            <c:dLbl>
              <c:idx val="0"/>
              <c:layout>
                <c:manualLayout>
                  <c:x val="-5.5864779874213837E-2"/>
                  <c:y val="3.59820887773643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25B-465E-B63A-9450B1438F88}"/>
                </c:ext>
              </c:extLst>
            </c:dLbl>
            <c:dLbl>
              <c:idx val="1"/>
              <c:layout>
                <c:manualLayout>
                  <c:x val="-4.1713836477987425E-2"/>
                  <c:y val="4.147659427186986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25B-465E-B63A-9450B1438F88}"/>
                </c:ext>
              </c:extLst>
            </c:dLbl>
            <c:dLbl>
              <c:idx val="2"/>
              <c:layout>
                <c:manualLayout>
                  <c:x val="-3.542452830188679E-2"/>
                  <c:y val="4.422384701912250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25B-465E-B63A-9450B1438F88}"/>
                </c:ext>
              </c:extLst>
            </c:dLbl>
            <c:dLbl>
              <c:idx val="3"/>
              <c:layout>
                <c:manualLayout>
                  <c:x val="-4.6430817610062895E-2"/>
                  <c:y val="5.246560526088095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7C1-4D31-8AA2-FBB4C3F8A743}"/>
                </c:ext>
              </c:extLst>
            </c:dLbl>
            <c:dLbl>
              <c:idx val="4"/>
              <c:layout>
                <c:manualLayout>
                  <c:x val="-5.2720125786163523E-2"/>
                  <c:y val="4.14765942718697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7C1-4D31-8AA2-FBB4C3F8A74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18 to 19</c:v>
                </c:pt>
                <c:pt idx="1">
                  <c:v>19 to 20</c:v>
                </c:pt>
                <c:pt idx="2">
                  <c:v>20 to 21</c:v>
                </c:pt>
                <c:pt idx="3">
                  <c:v>21 to 22</c:v>
                </c:pt>
                <c:pt idx="4">
                  <c:v>22 to 23</c:v>
                </c:pt>
              </c:strCache>
            </c:strRef>
          </c:cat>
          <c:val>
            <c:numRef>
              <c:f>Sheet1!$D$2:$D$6</c:f>
              <c:numCache>
                <c:formatCode>"$"#,##0_);[Red]\("$"#,##0\)</c:formatCode>
                <c:ptCount val="5"/>
                <c:pt idx="0">
                  <c:v>342884</c:v>
                </c:pt>
                <c:pt idx="1">
                  <c:v>218834</c:v>
                </c:pt>
                <c:pt idx="2">
                  <c:v>225014</c:v>
                </c:pt>
                <c:pt idx="3">
                  <c:v>346099</c:v>
                </c:pt>
                <c:pt idx="4">
                  <c:v>425785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925B-465E-B63A-9450B1438F8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502743264"/>
        <c:axId val="502743656"/>
      </c:lineChart>
      <c:catAx>
        <c:axId val="50274326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00000"/>
                </a:solidFill>
              </a:defRPr>
            </a:pPr>
            <a:endParaRPr lang="en-US"/>
          </a:p>
        </c:txPr>
        <c:crossAx val="502743656"/>
        <c:crosses val="autoZero"/>
        <c:auto val="1"/>
        <c:lblAlgn val="ctr"/>
        <c:lblOffset val="100"/>
        <c:noMultiLvlLbl val="0"/>
      </c:catAx>
      <c:valAx>
        <c:axId val="502743656"/>
        <c:scaling>
          <c:orientation val="minMax"/>
          <c:max val="3000000"/>
          <c:min val="0"/>
        </c:scaling>
        <c:delete val="0"/>
        <c:axPos val="l"/>
        <c:numFmt formatCode="&quot;$&quot;#,##0_);[Red]\(&quot;$&quot;#,##0\)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000000"/>
                </a:solidFill>
              </a:defRPr>
            </a:pPr>
            <a:endParaRPr lang="en-US"/>
          </a:p>
        </c:txPr>
        <c:crossAx val="502743264"/>
        <c:crosses val="autoZero"/>
        <c:crossBetween val="between"/>
        <c:majorUnit val="1000000"/>
      </c:valAx>
      <c:spPr>
        <a:noFill/>
        <a:ln w="25400">
          <a:noFill/>
        </a:ln>
      </c:spPr>
    </c:plotArea>
    <c:legend>
      <c:legendPos val="r"/>
      <c:layout>
        <c:manualLayout>
          <c:xMode val="edge"/>
          <c:yMode val="edge"/>
          <c:x val="0.14092705392957955"/>
          <c:y val="2.2315912434022676E-2"/>
          <c:w val="0.2552993611647601"/>
          <c:h val="0.15886735311932162"/>
        </c:manualLayout>
      </c:layout>
      <c:overlay val="1"/>
      <c:txPr>
        <a:bodyPr/>
        <a:lstStyle/>
        <a:p>
          <a:pPr>
            <a:defRPr sz="12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62143B-AB90-43B9-AD61-7FCD68EEB0C7}" type="datetimeFigureOut">
              <a:rPr lang="en-US" smtClean="0"/>
              <a:t>8/23/2023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33838D-D2F6-4E9C-8839-5B630DBBF5A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803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253EAEF-AE4B-46C8-B37E-2AE6244C2D41}" type="datetimeFigureOut">
              <a:rPr lang="en-US" smtClean="0"/>
              <a:pPr/>
              <a:t>8/23/2023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A3D752B-4229-4D24-ABE3-D90EF71148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06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457" r="65790" b="3271"/>
          <a:stretch/>
        </p:blipFill>
        <p:spPr>
          <a:xfrm>
            <a:off x="0" y="6534389"/>
            <a:ext cx="3128211" cy="224368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7239000" y="304800"/>
            <a:ext cx="1591374" cy="6106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533399" y="6333064"/>
            <a:ext cx="8296975" cy="76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"/>
          <p:cNvSpPr>
            <a:spLocks noGrp="1" noChangeArrowheads="1"/>
          </p:cNvSpPr>
          <p:nvPr>
            <p:ph type="ctrTitle" hasCustomPrompt="1"/>
          </p:nvPr>
        </p:nvSpPr>
        <p:spPr bwMode="ltGray">
          <a:xfrm>
            <a:off x="424455" y="2418342"/>
            <a:ext cx="7772400" cy="1066800"/>
          </a:xfrm>
          <a:prstGeom prst="rect">
            <a:avLst/>
          </a:prstGeom>
        </p:spPr>
        <p:txBody>
          <a:bodyPr anchor="t"/>
          <a:lstStyle>
            <a:lvl1pPr algn="l">
              <a:defRPr sz="3600">
                <a:solidFill>
                  <a:schemeClr val="bg1"/>
                </a:solidFill>
                <a:latin typeface="Century Gothic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8734925" y="1524000"/>
            <a:ext cx="190900" cy="497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8" name="Picture 2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500" b="83611"/>
          <a:stretch/>
        </p:blipFill>
        <p:spPr>
          <a:xfrm>
            <a:off x="6868425" y="394767"/>
            <a:ext cx="2057400" cy="1123950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76" b="6341"/>
          <a:stretch/>
        </p:blipFill>
        <p:spPr bwMode="auto">
          <a:xfrm rot="10800000">
            <a:off x="401836" y="2252311"/>
            <a:ext cx="8378825" cy="4071487"/>
          </a:xfrm>
          <a:prstGeom prst="round1Rect">
            <a:avLst>
              <a:gd name="adj" fmla="val 7273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411460" y="1600199"/>
            <a:ext cx="8333090" cy="652111"/>
          </a:xfrm>
          <a:prstGeom prst="rect">
            <a:avLst/>
          </a:prstGeom>
          <a:solidFill>
            <a:srgbClr val="FBAF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219264" y="1376534"/>
            <a:ext cx="190900" cy="497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/>
          <p:cNvSpPr/>
          <p:nvPr userDrawn="1"/>
        </p:nvSpPr>
        <p:spPr>
          <a:xfrm>
            <a:off x="8732198" y="1419481"/>
            <a:ext cx="224273" cy="518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1600200" y="192088"/>
            <a:ext cx="7162800" cy="431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43800" y="6477000"/>
            <a:ext cx="1219200" cy="2286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2F4ABE-4A32-4695-8D4E-D624193DB3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956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chemeClr val="bg1">
                <a:gamma/>
                <a:tint val="39216"/>
                <a:invGamma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16256" y="429904"/>
            <a:ext cx="81534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7864" y="1295400"/>
            <a:ext cx="5962936" cy="487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704" r:id="rId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Candar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Candar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Candar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Candar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bg1"/>
          </a:solidFill>
          <a:latin typeface="Arial" charset="0"/>
        </a:defRPr>
      </a:lvl9pPr>
    </p:titleStyle>
    <p:bodyStyle>
      <a:lvl1pPr marL="230188" indent="-230188" algn="l" rtl="0" eaLnBrk="1" fontAlgn="base" hangingPunct="1">
        <a:spcBef>
          <a:spcPts val="100"/>
        </a:spcBef>
        <a:spcAft>
          <a:spcPct val="0"/>
        </a:spcAft>
        <a:buClr>
          <a:srgbClr val="323232"/>
        </a:buClr>
        <a:buSzPct val="85000"/>
        <a:buChar char="•"/>
        <a:defRPr sz="1600">
          <a:solidFill>
            <a:srgbClr val="323232"/>
          </a:solidFill>
          <a:latin typeface="Calibri" pitchFamily="34" charset="0"/>
          <a:ea typeface="+mn-ea"/>
          <a:cs typeface="+mn-cs"/>
        </a:defRPr>
      </a:lvl1pPr>
      <a:lvl2pPr marL="684213" indent="-227013" algn="l" rtl="0" eaLnBrk="1" fontAlgn="base" hangingPunct="1">
        <a:spcBef>
          <a:spcPts val="100"/>
        </a:spcBef>
        <a:spcAft>
          <a:spcPct val="0"/>
        </a:spcAft>
        <a:buClr>
          <a:srgbClr val="323232"/>
        </a:buClr>
        <a:buSzPct val="85000"/>
        <a:buChar char="–"/>
        <a:defRPr sz="1600">
          <a:solidFill>
            <a:srgbClr val="323232"/>
          </a:solidFill>
          <a:latin typeface="Calibri" pitchFamily="34" charset="0"/>
        </a:defRPr>
      </a:lvl2pPr>
      <a:lvl3pPr marL="1143000" indent="-228600" algn="l" rtl="0" eaLnBrk="1" fontAlgn="base" hangingPunct="1">
        <a:spcBef>
          <a:spcPts val="100"/>
        </a:spcBef>
        <a:spcAft>
          <a:spcPct val="0"/>
        </a:spcAft>
        <a:buClr>
          <a:srgbClr val="323232"/>
        </a:buClr>
        <a:buSzPct val="85000"/>
        <a:buFont typeface="Wingdings" pitchFamily="2" charset="2"/>
        <a:buChar char="§"/>
        <a:defRPr sz="1600">
          <a:solidFill>
            <a:srgbClr val="323232"/>
          </a:solidFill>
          <a:latin typeface="Calibri" pitchFamily="34" charset="0"/>
        </a:defRPr>
      </a:lvl3pPr>
      <a:lvl4pPr marL="1600200" indent="-228600" algn="l" rtl="0" eaLnBrk="1" fontAlgn="base" hangingPunct="1">
        <a:spcBef>
          <a:spcPts val="100"/>
        </a:spcBef>
        <a:spcAft>
          <a:spcPct val="0"/>
        </a:spcAft>
        <a:buClr>
          <a:srgbClr val="323232"/>
        </a:buClr>
        <a:buSzPct val="60000"/>
        <a:buFont typeface="Wingdings" pitchFamily="2" charset="2"/>
        <a:buChar char="v"/>
        <a:defRPr sz="1600">
          <a:solidFill>
            <a:srgbClr val="323232"/>
          </a:solidFill>
          <a:latin typeface="Calibri" pitchFamily="34" charset="0"/>
        </a:defRPr>
      </a:lvl4pPr>
      <a:lvl5pPr marL="2057400" indent="-228600" algn="l" rtl="0" eaLnBrk="1" fontAlgn="base" hangingPunct="1">
        <a:spcBef>
          <a:spcPts val="100"/>
        </a:spcBef>
        <a:spcAft>
          <a:spcPct val="0"/>
        </a:spcAft>
        <a:buClr>
          <a:srgbClr val="323232"/>
        </a:buClr>
        <a:buSzPct val="85000"/>
        <a:buChar char="»"/>
        <a:defRPr sz="1600">
          <a:solidFill>
            <a:srgbClr val="323232"/>
          </a:solidFill>
          <a:latin typeface="Calibri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2"/>
          <p:cNvSpPr>
            <a:spLocks noGrp="1"/>
          </p:cNvSpPr>
          <p:nvPr>
            <p:ph type="title"/>
          </p:nvPr>
        </p:nvSpPr>
        <p:spPr>
          <a:xfrm>
            <a:off x="571100" y="504525"/>
            <a:ext cx="7848600" cy="431800"/>
          </a:xfrm>
        </p:spPr>
        <p:txBody>
          <a:bodyPr/>
          <a:lstStyle/>
          <a:p>
            <a:r>
              <a:rPr lang="en-US" sz="2000" dirty="0"/>
              <a:t>CRB Group Captive Policies vs. Traditional Insurance</a:t>
            </a:r>
            <a:br>
              <a:rPr lang="en-US" sz="2000" dirty="0"/>
            </a:br>
            <a:r>
              <a:rPr lang="en-US" sz="1400" dirty="0"/>
              <a:t>(Workers Compensation, General Liability, and Business Auto) as of 3/31/23</a:t>
            </a:r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965733488"/>
              </p:ext>
            </p:extLst>
          </p:nvPr>
        </p:nvGraphicFramePr>
        <p:xfrm>
          <a:off x="609600" y="1397000"/>
          <a:ext cx="8077200" cy="4622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81000" y="6076890"/>
            <a:ext cx="6858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0000"/>
                </a:solidFill>
              </a:rPr>
              <a:t>Traditional</a:t>
            </a:r>
            <a:r>
              <a:rPr lang="en-US" sz="1000" dirty="0">
                <a:solidFill>
                  <a:srgbClr val="000000"/>
                </a:solidFill>
              </a:rPr>
              <a:t> </a:t>
            </a:r>
            <a:r>
              <a:rPr lang="en-US" sz="1000" b="1" dirty="0">
                <a:solidFill>
                  <a:srgbClr val="000000"/>
                </a:solidFill>
              </a:rPr>
              <a:t>Insurance</a:t>
            </a:r>
            <a:r>
              <a:rPr lang="en-US" sz="1000" dirty="0">
                <a:solidFill>
                  <a:srgbClr val="000000"/>
                </a:solidFill>
              </a:rPr>
              <a:t> amounts are estimated using rates from last year CNA quoted (2018)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0091" y="3133709"/>
            <a:ext cx="2828109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000000"/>
                </a:solidFill>
              </a:rPr>
              <a:t>Total savings through 5 years is $4,713,255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5066" y="6594195"/>
            <a:ext cx="13949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solidFill>
                  <a:srgbClr val="000000"/>
                </a:solidFill>
              </a:rPr>
              <a:t>As of March 31, 2023</a:t>
            </a:r>
            <a:endParaRPr lang="en-US" sz="1000" dirty="0">
              <a:solidFill>
                <a:srgbClr val="000000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0" t="88889" r="3125" b="1787"/>
          <a:stretch/>
        </p:blipFill>
        <p:spPr>
          <a:xfrm>
            <a:off x="7547711" y="6211758"/>
            <a:ext cx="1371600" cy="568445"/>
          </a:xfrm>
          <a:prstGeom prst="rect">
            <a:avLst/>
          </a:prstGeom>
        </p:spPr>
      </p:pic>
      <p:sp>
        <p:nvSpPr>
          <p:cNvPr id="19" name="TextBox 5"/>
          <p:cNvSpPr txBox="1"/>
          <p:nvPr/>
        </p:nvSpPr>
        <p:spPr>
          <a:xfrm>
            <a:off x="4191000" y="1523303"/>
            <a:ext cx="25146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r>
              <a:rPr lang="en-US" sz="1000" b="1" dirty="0">
                <a:solidFill>
                  <a:srgbClr val="000000"/>
                </a:solidFill>
              </a:rPr>
              <a:t>Note: </a:t>
            </a:r>
            <a:r>
              <a:rPr lang="en-US" sz="1000" dirty="0">
                <a:solidFill>
                  <a:srgbClr val="000000"/>
                </a:solidFill>
              </a:rPr>
              <a:t>The Est’d Net Cost is based on Captive pay-in premium minus the equity balance before IBNR as shown on the Captive Financial Member Summary page dated 3/31/23</a:t>
            </a:r>
          </a:p>
        </p:txBody>
      </p:sp>
    </p:spTree>
    <p:extLst>
      <p:ext uri="{BB962C8B-B14F-4D97-AF65-F5344CB8AC3E}">
        <p14:creationId xmlns:p14="http://schemas.microsoft.com/office/powerpoint/2010/main" val="1123514389"/>
      </p:ext>
    </p:extLst>
  </p:cSld>
  <p:clrMapOvr>
    <a:masterClrMapping/>
  </p:clrMapOvr>
</p:sld>
</file>

<file path=ppt/theme/theme1.xml><?xml version="1.0" encoding="utf-8"?>
<a:theme xmlns:a="http://schemas.openxmlformats.org/drawingml/2006/main" name="Powerpoint_2">
  <a:themeElements>
    <a:clrScheme name="Custom 4">
      <a:dk1>
        <a:srgbClr val="503C24"/>
      </a:dk1>
      <a:lt1>
        <a:sysClr val="window" lastClr="FFFFFF"/>
      </a:lt1>
      <a:dk2>
        <a:srgbClr val="4D7889"/>
      </a:dk2>
      <a:lt2>
        <a:srgbClr val="CAAB72"/>
      </a:lt2>
      <a:accent1>
        <a:srgbClr val="339946"/>
      </a:accent1>
      <a:accent2>
        <a:srgbClr val="4D7889"/>
      </a:accent2>
      <a:accent3>
        <a:srgbClr val="95A53A"/>
      </a:accent3>
      <a:accent4>
        <a:srgbClr val="96B7C4"/>
      </a:accent4>
      <a:accent5>
        <a:srgbClr val="E6A433"/>
      </a:accent5>
      <a:accent6>
        <a:srgbClr val="DC7123"/>
      </a:accent6>
      <a:hlink>
        <a:srgbClr val="4D7889"/>
      </a:hlink>
      <a:folHlink>
        <a:srgbClr val="DC7123"/>
      </a:folHlink>
    </a:clrScheme>
    <a:fontScheme name="ms01_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ms01_1 1">
        <a:dk1>
          <a:srgbClr val="1D528D"/>
        </a:dk1>
        <a:lt1>
          <a:srgbClr val="FFFFFF"/>
        </a:lt1>
        <a:dk2>
          <a:srgbClr val="000000"/>
        </a:dk2>
        <a:lt2>
          <a:srgbClr val="CACACA"/>
        </a:lt2>
        <a:accent1>
          <a:srgbClr val="0099CC"/>
        </a:accent1>
        <a:accent2>
          <a:srgbClr val="BFA907"/>
        </a:accent2>
        <a:accent3>
          <a:srgbClr val="FFFFFF"/>
        </a:accent3>
        <a:accent4>
          <a:srgbClr val="174578"/>
        </a:accent4>
        <a:accent5>
          <a:srgbClr val="AACAE2"/>
        </a:accent5>
        <a:accent6>
          <a:srgbClr val="AD9906"/>
        </a:accent6>
        <a:hlink>
          <a:srgbClr val="6E81E0"/>
        </a:hlink>
        <a:folHlink>
          <a:srgbClr val="0099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s01_1 2">
        <a:dk1>
          <a:srgbClr val="4E40A4"/>
        </a:dk1>
        <a:lt1>
          <a:srgbClr val="FFFFFF"/>
        </a:lt1>
        <a:dk2>
          <a:srgbClr val="000000"/>
        </a:dk2>
        <a:lt2>
          <a:srgbClr val="CACACA"/>
        </a:lt2>
        <a:accent1>
          <a:srgbClr val="8B65E9"/>
        </a:accent1>
        <a:accent2>
          <a:srgbClr val="008080"/>
        </a:accent2>
        <a:accent3>
          <a:srgbClr val="FFFFFF"/>
        </a:accent3>
        <a:accent4>
          <a:srgbClr val="41358B"/>
        </a:accent4>
        <a:accent5>
          <a:srgbClr val="C4B8F2"/>
        </a:accent5>
        <a:accent6>
          <a:srgbClr val="007373"/>
        </a:accent6>
        <a:hlink>
          <a:srgbClr val="0066CC"/>
        </a:hlink>
        <a:folHlink>
          <a:srgbClr val="8AB15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s01_1 3">
        <a:dk1>
          <a:srgbClr val="666699"/>
        </a:dk1>
        <a:lt1>
          <a:srgbClr val="FFFFFF"/>
        </a:lt1>
        <a:dk2>
          <a:srgbClr val="000000"/>
        </a:dk2>
        <a:lt2>
          <a:srgbClr val="CACACA"/>
        </a:lt2>
        <a:accent1>
          <a:srgbClr val="72B88E"/>
        </a:accent1>
        <a:accent2>
          <a:srgbClr val="C78DD7"/>
        </a:accent2>
        <a:accent3>
          <a:srgbClr val="FFFFFF"/>
        </a:accent3>
        <a:accent4>
          <a:srgbClr val="565682"/>
        </a:accent4>
        <a:accent5>
          <a:srgbClr val="BCD8C6"/>
        </a:accent5>
        <a:accent6>
          <a:srgbClr val="B47FC3"/>
        </a:accent6>
        <a:hlink>
          <a:srgbClr val="3197BB"/>
        </a:hlink>
        <a:folHlink>
          <a:srgbClr val="878FA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Powerpoint_2</Template>
  <TotalTime>12165</TotalTime>
  <Words>96</Words>
  <Application>Microsoft Office PowerPoint</Application>
  <PresentationFormat>On-screen Show (4:3)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Candara</vt:lpstr>
      <vt:lpstr>Century Gothic</vt:lpstr>
      <vt:lpstr>Wingdings</vt:lpstr>
      <vt:lpstr>Powerpoint_2</vt:lpstr>
      <vt:lpstr>CRB Group Captive Policies vs. Traditional Insurance (Workers Compensation, General Liability, and Business Auto) as of 3/31/23</vt:lpstr>
    </vt:vector>
  </TitlesOfParts>
  <Company>EPIC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EPIC Edge: Holistic Benefits Management</dc:title>
  <dc:creator>dkappenman</dc:creator>
  <cp:lastModifiedBy>Chris Hecht</cp:lastModifiedBy>
  <cp:revision>390</cp:revision>
  <dcterms:created xsi:type="dcterms:W3CDTF">2010-07-13T15:22:03Z</dcterms:created>
  <dcterms:modified xsi:type="dcterms:W3CDTF">2023-08-23T15:16:21Z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TC011367961033</vt:lpwstr>
  </property>
</Properties>
</file>