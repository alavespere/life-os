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16"/>
  </p:notesMasterIdLst>
  <p:sldIdLst>
    <p:sldId id="257" r:id="rId5"/>
    <p:sldId id="334" r:id="rId6"/>
    <p:sldId id="335" r:id="rId7"/>
    <p:sldId id="356" r:id="rId8"/>
    <p:sldId id="359" r:id="rId9"/>
    <p:sldId id="358" r:id="rId10"/>
    <p:sldId id="357" r:id="rId11"/>
    <p:sldId id="360" r:id="rId12"/>
    <p:sldId id="354" r:id="rId13"/>
    <p:sldId id="361" r:id="rId14"/>
    <p:sldId id="270" r:id="rId15"/>
  </p:sldIdLst>
  <p:sldSz cx="9906000" cy="6858000" type="A4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2F92"/>
    <a:srgbClr val="EC008C"/>
    <a:srgbClr val="AAA576"/>
    <a:srgbClr val="F04E23"/>
    <a:srgbClr val="0DB1B1"/>
    <a:srgbClr val="74868E"/>
    <a:srgbClr val="9E0040"/>
    <a:srgbClr val="008AC3"/>
    <a:srgbClr val="0091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5DF6BE-AB5B-417B-80D7-2B54141DD24C}" v="49" dt="2021-02-02T23:48:39.1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22931" autoAdjust="0"/>
    <p:restoredTop sz="94682"/>
  </p:normalViewPr>
  <p:slideViewPr>
    <p:cSldViewPr snapToGrid="0" snapToObjects="1" showGuides="1">
      <p:cViewPr varScale="1">
        <p:scale>
          <a:sx n="108" d="100"/>
          <a:sy n="108" d="100"/>
        </p:scale>
        <p:origin x="2136" y="10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ice Edwards" userId="S::maurice.edwards@epicbrokers.com::d7cd40ad-7f44-42ba-86e5-c18cdf18cd9b" providerId="AD" clId="Web-{FF5DF6BE-AB5B-417B-80D7-2B54141DD24C}"/>
    <pc:docChg chg="modSld">
      <pc:chgData name="Maurice Edwards" userId="S::maurice.edwards@epicbrokers.com::d7cd40ad-7f44-42ba-86e5-c18cdf18cd9b" providerId="AD" clId="Web-{FF5DF6BE-AB5B-417B-80D7-2B54141DD24C}" dt="2021-02-02T23:48:39.106" v="26"/>
      <pc:docMkLst>
        <pc:docMk/>
      </pc:docMkLst>
      <pc:sldChg chg="delSp">
        <pc:chgData name="Maurice Edwards" userId="S::maurice.edwards@epicbrokers.com::d7cd40ad-7f44-42ba-86e5-c18cdf18cd9b" providerId="AD" clId="Web-{FF5DF6BE-AB5B-417B-80D7-2B54141DD24C}" dt="2021-02-02T23:48:39.106" v="26"/>
        <pc:sldMkLst>
          <pc:docMk/>
          <pc:sldMk cId="2527814969" sldId="354"/>
        </pc:sldMkLst>
        <pc:spChg chg="del">
          <ac:chgData name="Maurice Edwards" userId="S::maurice.edwards@epicbrokers.com::d7cd40ad-7f44-42ba-86e5-c18cdf18cd9b" providerId="AD" clId="Web-{FF5DF6BE-AB5B-417B-80D7-2B54141DD24C}" dt="2021-02-02T23:48:39.106" v="26"/>
          <ac:spMkLst>
            <pc:docMk/>
            <pc:sldMk cId="2527814969" sldId="354"/>
            <ac:spMk id="3" creationId="{00000000-0000-0000-0000-000000000000}"/>
          </ac:spMkLst>
        </pc:spChg>
      </pc:sldChg>
      <pc:sldChg chg="modSp">
        <pc:chgData name="Maurice Edwards" userId="S::maurice.edwards@epicbrokers.com::d7cd40ad-7f44-42ba-86e5-c18cdf18cd9b" providerId="AD" clId="Web-{FF5DF6BE-AB5B-417B-80D7-2B54141DD24C}" dt="2021-02-02T23:48:24.028" v="25" actId="20577"/>
        <pc:sldMkLst>
          <pc:docMk/>
          <pc:sldMk cId="2820159971" sldId="358"/>
        </pc:sldMkLst>
        <pc:spChg chg="mod">
          <ac:chgData name="Maurice Edwards" userId="S::maurice.edwards@epicbrokers.com::d7cd40ad-7f44-42ba-86e5-c18cdf18cd9b" providerId="AD" clId="Web-{FF5DF6BE-AB5B-417B-80D7-2B54141DD24C}" dt="2021-02-02T23:48:24.028" v="25" actId="20577"/>
          <ac:spMkLst>
            <pc:docMk/>
            <pc:sldMk cId="2820159971" sldId="358"/>
            <ac:spMk id="3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1A9F681-A32E-4693-8A22-F2960CE58C8E}" type="doc">
      <dgm:prSet loTypeId="urn:microsoft.com/office/officeart/2005/8/layout/chevron2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ZA"/>
        </a:p>
      </dgm:t>
    </dgm:pt>
    <dgm:pt modelId="{06DD90C1-28A2-4F47-BA35-418CB78C4D65}">
      <dgm:prSet phldrT="[Text]" custT="1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  <a:scene3d>
          <a:camera prst="orthographicFront"/>
          <a:lightRig rig="threePt" dir="t"/>
        </a:scene3d>
        <a:sp3d>
          <a:bevelT w="152400" h="50800" prst="softRound"/>
        </a:sp3d>
      </dgm:spPr>
      <dgm:t>
        <a:bodyPr anchor="b"/>
        <a:lstStyle/>
        <a:p>
          <a:r>
            <a:rPr lang="en-ZA" sz="2000" b="1" dirty="0">
              <a:solidFill>
                <a:srgbClr val="0000FF"/>
              </a:solidFill>
            </a:rPr>
            <a:t>1</a:t>
          </a:r>
          <a:r>
            <a:rPr lang="en-ZA" sz="1800" b="1" dirty="0"/>
            <a:t> </a:t>
          </a:r>
        </a:p>
      </dgm:t>
    </dgm:pt>
    <dgm:pt modelId="{4FE1E724-5B0A-4502-AEBA-852D9577E28D}" type="parTrans" cxnId="{0FB9545E-02C4-4CFC-BF79-964823C0063E}">
      <dgm:prSet/>
      <dgm:spPr/>
      <dgm:t>
        <a:bodyPr/>
        <a:lstStyle/>
        <a:p>
          <a:endParaRPr lang="en-ZA"/>
        </a:p>
      </dgm:t>
    </dgm:pt>
    <dgm:pt modelId="{C77021FE-9377-4F73-BB46-219756A0344A}" type="sibTrans" cxnId="{0FB9545E-02C4-4CFC-BF79-964823C0063E}">
      <dgm:prSet/>
      <dgm:spPr/>
      <dgm:t>
        <a:bodyPr/>
        <a:lstStyle/>
        <a:p>
          <a:endParaRPr lang="en-ZA"/>
        </a:p>
      </dgm:t>
    </dgm:pt>
    <dgm:pt modelId="{2DAAAA0E-0519-4636-BE57-EFEB3FDE2CE6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600" dirty="0"/>
            <a:t>Instil a </a:t>
          </a:r>
          <a:r>
            <a:rPr lang="en-GB" sz="1600" b="1" dirty="0"/>
            <a:t>culture</a:t>
          </a:r>
          <a:r>
            <a:rPr lang="en-GB" sz="1600" dirty="0"/>
            <a:t> where risk management and risk ownership are being practiced as the responsibility of every employee.</a:t>
          </a:r>
          <a:endParaRPr lang="en-ZA" sz="1600" dirty="0"/>
        </a:p>
      </dgm:t>
    </dgm:pt>
    <dgm:pt modelId="{905E216A-38B3-478D-9D01-45B49C300EA3}" type="parTrans" cxnId="{480AB0AB-40E7-46C3-8E2F-A0FEF7C45CFC}">
      <dgm:prSet/>
      <dgm:spPr/>
      <dgm:t>
        <a:bodyPr/>
        <a:lstStyle/>
        <a:p>
          <a:endParaRPr lang="en-ZA"/>
        </a:p>
      </dgm:t>
    </dgm:pt>
    <dgm:pt modelId="{2407FB5B-23F7-4233-B7CD-6639AEDD6A04}" type="sibTrans" cxnId="{480AB0AB-40E7-46C3-8E2F-A0FEF7C45CFC}">
      <dgm:prSet/>
      <dgm:spPr/>
      <dgm:t>
        <a:bodyPr/>
        <a:lstStyle/>
        <a:p>
          <a:endParaRPr lang="en-ZA"/>
        </a:p>
      </dgm:t>
    </dgm:pt>
    <dgm:pt modelId="{3B641677-7782-4D67-A01F-7E3672A68B6D}">
      <dgm:prSet phldrT="[Text]" custT="1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  <a:scene3d>
          <a:camera prst="orthographicFront"/>
          <a:lightRig rig="threePt" dir="t"/>
        </a:scene3d>
        <a:sp3d>
          <a:bevelT w="152400" h="50800" prst="softRound"/>
        </a:sp3d>
      </dgm:spPr>
      <dgm:t>
        <a:bodyPr anchor="b"/>
        <a:lstStyle/>
        <a:p>
          <a:r>
            <a:rPr lang="en-ZA" sz="2000" b="1" dirty="0">
              <a:solidFill>
                <a:srgbClr val="0000FF"/>
              </a:solidFill>
            </a:rPr>
            <a:t>2</a:t>
          </a:r>
          <a:r>
            <a:rPr lang="en-ZA" sz="2100" b="1" dirty="0"/>
            <a:t> </a:t>
          </a:r>
        </a:p>
      </dgm:t>
    </dgm:pt>
    <dgm:pt modelId="{9DE67017-15A9-40B4-BE52-863D1EC59CF3}" type="parTrans" cxnId="{1CFEA78E-05A6-4655-B1D9-B2BF0BD46C69}">
      <dgm:prSet/>
      <dgm:spPr/>
      <dgm:t>
        <a:bodyPr/>
        <a:lstStyle/>
        <a:p>
          <a:endParaRPr lang="en-ZA"/>
        </a:p>
      </dgm:t>
    </dgm:pt>
    <dgm:pt modelId="{D199AE7D-5C95-49AE-8AC2-DF0B297858CC}" type="sibTrans" cxnId="{1CFEA78E-05A6-4655-B1D9-B2BF0BD46C69}">
      <dgm:prSet/>
      <dgm:spPr/>
      <dgm:t>
        <a:bodyPr/>
        <a:lstStyle/>
        <a:p>
          <a:endParaRPr lang="en-ZA"/>
        </a:p>
      </dgm:t>
    </dgm:pt>
    <dgm:pt modelId="{81795C2F-AA34-45EF-A85C-9C11124A4688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600" dirty="0"/>
            <a:t>Create an appropriate </a:t>
          </a:r>
          <a:r>
            <a:rPr lang="en-GB" sz="1600" b="1" dirty="0"/>
            <a:t>awareness</a:t>
          </a:r>
          <a:r>
            <a:rPr lang="en-GB" sz="1600" dirty="0"/>
            <a:t> and understanding of risks throughout the Group to enable risks to be engaged in an informed manner.</a:t>
          </a:r>
          <a:endParaRPr lang="en-ZA" sz="1600" dirty="0"/>
        </a:p>
      </dgm:t>
    </dgm:pt>
    <dgm:pt modelId="{E1BEDB92-DFD0-4FED-9687-11B3D75A6579}" type="parTrans" cxnId="{DAA711B4-A246-48F3-94B4-8229DCDC1AD1}">
      <dgm:prSet/>
      <dgm:spPr/>
      <dgm:t>
        <a:bodyPr/>
        <a:lstStyle/>
        <a:p>
          <a:endParaRPr lang="en-ZA"/>
        </a:p>
      </dgm:t>
    </dgm:pt>
    <dgm:pt modelId="{C7C20941-BF74-4452-B9F0-557456CE9B23}" type="sibTrans" cxnId="{DAA711B4-A246-48F3-94B4-8229DCDC1AD1}">
      <dgm:prSet/>
      <dgm:spPr/>
      <dgm:t>
        <a:bodyPr/>
        <a:lstStyle/>
        <a:p>
          <a:endParaRPr lang="en-ZA"/>
        </a:p>
      </dgm:t>
    </dgm:pt>
    <dgm:pt modelId="{722BD3C2-3839-4EE0-BE3A-FF2DBEFD9FF8}">
      <dgm:prSet phldrT="[Text]" custT="1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  <a:scene3d>
          <a:camera prst="orthographicFront"/>
          <a:lightRig rig="threePt" dir="t"/>
        </a:scene3d>
        <a:sp3d>
          <a:bevelT w="152400" h="50800" prst="softRound"/>
        </a:sp3d>
      </dgm:spPr>
      <dgm:t>
        <a:bodyPr anchor="b"/>
        <a:lstStyle/>
        <a:p>
          <a:r>
            <a:rPr lang="en-ZA" sz="2000" b="1" dirty="0">
              <a:solidFill>
                <a:srgbClr val="0000FF"/>
              </a:solidFill>
            </a:rPr>
            <a:t>3</a:t>
          </a:r>
          <a:r>
            <a:rPr lang="en-ZA" sz="2100" b="1" dirty="0"/>
            <a:t> </a:t>
          </a:r>
        </a:p>
      </dgm:t>
    </dgm:pt>
    <dgm:pt modelId="{D43DD967-1D40-4E19-8A1D-8A5B17B1BEA0}" type="parTrans" cxnId="{D319EC6C-4B70-4A49-B6F3-EA05AA8DBDBF}">
      <dgm:prSet/>
      <dgm:spPr/>
      <dgm:t>
        <a:bodyPr/>
        <a:lstStyle/>
        <a:p>
          <a:endParaRPr lang="en-ZA"/>
        </a:p>
      </dgm:t>
    </dgm:pt>
    <dgm:pt modelId="{EC197F9E-0A3A-4F6D-A3F7-8FA70B8407B4}" type="sibTrans" cxnId="{D319EC6C-4B70-4A49-B6F3-EA05AA8DBDBF}">
      <dgm:prSet/>
      <dgm:spPr/>
      <dgm:t>
        <a:bodyPr/>
        <a:lstStyle/>
        <a:p>
          <a:endParaRPr lang="en-ZA"/>
        </a:p>
      </dgm:t>
    </dgm:pt>
    <dgm:pt modelId="{B2C33B2E-BAE8-43D4-80A9-8FD30272CB3E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600" dirty="0"/>
            <a:t>Proactively </a:t>
          </a:r>
          <a:r>
            <a:rPr lang="en-GB" sz="1600" b="1" dirty="0"/>
            <a:t>identify</a:t>
          </a:r>
          <a:r>
            <a:rPr lang="en-GB" sz="1600" dirty="0"/>
            <a:t> and appropriately </a:t>
          </a:r>
          <a:r>
            <a:rPr lang="en-GB" sz="1600" b="1" dirty="0"/>
            <a:t>manage</a:t>
          </a:r>
          <a:r>
            <a:rPr lang="en-GB" sz="1600" dirty="0"/>
            <a:t> risks within the risk appetite of the Group.</a:t>
          </a:r>
          <a:endParaRPr lang="en-ZA" sz="1600" dirty="0"/>
        </a:p>
      </dgm:t>
    </dgm:pt>
    <dgm:pt modelId="{25482830-F6AC-455F-A378-EC6BDF9F25ED}" type="parTrans" cxnId="{236E373D-D65B-4D87-8F90-3D7F748C9667}">
      <dgm:prSet/>
      <dgm:spPr/>
      <dgm:t>
        <a:bodyPr/>
        <a:lstStyle/>
        <a:p>
          <a:endParaRPr lang="en-ZA"/>
        </a:p>
      </dgm:t>
    </dgm:pt>
    <dgm:pt modelId="{978A8928-D892-4D14-B956-B656A7206E80}" type="sibTrans" cxnId="{236E373D-D65B-4D87-8F90-3D7F748C9667}">
      <dgm:prSet/>
      <dgm:spPr/>
      <dgm:t>
        <a:bodyPr/>
        <a:lstStyle/>
        <a:p>
          <a:endParaRPr lang="en-ZA"/>
        </a:p>
      </dgm:t>
    </dgm:pt>
    <dgm:pt modelId="{DFF0C01D-2474-4ABE-999B-FF54E20A5572}">
      <dgm:prSet custT="1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  <a:scene3d>
          <a:camera prst="orthographicFront"/>
          <a:lightRig rig="threePt" dir="t"/>
        </a:scene3d>
        <a:sp3d>
          <a:bevelT w="152400" h="50800" prst="softRound"/>
        </a:sp3d>
      </dgm:spPr>
      <dgm:t>
        <a:bodyPr anchor="b"/>
        <a:lstStyle/>
        <a:p>
          <a:r>
            <a:rPr lang="en-ZA" sz="2000" b="1" dirty="0">
              <a:solidFill>
                <a:srgbClr val="0000FF"/>
              </a:solidFill>
            </a:rPr>
            <a:t>4</a:t>
          </a:r>
        </a:p>
      </dgm:t>
    </dgm:pt>
    <dgm:pt modelId="{90A79225-BF02-46F4-BF78-02570666FC1A}" type="parTrans" cxnId="{DBFD5B54-0810-4F53-B771-02EB02D28AA0}">
      <dgm:prSet/>
      <dgm:spPr/>
      <dgm:t>
        <a:bodyPr/>
        <a:lstStyle/>
        <a:p>
          <a:endParaRPr lang="en-ZA"/>
        </a:p>
      </dgm:t>
    </dgm:pt>
    <dgm:pt modelId="{6B293D68-8960-4A01-ACE2-DB7B9E25FEBA}" type="sibTrans" cxnId="{DBFD5B54-0810-4F53-B771-02EB02D28AA0}">
      <dgm:prSet/>
      <dgm:spPr/>
      <dgm:t>
        <a:bodyPr/>
        <a:lstStyle/>
        <a:p>
          <a:endParaRPr lang="en-ZA"/>
        </a:p>
      </dgm:t>
    </dgm:pt>
    <dgm:pt modelId="{88463300-19D4-4580-B54E-C038011F9B28}">
      <dgm:prSet custT="1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  <a:scene3d>
          <a:camera prst="orthographicFront"/>
          <a:lightRig rig="threePt" dir="t"/>
        </a:scene3d>
        <a:sp3d>
          <a:bevelT w="152400" h="50800" prst="softRound"/>
        </a:sp3d>
      </dgm:spPr>
      <dgm:t>
        <a:bodyPr anchor="b"/>
        <a:lstStyle/>
        <a:p>
          <a:r>
            <a:rPr lang="en-ZA" sz="2000" b="1" dirty="0">
              <a:solidFill>
                <a:srgbClr val="0000FF"/>
              </a:solidFill>
            </a:rPr>
            <a:t>5</a:t>
          </a:r>
          <a:r>
            <a:rPr lang="en-ZA" sz="2100" b="1" dirty="0"/>
            <a:t> </a:t>
          </a:r>
        </a:p>
      </dgm:t>
    </dgm:pt>
    <dgm:pt modelId="{2C91F413-58D5-4FBB-9F28-D298B23B1378}" type="parTrans" cxnId="{F011A188-879A-407B-AC17-0F4C82E8D134}">
      <dgm:prSet/>
      <dgm:spPr/>
      <dgm:t>
        <a:bodyPr/>
        <a:lstStyle/>
        <a:p>
          <a:endParaRPr lang="en-ZA"/>
        </a:p>
      </dgm:t>
    </dgm:pt>
    <dgm:pt modelId="{273B6C77-5B22-4EAE-A0CD-D96155C4C3FD}" type="sibTrans" cxnId="{F011A188-879A-407B-AC17-0F4C82E8D134}">
      <dgm:prSet/>
      <dgm:spPr/>
      <dgm:t>
        <a:bodyPr/>
        <a:lstStyle/>
        <a:p>
          <a:endParaRPr lang="en-ZA"/>
        </a:p>
      </dgm:t>
    </dgm:pt>
    <dgm:pt modelId="{80358B2C-2897-48BC-B104-64A3C0CCEB1C}">
      <dgm:prSet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600" b="1" dirty="0"/>
            <a:t>Embed risk management </a:t>
          </a:r>
          <a:r>
            <a:rPr lang="en-GB" sz="1600" dirty="0"/>
            <a:t>in the way the Group is managed and the way in which it operates, and</a:t>
          </a:r>
          <a:endParaRPr lang="en-ZA" sz="1600" dirty="0"/>
        </a:p>
      </dgm:t>
    </dgm:pt>
    <dgm:pt modelId="{1BC23684-3292-4E06-A8CA-1ED4B5C25E7C}" type="parTrans" cxnId="{48EC1A3E-61F8-439C-9207-4343BD02E147}">
      <dgm:prSet/>
      <dgm:spPr/>
      <dgm:t>
        <a:bodyPr/>
        <a:lstStyle/>
        <a:p>
          <a:endParaRPr lang="en-ZA"/>
        </a:p>
      </dgm:t>
    </dgm:pt>
    <dgm:pt modelId="{AD11483D-0C48-4AFC-8471-75BFF5422D7B}" type="sibTrans" cxnId="{48EC1A3E-61F8-439C-9207-4343BD02E147}">
      <dgm:prSet/>
      <dgm:spPr/>
      <dgm:t>
        <a:bodyPr/>
        <a:lstStyle/>
        <a:p>
          <a:endParaRPr lang="en-ZA"/>
        </a:p>
      </dgm:t>
    </dgm:pt>
    <dgm:pt modelId="{9C036162-4F79-477C-821D-52D0A893E00D}">
      <dgm:prSet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600" b="1" dirty="0"/>
            <a:t>Comply</a:t>
          </a:r>
          <a:r>
            <a:rPr lang="en-GB" sz="1600" dirty="0"/>
            <a:t> with the appropriate risk management practices as required in terms of </a:t>
          </a:r>
          <a:r>
            <a:rPr lang="en-GB" sz="1600" b="1" dirty="0"/>
            <a:t>corporate governance guidelines</a:t>
          </a:r>
          <a:r>
            <a:rPr lang="en-GB" sz="1600" dirty="0"/>
            <a:t>.</a:t>
          </a:r>
          <a:endParaRPr lang="en-ZA" sz="1600" dirty="0"/>
        </a:p>
      </dgm:t>
    </dgm:pt>
    <dgm:pt modelId="{81C4DD44-72E3-47A0-BDCE-BE3CA748F2D9}" type="parTrans" cxnId="{C2DEA4A8-7D3D-48FB-BB1A-DC1370A75C39}">
      <dgm:prSet/>
      <dgm:spPr/>
      <dgm:t>
        <a:bodyPr/>
        <a:lstStyle/>
        <a:p>
          <a:endParaRPr lang="en-ZA"/>
        </a:p>
      </dgm:t>
    </dgm:pt>
    <dgm:pt modelId="{33B56269-AF73-4310-85AF-7D91CECBC784}" type="sibTrans" cxnId="{C2DEA4A8-7D3D-48FB-BB1A-DC1370A75C39}">
      <dgm:prSet/>
      <dgm:spPr/>
      <dgm:t>
        <a:bodyPr/>
        <a:lstStyle/>
        <a:p>
          <a:endParaRPr lang="en-ZA"/>
        </a:p>
      </dgm:t>
    </dgm:pt>
    <dgm:pt modelId="{C9CA9C94-FF5D-4E8D-8886-4E2C1D247C14}" type="pres">
      <dgm:prSet presAssocID="{41A9F681-A32E-4693-8A22-F2960CE58C8E}" presName="linearFlow" presStyleCnt="0">
        <dgm:presLayoutVars>
          <dgm:dir/>
          <dgm:animLvl val="lvl"/>
          <dgm:resizeHandles val="exact"/>
        </dgm:presLayoutVars>
      </dgm:prSet>
      <dgm:spPr/>
    </dgm:pt>
    <dgm:pt modelId="{C4AD97BC-0AC7-4B98-A117-AE820345A323}" type="pres">
      <dgm:prSet presAssocID="{06DD90C1-28A2-4F47-BA35-418CB78C4D65}" presName="composite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BE01EEB6-1D92-4FE1-BEC4-10439B55E397}" type="pres">
      <dgm:prSet presAssocID="{06DD90C1-28A2-4F47-BA35-418CB78C4D65}" presName="parentText" presStyleLbl="alignNode1" presStyleIdx="0" presStyleCnt="5" custLinFactNeighborX="978" custLinFactNeighborY="2996">
        <dgm:presLayoutVars>
          <dgm:chMax val="1"/>
          <dgm:bulletEnabled val="1"/>
        </dgm:presLayoutVars>
      </dgm:prSet>
      <dgm:spPr/>
    </dgm:pt>
    <dgm:pt modelId="{B7049E53-21A1-4B1D-901B-170C0E55B071}" type="pres">
      <dgm:prSet presAssocID="{06DD90C1-28A2-4F47-BA35-418CB78C4D65}" presName="descendantText" presStyleLbl="alignAcc1" presStyleIdx="0" presStyleCnt="5" custLinFactNeighborX="0" custLinFactNeighborY="-641">
        <dgm:presLayoutVars>
          <dgm:bulletEnabled val="1"/>
        </dgm:presLayoutVars>
      </dgm:prSet>
      <dgm:spPr/>
    </dgm:pt>
    <dgm:pt modelId="{1E74C87A-C1B2-416C-9B8F-643E1F766439}" type="pres">
      <dgm:prSet presAssocID="{C77021FE-9377-4F73-BB46-219756A0344A}" presName="sp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4DC2AF50-E1FF-441E-AB6A-6F9B3C63B9A2}" type="pres">
      <dgm:prSet presAssocID="{3B641677-7782-4D67-A01F-7E3672A68B6D}" presName="composite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6876944E-A59F-489D-A655-129765C7EF56}" type="pres">
      <dgm:prSet presAssocID="{3B641677-7782-4D67-A01F-7E3672A68B6D}" presName="parentText" presStyleLbl="alignNode1" presStyleIdx="1" presStyleCnt="5" custLinFactNeighborX="978" custLinFactNeighborY="3057">
        <dgm:presLayoutVars>
          <dgm:chMax val="1"/>
          <dgm:bulletEnabled val="1"/>
        </dgm:presLayoutVars>
      </dgm:prSet>
      <dgm:spPr/>
    </dgm:pt>
    <dgm:pt modelId="{EC91F5AD-FDA6-4D02-B298-F122139F5C64}" type="pres">
      <dgm:prSet presAssocID="{3B641677-7782-4D67-A01F-7E3672A68B6D}" presName="descendantText" presStyleLbl="alignAcc1" presStyleIdx="1" presStyleCnt="5" custLinFactNeighborY="4444">
        <dgm:presLayoutVars>
          <dgm:bulletEnabled val="1"/>
        </dgm:presLayoutVars>
      </dgm:prSet>
      <dgm:spPr/>
    </dgm:pt>
    <dgm:pt modelId="{508E51B7-44F8-4D19-BDD1-FA1CAE34C071}" type="pres">
      <dgm:prSet presAssocID="{D199AE7D-5C95-49AE-8AC2-DF0B297858CC}" presName="sp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50FE5AE5-E479-45AB-AAB1-63CF6DFF7141}" type="pres">
      <dgm:prSet presAssocID="{722BD3C2-3839-4EE0-BE3A-FF2DBEFD9FF8}" presName="composite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80F87E7E-885A-4523-8A9F-4838F7C5666C}" type="pres">
      <dgm:prSet presAssocID="{722BD3C2-3839-4EE0-BE3A-FF2DBEFD9FF8}" presName="parentText" presStyleLbl="alignNode1" presStyleIdx="2" presStyleCnt="5" custLinFactNeighborX="978" custLinFactNeighborY="3057">
        <dgm:presLayoutVars>
          <dgm:chMax val="1"/>
          <dgm:bulletEnabled val="1"/>
        </dgm:presLayoutVars>
      </dgm:prSet>
      <dgm:spPr/>
    </dgm:pt>
    <dgm:pt modelId="{762FCB37-9481-4B0E-8629-70E65A28A7E5}" type="pres">
      <dgm:prSet presAssocID="{722BD3C2-3839-4EE0-BE3A-FF2DBEFD9FF8}" presName="descendantText" presStyleLbl="alignAcc1" presStyleIdx="2" presStyleCnt="5" custLinFactNeighborY="5496">
        <dgm:presLayoutVars>
          <dgm:bulletEnabled val="1"/>
        </dgm:presLayoutVars>
      </dgm:prSet>
      <dgm:spPr/>
    </dgm:pt>
    <dgm:pt modelId="{BB12729A-FDEE-4E2C-BD46-1FAF11A98E2B}" type="pres">
      <dgm:prSet presAssocID="{EC197F9E-0A3A-4F6D-A3F7-8FA70B8407B4}" presName="sp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99C66B0D-F360-4231-8B5C-377AEBF6A4A6}" type="pres">
      <dgm:prSet presAssocID="{DFF0C01D-2474-4ABE-999B-FF54E20A5572}" presName="composite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0C7C1822-01EE-4D03-AC23-75EE97E08D8D}" type="pres">
      <dgm:prSet presAssocID="{DFF0C01D-2474-4ABE-999B-FF54E20A5572}" presName="parentText" presStyleLbl="alignNode1" presStyleIdx="3" presStyleCnt="5" custLinFactNeighborX="978" custLinFactNeighborY="3057">
        <dgm:presLayoutVars>
          <dgm:chMax val="1"/>
          <dgm:bulletEnabled val="1"/>
        </dgm:presLayoutVars>
      </dgm:prSet>
      <dgm:spPr/>
    </dgm:pt>
    <dgm:pt modelId="{0B76B6EF-AF3B-4AC8-B629-ADA23E79329A}" type="pres">
      <dgm:prSet presAssocID="{DFF0C01D-2474-4ABE-999B-FF54E20A5572}" presName="descendantText" presStyleLbl="alignAcc1" presStyleIdx="3" presStyleCnt="5" custLinFactNeighborY="6549">
        <dgm:presLayoutVars>
          <dgm:bulletEnabled val="1"/>
        </dgm:presLayoutVars>
      </dgm:prSet>
      <dgm:spPr/>
    </dgm:pt>
    <dgm:pt modelId="{57AD72ED-F735-420F-A81F-F5D96E720C86}" type="pres">
      <dgm:prSet presAssocID="{6B293D68-8960-4A01-ACE2-DB7B9E25FEBA}" presName="sp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201F7089-8D69-492A-9755-1DA0B6148C82}" type="pres">
      <dgm:prSet presAssocID="{88463300-19D4-4580-B54E-C038011F9B28}" presName="composite" presStyleCnt="0"/>
      <dgm:spPr>
        <a:scene3d>
          <a:camera prst="orthographicFront"/>
          <a:lightRig rig="threePt" dir="t"/>
        </a:scene3d>
        <a:sp3d>
          <a:bevelT w="152400" h="50800" prst="softRound"/>
        </a:sp3d>
      </dgm:spPr>
    </dgm:pt>
    <dgm:pt modelId="{60E1D9EB-AC5B-42D8-B698-B9F5A0F5EAC3}" type="pres">
      <dgm:prSet presAssocID="{88463300-19D4-4580-B54E-C038011F9B28}" presName="parentText" presStyleLbl="alignNode1" presStyleIdx="4" presStyleCnt="5" custLinFactNeighborX="978" custLinFactNeighborY="3057">
        <dgm:presLayoutVars>
          <dgm:chMax val="1"/>
          <dgm:bulletEnabled val="1"/>
        </dgm:presLayoutVars>
      </dgm:prSet>
      <dgm:spPr/>
    </dgm:pt>
    <dgm:pt modelId="{B39965EA-DE7F-4266-8AE0-FCB76B4B1126}" type="pres">
      <dgm:prSet presAssocID="{88463300-19D4-4580-B54E-C038011F9B28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50F81A26-DCE8-4FC5-BFB3-148467798C60}" type="presOf" srcId="{88463300-19D4-4580-B54E-C038011F9B28}" destId="{60E1D9EB-AC5B-42D8-B698-B9F5A0F5EAC3}" srcOrd="0" destOrd="0" presId="urn:microsoft.com/office/officeart/2005/8/layout/chevron2"/>
    <dgm:cxn modelId="{4612B830-AA40-42AF-A855-B61C559C2B5A}" type="presOf" srcId="{3B641677-7782-4D67-A01F-7E3672A68B6D}" destId="{6876944E-A59F-489D-A655-129765C7EF56}" srcOrd="0" destOrd="0" presId="urn:microsoft.com/office/officeart/2005/8/layout/chevron2"/>
    <dgm:cxn modelId="{236E373D-D65B-4D87-8F90-3D7F748C9667}" srcId="{722BD3C2-3839-4EE0-BE3A-FF2DBEFD9FF8}" destId="{B2C33B2E-BAE8-43D4-80A9-8FD30272CB3E}" srcOrd="0" destOrd="0" parTransId="{25482830-F6AC-455F-A378-EC6BDF9F25ED}" sibTransId="{978A8928-D892-4D14-B956-B656A7206E80}"/>
    <dgm:cxn modelId="{48EC1A3E-61F8-439C-9207-4343BD02E147}" srcId="{DFF0C01D-2474-4ABE-999B-FF54E20A5572}" destId="{80358B2C-2897-48BC-B104-64A3C0CCEB1C}" srcOrd="0" destOrd="0" parTransId="{1BC23684-3292-4E06-A8CA-1ED4B5C25E7C}" sibTransId="{AD11483D-0C48-4AFC-8471-75BFF5422D7B}"/>
    <dgm:cxn modelId="{429E4B40-37E9-49B2-922B-13875BA1FCDB}" type="presOf" srcId="{06DD90C1-28A2-4F47-BA35-418CB78C4D65}" destId="{BE01EEB6-1D92-4FE1-BEC4-10439B55E397}" srcOrd="0" destOrd="0" presId="urn:microsoft.com/office/officeart/2005/8/layout/chevron2"/>
    <dgm:cxn modelId="{0FB9545E-02C4-4CFC-BF79-964823C0063E}" srcId="{41A9F681-A32E-4693-8A22-F2960CE58C8E}" destId="{06DD90C1-28A2-4F47-BA35-418CB78C4D65}" srcOrd="0" destOrd="0" parTransId="{4FE1E724-5B0A-4502-AEBA-852D9577E28D}" sibTransId="{C77021FE-9377-4F73-BB46-219756A0344A}"/>
    <dgm:cxn modelId="{36C68049-E00E-4A08-8AA8-3EB9044E211B}" type="presOf" srcId="{2DAAAA0E-0519-4636-BE57-EFEB3FDE2CE6}" destId="{B7049E53-21A1-4B1D-901B-170C0E55B071}" srcOrd="0" destOrd="0" presId="urn:microsoft.com/office/officeart/2005/8/layout/chevron2"/>
    <dgm:cxn modelId="{D319EC6C-4B70-4A49-B6F3-EA05AA8DBDBF}" srcId="{41A9F681-A32E-4693-8A22-F2960CE58C8E}" destId="{722BD3C2-3839-4EE0-BE3A-FF2DBEFD9FF8}" srcOrd="2" destOrd="0" parTransId="{D43DD967-1D40-4E19-8A1D-8A5B17B1BEA0}" sibTransId="{EC197F9E-0A3A-4F6D-A3F7-8FA70B8407B4}"/>
    <dgm:cxn modelId="{DBFD5B54-0810-4F53-B771-02EB02D28AA0}" srcId="{41A9F681-A32E-4693-8A22-F2960CE58C8E}" destId="{DFF0C01D-2474-4ABE-999B-FF54E20A5572}" srcOrd="3" destOrd="0" parTransId="{90A79225-BF02-46F4-BF78-02570666FC1A}" sibTransId="{6B293D68-8960-4A01-ACE2-DB7B9E25FEBA}"/>
    <dgm:cxn modelId="{E5E72083-49F0-40C8-A7C1-7CBF3C470AC3}" type="presOf" srcId="{80358B2C-2897-48BC-B104-64A3C0CCEB1C}" destId="{0B76B6EF-AF3B-4AC8-B629-ADA23E79329A}" srcOrd="0" destOrd="0" presId="urn:microsoft.com/office/officeart/2005/8/layout/chevron2"/>
    <dgm:cxn modelId="{65B41B85-8CD2-42A1-86BD-220992719352}" type="presOf" srcId="{81795C2F-AA34-45EF-A85C-9C11124A4688}" destId="{EC91F5AD-FDA6-4D02-B298-F122139F5C64}" srcOrd="0" destOrd="0" presId="urn:microsoft.com/office/officeart/2005/8/layout/chevron2"/>
    <dgm:cxn modelId="{F011A188-879A-407B-AC17-0F4C82E8D134}" srcId="{41A9F681-A32E-4693-8A22-F2960CE58C8E}" destId="{88463300-19D4-4580-B54E-C038011F9B28}" srcOrd="4" destOrd="0" parTransId="{2C91F413-58D5-4FBB-9F28-D298B23B1378}" sibTransId="{273B6C77-5B22-4EAE-A0CD-D96155C4C3FD}"/>
    <dgm:cxn modelId="{1CFEA78E-05A6-4655-B1D9-B2BF0BD46C69}" srcId="{41A9F681-A32E-4693-8A22-F2960CE58C8E}" destId="{3B641677-7782-4D67-A01F-7E3672A68B6D}" srcOrd="1" destOrd="0" parTransId="{9DE67017-15A9-40B4-BE52-863D1EC59CF3}" sibTransId="{D199AE7D-5C95-49AE-8AC2-DF0B297858CC}"/>
    <dgm:cxn modelId="{895D4F90-EB74-4287-88EA-5244A7DABBBF}" type="presOf" srcId="{722BD3C2-3839-4EE0-BE3A-FF2DBEFD9FF8}" destId="{80F87E7E-885A-4523-8A9F-4838F7C5666C}" srcOrd="0" destOrd="0" presId="urn:microsoft.com/office/officeart/2005/8/layout/chevron2"/>
    <dgm:cxn modelId="{C2DEA4A8-7D3D-48FB-BB1A-DC1370A75C39}" srcId="{88463300-19D4-4580-B54E-C038011F9B28}" destId="{9C036162-4F79-477C-821D-52D0A893E00D}" srcOrd="0" destOrd="0" parTransId="{81C4DD44-72E3-47A0-BDCE-BE3CA748F2D9}" sibTransId="{33B56269-AF73-4310-85AF-7D91CECBC784}"/>
    <dgm:cxn modelId="{480AB0AB-40E7-46C3-8E2F-A0FEF7C45CFC}" srcId="{06DD90C1-28A2-4F47-BA35-418CB78C4D65}" destId="{2DAAAA0E-0519-4636-BE57-EFEB3FDE2CE6}" srcOrd="0" destOrd="0" parTransId="{905E216A-38B3-478D-9D01-45B49C300EA3}" sibTransId="{2407FB5B-23F7-4233-B7CD-6639AEDD6A04}"/>
    <dgm:cxn modelId="{DAA711B4-A246-48F3-94B4-8229DCDC1AD1}" srcId="{3B641677-7782-4D67-A01F-7E3672A68B6D}" destId="{81795C2F-AA34-45EF-A85C-9C11124A4688}" srcOrd="0" destOrd="0" parTransId="{E1BEDB92-DFD0-4FED-9687-11B3D75A6579}" sibTransId="{C7C20941-BF74-4452-B9F0-557456CE9B23}"/>
    <dgm:cxn modelId="{942016CC-BBBF-4104-8026-35FBC3D8F356}" type="presOf" srcId="{41A9F681-A32E-4693-8A22-F2960CE58C8E}" destId="{C9CA9C94-FF5D-4E8D-8886-4E2C1D247C14}" srcOrd="0" destOrd="0" presId="urn:microsoft.com/office/officeart/2005/8/layout/chevron2"/>
    <dgm:cxn modelId="{E6588FD3-11A8-458D-BDC8-F3611A69725E}" type="presOf" srcId="{B2C33B2E-BAE8-43D4-80A9-8FD30272CB3E}" destId="{762FCB37-9481-4B0E-8629-70E65A28A7E5}" srcOrd="0" destOrd="0" presId="urn:microsoft.com/office/officeart/2005/8/layout/chevron2"/>
    <dgm:cxn modelId="{110CB0EC-7611-4883-A536-F8751CA700F6}" type="presOf" srcId="{DFF0C01D-2474-4ABE-999B-FF54E20A5572}" destId="{0C7C1822-01EE-4D03-AC23-75EE97E08D8D}" srcOrd="0" destOrd="0" presId="urn:microsoft.com/office/officeart/2005/8/layout/chevron2"/>
    <dgm:cxn modelId="{AED524F2-7D9E-45C1-B24E-ABF8CEC1C040}" type="presOf" srcId="{9C036162-4F79-477C-821D-52D0A893E00D}" destId="{B39965EA-DE7F-4266-8AE0-FCB76B4B1126}" srcOrd="0" destOrd="0" presId="urn:microsoft.com/office/officeart/2005/8/layout/chevron2"/>
    <dgm:cxn modelId="{1A61A467-76BA-4190-899C-F43FA722C2DD}" type="presParOf" srcId="{C9CA9C94-FF5D-4E8D-8886-4E2C1D247C14}" destId="{C4AD97BC-0AC7-4B98-A117-AE820345A323}" srcOrd="0" destOrd="0" presId="urn:microsoft.com/office/officeart/2005/8/layout/chevron2"/>
    <dgm:cxn modelId="{80DAE927-2504-402B-ABF2-6FCE5939352F}" type="presParOf" srcId="{C4AD97BC-0AC7-4B98-A117-AE820345A323}" destId="{BE01EEB6-1D92-4FE1-BEC4-10439B55E397}" srcOrd="0" destOrd="0" presId="urn:microsoft.com/office/officeart/2005/8/layout/chevron2"/>
    <dgm:cxn modelId="{54EED4D5-6872-440E-894E-C5D4C2F57749}" type="presParOf" srcId="{C4AD97BC-0AC7-4B98-A117-AE820345A323}" destId="{B7049E53-21A1-4B1D-901B-170C0E55B071}" srcOrd="1" destOrd="0" presId="urn:microsoft.com/office/officeart/2005/8/layout/chevron2"/>
    <dgm:cxn modelId="{E19D4823-9D68-49B8-B53E-E1EE9E42143E}" type="presParOf" srcId="{C9CA9C94-FF5D-4E8D-8886-4E2C1D247C14}" destId="{1E74C87A-C1B2-416C-9B8F-643E1F766439}" srcOrd="1" destOrd="0" presId="urn:microsoft.com/office/officeart/2005/8/layout/chevron2"/>
    <dgm:cxn modelId="{ABDC3FA6-512C-43AA-B7A5-BB3EFAD0AA38}" type="presParOf" srcId="{C9CA9C94-FF5D-4E8D-8886-4E2C1D247C14}" destId="{4DC2AF50-E1FF-441E-AB6A-6F9B3C63B9A2}" srcOrd="2" destOrd="0" presId="urn:microsoft.com/office/officeart/2005/8/layout/chevron2"/>
    <dgm:cxn modelId="{06C5BD3F-DCBF-4648-9BDF-E5D9EA98C5E9}" type="presParOf" srcId="{4DC2AF50-E1FF-441E-AB6A-6F9B3C63B9A2}" destId="{6876944E-A59F-489D-A655-129765C7EF56}" srcOrd="0" destOrd="0" presId="urn:microsoft.com/office/officeart/2005/8/layout/chevron2"/>
    <dgm:cxn modelId="{8C301560-A4E9-4998-9778-AA983BCF69E2}" type="presParOf" srcId="{4DC2AF50-E1FF-441E-AB6A-6F9B3C63B9A2}" destId="{EC91F5AD-FDA6-4D02-B298-F122139F5C64}" srcOrd="1" destOrd="0" presId="urn:microsoft.com/office/officeart/2005/8/layout/chevron2"/>
    <dgm:cxn modelId="{EA6E89EA-1C5E-4F26-AED2-1BD82CAB6377}" type="presParOf" srcId="{C9CA9C94-FF5D-4E8D-8886-4E2C1D247C14}" destId="{508E51B7-44F8-4D19-BDD1-FA1CAE34C071}" srcOrd="3" destOrd="0" presId="urn:microsoft.com/office/officeart/2005/8/layout/chevron2"/>
    <dgm:cxn modelId="{7DB8F162-B45F-464E-BEF6-333D564F5C04}" type="presParOf" srcId="{C9CA9C94-FF5D-4E8D-8886-4E2C1D247C14}" destId="{50FE5AE5-E479-45AB-AAB1-63CF6DFF7141}" srcOrd="4" destOrd="0" presId="urn:microsoft.com/office/officeart/2005/8/layout/chevron2"/>
    <dgm:cxn modelId="{0C46DAA9-3C37-47FA-A8D8-2DA18BD4AD8E}" type="presParOf" srcId="{50FE5AE5-E479-45AB-AAB1-63CF6DFF7141}" destId="{80F87E7E-885A-4523-8A9F-4838F7C5666C}" srcOrd="0" destOrd="0" presId="urn:microsoft.com/office/officeart/2005/8/layout/chevron2"/>
    <dgm:cxn modelId="{26687FAC-DB94-4568-8BD9-FA6968849DC3}" type="presParOf" srcId="{50FE5AE5-E479-45AB-AAB1-63CF6DFF7141}" destId="{762FCB37-9481-4B0E-8629-70E65A28A7E5}" srcOrd="1" destOrd="0" presId="urn:microsoft.com/office/officeart/2005/8/layout/chevron2"/>
    <dgm:cxn modelId="{C2BDDEE5-1B4B-40D4-8669-77C6B99A041C}" type="presParOf" srcId="{C9CA9C94-FF5D-4E8D-8886-4E2C1D247C14}" destId="{BB12729A-FDEE-4E2C-BD46-1FAF11A98E2B}" srcOrd="5" destOrd="0" presId="urn:microsoft.com/office/officeart/2005/8/layout/chevron2"/>
    <dgm:cxn modelId="{CD1E4BB6-EFF4-4DDF-8DF0-F51CC3BE1F70}" type="presParOf" srcId="{C9CA9C94-FF5D-4E8D-8886-4E2C1D247C14}" destId="{99C66B0D-F360-4231-8B5C-377AEBF6A4A6}" srcOrd="6" destOrd="0" presId="urn:microsoft.com/office/officeart/2005/8/layout/chevron2"/>
    <dgm:cxn modelId="{4E7B5032-1587-44E4-88DF-B7BC34B46502}" type="presParOf" srcId="{99C66B0D-F360-4231-8B5C-377AEBF6A4A6}" destId="{0C7C1822-01EE-4D03-AC23-75EE97E08D8D}" srcOrd="0" destOrd="0" presId="urn:microsoft.com/office/officeart/2005/8/layout/chevron2"/>
    <dgm:cxn modelId="{ABF24A97-88A5-4B2D-A9E0-7423F6A1A500}" type="presParOf" srcId="{99C66B0D-F360-4231-8B5C-377AEBF6A4A6}" destId="{0B76B6EF-AF3B-4AC8-B629-ADA23E79329A}" srcOrd="1" destOrd="0" presId="urn:microsoft.com/office/officeart/2005/8/layout/chevron2"/>
    <dgm:cxn modelId="{0B708531-D393-4A5D-9C53-8A23D1BA8316}" type="presParOf" srcId="{C9CA9C94-FF5D-4E8D-8886-4E2C1D247C14}" destId="{57AD72ED-F735-420F-A81F-F5D96E720C86}" srcOrd="7" destOrd="0" presId="urn:microsoft.com/office/officeart/2005/8/layout/chevron2"/>
    <dgm:cxn modelId="{118A4779-D6F8-4DDA-B1D4-A902781F2477}" type="presParOf" srcId="{C9CA9C94-FF5D-4E8D-8886-4E2C1D247C14}" destId="{201F7089-8D69-492A-9755-1DA0B6148C82}" srcOrd="8" destOrd="0" presId="urn:microsoft.com/office/officeart/2005/8/layout/chevron2"/>
    <dgm:cxn modelId="{B0687A6F-91AB-4E0A-8FB4-053BA8D76654}" type="presParOf" srcId="{201F7089-8D69-492A-9755-1DA0B6148C82}" destId="{60E1D9EB-AC5B-42D8-B698-B9F5A0F5EAC3}" srcOrd="0" destOrd="0" presId="urn:microsoft.com/office/officeart/2005/8/layout/chevron2"/>
    <dgm:cxn modelId="{C2B324BC-CF66-4177-8A5A-AFF550C9E9AF}" type="presParOf" srcId="{201F7089-8D69-492A-9755-1DA0B6148C82}" destId="{B39965EA-DE7F-4266-8AE0-FCB76B4B1126}" srcOrd="1" destOrd="0" presId="urn:microsoft.com/office/officeart/2005/8/layout/chevron2"/>
  </dgm:cxnLst>
  <dgm:bg>
    <a:effectLst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01EEB6-1D92-4FE1-BEC4-10439B55E397}">
      <dsp:nvSpPr>
        <dsp:cNvPr id="0" name=""/>
        <dsp:cNvSpPr/>
      </dsp:nvSpPr>
      <dsp:spPr>
        <a:xfrm rot="5400000">
          <a:off x="-148712" y="191275"/>
          <a:ext cx="1038831" cy="727182"/>
        </a:xfrm>
        <a:prstGeom prst="chevron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 w="152400" h="50800" prst="softRound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b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ZA" sz="2000" b="1" kern="1200" dirty="0">
              <a:solidFill>
                <a:srgbClr val="0000FF"/>
              </a:solidFill>
            </a:rPr>
            <a:t>1</a:t>
          </a:r>
          <a:r>
            <a:rPr lang="en-ZA" sz="1800" b="1" kern="1200" dirty="0"/>
            <a:t> </a:t>
          </a:r>
        </a:p>
      </dsp:txBody>
      <dsp:txXfrm rot="-5400000">
        <a:off x="7113" y="399041"/>
        <a:ext cx="727182" cy="311649"/>
      </dsp:txXfrm>
    </dsp:sp>
    <dsp:sp modelId="{B7049E53-21A1-4B1D-901B-170C0E55B071}">
      <dsp:nvSpPr>
        <dsp:cNvPr id="0" name=""/>
        <dsp:cNvSpPr/>
      </dsp:nvSpPr>
      <dsp:spPr>
        <a:xfrm rot="5400000">
          <a:off x="4147790" y="-3420608"/>
          <a:ext cx="675240" cy="7516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600" kern="1200" dirty="0"/>
            <a:t>Instil a </a:t>
          </a:r>
          <a:r>
            <a:rPr lang="en-GB" sz="1600" b="1" kern="1200" dirty="0"/>
            <a:t>culture</a:t>
          </a:r>
          <a:r>
            <a:rPr lang="en-GB" sz="1600" kern="1200" dirty="0"/>
            <a:t> where risk management and risk ownership are being practiced as the responsibility of every employee.</a:t>
          </a:r>
          <a:endParaRPr lang="en-ZA" sz="1600" kern="1200" dirty="0"/>
        </a:p>
      </dsp:txBody>
      <dsp:txXfrm rot="-5400000">
        <a:off x="727182" y="32962"/>
        <a:ext cx="7483495" cy="609316"/>
      </dsp:txXfrm>
    </dsp:sp>
    <dsp:sp modelId="{6876944E-A59F-489D-A655-129765C7EF56}">
      <dsp:nvSpPr>
        <dsp:cNvPr id="0" name=""/>
        <dsp:cNvSpPr/>
      </dsp:nvSpPr>
      <dsp:spPr>
        <a:xfrm rot="5400000">
          <a:off x="-148712" y="1113152"/>
          <a:ext cx="1038831" cy="727182"/>
        </a:xfrm>
        <a:prstGeom prst="chevron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 w="152400" h="50800" prst="softRound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b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ZA" sz="2000" b="1" kern="1200" dirty="0">
              <a:solidFill>
                <a:srgbClr val="0000FF"/>
              </a:solidFill>
            </a:rPr>
            <a:t>2</a:t>
          </a:r>
          <a:r>
            <a:rPr lang="en-ZA" sz="2100" b="1" kern="1200" dirty="0"/>
            <a:t> </a:t>
          </a:r>
        </a:p>
      </dsp:txBody>
      <dsp:txXfrm rot="-5400000">
        <a:off x="7113" y="1320918"/>
        <a:ext cx="727182" cy="311649"/>
      </dsp:txXfrm>
    </dsp:sp>
    <dsp:sp modelId="{EC91F5AD-FDA6-4D02-B298-F122139F5C64}">
      <dsp:nvSpPr>
        <dsp:cNvPr id="0" name=""/>
        <dsp:cNvSpPr/>
      </dsp:nvSpPr>
      <dsp:spPr>
        <a:xfrm rot="5400000">
          <a:off x="4147613" y="-2464836"/>
          <a:ext cx="675595" cy="7516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600" kern="1200" dirty="0"/>
            <a:t>Create an appropriate </a:t>
          </a:r>
          <a:r>
            <a:rPr lang="en-GB" sz="1600" b="1" kern="1200" dirty="0"/>
            <a:t>awareness</a:t>
          </a:r>
          <a:r>
            <a:rPr lang="en-GB" sz="1600" kern="1200" dirty="0"/>
            <a:t> and understanding of risks throughout the Group to enable risks to be engaged in an informed manner.</a:t>
          </a:r>
          <a:endParaRPr lang="en-ZA" sz="1600" kern="1200" dirty="0"/>
        </a:p>
      </dsp:txBody>
      <dsp:txXfrm rot="-5400000">
        <a:off x="727182" y="988575"/>
        <a:ext cx="7483477" cy="609635"/>
      </dsp:txXfrm>
    </dsp:sp>
    <dsp:sp modelId="{80F87E7E-885A-4523-8A9F-4838F7C5666C}">
      <dsp:nvSpPr>
        <dsp:cNvPr id="0" name=""/>
        <dsp:cNvSpPr/>
      </dsp:nvSpPr>
      <dsp:spPr>
        <a:xfrm rot="5400000">
          <a:off x="-148712" y="2034395"/>
          <a:ext cx="1038831" cy="727182"/>
        </a:xfrm>
        <a:prstGeom prst="chevron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 w="152400" h="50800" prst="softRound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b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ZA" sz="2000" b="1" kern="1200" dirty="0">
              <a:solidFill>
                <a:srgbClr val="0000FF"/>
              </a:solidFill>
            </a:rPr>
            <a:t>3</a:t>
          </a:r>
          <a:r>
            <a:rPr lang="en-ZA" sz="2100" b="1" kern="1200" dirty="0"/>
            <a:t> </a:t>
          </a:r>
        </a:p>
      </dsp:txBody>
      <dsp:txXfrm rot="-5400000">
        <a:off x="7113" y="2242161"/>
        <a:ext cx="727182" cy="311649"/>
      </dsp:txXfrm>
    </dsp:sp>
    <dsp:sp modelId="{762FCB37-9481-4B0E-8629-70E65A28A7E5}">
      <dsp:nvSpPr>
        <dsp:cNvPr id="0" name=""/>
        <dsp:cNvSpPr/>
      </dsp:nvSpPr>
      <dsp:spPr>
        <a:xfrm rot="5400000">
          <a:off x="4147790" y="-1536683"/>
          <a:ext cx="675240" cy="7516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600" kern="1200" dirty="0"/>
            <a:t>Proactively </a:t>
          </a:r>
          <a:r>
            <a:rPr lang="en-GB" sz="1600" b="1" kern="1200" dirty="0"/>
            <a:t>identify</a:t>
          </a:r>
          <a:r>
            <a:rPr lang="en-GB" sz="1600" kern="1200" dirty="0"/>
            <a:t> and appropriately </a:t>
          </a:r>
          <a:r>
            <a:rPr lang="en-GB" sz="1600" b="1" kern="1200" dirty="0"/>
            <a:t>manage</a:t>
          </a:r>
          <a:r>
            <a:rPr lang="en-GB" sz="1600" kern="1200" dirty="0"/>
            <a:t> risks within the risk appetite of the Group.</a:t>
          </a:r>
          <a:endParaRPr lang="en-ZA" sz="1600" kern="1200" dirty="0"/>
        </a:p>
      </dsp:txBody>
      <dsp:txXfrm rot="-5400000">
        <a:off x="727182" y="1916887"/>
        <a:ext cx="7483495" cy="609316"/>
      </dsp:txXfrm>
    </dsp:sp>
    <dsp:sp modelId="{0C7C1822-01EE-4D03-AC23-75EE97E08D8D}">
      <dsp:nvSpPr>
        <dsp:cNvPr id="0" name=""/>
        <dsp:cNvSpPr/>
      </dsp:nvSpPr>
      <dsp:spPr>
        <a:xfrm rot="5400000">
          <a:off x="-148712" y="2955639"/>
          <a:ext cx="1038831" cy="727182"/>
        </a:xfrm>
        <a:prstGeom prst="chevron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 w="152400" h="50800" prst="softRound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b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ZA" sz="2000" b="1" kern="1200" dirty="0">
              <a:solidFill>
                <a:srgbClr val="0000FF"/>
              </a:solidFill>
            </a:rPr>
            <a:t>4</a:t>
          </a:r>
        </a:p>
      </dsp:txBody>
      <dsp:txXfrm rot="-5400000">
        <a:off x="7113" y="3163405"/>
        <a:ext cx="727182" cy="311649"/>
      </dsp:txXfrm>
    </dsp:sp>
    <dsp:sp modelId="{0B76B6EF-AF3B-4AC8-B629-ADA23E79329A}">
      <dsp:nvSpPr>
        <dsp:cNvPr id="0" name=""/>
        <dsp:cNvSpPr/>
      </dsp:nvSpPr>
      <dsp:spPr>
        <a:xfrm rot="5400000">
          <a:off x="4147790" y="-608329"/>
          <a:ext cx="675240" cy="7516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600" b="1" kern="1200" dirty="0"/>
            <a:t>Embed risk management </a:t>
          </a:r>
          <a:r>
            <a:rPr lang="en-GB" sz="1600" kern="1200" dirty="0"/>
            <a:t>in the way the Group is managed and the way in which it operates, and</a:t>
          </a:r>
          <a:endParaRPr lang="en-ZA" sz="1600" kern="1200" dirty="0"/>
        </a:p>
      </dsp:txBody>
      <dsp:txXfrm rot="-5400000">
        <a:off x="727182" y="2845241"/>
        <a:ext cx="7483495" cy="609316"/>
      </dsp:txXfrm>
    </dsp:sp>
    <dsp:sp modelId="{60E1D9EB-AC5B-42D8-B698-B9F5A0F5EAC3}">
      <dsp:nvSpPr>
        <dsp:cNvPr id="0" name=""/>
        <dsp:cNvSpPr/>
      </dsp:nvSpPr>
      <dsp:spPr>
        <a:xfrm rot="5400000">
          <a:off x="-148712" y="3849453"/>
          <a:ext cx="1038831" cy="727182"/>
        </a:xfrm>
        <a:prstGeom prst="chevron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threePt" dir="t"/>
        </a:scene3d>
        <a:sp3d>
          <a:bevelT w="152400" h="50800" prst="softRound"/>
        </a:sp3d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b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ZA" sz="2000" b="1" kern="1200" dirty="0">
              <a:solidFill>
                <a:srgbClr val="0000FF"/>
              </a:solidFill>
            </a:rPr>
            <a:t>5</a:t>
          </a:r>
          <a:r>
            <a:rPr lang="en-ZA" sz="2100" b="1" kern="1200" dirty="0"/>
            <a:t> </a:t>
          </a:r>
        </a:p>
      </dsp:txBody>
      <dsp:txXfrm rot="-5400000">
        <a:off x="7113" y="4057219"/>
        <a:ext cx="727182" cy="311649"/>
      </dsp:txXfrm>
    </dsp:sp>
    <dsp:sp modelId="{B39965EA-DE7F-4266-8AE0-FCB76B4B1126}">
      <dsp:nvSpPr>
        <dsp:cNvPr id="0" name=""/>
        <dsp:cNvSpPr/>
      </dsp:nvSpPr>
      <dsp:spPr>
        <a:xfrm rot="5400000">
          <a:off x="4147790" y="268692"/>
          <a:ext cx="675240" cy="7516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0160" rIns="10160" bIns="1016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600" b="1" kern="1200" dirty="0"/>
            <a:t>Comply</a:t>
          </a:r>
          <a:r>
            <a:rPr lang="en-GB" sz="1600" kern="1200" dirty="0"/>
            <a:t> with the appropriate risk management practices as required in terms of </a:t>
          </a:r>
          <a:r>
            <a:rPr lang="en-GB" sz="1600" b="1" kern="1200" dirty="0"/>
            <a:t>corporate governance guidelines</a:t>
          </a:r>
          <a:r>
            <a:rPr lang="en-GB" sz="1600" kern="1200" dirty="0"/>
            <a:t>.</a:t>
          </a:r>
          <a:endParaRPr lang="en-ZA" sz="1600" kern="1200" dirty="0"/>
        </a:p>
      </dsp:txBody>
      <dsp:txXfrm rot="-5400000">
        <a:off x="727182" y="3722262"/>
        <a:ext cx="7483495" cy="6093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image" Target="../media/image6.emf"/><Relationship Id="rId6" Type="http://schemas.openxmlformats.org/officeDocument/2006/relationships/image" Target="../media/image11.emf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EA3E53-6171-C44A-9408-A6AC2712C0E1}" type="datetimeFigureOut">
              <a:rPr lang="en-US" smtClean="0"/>
              <a:t>2/3/2021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C0B262-53D5-AD4B-8F73-B06DE62580C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72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52946" y="6356515"/>
            <a:ext cx="2228850" cy="365125"/>
          </a:xfrm>
        </p:spPr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76284" y="6356356"/>
            <a:ext cx="3343275" cy="365125"/>
          </a:xfrm>
        </p:spPr>
        <p:txBody>
          <a:bodyPr/>
          <a:lstStyle>
            <a:lvl1pPr>
              <a:defRPr sz="1000"/>
            </a:lvl1pPr>
          </a:lstStyle>
          <a:p>
            <a:pPr algn="l"/>
            <a:r>
              <a:rPr lang="en-US" dirty="0"/>
              <a:t>TITLE OF PRESENTATION HERE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6284" y="2906098"/>
            <a:ext cx="8543925" cy="766196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22111" y="162062"/>
            <a:ext cx="996196" cy="721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905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5" userDrawn="1">
          <p15:clr>
            <a:srgbClr val="FBAE40"/>
          </p15:clr>
        </p15:guide>
        <p15:guide id="2" pos="149" userDrawn="1">
          <p15:clr>
            <a:srgbClr val="FBAE40"/>
          </p15:clr>
        </p15:guide>
        <p15:guide id="3" pos="604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SLIDE 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52949" y="6356356"/>
            <a:ext cx="2228850" cy="365125"/>
          </a:xfrm>
        </p:spPr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193675" y="162898"/>
            <a:ext cx="8543925" cy="766196"/>
          </a:xfrm>
        </p:spPr>
        <p:txBody>
          <a:bodyPr>
            <a:normAutofit/>
          </a:bodyPr>
          <a:lstStyle>
            <a:lvl1pPr>
              <a:defRPr sz="2800" b="1"/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3" name="Straight Connector 12"/>
          <p:cNvCxnSpPr/>
          <p:nvPr userDrawn="1"/>
        </p:nvCxnSpPr>
        <p:spPr>
          <a:xfrm>
            <a:off x="193675" y="1013219"/>
            <a:ext cx="9388126" cy="2783"/>
          </a:xfrm>
          <a:prstGeom prst="line">
            <a:avLst/>
          </a:prstGeom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27169" y="1097908"/>
            <a:ext cx="1054632" cy="764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42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40" userDrawn="1">
          <p15:clr>
            <a:srgbClr val="FBAE40"/>
          </p15:clr>
        </p15:guide>
        <p15:guide id="2" pos="126" userDrawn="1">
          <p15:clr>
            <a:srgbClr val="FBAE40"/>
          </p15:clr>
        </p15:guide>
        <p15:guide id="3" orient="horz" pos="1026" userDrawn="1">
          <p15:clr>
            <a:srgbClr val="FBAE40"/>
          </p15:clr>
        </p15:guide>
        <p15:guide id="4" orient="horz" pos="255" userDrawn="1">
          <p15:clr>
            <a:srgbClr val="FBAE40"/>
          </p15:clr>
        </p15:guide>
        <p15:guide id="5" pos="604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SLIDE 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52949" y="6356356"/>
            <a:ext cx="2228850" cy="365125"/>
          </a:xfrm>
        </p:spPr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1680" y="6356356"/>
            <a:ext cx="3343275" cy="365125"/>
          </a:xfrm>
        </p:spPr>
        <p:txBody>
          <a:bodyPr/>
          <a:lstStyle>
            <a:lvl1pPr>
              <a:defRPr sz="1000"/>
            </a:lvl1pPr>
          </a:lstStyle>
          <a:p>
            <a:pPr algn="l"/>
            <a:r>
              <a:rPr lang="en-US" dirty="0"/>
              <a:t>TITLE OF PRESENTATION HERE</a:t>
            </a:r>
          </a:p>
        </p:txBody>
      </p:sp>
      <p:sp>
        <p:nvSpPr>
          <p:cNvPr id="8" name="Content Placeholder 14"/>
          <p:cNvSpPr>
            <a:spLocks noGrp="1"/>
          </p:cNvSpPr>
          <p:nvPr>
            <p:ph sz="quarter" idx="14" hasCustomPrompt="1"/>
          </p:nvPr>
        </p:nvSpPr>
        <p:spPr>
          <a:xfrm>
            <a:off x="222486" y="1426516"/>
            <a:ext cx="8441697" cy="486658"/>
          </a:xfrm>
        </p:spPr>
        <p:txBody>
          <a:bodyPr>
            <a:noAutofit/>
          </a:bodyPr>
          <a:lstStyle>
            <a:lvl1pPr marL="0" indent="0">
              <a:buNone/>
              <a:defRPr sz="1400" b="0"/>
            </a:lvl1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193675" y="162898"/>
            <a:ext cx="8543925" cy="766196"/>
          </a:xfrm>
        </p:spPr>
        <p:txBody>
          <a:bodyPr>
            <a:normAutofit/>
          </a:bodyPr>
          <a:lstStyle>
            <a:lvl1pPr>
              <a:defRPr sz="2800" b="1"/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3" name="Straight Connector 12"/>
          <p:cNvCxnSpPr/>
          <p:nvPr userDrawn="1"/>
        </p:nvCxnSpPr>
        <p:spPr>
          <a:xfrm>
            <a:off x="193675" y="1013219"/>
            <a:ext cx="9388126" cy="2783"/>
          </a:xfrm>
          <a:prstGeom prst="line">
            <a:avLst/>
          </a:prstGeom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3963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40">
          <p15:clr>
            <a:srgbClr val="FBAE40"/>
          </p15:clr>
        </p15:guide>
        <p15:guide id="2" pos="126">
          <p15:clr>
            <a:srgbClr val="FBAE40"/>
          </p15:clr>
        </p15:guide>
        <p15:guide id="3" orient="horz" pos="1026">
          <p15:clr>
            <a:srgbClr val="FBAE40"/>
          </p15:clr>
        </p15:guide>
        <p15:guide id="4" orient="horz" pos="255">
          <p15:clr>
            <a:srgbClr val="FBAE40"/>
          </p15:clr>
        </p15:guide>
        <p15:guide id="5" pos="604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0" y="8752"/>
            <a:ext cx="9906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52947" y="6356356"/>
            <a:ext cx="2228850" cy="365125"/>
          </a:xfrm>
        </p:spPr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558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17" userDrawn="1">
          <p15:clr>
            <a:srgbClr val="FBAE40"/>
          </p15:clr>
        </p15:guide>
        <p15:guide id="3" pos="604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344488" y="2040504"/>
            <a:ext cx="8543925" cy="766196"/>
          </a:xfrm>
        </p:spPr>
        <p:txBody>
          <a:bodyPr>
            <a:noAutofit/>
          </a:bodyPr>
          <a:lstStyle>
            <a:lvl1pPr>
              <a:defRPr sz="6600" b="1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03826" y="3236715"/>
            <a:ext cx="4394200" cy="3096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0012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17">
          <p15:clr>
            <a:srgbClr val="FBAE40"/>
          </p15:clr>
        </p15:guide>
        <p15:guide id="3" pos="604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1038" y="6356356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984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365129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6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5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5" y="2505076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81038" y="6356356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810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81038" y="6356356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1665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81038" y="6356356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892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30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9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1038" y="6356356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19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30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9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1038" y="6356356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5485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1038" y="6356356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062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4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41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1038" y="6356356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TITLE OF PRESENTATION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5504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14"/>
          <p:cNvSpPr>
            <a:spLocks noGrp="1"/>
          </p:cNvSpPr>
          <p:nvPr>
            <p:ph sz="quarter" idx="14" hasCustomPrompt="1"/>
          </p:nvPr>
        </p:nvSpPr>
        <p:spPr>
          <a:xfrm>
            <a:off x="222486" y="1426516"/>
            <a:ext cx="8441697" cy="486658"/>
          </a:xfrm>
        </p:spPr>
        <p:txBody>
          <a:bodyPr>
            <a:noAutofit/>
          </a:bodyPr>
          <a:lstStyle>
            <a:lvl1pPr marL="0" indent="0">
              <a:buNone/>
              <a:defRPr sz="1400" b="0"/>
            </a:lvl1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22" name="Straight Connector 21"/>
          <p:cNvCxnSpPr/>
          <p:nvPr userDrawn="1"/>
        </p:nvCxnSpPr>
        <p:spPr>
          <a:xfrm flipV="1">
            <a:off x="193675" y="981077"/>
            <a:ext cx="9361489" cy="32141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53234" y="-108396"/>
            <a:ext cx="2066502" cy="1263618"/>
          </a:xfrm>
          <a:prstGeom prst="rect">
            <a:avLst/>
          </a:prstGeom>
        </p:spPr>
      </p:pic>
      <p:sp>
        <p:nvSpPr>
          <p:cNvPr id="25" name="Title 1"/>
          <p:cNvSpPr>
            <a:spLocks noGrp="1"/>
          </p:cNvSpPr>
          <p:nvPr>
            <p:ph type="title" hasCustomPrompt="1"/>
          </p:nvPr>
        </p:nvSpPr>
        <p:spPr>
          <a:xfrm>
            <a:off x="193675" y="162898"/>
            <a:ext cx="8543925" cy="766196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7" name="Footer Placeholder 26"/>
          <p:cNvSpPr>
            <a:spLocks noGrp="1"/>
          </p:cNvSpPr>
          <p:nvPr>
            <p:ph type="ftr" sz="quarter" idx="16"/>
          </p:nvPr>
        </p:nvSpPr>
        <p:spPr>
          <a:xfrm>
            <a:off x="222486" y="6334212"/>
            <a:ext cx="3343275" cy="365125"/>
          </a:xfrm>
        </p:spPr>
        <p:txBody>
          <a:bodyPr/>
          <a:lstStyle/>
          <a:p>
            <a:r>
              <a:rPr lang="en-US" dirty="0"/>
              <a:t>TITLE OF PRESENTATION HERE</a:t>
            </a:r>
          </a:p>
        </p:txBody>
      </p:sp>
      <p:sp>
        <p:nvSpPr>
          <p:cNvPr id="28" name="Slide Number Placeholder 27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73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4" userDrawn="1">
          <p15:clr>
            <a:srgbClr val="FBAE40"/>
          </p15:clr>
        </p15:guide>
        <p15:guide id="2" pos="6019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890" userDrawn="1">
          <p15:clr>
            <a:srgbClr val="FBAE40"/>
          </p15:clr>
        </p15:guide>
        <p15:guide id="5" pos="122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03886-7247-BE4C-8651-642887018C5A}" type="slidenum">
              <a:rPr lang="en-US" smtClean="0">
                <a:solidFill>
                  <a:srgbClr val="313231">
                    <a:tint val="75000"/>
                  </a:srgbClr>
                </a:solidFill>
              </a:rPr>
              <a:pPr/>
              <a:t>‹#›</a:t>
            </a:fld>
            <a:endParaRPr lang="en-US" dirty="0">
              <a:solidFill>
                <a:srgbClr val="313231">
                  <a:tint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0280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C  2015 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1978" y="342909"/>
            <a:ext cx="5364229" cy="294834"/>
          </a:xfrm>
          <a:solidFill>
            <a:schemeClr val="accent1"/>
          </a:solidFill>
        </p:spPr>
        <p:txBody>
          <a:bodyPr>
            <a:normAutofit/>
          </a:bodyPr>
          <a:lstStyle>
            <a:lvl1pPr algn="l">
              <a:defRPr sz="1200" spc="24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5300" y="2203453"/>
            <a:ext cx="8915400" cy="3922713"/>
          </a:xfrm>
        </p:spPr>
        <p:txBody>
          <a:bodyPr>
            <a:normAutofit/>
          </a:bodyPr>
          <a:lstStyle>
            <a:lvl1pPr marL="342900" indent="-342900">
              <a:buFont typeface="Arial"/>
              <a:buChar char="•"/>
              <a:defRPr sz="2400"/>
            </a:lvl1pPr>
            <a:lvl2pPr marL="742950" indent="-285750">
              <a:buFont typeface="Arial"/>
              <a:buChar char="•"/>
              <a:defRPr sz="2400"/>
            </a:lvl2pPr>
            <a:lvl3pPr marL="1143000" indent="-228600">
              <a:buFont typeface="Arial"/>
              <a:buChar char="•"/>
              <a:defRPr sz="2400"/>
            </a:lvl3pPr>
            <a:lvl4pPr marL="1600200" indent="-228600">
              <a:buFont typeface="Arial"/>
              <a:buChar char="•"/>
              <a:defRPr sz="2400"/>
            </a:lvl4pPr>
            <a:lvl5pPr marL="2057400" indent="-228600">
              <a:buFont typeface="Arial"/>
              <a:buChar char="•"/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97D94-7B1D-1C49-8CC0-5D4CDFA9CE8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Footer Placeholder 4"/>
          <p:cNvSpPr txBox="1">
            <a:spLocks/>
          </p:cNvSpPr>
          <p:nvPr userDrawn="1"/>
        </p:nvSpPr>
        <p:spPr>
          <a:xfrm>
            <a:off x="471380" y="6362342"/>
            <a:ext cx="4708960" cy="3591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kern="1200" spc="1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000" dirty="0"/>
              <a:t>STEINHOFF WORLD CONFERENCE 2015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3" hasCustomPrompt="1"/>
          </p:nvPr>
        </p:nvSpPr>
        <p:spPr>
          <a:xfrm>
            <a:off x="471380" y="857281"/>
            <a:ext cx="8939320" cy="668337"/>
          </a:xfrm>
          <a:solidFill>
            <a:schemeClr val="bg1">
              <a:lumMod val="75000"/>
            </a:schemeClr>
          </a:solidFill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0756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9" y="365129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9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1039" y="6320344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TITLE OF PRESENTATION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6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9F6E38-0256-4C4B-981B-FAA90C720E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7069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2" r:id="rId2"/>
    <p:sldLayoutId id="2147483675" r:id="rId3"/>
    <p:sldLayoutId id="2147483663" r:id="rId4"/>
    <p:sldLayoutId id="2147483677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61" r:id="rId14"/>
    <p:sldLayoutId id="2147483673" r:id="rId15"/>
    <p:sldLayoutId id="2147483676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10.e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7.e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9.emf"/><Relationship Id="rId4" Type="http://schemas.openxmlformats.org/officeDocument/2006/relationships/image" Target="../media/image6.e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11.e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/>
          <p:cNvSpPr txBox="1"/>
          <p:nvPr/>
        </p:nvSpPr>
        <p:spPr>
          <a:xfrm>
            <a:off x="433326" y="4623523"/>
            <a:ext cx="70569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RISK MANAGEMENT ROADMAP</a:t>
            </a:r>
          </a:p>
          <a:p>
            <a:r>
              <a:rPr lang="en-US" sz="2400" dirty="0"/>
              <a:t>2021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433326" y="4429674"/>
            <a:ext cx="8596888" cy="0"/>
          </a:xfrm>
          <a:prstGeom prst="line">
            <a:avLst/>
          </a:prstGeom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33326" y="5577630"/>
            <a:ext cx="8702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Maurice Edwards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1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70" y="162062"/>
            <a:ext cx="6517613" cy="37973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1483" y="162062"/>
            <a:ext cx="1244600" cy="90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799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2</a:t>
            </a:fld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4294967295"/>
          </p:nvPr>
        </p:nvSpPr>
        <p:spPr>
          <a:xfrm>
            <a:off x="222486" y="1426515"/>
            <a:ext cx="8441697" cy="449983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Risk Management Drivers &amp; Objectives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Approach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Project Timeline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Budget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Reporting</a:t>
            </a:r>
          </a:p>
          <a:p>
            <a:endParaRPr lang="en-US" sz="1800" b="1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b="0" dirty="0"/>
              <a:t>Roadmap to Success</a:t>
            </a:r>
          </a:p>
        </p:txBody>
      </p:sp>
    </p:spTree>
    <p:extLst>
      <p:ext uri="{BB962C8B-B14F-4D97-AF65-F5344CB8AC3E}">
        <p14:creationId xmlns:p14="http://schemas.microsoft.com/office/powerpoint/2010/main" val="293536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b="0" cap="all" dirty="0"/>
              <a:t>Risk Management Drivers &amp; Objectives</a:t>
            </a:r>
          </a:p>
        </p:txBody>
      </p:sp>
      <p:graphicFrame>
        <p:nvGraphicFramePr>
          <p:cNvPr id="7" name="Diagram 6"/>
          <p:cNvGraphicFramePr/>
          <p:nvPr>
            <p:extLst>
              <p:ext uri="{D42A27DB-BD31-4B8C-83A1-F6EECF244321}">
                <p14:modId xmlns:p14="http://schemas.microsoft.com/office/powerpoint/2010/main" val="3284981843"/>
              </p:ext>
            </p:extLst>
          </p:nvPr>
        </p:nvGraphicFramePr>
        <p:xfrm>
          <a:off x="296204" y="1633859"/>
          <a:ext cx="8243640" cy="47324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00848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b="0" dirty="0"/>
              <a:t>Approach</a:t>
            </a:r>
          </a:p>
        </p:txBody>
      </p:sp>
      <p:grpSp>
        <p:nvGrpSpPr>
          <p:cNvPr id="6" name="Group 47"/>
          <p:cNvGrpSpPr>
            <a:grpSpLocks/>
          </p:cNvGrpSpPr>
          <p:nvPr/>
        </p:nvGrpSpPr>
        <p:grpSpPr bwMode="auto">
          <a:xfrm>
            <a:off x="0" y="3311525"/>
            <a:ext cx="9144000" cy="1676400"/>
            <a:chOff x="0" y="2086"/>
            <a:chExt cx="5760" cy="1056"/>
          </a:xfrm>
        </p:grpSpPr>
        <p:sp>
          <p:nvSpPr>
            <p:cNvPr id="7" name="Rectangle 3"/>
            <p:cNvSpPr>
              <a:spLocks noChangeArrowheads="1"/>
            </p:cNvSpPr>
            <p:nvPr/>
          </p:nvSpPr>
          <p:spPr bwMode="gray">
            <a:xfrm>
              <a:off x="0" y="2325"/>
              <a:ext cx="5760" cy="817"/>
            </a:xfrm>
            <a:prstGeom prst="rect">
              <a:avLst/>
            </a:prstGeom>
            <a:gradFill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000" tIns="90000" rIns="72000" bIns="90000" anchor="ctr"/>
            <a:lstStyle/>
            <a:p>
              <a:pPr algn="ctr" eaLnBrk="0" hangingPunct="0"/>
              <a:endParaRPr lang="en-US" dirty="0"/>
            </a:p>
          </p:txBody>
        </p:sp>
        <p:sp>
          <p:nvSpPr>
            <p:cNvPr id="8" name="Rectangle 49"/>
            <p:cNvSpPr>
              <a:spLocks noChangeArrowheads="1"/>
            </p:cNvSpPr>
            <p:nvPr/>
          </p:nvSpPr>
          <p:spPr bwMode="gray">
            <a:xfrm flipV="1">
              <a:off x="0" y="2086"/>
              <a:ext cx="5760" cy="246"/>
            </a:xfrm>
            <a:prstGeom prst="rect">
              <a:avLst/>
            </a:prstGeom>
            <a:gradFill rotWithShape="1">
              <a:gsLst>
                <a:gs pos="0">
                  <a:srgbClr val="DBDBDB"/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10800000" wrap="none" lIns="90000" tIns="90000" rIns="72000" bIns="90000" anchor="ctr"/>
            <a:lstStyle/>
            <a:p>
              <a:pPr algn="ctr" eaLnBrk="0" hangingPunct="0"/>
              <a:endParaRPr lang="en-US" dirty="0"/>
            </a:p>
          </p:txBody>
        </p:sp>
      </p:grpSp>
      <p:sp>
        <p:nvSpPr>
          <p:cNvPr id="9" name="Rectangle 2"/>
          <p:cNvSpPr>
            <a:spLocks noChangeArrowheads="1"/>
          </p:cNvSpPr>
          <p:nvPr/>
        </p:nvSpPr>
        <p:spPr bwMode="gray">
          <a:xfrm>
            <a:off x="0" y="3495675"/>
            <a:ext cx="9144000" cy="1231900"/>
          </a:xfrm>
          <a:prstGeom prst="rect">
            <a:avLst/>
          </a:prstGeom>
          <a:gradFill rotWithShape="1">
            <a:gsLst>
              <a:gs pos="0">
                <a:srgbClr val="DDDDDD"/>
              </a:gs>
              <a:gs pos="100000">
                <a:srgbClr val="FFFFFF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 anchor="ctr"/>
          <a:lstStyle/>
          <a:p>
            <a:pPr marL="177800" indent="-177800" algn="ctr">
              <a:spcBef>
                <a:spcPct val="20000"/>
              </a:spcBef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" name="Freeform 3"/>
          <p:cNvSpPr>
            <a:spLocks/>
          </p:cNvSpPr>
          <p:nvPr/>
        </p:nvSpPr>
        <p:spPr bwMode="gray">
          <a:xfrm>
            <a:off x="7339013" y="3875088"/>
            <a:ext cx="1757362" cy="377825"/>
          </a:xfrm>
          <a:custGeom>
            <a:avLst/>
            <a:gdLst>
              <a:gd name="T0" fmla="*/ 0 w 1322"/>
              <a:gd name="T1" fmla="*/ 377825 h 429"/>
              <a:gd name="T2" fmla="*/ 1183095 w 1322"/>
              <a:gd name="T3" fmla="*/ 377825 h 429"/>
              <a:gd name="T4" fmla="*/ 1757362 w 1322"/>
              <a:gd name="T5" fmla="*/ 161170 h 429"/>
              <a:gd name="T6" fmla="*/ 1616454 w 1322"/>
              <a:gd name="T7" fmla="*/ 0 h 429"/>
              <a:gd name="T8" fmla="*/ 752396 w 1322"/>
              <a:gd name="T9" fmla="*/ 0 h 429"/>
              <a:gd name="T10" fmla="*/ 893304 w 1322"/>
              <a:gd name="T11" fmla="*/ 169977 h 429"/>
              <a:gd name="T12" fmla="*/ 0 w 1322"/>
              <a:gd name="T13" fmla="*/ 377825 h 4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322"/>
              <a:gd name="T22" fmla="*/ 0 h 429"/>
              <a:gd name="T23" fmla="*/ 1322 w 1322"/>
              <a:gd name="T24" fmla="*/ 429 h 42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322" h="429">
                <a:moveTo>
                  <a:pt x="0" y="429"/>
                </a:moveTo>
                <a:lnTo>
                  <a:pt x="890" y="429"/>
                </a:lnTo>
                <a:lnTo>
                  <a:pt x="1322" y="183"/>
                </a:lnTo>
                <a:lnTo>
                  <a:pt x="1216" y="0"/>
                </a:lnTo>
                <a:lnTo>
                  <a:pt x="566" y="0"/>
                </a:lnTo>
                <a:lnTo>
                  <a:pt x="672" y="193"/>
                </a:lnTo>
                <a:lnTo>
                  <a:pt x="0" y="429"/>
                </a:lnTo>
                <a:close/>
              </a:path>
            </a:pathLst>
          </a:custGeom>
          <a:gradFill rotWithShape="1">
            <a:gsLst>
              <a:gs pos="0">
                <a:srgbClr val="4D4D4D"/>
              </a:gs>
              <a:gs pos="100000">
                <a:srgbClr val="EAEAEA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11" name="AutoShape 4"/>
          <p:cNvSpPr>
            <a:spLocks noChangeArrowheads="1"/>
          </p:cNvSpPr>
          <p:nvPr/>
        </p:nvSpPr>
        <p:spPr bwMode="gray">
          <a:xfrm flipV="1">
            <a:off x="3159125" y="4244975"/>
            <a:ext cx="1539875" cy="592138"/>
          </a:xfrm>
          <a:prstGeom prst="parallelogram">
            <a:avLst>
              <a:gd name="adj" fmla="val 61522"/>
            </a:avLst>
          </a:pr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12" name="AutoShape 5"/>
          <p:cNvSpPr>
            <a:spLocks noChangeArrowheads="1"/>
          </p:cNvSpPr>
          <p:nvPr/>
        </p:nvSpPr>
        <p:spPr bwMode="gray">
          <a:xfrm flipV="1">
            <a:off x="1757363" y="4244975"/>
            <a:ext cx="1539875" cy="592138"/>
          </a:xfrm>
          <a:prstGeom prst="parallelogram">
            <a:avLst>
              <a:gd name="adj" fmla="val 61522"/>
            </a:avLst>
          </a:pr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13" name="AutoShape 6"/>
          <p:cNvSpPr>
            <a:spLocks noChangeArrowheads="1"/>
          </p:cNvSpPr>
          <p:nvPr/>
        </p:nvSpPr>
        <p:spPr bwMode="gray">
          <a:xfrm flipV="1">
            <a:off x="4560888" y="4244975"/>
            <a:ext cx="1539875" cy="592138"/>
          </a:xfrm>
          <a:prstGeom prst="parallelogram">
            <a:avLst>
              <a:gd name="adj" fmla="val 61522"/>
            </a:avLst>
          </a:pr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14" name="AutoShape 7"/>
          <p:cNvSpPr>
            <a:spLocks noChangeArrowheads="1"/>
          </p:cNvSpPr>
          <p:nvPr/>
        </p:nvSpPr>
        <p:spPr bwMode="gray">
          <a:xfrm flipV="1">
            <a:off x="5961063" y="4244975"/>
            <a:ext cx="1539875" cy="592138"/>
          </a:xfrm>
          <a:prstGeom prst="parallelogram">
            <a:avLst>
              <a:gd name="adj" fmla="val 61522"/>
            </a:avLst>
          </a:pr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15" name="Freeform 8"/>
          <p:cNvSpPr>
            <a:spLocks/>
          </p:cNvSpPr>
          <p:nvPr/>
        </p:nvSpPr>
        <p:spPr bwMode="gray">
          <a:xfrm>
            <a:off x="339725" y="4244975"/>
            <a:ext cx="1543050" cy="588963"/>
          </a:xfrm>
          <a:custGeom>
            <a:avLst/>
            <a:gdLst>
              <a:gd name="T0" fmla="*/ 0 w 1161"/>
              <a:gd name="T1" fmla="*/ 2653 h 444"/>
              <a:gd name="T2" fmla="*/ 1181543 w 1161"/>
              <a:gd name="T3" fmla="*/ 0 h 444"/>
              <a:gd name="T4" fmla="*/ 1543050 w 1161"/>
              <a:gd name="T5" fmla="*/ 588963 h 444"/>
              <a:gd name="T6" fmla="*/ 1329 w 1161"/>
              <a:gd name="T7" fmla="*/ 587637 h 444"/>
              <a:gd name="T8" fmla="*/ 0 w 1161"/>
              <a:gd name="T9" fmla="*/ 2653 h 44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61"/>
              <a:gd name="T16" fmla="*/ 0 h 444"/>
              <a:gd name="T17" fmla="*/ 1161 w 1161"/>
              <a:gd name="T18" fmla="*/ 444 h 44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61" h="444">
                <a:moveTo>
                  <a:pt x="0" y="2"/>
                </a:moveTo>
                <a:lnTo>
                  <a:pt x="889" y="0"/>
                </a:lnTo>
                <a:lnTo>
                  <a:pt x="1161" y="444"/>
                </a:lnTo>
                <a:lnTo>
                  <a:pt x="1" y="443"/>
                </a:lnTo>
                <a:lnTo>
                  <a:pt x="0" y="2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rgbClr val="FFFFFF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6" name="Freeform 9"/>
          <p:cNvSpPr>
            <a:spLocks/>
          </p:cNvSpPr>
          <p:nvPr/>
        </p:nvSpPr>
        <p:spPr bwMode="gray">
          <a:xfrm>
            <a:off x="4537075" y="3875088"/>
            <a:ext cx="1757363" cy="377825"/>
          </a:xfrm>
          <a:custGeom>
            <a:avLst/>
            <a:gdLst>
              <a:gd name="T0" fmla="*/ 0 w 1322"/>
              <a:gd name="T1" fmla="*/ 377825 h 429"/>
              <a:gd name="T2" fmla="*/ 1183096 w 1322"/>
              <a:gd name="T3" fmla="*/ 377825 h 429"/>
              <a:gd name="T4" fmla="*/ 1757363 w 1322"/>
              <a:gd name="T5" fmla="*/ 161170 h 429"/>
              <a:gd name="T6" fmla="*/ 1616455 w 1322"/>
              <a:gd name="T7" fmla="*/ 0 h 429"/>
              <a:gd name="T8" fmla="*/ 752396 w 1322"/>
              <a:gd name="T9" fmla="*/ 0 h 429"/>
              <a:gd name="T10" fmla="*/ 893304 w 1322"/>
              <a:gd name="T11" fmla="*/ 169977 h 429"/>
              <a:gd name="T12" fmla="*/ 0 w 1322"/>
              <a:gd name="T13" fmla="*/ 377825 h 4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322"/>
              <a:gd name="T22" fmla="*/ 0 h 429"/>
              <a:gd name="T23" fmla="*/ 1322 w 1322"/>
              <a:gd name="T24" fmla="*/ 429 h 42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322" h="429">
                <a:moveTo>
                  <a:pt x="0" y="429"/>
                </a:moveTo>
                <a:lnTo>
                  <a:pt x="890" y="429"/>
                </a:lnTo>
                <a:lnTo>
                  <a:pt x="1322" y="183"/>
                </a:lnTo>
                <a:lnTo>
                  <a:pt x="1216" y="0"/>
                </a:lnTo>
                <a:lnTo>
                  <a:pt x="566" y="0"/>
                </a:lnTo>
                <a:lnTo>
                  <a:pt x="672" y="193"/>
                </a:lnTo>
                <a:lnTo>
                  <a:pt x="0" y="429"/>
                </a:lnTo>
                <a:close/>
              </a:path>
            </a:pathLst>
          </a:custGeom>
          <a:gradFill rotWithShape="1">
            <a:gsLst>
              <a:gs pos="0">
                <a:srgbClr val="4D4D4D"/>
              </a:gs>
              <a:gs pos="100000">
                <a:srgbClr val="EAEAEA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17" name="Freeform 10"/>
          <p:cNvSpPr>
            <a:spLocks/>
          </p:cNvSpPr>
          <p:nvPr/>
        </p:nvSpPr>
        <p:spPr bwMode="gray">
          <a:xfrm>
            <a:off x="5937250" y="3875088"/>
            <a:ext cx="1757363" cy="377825"/>
          </a:xfrm>
          <a:custGeom>
            <a:avLst/>
            <a:gdLst>
              <a:gd name="T0" fmla="*/ 0 w 1322"/>
              <a:gd name="T1" fmla="*/ 377825 h 429"/>
              <a:gd name="T2" fmla="*/ 1183096 w 1322"/>
              <a:gd name="T3" fmla="*/ 377825 h 429"/>
              <a:gd name="T4" fmla="*/ 1757363 w 1322"/>
              <a:gd name="T5" fmla="*/ 161170 h 429"/>
              <a:gd name="T6" fmla="*/ 1616455 w 1322"/>
              <a:gd name="T7" fmla="*/ 0 h 429"/>
              <a:gd name="T8" fmla="*/ 752396 w 1322"/>
              <a:gd name="T9" fmla="*/ 0 h 429"/>
              <a:gd name="T10" fmla="*/ 893304 w 1322"/>
              <a:gd name="T11" fmla="*/ 169977 h 429"/>
              <a:gd name="T12" fmla="*/ 0 w 1322"/>
              <a:gd name="T13" fmla="*/ 377825 h 4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322"/>
              <a:gd name="T22" fmla="*/ 0 h 429"/>
              <a:gd name="T23" fmla="*/ 1322 w 1322"/>
              <a:gd name="T24" fmla="*/ 429 h 42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322" h="429">
                <a:moveTo>
                  <a:pt x="0" y="429"/>
                </a:moveTo>
                <a:lnTo>
                  <a:pt x="890" y="429"/>
                </a:lnTo>
                <a:lnTo>
                  <a:pt x="1322" y="183"/>
                </a:lnTo>
                <a:lnTo>
                  <a:pt x="1216" y="0"/>
                </a:lnTo>
                <a:lnTo>
                  <a:pt x="566" y="0"/>
                </a:lnTo>
                <a:lnTo>
                  <a:pt x="672" y="193"/>
                </a:lnTo>
                <a:lnTo>
                  <a:pt x="0" y="429"/>
                </a:lnTo>
                <a:close/>
              </a:path>
            </a:pathLst>
          </a:custGeom>
          <a:gradFill rotWithShape="1">
            <a:gsLst>
              <a:gs pos="0">
                <a:srgbClr val="4D4D4D"/>
              </a:gs>
              <a:gs pos="100000">
                <a:srgbClr val="EAEAEA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18" name="Freeform 11"/>
          <p:cNvSpPr>
            <a:spLocks/>
          </p:cNvSpPr>
          <p:nvPr/>
        </p:nvSpPr>
        <p:spPr bwMode="gray">
          <a:xfrm>
            <a:off x="3135313" y="3875088"/>
            <a:ext cx="1757362" cy="377825"/>
          </a:xfrm>
          <a:custGeom>
            <a:avLst/>
            <a:gdLst>
              <a:gd name="T0" fmla="*/ 0 w 1322"/>
              <a:gd name="T1" fmla="*/ 377825 h 429"/>
              <a:gd name="T2" fmla="*/ 1183095 w 1322"/>
              <a:gd name="T3" fmla="*/ 377825 h 429"/>
              <a:gd name="T4" fmla="*/ 1757362 w 1322"/>
              <a:gd name="T5" fmla="*/ 161170 h 429"/>
              <a:gd name="T6" fmla="*/ 1616454 w 1322"/>
              <a:gd name="T7" fmla="*/ 0 h 429"/>
              <a:gd name="T8" fmla="*/ 752396 w 1322"/>
              <a:gd name="T9" fmla="*/ 0 h 429"/>
              <a:gd name="T10" fmla="*/ 893304 w 1322"/>
              <a:gd name="T11" fmla="*/ 169977 h 429"/>
              <a:gd name="T12" fmla="*/ 0 w 1322"/>
              <a:gd name="T13" fmla="*/ 377825 h 4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322"/>
              <a:gd name="T22" fmla="*/ 0 h 429"/>
              <a:gd name="T23" fmla="*/ 1322 w 1322"/>
              <a:gd name="T24" fmla="*/ 429 h 42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322" h="429">
                <a:moveTo>
                  <a:pt x="0" y="429"/>
                </a:moveTo>
                <a:lnTo>
                  <a:pt x="890" y="429"/>
                </a:lnTo>
                <a:lnTo>
                  <a:pt x="1322" y="183"/>
                </a:lnTo>
                <a:lnTo>
                  <a:pt x="1216" y="0"/>
                </a:lnTo>
                <a:lnTo>
                  <a:pt x="566" y="0"/>
                </a:lnTo>
                <a:lnTo>
                  <a:pt x="672" y="193"/>
                </a:lnTo>
                <a:lnTo>
                  <a:pt x="0" y="429"/>
                </a:lnTo>
                <a:close/>
              </a:path>
            </a:pathLst>
          </a:custGeom>
          <a:gradFill rotWithShape="1">
            <a:gsLst>
              <a:gs pos="0">
                <a:srgbClr val="4D4D4D"/>
              </a:gs>
              <a:gs pos="100000">
                <a:srgbClr val="EAEAEA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19" name="Freeform 12"/>
          <p:cNvSpPr>
            <a:spLocks/>
          </p:cNvSpPr>
          <p:nvPr/>
        </p:nvSpPr>
        <p:spPr bwMode="gray">
          <a:xfrm>
            <a:off x="1733550" y="3875088"/>
            <a:ext cx="1757363" cy="377825"/>
          </a:xfrm>
          <a:custGeom>
            <a:avLst/>
            <a:gdLst>
              <a:gd name="T0" fmla="*/ 0 w 1322"/>
              <a:gd name="T1" fmla="*/ 377825 h 429"/>
              <a:gd name="T2" fmla="*/ 1183096 w 1322"/>
              <a:gd name="T3" fmla="*/ 377825 h 429"/>
              <a:gd name="T4" fmla="*/ 1757363 w 1322"/>
              <a:gd name="T5" fmla="*/ 161170 h 429"/>
              <a:gd name="T6" fmla="*/ 1616455 w 1322"/>
              <a:gd name="T7" fmla="*/ 0 h 429"/>
              <a:gd name="T8" fmla="*/ 752396 w 1322"/>
              <a:gd name="T9" fmla="*/ 0 h 429"/>
              <a:gd name="T10" fmla="*/ 893304 w 1322"/>
              <a:gd name="T11" fmla="*/ 169977 h 429"/>
              <a:gd name="T12" fmla="*/ 0 w 1322"/>
              <a:gd name="T13" fmla="*/ 377825 h 4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322"/>
              <a:gd name="T22" fmla="*/ 0 h 429"/>
              <a:gd name="T23" fmla="*/ 1322 w 1322"/>
              <a:gd name="T24" fmla="*/ 429 h 42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322" h="429">
                <a:moveTo>
                  <a:pt x="0" y="429"/>
                </a:moveTo>
                <a:lnTo>
                  <a:pt x="890" y="429"/>
                </a:lnTo>
                <a:lnTo>
                  <a:pt x="1322" y="183"/>
                </a:lnTo>
                <a:lnTo>
                  <a:pt x="1216" y="0"/>
                </a:lnTo>
                <a:lnTo>
                  <a:pt x="566" y="0"/>
                </a:lnTo>
                <a:lnTo>
                  <a:pt x="672" y="193"/>
                </a:lnTo>
                <a:lnTo>
                  <a:pt x="0" y="429"/>
                </a:lnTo>
                <a:close/>
              </a:path>
            </a:pathLst>
          </a:custGeom>
          <a:gradFill rotWithShape="1">
            <a:gsLst>
              <a:gs pos="0">
                <a:srgbClr val="4D4D4D"/>
              </a:gs>
              <a:gs pos="100000">
                <a:srgbClr val="EAEAEA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0" name="Freeform 13"/>
          <p:cNvSpPr>
            <a:spLocks/>
          </p:cNvSpPr>
          <p:nvPr/>
        </p:nvSpPr>
        <p:spPr bwMode="gray">
          <a:xfrm>
            <a:off x="333375" y="3875088"/>
            <a:ext cx="1757363" cy="377825"/>
          </a:xfrm>
          <a:custGeom>
            <a:avLst/>
            <a:gdLst>
              <a:gd name="T0" fmla="*/ 0 w 1322"/>
              <a:gd name="T1" fmla="*/ 377825 h 429"/>
              <a:gd name="T2" fmla="*/ 1183096 w 1322"/>
              <a:gd name="T3" fmla="*/ 377825 h 429"/>
              <a:gd name="T4" fmla="*/ 1757363 w 1322"/>
              <a:gd name="T5" fmla="*/ 161170 h 429"/>
              <a:gd name="T6" fmla="*/ 1616455 w 1322"/>
              <a:gd name="T7" fmla="*/ 0 h 429"/>
              <a:gd name="T8" fmla="*/ 752396 w 1322"/>
              <a:gd name="T9" fmla="*/ 0 h 429"/>
              <a:gd name="T10" fmla="*/ 0 w 1322"/>
              <a:gd name="T11" fmla="*/ 377825 h 42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1322"/>
              <a:gd name="T19" fmla="*/ 0 h 429"/>
              <a:gd name="T20" fmla="*/ 1322 w 1322"/>
              <a:gd name="T21" fmla="*/ 429 h 429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322" h="429">
                <a:moveTo>
                  <a:pt x="0" y="429"/>
                </a:moveTo>
                <a:lnTo>
                  <a:pt x="890" y="429"/>
                </a:lnTo>
                <a:lnTo>
                  <a:pt x="1322" y="183"/>
                </a:lnTo>
                <a:lnTo>
                  <a:pt x="1216" y="0"/>
                </a:lnTo>
                <a:lnTo>
                  <a:pt x="566" y="0"/>
                </a:lnTo>
                <a:lnTo>
                  <a:pt x="0" y="429"/>
                </a:lnTo>
                <a:close/>
              </a:path>
            </a:pathLst>
          </a:custGeom>
          <a:gradFill rotWithShape="1">
            <a:gsLst>
              <a:gs pos="0">
                <a:srgbClr val="4D4D4D"/>
              </a:gs>
              <a:gs pos="100000">
                <a:srgbClr val="EAEAEA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21" name="AutoShape 14"/>
          <p:cNvSpPr>
            <a:spLocks noChangeArrowheads="1"/>
          </p:cNvSpPr>
          <p:nvPr/>
        </p:nvSpPr>
        <p:spPr bwMode="gray">
          <a:xfrm>
            <a:off x="333375" y="3016250"/>
            <a:ext cx="1566863" cy="1233488"/>
          </a:xfrm>
          <a:prstGeom prst="homePlate">
            <a:avLst>
              <a:gd name="adj" fmla="val 30351"/>
            </a:avLst>
          </a:prstGeom>
          <a:solidFill>
            <a:srgbClr val="CCFFCC"/>
          </a:solidFill>
          <a:ln w="19050">
            <a:solidFill>
              <a:schemeClr val="bg1"/>
            </a:solidFill>
            <a:miter lim="800000"/>
            <a:headEnd/>
            <a:tailEnd/>
          </a:ln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22" name="AutoShape 15"/>
          <p:cNvSpPr>
            <a:spLocks noChangeArrowheads="1"/>
          </p:cNvSpPr>
          <p:nvPr/>
        </p:nvSpPr>
        <p:spPr bwMode="gray">
          <a:xfrm>
            <a:off x="1757363" y="3032481"/>
            <a:ext cx="1570038" cy="1233488"/>
          </a:xfrm>
          <a:prstGeom prst="chevron">
            <a:avLst>
              <a:gd name="adj" fmla="val 30307"/>
            </a:avLst>
          </a:prstGeom>
          <a:gradFill rotWithShape="1">
            <a:gsLst>
              <a:gs pos="0">
                <a:srgbClr val="F4F4F4"/>
              </a:gs>
              <a:gs pos="100000">
                <a:srgbClr val="B2B2B2"/>
              </a:gs>
            </a:gsLst>
            <a:lin ang="5400000" scaled="1"/>
          </a:gradFill>
          <a:ln w="19050">
            <a:solidFill>
              <a:schemeClr val="bg1"/>
            </a:solidFill>
            <a:miter lim="800000"/>
            <a:headEnd/>
            <a:tailEnd/>
          </a:ln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23" name="AutoShape 16"/>
          <p:cNvSpPr>
            <a:spLocks noChangeArrowheads="1"/>
          </p:cNvSpPr>
          <p:nvPr/>
        </p:nvSpPr>
        <p:spPr bwMode="gray">
          <a:xfrm>
            <a:off x="3135313" y="3011487"/>
            <a:ext cx="1570037" cy="1233488"/>
          </a:xfrm>
          <a:prstGeom prst="chevron">
            <a:avLst>
              <a:gd name="adj" fmla="val 30307"/>
            </a:avLst>
          </a:prstGeom>
          <a:gradFill rotWithShape="1">
            <a:gsLst>
              <a:gs pos="0">
                <a:srgbClr val="F4F4F4"/>
              </a:gs>
              <a:gs pos="100000">
                <a:srgbClr val="B2B2B2"/>
              </a:gs>
            </a:gsLst>
            <a:lin ang="5400000" scaled="1"/>
          </a:gradFill>
          <a:ln w="19050">
            <a:solidFill>
              <a:schemeClr val="bg1"/>
            </a:solidFill>
            <a:miter lim="800000"/>
            <a:headEnd/>
            <a:tailEnd/>
          </a:ln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24" name="AutoShape 17"/>
          <p:cNvSpPr>
            <a:spLocks noChangeArrowheads="1"/>
          </p:cNvSpPr>
          <p:nvPr/>
        </p:nvSpPr>
        <p:spPr bwMode="gray">
          <a:xfrm>
            <a:off x="4537075" y="3016250"/>
            <a:ext cx="1566863" cy="1233488"/>
          </a:xfrm>
          <a:prstGeom prst="chevron">
            <a:avLst>
              <a:gd name="adj" fmla="val 30245"/>
            </a:avLst>
          </a:prstGeom>
          <a:gradFill rotWithShape="1">
            <a:gsLst>
              <a:gs pos="0">
                <a:srgbClr val="F4F4F4"/>
              </a:gs>
              <a:gs pos="100000">
                <a:srgbClr val="B2B2B2"/>
              </a:gs>
            </a:gsLst>
            <a:lin ang="5400000" scaled="1"/>
          </a:gradFill>
          <a:ln w="19050">
            <a:solidFill>
              <a:schemeClr val="bg1"/>
            </a:solidFill>
            <a:miter lim="800000"/>
            <a:headEnd/>
            <a:tailEnd/>
          </a:ln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25" name="AutoShape 18"/>
          <p:cNvSpPr>
            <a:spLocks noChangeArrowheads="1"/>
          </p:cNvSpPr>
          <p:nvPr/>
        </p:nvSpPr>
        <p:spPr bwMode="gray">
          <a:xfrm>
            <a:off x="5937250" y="3016250"/>
            <a:ext cx="1566863" cy="1233488"/>
          </a:xfrm>
          <a:prstGeom prst="chevron">
            <a:avLst>
              <a:gd name="adj" fmla="val 30245"/>
            </a:avLst>
          </a:prstGeom>
          <a:gradFill rotWithShape="1">
            <a:gsLst>
              <a:gs pos="0">
                <a:srgbClr val="F4F4F4"/>
              </a:gs>
              <a:gs pos="100000">
                <a:srgbClr val="B2B2B2"/>
              </a:gs>
            </a:gsLst>
            <a:lin ang="5400000" scaled="1"/>
          </a:gradFill>
          <a:ln w="19050">
            <a:solidFill>
              <a:schemeClr val="bg1"/>
            </a:solidFill>
            <a:miter lim="800000"/>
            <a:headEnd/>
            <a:tailEnd/>
          </a:ln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26" name="Text Box 19"/>
          <p:cNvSpPr txBox="1">
            <a:spLocks noChangeArrowheads="1"/>
          </p:cNvSpPr>
          <p:nvPr/>
        </p:nvSpPr>
        <p:spPr bwMode="gray">
          <a:xfrm>
            <a:off x="295083" y="3284538"/>
            <a:ext cx="1472008" cy="5880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>
            <a:spAutoFit/>
          </a:bodyPr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Risk Management</a:t>
            </a:r>
          </a:p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Survey</a:t>
            </a:r>
          </a:p>
        </p:txBody>
      </p:sp>
      <p:sp>
        <p:nvSpPr>
          <p:cNvPr id="27" name="Text Box 20"/>
          <p:cNvSpPr txBox="1">
            <a:spLocks noChangeArrowheads="1"/>
          </p:cNvSpPr>
          <p:nvPr/>
        </p:nvSpPr>
        <p:spPr bwMode="gray">
          <a:xfrm>
            <a:off x="2155544" y="3284538"/>
            <a:ext cx="941965" cy="8096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>
            <a:spAutoFit/>
          </a:bodyPr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Describe </a:t>
            </a:r>
          </a:p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Business</a:t>
            </a:r>
          </a:p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Objectives</a:t>
            </a:r>
          </a:p>
        </p:txBody>
      </p:sp>
      <p:sp>
        <p:nvSpPr>
          <p:cNvPr id="28" name="Text Box 21"/>
          <p:cNvSpPr txBox="1">
            <a:spLocks noChangeArrowheads="1"/>
          </p:cNvSpPr>
          <p:nvPr/>
        </p:nvSpPr>
        <p:spPr bwMode="gray">
          <a:xfrm>
            <a:off x="3456560" y="3284538"/>
            <a:ext cx="1168865" cy="8096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>
            <a:spAutoFit/>
          </a:bodyPr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Identify &amp;</a:t>
            </a:r>
          </a:p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Assess Risks</a:t>
            </a:r>
          </a:p>
          <a:p>
            <a:pPr algn="ctr" eaLnBrk="1" hangingPunct="1">
              <a:spcBef>
                <a:spcPct val="20000"/>
              </a:spcBef>
            </a:pPr>
            <a:endParaRPr lang="en-GB" sz="1200" b="1" dirty="0"/>
          </a:p>
        </p:txBody>
      </p:sp>
      <p:sp>
        <p:nvSpPr>
          <p:cNvPr id="29" name="Text Box 22"/>
          <p:cNvSpPr txBox="1">
            <a:spLocks noChangeArrowheads="1"/>
          </p:cNvSpPr>
          <p:nvPr/>
        </p:nvSpPr>
        <p:spPr bwMode="gray">
          <a:xfrm>
            <a:off x="4949127" y="3284538"/>
            <a:ext cx="958671" cy="8096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>
            <a:spAutoFit/>
          </a:bodyPr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Evaluate &amp;</a:t>
            </a:r>
          </a:p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Assess </a:t>
            </a:r>
          </a:p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Controls</a:t>
            </a:r>
          </a:p>
        </p:txBody>
      </p:sp>
      <p:sp>
        <p:nvSpPr>
          <p:cNvPr id="30" name="Text Box 23"/>
          <p:cNvSpPr txBox="1">
            <a:spLocks noChangeArrowheads="1"/>
          </p:cNvSpPr>
          <p:nvPr/>
        </p:nvSpPr>
        <p:spPr bwMode="gray">
          <a:xfrm>
            <a:off x="6377090" y="3284538"/>
            <a:ext cx="804683" cy="5880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>
            <a:spAutoFit/>
          </a:bodyPr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Report </a:t>
            </a:r>
          </a:p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Findings</a:t>
            </a:r>
          </a:p>
        </p:txBody>
      </p:sp>
      <p:sp>
        <p:nvSpPr>
          <p:cNvPr id="31" name="AutoShape 24"/>
          <p:cNvSpPr>
            <a:spLocks noChangeArrowheads="1"/>
          </p:cNvSpPr>
          <p:nvPr/>
        </p:nvSpPr>
        <p:spPr bwMode="gray">
          <a:xfrm>
            <a:off x="333375" y="3016250"/>
            <a:ext cx="1566863" cy="1233488"/>
          </a:xfrm>
          <a:prstGeom prst="homePlate">
            <a:avLst>
              <a:gd name="adj" fmla="val 30351"/>
            </a:avLst>
          </a:prstGeom>
          <a:noFill/>
          <a:ln w="9525">
            <a:solidFill>
              <a:srgbClr val="EAEAEA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32" name="AutoShape 25"/>
          <p:cNvSpPr>
            <a:spLocks noChangeArrowheads="1"/>
          </p:cNvSpPr>
          <p:nvPr/>
        </p:nvSpPr>
        <p:spPr bwMode="gray">
          <a:xfrm>
            <a:off x="1733550" y="3016250"/>
            <a:ext cx="1570038" cy="1233488"/>
          </a:xfrm>
          <a:prstGeom prst="chevron">
            <a:avLst>
              <a:gd name="adj" fmla="val 30307"/>
            </a:avLst>
          </a:prstGeom>
          <a:noFill/>
          <a:ln w="9525">
            <a:solidFill>
              <a:srgbClr val="EAEAEA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gray">
          <a:xfrm>
            <a:off x="3135313" y="3016250"/>
            <a:ext cx="1570037" cy="1233488"/>
          </a:xfrm>
          <a:prstGeom prst="chevron">
            <a:avLst>
              <a:gd name="adj" fmla="val 30307"/>
            </a:avLst>
          </a:prstGeom>
          <a:noFill/>
          <a:ln w="9525">
            <a:solidFill>
              <a:srgbClr val="EAEAEA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34" name="AutoShape 27"/>
          <p:cNvSpPr>
            <a:spLocks noChangeArrowheads="1"/>
          </p:cNvSpPr>
          <p:nvPr/>
        </p:nvSpPr>
        <p:spPr bwMode="gray">
          <a:xfrm>
            <a:off x="4537075" y="3016250"/>
            <a:ext cx="1566863" cy="1233488"/>
          </a:xfrm>
          <a:prstGeom prst="chevron">
            <a:avLst>
              <a:gd name="adj" fmla="val 30245"/>
            </a:avLst>
          </a:prstGeom>
          <a:noFill/>
          <a:ln w="9525">
            <a:solidFill>
              <a:srgbClr val="EAEAEA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35" name="AutoShape 28"/>
          <p:cNvSpPr>
            <a:spLocks noChangeArrowheads="1"/>
          </p:cNvSpPr>
          <p:nvPr/>
        </p:nvSpPr>
        <p:spPr bwMode="gray">
          <a:xfrm>
            <a:off x="5937250" y="3016250"/>
            <a:ext cx="1566863" cy="1233488"/>
          </a:xfrm>
          <a:prstGeom prst="chevron">
            <a:avLst>
              <a:gd name="adj" fmla="val 30245"/>
            </a:avLst>
          </a:prstGeom>
          <a:noFill/>
          <a:ln w="9525">
            <a:solidFill>
              <a:srgbClr val="EAEAEA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36" name="AutoShape 29"/>
          <p:cNvSpPr>
            <a:spLocks noChangeArrowheads="1"/>
          </p:cNvSpPr>
          <p:nvPr/>
        </p:nvSpPr>
        <p:spPr bwMode="gray">
          <a:xfrm flipV="1">
            <a:off x="7362825" y="4244975"/>
            <a:ext cx="1538288" cy="592138"/>
          </a:xfrm>
          <a:prstGeom prst="parallelogram">
            <a:avLst>
              <a:gd name="adj" fmla="val 61458"/>
            </a:avLst>
          </a:pr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37" name="AutoShape 30"/>
          <p:cNvSpPr>
            <a:spLocks noChangeArrowheads="1"/>
          </p:cNvSpPr>
          <p:nvPr/>
        </p:nvSpPr>
        <p:spPr bwMode="gray">
          <a:xfrm>
            <a:off x="7339013" y="3016250"/>
            <a:ext cx="1566862" cy="1233488"/>
          </a:xfrm>
          <a:prstGeom prst="chevron">
            <a:avLst>
              <a:gd name="adj" fmla="val 30245"/>
            </a:avLst>
          </a:prstGeom>
          <a:solidFill>
            <a:schemeClr val="bg2">
              <a:lumMod val="20000"/>
              <a:lumOff val="80000"/>
            </a:schemeClr>
          </a:solidFill>
          <a:ln w="19050">
            <a:solidFill>
              <a:schemeClr val="bg1"/>
            </a:solidFill>
            <a:miter lim="800000"/>
            <a:headEnd/>
            <a:tailEnd/>
          </a:ln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38" name="Text Box 31"/>
          <p:cNvSpPr txBox="1">
            <a:spLocks noChangeArrowheads="1"/>
          </p:cNvSpPr>
          <p:nvPr/>
        </p:nvSpPr>
        <p:spPr bwMode="gray">
          <a:xfrm>
            <a:off x="7737719" y="3246438"/>
            <a:ext cx="890118" cy="8096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>
            <a:spAutoFit/>
          </a:bodyPr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Develop</a:t>
            </a:r>
          </a:p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Mitigation</a:t>
            </a:r>
          </a:p>
          <a:p>
            <a:pPr algn="ctr" eaLnBrk="1" hangingPunct="1">
              <a:spcBef>
                <a:spcPct val="20000"/>
              </a:spcBef>
            </a:pPr>
            <a:r>
              <a:rPr lang="en-GB" sz="1200" b="1" dirty="0"/>
              <a:t>Plans</a:t>
            </a:r>
          </a:p>
        </p:txBody>
      </p:sp>
      <p:sp>
        <p:nvSpPr>
          <p:cNvPr id="39" name="AutoShape 32"/>
          <p:cNvSpPr>
            <a:spLocks noChangeArrowheads="1"/>
          </p:cNvSpPr>
          <p:nvPr/>
        </p:nvSpPr>
        <p:spPr bwMode="gray">
          <a:xfrm>
            <a:off x="7339013" y="3016250"/>
            <a:ext cx="1566862" cy="1233488"/>
          </a:xfrm>
          <a:prstGeom prst="chevron">
            <a:avLst>
              <a:gd name="adj" fmla="val 30245"/>
            </a:avLst>
          </a:prstGeom>
          <a:noFill/>
          <a:ln w="9525">
            <a:solidFill>
              <a:srgbClr val="EAEAEA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lIns="90000" tIns="90000" rIns="72000" bIns="90000" anchor="ctr"/>
          <a:lstStyle/>
          <a:p>
            <a:endParaRPr lang="en-US" dirty="0"/>
          </a:p>
        </p:txBody>
      </p:sp>
      <p:sp>
        <p:nvSpPr>
          <p:cNvPr id="40" name="Text Box 33"/>
          <p:cNvSpPr txBox="1">
            <a:spLocks noChangeArrowheads="1"/>
          </p:cNvSpPr>
          <p:nvPr/>
        </p:nvSpPr>
        <p:spPr bwMode="auto">
          <a:xfrm>
            <a:off x="435769" y="1097560"/>
            <a:ext cx="2643188" cy="1284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Define governance process</a:t>
            </a:r>
          </a:p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Identify business units in scope</a:t>
            </a:r>
          </a:p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Assign regional and division leads</a:t>
            </a:r>
          </a:p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Communicate objectives</a:t>
            </a:r>
          </a:p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Introduce ERM concepts</a:t>
            </a:r>
          </a:p>
        </p:txBody>
      </p:sp>
      <p:sp>
        <p:nvSpPr>
          <p:cNvPr id="41" name="Text Box 34"/>
          <p:cNvSpPr txBox="1">
            <a:spLocks noChangeArrowheads="1"/>
          </p:cNvSpPr>
          <p:nvPr/>
        </p:nvSpPr>
        <p:spPr bwMode="auto">
          <a:xfrm>
            <a:off x="3184525" y="1285875"/>
            <a:ext cx="2471738" cy="960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Facilitate interviews</a:t>
            </a:r>
          </a:p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Identify risks</a:t>
            </a:r>
          </a:p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Assess Impact and Likelihood</a:t>
            </a:r>
          </a:p>
          <a:p>
            <a:pPr marL="228600" indent="-228600" eaLnBrk="1" hangingPunct="1">
              <a:spcBef>
                <a:spcPct val="20000"/>
              </a:spcBef>
              <a:buAutoNum type="arabicParenR"/>
            </a:pPr>
            <a:endParaRPr lang="en-GB" sz="1200" dirty="0"/>
          </a:p>
        </p:txBody>
      </p:sp>
      <p:sp>
        <p:nvSpPr>
          <p:cNvPr id="42" name="Text Box 35"/>
          <p:cNvSpPr txBox="1">
            <a:spLocks noChangeArrowheads="1"/>
          </p:cNvSpPr>
          <p:nvPr/>
        </p:nvSpPr>
        <p:spPr bwMode="auto">
          <a:xfrm>
            <a:off x="5989638" y="1285875"/>
            <a:ext cx="2222500" cy="960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Provide summary view of CRB’s Risk Profile</a:t>
            </a:r>
          </a:p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Highlight major issues</a:t>
            </a:r>
          </a:p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Report results to board</a:t>
            </a:r>
          </a:p>
        </p:txBody>
      </p:sp>
      <p:sp>
        <p:nvSpPr>
          <p:cNvPr id="43" name="Text Box 36"/>
          <p:cNvSpPr txBox="1">
            <a:spLocks noChangeArrowheads="1"/>
          </p:cNvSpPr>
          <p:nvPr/>
        </p:nvSpPr>
        <p:spPr bwMode="auto">
          <a:xfrm>
            <a:off x="1785938" y="5211763"/>
            <a:ext cx="2349500" cy="124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228600" indent="-228600" eaLnBrk="1" hangingPunct="1">
              <a:spcBef>
                <a:spcPct val="20000"/>
              </a:spcBef>
              <a:buAutoNum type="arabicParenR"/>
            </a:pPr>
            <a:r>
              <a:rPr lang="en-GB" sz="1200" dirty="0"/>
              <a:t>Define objectives for each    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     area: Strategic, Operational,   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     Financial, Compliance,    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     Reputation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2)  Capture value streams</a:t>
            </a:r>
          </a:p>
        </p:txBody>
      </p:sp>
      <p:sp>
        <p:nvSpPr>
          <p:cNvPr id="44" name="Line 37"/>
          <p:cNvSpPr>
            <a:spLocks noChangeShapeType="1"/>
          </p:cNvSpPr>
          <p:nvPr/>
        </p:nvSpPr>
        <p:spPr bwMode="auto">
          <a:xfrm flipV="1">
            <a:off x="1981387" y="4159250"/>
            <a:ext cx="0" cy="1052513"/>
          </a:xfrm>
          <a:prstGeom prst="line">
            <a:avLst/>
          </a:prstGeom>
          <a:noFill/>
          <a:ln w="28575">
            <a:solidFill>
              <a:srgbClr val="969696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45" name="Text Box 38"/>
          <p:cNvSpPr txBox="1">
            <a:spLocks noChangeArrowheads="1"/>
          </p:cNvSpPr>
          <p:nvPr/>
        </p:nvSpPr>
        <p:spPr bwMode="auto">
          <a:xfrm>
            <a:off x="4659312" y="5211763"/>
            <a:ext cx="2532057" cy="1344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en-GB" sz="1200" dirty="0"/>
              <a:t>1) Weight risks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2) Identify key controls and  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    supporting monitoring reports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3) Assess effectiveness of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    controls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4) Identify risk and control owners</a:t>
            </a:r>
          </a:p>
          <a:p>
            <a:pPr eaLnBrk="1" hangingPunct="1">
              <a:spcBef>
                <a:spcPct val="20000"/>
              </a:spcBef>
            </a:pPr>
            <a:endParaRPr lang="en-GB" sz="1200" dirty="0"/>
          </a:p>
        </p:txBody>
      </p:sp>
      <p:sp>
        <p:nvSpPr>
          <p:cNvPr id="46" name="Line 39"/>
          <p:cNvSpPr>
            <a:spLocks noChangeShapeType="1"/>
          </p:cNvSpPr>
          <p:nvPr/>
        </p:nvSpPr>
        <p:spPr bwMode="auto">
          <a:xfrm flipV="1">
            <a:off x="4892675" y="4209575"/>
            <a:ext cx="2958" cy="1002187"/>
          </a:xfrm>
          <a:prstGeom prst="line">
            <a:avLst/>
          </a:prstGeom>
          <a:noFill/>
          <a:ln w="28575">
            <a:solidFill>
              <a:srgbClr val="969696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47" name="Line 41"/>
          <p:cNvSpPr>
            <a:spLocks noChangeShapeType="1"/>
          </p:cNvSpPr>
          <p:nvPr/>
        </p:nvSpPr>
        <p:spPr bwMode="auto">
          <a:xfrm flipV="1">
            <a:off x="7613101" y="4265969"/>
            <a:ext cx="12700" cy="847754"/>
          </a:xfrm>
          <a:prstGeom prst="line">
            <a:avLst/>
          </a:prstGeom>
          <a:noFill/>
          <a:ln w="28575">
            <a:solidFill>
              <a:srgbClr val="969696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48" name="Line 42"/>
          <p:cNvSpPr>
            <a:spLocks noChangeShapeType="1"/>
          </p:cNvSpPr>
          <p:nvPr/>
        </p:nvSpPr>
        <p:spPr bwMode="auto">
          <a:xfrm flipV="1">
            <a:off x="338138" y="1579563"/>
            <a:ext cx="0" cy="1349375"/>
          </a:xfrm>
          <a:prstGeom prst="line">
            <a:avLst/>
          </a:prstGeom>
          <a:noFill/>
          <a:ln w="28575">
            <a:solidFill>
              <a:srgbClr val="969696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49" name="Line 43"/>
          <p:cNvSpPr>
            <a:spLocks noChangeShapeType="1"/>
          </p:cNvSpPr>
          <p:nvPr/>
        </p:nvSpPr>
        <p:spPr bwMode="auto">
          <a:xfrm flipV="1">
            <a:off x="3438307" y="1972069"/>
            <a:ext cx="0" cy="1085540"/>
          </a:xfrm>
          <a:prstGeom prst="line">
            <a:avLst/>
          </a:prstGeom>
          <a:noFill/>
          <a:ln w="28575">
            <a:solidFill>
              <a:srgbClr val="969696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50" name="Line 44"/>
          <p:cNvSpPr>
            <a:spLocks noChangeShapeType="1"/>
          </p:cNvSpPr>
          <p:nvPr/>
        </p:nvSpPr>
        <p:spPr bwMode="auto">
          <a:xfrm flipV="1">
            <a:off x="6176770" y="2381846"/>
            <a:ext cx="0" cy="690255"/>
          </a:xfrm>
          <a:prstGeom prst="line">
            <a:avLst/>
          </a:prstGeom>
          <a:noFill/>
          <a:ln w="28575">
            <a:solidFill>
              <a:srgbClr val="969696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51" name="Rectangle 50"/>
          <p:cNvSpPr/>
          <p:nvPr/>
        </p:nvSpPr>
        <p:spPr>
          <a:xfrm>
            <a:off x="1733550" y="2813648"/>
            <a:ext cx="5767388" cy="1656752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70AD47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2" name="Rectangle 51"/>
          <p:cNvSpPr>
            <a:spLocks noChangeArrowheads="1"/>
          </p:cNvSpPr>
          <p:nvPr/>
        </p:nvSpPr>
        <p:spPr bwMode="auto">
          <a:xfrm>
            <a:off x="407194" y="4478367"/>
            <a:ext cx="8504238" cy="677862"/>
          </a:xfrm>
          <a:prstGeom prst="rect">
            <a:avLst/>
          </a:prstGeom>
          <a:noFill/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sz="1050" b="1" dirty="0">
              <a:solidFill>
                <a:srgbClr val="000000"/>
              </a:solidFill>
              <a:latin typeface="+mn-lt"/>
              <a:ea typeface="+mn-ea"/>
            </a:endParaRPr>
          </a:p>
          <a:p>
            <a:pPr algn="ctr">
              <a:defRPr/>
            </a:pPr>
            <a:endParaRPr lang="en-US" sz="1050" b="1" dirty="0">
              <a:solidFill>
                <a:srgbClr val="000000"/>
              </a:solidFill>
            </a:endParaRPr>
          </a:p>
          <a:p>
            <a:pPr algn="ctr">
              <a:defRPr/>
            </a:pPr>
            <a:r>
              <a:rPr lang="en-US" sz="1050" b="1" dirty="0">
                <a:solidFill>
                  <a:srgbClr val="000000"/>
                </a:solidFill>
                <a:latin typeface="+mn-lt"/>
                <a:ea typeface="+mn-ea"/>
              </a:rPr>
              <a:t>Internal Risk Assessment Study</a:t>
            </a:r>
          </a:p>
        </p:txBody>
      </p:sp>
      <p:sp>
        <p:nvSpPr>
          <p:cNvPr id="56" name="Text Box 40">
            <a:extLst>
              <a:ext uri="{FF2B5EF4-FFF2-40B4-BE49-F238E27FC236}">
                <a16:creationId xmlns:a16="http://schemas.microsoft.com/office/drawing/2014/main" id="{549F77B2-38F6-4191-9974-25AC52A092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00938" y="5362295"/>
            <a:ext cx="1862138" cy="10908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801688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801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20000"/>
              </a:spcBef>
            </a:pPr>
            <a:r>
              <a:rPr lang="en-GB" sz="1200" dirty="0"/>
              <a:t>1) Create Action Plan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2) Focus: Transfer,    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     Retain, Avoid, Exploit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3) Integrate into ERM    </a:t>
            </a:r>
          </a:p>
          <a:p>
            <a:pPr eaLnBrk="1" hangingPunct="1">
              <a:spcBef>
                <a:spcPct val="20000"/>
              </a:spcBef>
            </a:pPr>
            <a:r>
              <a:rPr lang="en-GB" sz="1200" dirty="0"/>
              <a:t>    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9725" y="4270224"/>
            <a:ext cx="127470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FF0000"/>
                </a:solidFill>
              </a:rPr>
              <a:t>Defined Framework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8393" y="4252913"/>
            <a:ext cx="63350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FF0000"/>
                </a:solidFill>
              </a:rPr>
              <a:t>Context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67847" y="4230921"/>
            <a:ext cx="83095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FF0000"/>
                </a:solidFill>
              </a:rPr>
              <a:t>Risk Factors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94438" y="4239568"/>
            <a:ext cx="63714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FF0000"/>
                </a:solidFill>
              </a:rPr>
              <a:t>Ranking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92675" y="4209576"/>
            <a:ext cx="9486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FF0000"/>
                </a:solidFill>
              </a:rPr>
              <a:t>Residual Risks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37719" y="4243388"/>
            <a:ext cx="81939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solidFill>
                  <a:srgbClr val="FF0000"/>
                </a:solidFill>
              </a:rPr>
              <a:t>Action Plan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5769" y="3057609"/>
            <a:ext cx="25929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008000"/>
                </a:solidFill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2864" y="3057609"/>
            <a:ext cx="2600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38307" y="3072103"/>
            <a:ext cx="2600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73816" y="3051135"/>
            <a:ext cx="2600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313231"/>
                </a:solidFill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6770" y="3039080"/>
            <a:ext cx="2600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313231"/>
                </a:solidFill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46341" y="3063952"/>
            <a:ext cx="2600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69" name="Right Brace 68"/>
          <p:cNvSpPr/>
          <p:nvPr/>
        </p:nvSpPr>
        <p:spPr>
          <a:xfrm rot="5400000">
            <a:off x="4500314" y="1894152"/>
            <a:ext cx="377055" cy="5714999"/>
          </a:xfrm>
          <a:prstGeom prst="rightBrace">
            <a:avLst/>
          </a:prstGeom>
          <a:ln>
            <a:solidFill>
              <a:srgbClr val="3132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ight Brace 3"/>
          <p:cNvSpPr/>
          <p:nvPr/>
        </p:nvSpPr>
        <p:spPr>
          <a:xfrm>
            <a:off x="9096375" y="2540000"/>
            <a:ext cx="266701" cy="219551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 rot="16200000">
            <a:off x="8312367" y="3533828"/>
            <a:ext cx="2538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Enhance Entity Value</a:t>
            </a:r>
          </a:p>
        </p:txBody>
      </p:sp>
    </p:spTree>
    <p:extLst>
      <p:ext uri="{BB962C8B-B14F-4D97-AF65-F5344CB8AC3E}">
        <p14:creationId xmlns:p14="http://schemas.microsoft.com/office/powerpoint/2010/main" val="428191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  <p:bldP spid="29" grpId="0"/>
      <p:bldP spid="30" grpId="0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/>
      <p:bldP spid="3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158050" y="6573876"/>
            <a:ext cx="2228850" cy="301756"/>
          </a:xfrm>
        </p:spPr>
        <p:txBody>
          <a:bodyPr/>
          <a:lstStyle/>
          <a:p>
            <a:fld id="{3B9F6E38-0256-4C4B-981B-FAA90C720E3E}" type="slidenum">
              <a:rPr lang="en-US" smtClean="0"/>
              <a:t>5</a:t>
            </a:fld>
            <a:endParaRPr lang="en-US" dirty="0"/>
          </a:p>
        </p:txBody>
      </p:sp>
      <p:sp>
        <p:nvSpPr>
          <p:cNvPr id="59" name="Line 3"/>
          <p:cNvSpPr>
            <a:spLocks noChangeShapeType="1"/>
          </p:cNvSpPr>
          <p:nvPr/>
        </p:nvSpPr>
        <p:spPr bwMode="auto">
          <a:xfrm>
            <a:off x="6686687" y="1058568"/>
            <a:ext cx="1603375" cy="0"/>
          </a:xfrm>
          <a:prstGeom prst="line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8" name="Text Box 13"/>
          <p:cNvSpPr txBox="1">
            <a:spLocks noChangeArrowheads="1"/>
          </p:cNvSpPr>
          <p:nvPr/>
        </p:nvSpPr>
        <p:spPr bwMode="auto">
          <a:xfrm rot="16200000">
            <a:off x="480356" y="1522375"/>
            <a:ext cx="668337" cy="251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hangingPunct="1"/>
            <a:r>
              <a:rPr lang="en-US" sz="1400" b="1" dirty="0">
                <a:solidFill>
                  <a:schemeClr val="bg1"/>
                </a:solidFill>
                <a:latin typeface="Times New Roman" charset="0"/>
              </a:rPr>
              <a:t>HIGH</a:t>
            </a:r>
          </a:p>
        </p:txBody>
      </p:sp>
      <p:sp>
        <p:nvSpPr>
          <p:cNvPr id="97" name="Line 43"/>
          <p:cNvSpPr>
            <a:spLocks noChangeShapeType="1"/>
          </p:cNvSpPr>
          <p:nvPr/>
        </p:nvSpPr>
        <p:spPr bwMode="auto">
          <a:xfrm>
            <a:off x="-68125" y="1063331"/>
            <a:ext cx="8455025" cy="0"/>
          </a:xfrm>
          <a:prstGeom prst="line">
            <a:avLst/>
          </a:prstGeom>
          <a:noFill/>
          <a:ln w="31750">
            <a:solidFill>
              <a:srgbClr val="99999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graphicFrame>
        <p:nvGraphicFramePr>
          <p:cNvPr id="9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697578"/>
              </p:ext>
            </p:extLst>
          </p:nvPr>
        </p:nvGraphicFramePr>
        <p:xfrm>
          <a:off x="146051" y="831436"/>
          <a:ext cx="9427542" cy="5606784"/>
        </p:xfrm>
        <a:graphic>
          <a:graphicData uri="http://schemas.openxmlformats.org/drawingml/2006/table">
            <a:tbl>
              <a:tblPr/>
              <a:tblGrid>
                <a:gridCol w="2376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7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05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05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9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5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68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239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781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365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7197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781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781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6781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6781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3859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Tasks</a:t>
                      </a: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                                 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9750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2/12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2/19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2/26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3/5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3/12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3/19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3/26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4/2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4/9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4/16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4/23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4/30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5/7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5/14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June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0" marR="0" marT="46800" marB="468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gradFill rotWithShape="1">
                      <a:gsLst>
                        <a:gs pos="0">
                          <a:srgbClr val="808080"/>
                        </a:gs>
                        <a:gs pos="100000">
                          <a:srgbClr val="808080">
                            <a:gamma/>
                            <a:shade val="46275"/>
                            <a:invGamma/>
                          </a:srgb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009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Planning (PMO)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008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i. ERM Survey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008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77800" marR="0" lvl="0" indent="-1778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II. Internal Risk Assesssment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008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66519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77800" marR="0" lvl="0" indent="-17780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1) Human Resources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568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2) IT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16D9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8959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3) EHS</a:t>
                      </a: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449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4) Project Operations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8146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5) Business Continuity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412771"/>
                  </a:ext>
                </a:extLst>
              </a:tr>
              <a:tr h="298146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6) Financial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9342790"/>
                  </a:ext>
                </a:extLst>
              </a:tr>
              <a:tr h="335359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7) Compliance &amp; Reputation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8) Strategic &amp; Financial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3152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9) Economic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10) Technological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11) Social &amp; Cultural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679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12) Political / Soverign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67922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13) Environmental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0" i="0" u="none" strike="noStrike" cap="none" normalizeH="0" baseline="0" noProof="1">
                          <a:ln>
                            <a:noFill/>
                          </a:ln>
                          <a:solidFill>
                            <a:srgbClr val="3F3F3F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  14) Legal</a:t>
                      </a:r>
                      <a:endParaRPr kumimoji="0" sz="1200" b="0" i="0" u="none" strike="noStrike" cap="none" normalizeH="0" baseline="0" noProof="1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72710">
                <a:tc>
                  <a:txBody>
                    <a:bodyPr/>
                    <a:lstStyle/>
                    <a:p>
                      <a:pPr marL="180975" marR="0" lvl="0" indent="-180975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r>
                        <a:rPr kumimoji="0" lang="en-US" sz="1200" b="1" i="0" u="none" strike="noStrike" cap="none" normalizeH="0" baseline="0" noProof="1">
                          <a:ln>
                            <a:noFill/>
                          </a:ln>
                          <a:solidFill>
                            <a:srgbClr val="008000"/>
                          </a:solidFill>
                          <a:effectLst/>
                          <a:latin typeface="Arial" charset="0"/>
                          <a:ea typeface="ＭＳ Ｐゴシック" charset="0"/>
                          <a:cs typeface="Arial" charset="0"/>
                        </a:rPr>
                        <a:t>III. Report Out</a:t>
                      </a:r>
                      <a:endParaRPr kumimoji="0" sz="1200" b="1" i="0" u="none" strike="noStrike" cap="none" normalizeH="0" baseline="0" noProof="1">
                        <a:ln>
                          <a:noFill/>
                        </a:ln>
                        <a:solidFill>
                          <a:srgbClr val="008000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3F3F3F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Wingdings" charset="0"/>
                        <a:buNone/>
                        <a:tabLst/>
                      </a:pP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ＭＳ Ｐゴシック" charset="0"/>
                        <a:cs typeface="Arial" charset="0"/>
                      </a:endParaRPr>
                    </a:p>
                  </a:txBody>
                  <a:tcPr marL="97500" marR="19500" marT="18000" marB="18000" anchor="ctr" horzOverflow="overflow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10" name="Text Box 248"/>
          <p:cNvSpPr txBox="1">
            <a:spLocks noChangeArrowheads="1"/>
          </p:cNvSpPr>
          <p:nvPr/>
        </p:nvSpPr>
        <p:spPr bwMode="auto">
          <a:xfrm>
            <a:off x="8580282" y="6269819"/>
            <a:ext cx="1082211" cy="442505"/>
          </a:xfrm>
          <a:prstGeom prst="rect">
            <a:avLst/>
          </a:prstGeom>
          <a:gradFill rotWithShape="1">
            <a:gsLst>
              <a:gs pos="0">
                <a:srgbClr val="F8F8F8"/>
              </a:gs>
              <a:gs pos="100000">
                <a:srgbClr val="EAEAEA"/>
              </a:gs>
            </a:gsLst>
            <a:lin ang="5400000" scaled="1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63500" dist="38099" dir="2700000" algn="ctr" rotWithShape="0">
              <a:srgbClr val="1C1C1C">
                <a:alpha val="50000"/>
              </a:srgbClr>
            </a:outerShdw>
          </a:effectLst>
        </p:spPr>
        <p:txBody>
          <a:bodyPr wrap="none" anchor="ctr"/>
          <a:lstStyle>
            <a:lvl1pPr marL="174625" indent="-174625">
              <a:defRPr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sz="900" b="1" noProof="1">
                <a:solidFill>
                  <a:srgbClr val="000000"/>
                </a:solidFill>
              </a:rPr>
              <a:t>BOD 5/24/21</a:t>
            </a:r>
          </a:p>
        </p:txBody>
      </p:sp>
      <p:sp>
        <p:nvSpPr>
          <p:cNvPr id="11" name="Line 249"/>
          <p:cNvSpPr>
            <a:spLocks noChangeShapeType="1"/>
          </p:cNvSpPr>
          <p:nvPr/>
        </p:nvSpPr>
        <p:spPr bwMode="auto">
          <a:xfrm flipV="1">
            <a:off x="2442221" y="1211764"/>
            <a:ext cx="30531" cy="5220990"/>
          </a:xfrm>
          <a:prstGeom prst="line">
            <a:avLst/>
          </a:prstGeom>
          <a:noFill/>
          <a:ln w="19050">
            <a:solidFill>
              <a:srgbClr val="C40505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EAEAEA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Text Box 251"/>
          <p:cNvSpPr txBox="1">
            <a:spLocks noChangeArrowheads="1"/>
          </p:cNvSpPr>
          <p:nvPr/>
        </p:nvSpPr>
        <p:spPr bwMode="auto">
          <a:xfrm>
            <a:off x="2156716" y="6414872"/>
            <a:ext cx="661219" cy="1955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gradFill rotWithShape="1">
                  <a:gsLst>
                    <a:gs pos="0">
                      <a:srgbClr val="DDDDDD"/>
                    </a:gs>
                    <a:gs pos="100000">
                      <a:srgbClr val="FFFFFF"/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DDDDDD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5388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36000" tIns="90000" rIns="36000" bIns="90000" anchor="ctr"/>
          <a:lstStyle>
            <a:lvl1pPr marL="177800" indent="-177800" defTabSz="801688">
              <a:defRPr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 defTabSz="801688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defTabSz="801688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defTabSz="801688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defTabSz="801688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>
              <a:spcBef>
                <a:spcPct val="20000"/>
              </a:spcBef>
            </a:pPr>
            <a:r>
              <a:rPr lang="en-US" sz="1050" b="1" noProof="1">
                <a:solidFill>
                  <a:srgbClr val="FF0000"/>
                </a:solidFill>
              </a:rPr>
              <a:t>Current</a:t>
            </a:r>
            <a:endParaRPr sz="1050" b="1" noProof="1">
              <a:solidFill>
                <a:srgbClr val="FF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129868" y="2017247"/>
            <a:ext cx="822899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2/22 – 2/24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0795" y="1773967"/>
            <a:ext cx="5315981" cy="25391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1050" b="1" dirty="0">
                <a:solidFill>
                  <a:schemeClr val="bg1"/>
                </a:solidFill>
              </a:rPr>
              <a:t>                                                           2/22/21 – 3/24/23</a:t>
            </a:r>
          </a:p>
        </p:txBody>
      </p:sp>
      <p:sp>
        <p:nvSpPr>
          <p:cNvPr id="19" name="AutoShape 259"/>
          <p:cNvSpPr>
            <a:spLocks noChangeArrowheads="1"/>
          </p:cNvSpPr>
          <p:nvPr/>
        </p:nvSpPr>
        <p:spPr bwMode="auto">
          <a:xfrm>
            <a:off x="3438430" y="1421022"/>
            <a:ext cx="222152" cy="158956"/>
          </a:xfrm>
          <a:prstGeom prst="diamond">
            <a:avLst/>
          </a:prstGeom>
          <a:solidFill>
            <a:srgbClr val="FEA501"/>
          </a:solidFill>
          <a:ln w="12700">
            <a:solidFill>
              <a:srgbClr val="FFFFFF"/>
            </a:solidFill>
            <a:miter lim="800000"/>
            <a:headEnd/>
            <a:tailEnd/>
          </a:ln>
          <a:effectLst>
            <a:outerShdw blurRad="63500" dist="38099" dir="2700000" algn="ctr" rotWithShape="0">
              <a:srgbClr val="1C1C1C">
                <a:alpha val="50000"/>
              </a:srgbClr>
            </a:outerShdw>
          </a:effectLst>
        </p:spPr>
        <p:txBody>
          <a:bodyPr wrap="none" anchor="ctr"/>
          <a:lstStyle/>
          <a:p>
            <a:pPr marL="174625" indent="-174625" algn="ctr">
              <a:spcBef>
                <a:spcPct val="50000"/>
              </a:spcBef>
            </a:pP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91382" y="5872899"/>
            <a:ext cx="774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Report out</a:t>
            </a:r>
          </a:p>
          <a:p>
            <a:pPr algn="ctr"/>
            <a:r>
              <a:rPr lang="en-US" sz="900" b="1" dirty="0"/>
              <a:t>5/14</a:t>
            </a:r>
            <a:endParaRPr lang="en-US" sz="900" b="1" dirty="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258543" y="1158492"/>
            <a:ext cx="871325" cy="253916"/>
          </a:xfrm>
          <a:prstGeom prst="rect">
            <a:avLst/>
          </a:prstGeom>
          <a:solidFill>
            <a:srgbClr val="008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2/8 – 2/12</a:t>
            </a:r>
          </a:p>
        </p:txBody>
      </p:sp>
      <p:sp>
        <p:nvSpPr>
          <p:cNvPr id="25" name="AutoShape 259"/>
          <p:cNvSpPr>
            <a:spLocks noChangeArrowheads="1"/>
          </p:cNvSpPr>
          <p:nvPr/>
        </p:nvSpPr>
        <p:spPr bwMode="auto">
          <a:xfrm>
            <a:off x="9227685" y="5964710"/>
            <a:ext cx="247650" cy="152400"/>
          </a:xfrm>
          <a:prstGeom prst="diamond">
            <a:avLst/>
          </a:prstGeom>
          <a:solidFill>
            <a:srgbClr val="FEA501"/>
          </a:solidFill>
          <a:ln w="12700">
            <a:solidFill>
              <a:srgbClr val="FFFFFF"/>
            </a:solidFill>
            <a:miter lim="800000"/>
            <a:headEnd/>
            <a:tailEnd/>
          </a:ln>
          <a:effectLst>
            <a:outerShdw blurRad="63500" dist="38099" dir="2700000" algn="ctr" rotWithShape="0">
              <a:srgbClr val="1C1C1C">
                <a:alpha val="50000"/>
              </a:srgbClr>
            </a:outerShdw>
          </a:effectLst>
        </p:spPr>
        <p:txBody>
          <a:bodyPr wrap="none" anchor="ctr"/>
          <a:lstStyle/>
          <a:p>
            <a:pPr marL="174625" indent="-174625" algn="ctr">
              <a:spcBef>
                <a:spcPct val="50000"/>
              </a:spcBef>
            </a:pP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7651" y="213698"/>
            <a:ext cx="2900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+mj-lt"/>
              </a:rPr>
              <a:t>Project Timeline </a:t>
            </a:r>
          </a:p>
        </p:txBody>
      </p:sp>
      <p:sp>
        <p:nvSpPr>
          <p:cNvPr id="27" name="TextBox 51"/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774121" y="1167106"/>
            <a:ext cx="475470" cy="253916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050" dirty="0">
                <a:solidFill>
                  <a:srgbClr val="FFFFFF"/>
                </a:solidFill>
              </a:rPr>
              <a:t>Start</a:t>
            </a:r>
          </a:p>
        </p:txBody>
      </p:sp>
      <p:cxnSp>
        <p:nvCxnSpPr>
          <p:cNvPr id="31" name="Elbow Connector 30"/>
          <p:cNvCxnSpPr>
            <a:cxnSpLocks noChangeShapeType="1"/>
          </p:cNvCxnSpPr>
          <p:nvPr>
            <p:custDataLst>
              <p:tags r:id="rId2"/>
            </p:custDataLst>
          </p:nvPr>
        </p:nvCxnSpPr>
        <p:spPr bwMode="auto">
          <a:xfrm rot="16200000" flipH="1">
            <a:off x="3272953" y="1497414"/>
            <a:ext cx="346344" cy="206762"/>
          </a:xfrm>
          <a:prstGeom prst="bentConnector3">
            <a:avLst>
              <a:gd name="adj1" fmla="val 50000"/>
            </a:avLst>
          </a:prstGeom>
          <a:noFill/>
          <a:ln w="25400" algn="ctr">
            <a:solidFill>
              <a:srgbClr val="0070C0"/>
            </a:solidFill>
            <a:round/>
            <a:headEnd/>
            <a:tailEnd type="arrow" w="med" len="med"/>
          </a:ln>
        </p:spPr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20B3CF9-CEAB-43F4-9180-BEAE97B05644}"/>
              </a:ext>
            </a:extLst>
          </p:cNvPr>
          <p:cNvSpPr txBox="1"/>
          <p:nvPr/>
        </p:nvSpPr>
        <p:spPr>
          <a:xfrm>
            <a:off x="6563142" y="5913952"/>
            <a:ext cx="960024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4/19 – 4/21</a:t>
            </a:r>
          </a:p>
        </p:txBody>
      </p:sp>
      <p:sp>
        <p:nvSpPr>
          <p:cNvPr id="52" name="Right Brace 51">
            <a:extLst>
              <a:ext uri="{FF2B5EF4-FFF2-40B4-BE49-F238E27FC236}">
                <a16:creationId xmlns:a16="http://schemas.microsoft.com/office/drawing/2014/main" id="{7913E2BE-7332-4C89-A887-501D3F811B3B}"/>
              </a:ext>
            </a:extLst>
          </p:cNvPr>
          <p:cNvSpPr/>
          <p:nvPr/>
        </p:nvSpPr>
        <p:spPr bwMode="auto">
          <a:xfrm>
            <a:off x="6433112" y="2017572"/>
            <a:ext cx="547107" cy="1957766"/>
          </a:xfrm>
          <a:prstGeom prst="rightBrac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55" name="TextBox 51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2488038" y="1427623"/>
            <a:ext cx="866014" cy="253916"/>
          </a:xfrm>
          <a:prstGeom prst="rect">
            <a:avLst/>
          </a:prstGeom>
          <a:solidFill>
            <a:srgbClr val="FF6600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050" b="1" dirty="0"/>
              <a:t>2/15– 2/19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42744" y="2269530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2/25 – 3/2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38738" y="2524224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3/3 – 3/5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10344" y="2792040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3/8 – 3/12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71973" y="3085568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3/15 – 3/16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24373" y="3367295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3/17 – 3/19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51102" y="3691054"/>
            <a:ext cx="828058" cy="23083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3/22 – 3/24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00031" y="4021367"/>
            <a:ext cx="828058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b="1" dirty="0">
                <a:solidFill>
                  <a:srgbClr val="660066"/>
                </a:solidFill>
              </a:rPr>
              <a:t>3/29 – 3/31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0B3CF9-CEAB-43F4-9180-BEAE97B05644}"/>
              </a:ext>
            </a:extLst>
          </p:cNvPr>
          <p:cNvSpPr txBox="1"/>
          <p:nvPr/>
        </p:nvSpPr>
        <p:spPr>
          <a:xfrm>
            <a:off x="5401421" y="4356473"/>
            <a:ext cx="810540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4/1 – 4/2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20B3CF9-CEAB-43F4-9180-BEAE97B05644}"/>
              </a:ext>
            </a:extLst>
          </p:cNvPr>
          <p:cNvSpPr txBox="1"/>
          <p:nvPr/>
        </p:nvSpPr>
        <p:spPr>
          <a:xfrm>
            <a:off x="5733063" y="4624203"/>
            <a:ext cx="895053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4/5 – 4/7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20B3CF9-CEAB-43F4-9180-BEAE97B05644}"/>
              </a:ext>
            </a:extLst>
          </p:cNvPr>
          <p:cNvSpPr txBox="1"/>
          <p:nvPr/>
        </p:nvSpPr>
        <p:spPr>
          <a:xfrm>
            <a:off x="6089088" y="4928166"/>
            <a:ext cx="891131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4/8 – 4/9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20B3CF9-CEAB-43F4-9180-BEAE97B05644}"/>
              </a:ext>
            </a:extLst>
          </p:cNvPr>
          <p:cNvSpPr txBox="1"/>
          <p:nvPr/>
        </p:nvSpPr>
        <p:spPr>
          <a:xfrm>
            <a:off x="6109399" y="5220297"/>
            <a:ext cx="960024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4/12 - 4/14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0B3CF9-CEAB-43F4-9180-BEAE97B05644}"/>
              </a:ext>
            </a:extLst>
          </p:cNvPr>
          <p:cNvSpPr txBox="1"/>
          <p:nvPr/>
        </p:nvSpPr>
        <p:spPr>
          <a:xfrm>
            <a:off x="6249099" y="5575844"/>
            <a:ext cx="960024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4/15 – 4/16</a:t>
            </a:r>
          </a:p>
        </p:txBody>
      </p:sp>
      <p:sp>
        <p:nvSpPr>
          <p:cNvPr id="82" name="Right Brace 81">
            <a:extLst>
              <a:ext uri="{FF2B5EF4-FFF2-40B4-BE49-F238E27FC236}">
                <a16:creationId xmlns:a16="http://schemas.microsoft.com/office/drawing/2014/main" id="{7913E2BE-7332-4C89-A887-501D3F811B3B}"/>
              </a:ext>
            </a:extLst>
          </p:cNvPr>
          <p:cNvSpPr/>
          <p:nvPr/>
        </p:nvSpPr>
        <p:spPr bwMode="auto">
          <a:xfrm>
            <a:off x="7839794" y="4229515"/>
            <a:ext cx="518960" cy="1828050"/>
          </a:xfrm>
          <a:prstGeom prst="rightBrace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043154" y="2838206"/>
            <a:ext cx="16630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Operational Risks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86900" y="5028193"/>
            <a:ext cx="12945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External Risks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52EDD737-DF02-48F1-A213-EC01DF2C9D66}"/>
              </a:ext>
            </a:extLst>
          </p:cNvPr>
          <p:cNvCxnSpPr>
            <a:cxnSpLocks/>
            <a:stCxn id="67" idx="3"/>
          </p:cNvCxnSpPr>
          <p:nvPr/>
        </p:nvCxnSpPr>
        <p:spPr bwMode="auto">
          <a:xfrm>
            <a:off x="5928089" y="4136783"/>
            <a:ext cx="1911705" cy="3656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7602501" y="3465080"/>
            <a:ext cx="162674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Information for </a:t>
            </a:r>
          </a:p>
          <a:p>
            <a:pPr algn="ctr"/>
            <a:r>
              <a:rPr lang="en-US" sz="1400" dirty="0"/>
              <a:t>Decision-making</a:t>
            </a:r>
          </a:p>
          <a:p>
            <a:pPr algn="ctr"/>
            <a:r>
              <a:rPr lang="en-US" sz="1400" dirty="0"/>
              <a:t>Risks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18737" y="6197414"/>
            <a:ext cx="871325" cy="253916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FFFF"/>
                </a:solidFill>
              </a:rPr>
              <a:t>4/26 – 5/7</a:t>
            </a:r>
          </a:p>
        </p:txBody>
      </p:sp>
    </p:spTree>
    <p:extLst>
      <p:ext uri="{BB962C8B-B14F-4D97-AF65-F5344CB8AC3E}">
        <p14:creationId xmlns:p14="http://schemas.microsoft.com/office/powerpoint/2010/main" val="1249046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234181" y="6506808"/>
            <a:ext cx="2228850" cy="301756"/>
          </a:xfrm>
        </p:spPr>
        <p:txBody>
          <a:bodyPr/>
          <a:lstStyle/>
          <a:p>
            <a:fld id="{3B9F6E38-0256-4C4B-981B-FAA90C720E3E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b="0" dirty="0"/>
              <a:t>Budget</a:t>
            </a:r>
          </a:p>
        </p:txBody>
      </p:sp>
      <p:sp>
        <p:nvSpPr>
          <p:cNvPr id="58" name="Rectangle 2"/>
          <p:cNvSpPr>
            <a:spLocks noChangeArrowheads="1"/>
          </p:cNvSpPr>
          <p:nvPr/>
        </p:nvSpPr>
        <p:spPr bwMode="auto">
          <a:xfrm>
            <a:off x="0" y="6324495"/>
            <a:ext cx="9144000" cy="48281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9" name="Line 3"/>
          <p:cNvSpPr>
            <a:spLocks noChangeShapeType="1"/>
          </p:cNvSpPr>
          <p:nvPr/>
        </p:nvSpPr>
        <p:spPr bwMode="auto">
          <a:xfrm>
            <a:off x="6788287" y="1058568"/>
            <a:ext cx="1603375" cy="0"/>
          </a:xfrm>
          <a:prstGeom prst="line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97" name="Line 43"/>
          <p:cNvSpPr>
            <a:spLocks noChangeShapeType="1"/>
          </p:cNvSpPr>
          <p:nvPr/>
        </p:nvSpPr>
        <p:spPr bwMode="auto">
          <a:xfrm>
            <a:off x="33475" y="1063331"/>
            <a:ext cx="8455025" cy="0"/>
          </a:xfrm>
          <a:prstGeom prst="line">
            <a:avLst/>
          </a:prstGeom>
          <a:noFill/>
          <a:ln w="31750">
            <a:solidFill>
              <a:srgbClr val="99999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93675" y="1168400"/>
            <a:ext cx="8520281" cy="2031325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b="1" dirty="0"/>
              <a:t>Key Assumptions:</a:t>
            </a:r>
          </a:p>
          <a:p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dirty="0"/>
              <a:t>Three major Phases: Risk Survey, Internal Assessment, and Report Out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14 major focus areas (e.g. IT, Operations, HR, Legal, etc,)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Each focus area has a planning, fieldwork, and wrap-up component</a:t>
            </a:r>
          </a:p>
          <a:p>
            <a:endParaRPr lang="en-US" dirty="0"/>
          </a:p>
          <a:p>
            <a:r>
              <a:rPr lang="en-US" dirty="0"/>
              <a:t>Total hours include 2 consultants from EPIC FT and numerous SME from C&amp;E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439826"/>
              </p:ext>
            </p:extLst>
          </p:nvPr>
        </p:nvGraphicFramePr>
        <p:xfrm>
          <a:off x="546100" y="3427413"/>
          <a:ext cx="8331200" cy="2070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25" name="Worksheet" r:id="rId3" imgW="8331200" imgH="2070100" progId="Excel.Sheet.12">
                  <p:embed/>
                </p:oleObj>
              </mc:Choice>
              <mc:Fallback>
                <p:oleObj name="Worksheet" r:id="rId3" imgW="8331200" imgH="20701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46100" y="3427413"/>
                        <a:ext cx="8331200" cy="2070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20159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170681" y="6405208"/>
            <a:ext cx="2228850" cy="301756"/>
          </a:xfrm>
        </p:spPr>
        <p:txBody>
          <a:bodyPr/>
          <a:lstStyle/>
          <a:p>
            <a:fld id="{3B9F6E38-0256-4C4B-981B-FAA90C720E3E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b="0" dirty="0"/>
              <a:t>Risk Results</a:t>
            </a:r>
          </a:p>
        </p:txBody>
      </p:sp>
      <p:sp>
        <p:nvSpPr>
          <p:cNvPr id="57" name="Rectangle 42"/>
          <p:cNvSpPr>
            <a:spLocks noChangeArrowheads="1"/>
          </p:cNvSpPr>
          <p:nvPr/>
        </p:nvSpPr>
        <p:spPr bwMode="auto">
          <a:xfrm>
            <a:off x="109643" y="1145421"/>
            <a:ext cx="8258035" cy="27010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1" dirty="0"/>
              <a:t>Risk Matrix</a:t>
            </a:r>
          </a:p>
        </p:txBody>
      </p:sp>
      <p:sp>
        <p:nvSpPr>
          <p:cNvPr id="58" name="Rectangle 2"/>
          <p:cNvSpPr>
            <a:spLocks noChangeArrowheads="1"/>
          </p:cNvSpPr>
          <p:nvPr/>
        </p:nvSpPr>
        <p:spPr bwMode="auto">
          <a:xfrm>
            <a:off x="-63500" y="6222895"/>
            <a:ext cx="9144000" cy="48281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9" name="Line 3"/>
          <p:cNvSpPr>
            <a:spLocks noChangeShapeType="1"/>
          </p:cNvSpPr>
          <p:nvPr/>
        </p:nvSpPr>
        <p:spPr bwMode="auto">
          <a:xfrm>
            <a:off x="6788287" y="1058568"/>
            <a:ext cx="1603375" cy="0"/>
          </a:xfrm>
          <a:prstGeom prst="line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0" name="Text Box 5"/>
          <p:cNvSpPr txBox="1">
            <a:spLocks noChangeArrowheads="1"/>
          </p:cNvSpPr>
          <p:nvPr/>
        </p:nvSpPr>
        <p:spPr bwMode="auto">
          <a:xfrm>
            <a:off x="6553418" y="1190466"/>
            <a:ext cx="1931850" cy="5667534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</p:spPr>
        <p:txBody>
          <a:bodyPr/>
          <a:lstStyle>
            <a:lvl1pPr marL="176213" indent="-176213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973138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544638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2116138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687638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3144838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602038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4059238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4516438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sz="1000" u="sng" dirty="0">
                <a:latin typeface="Times New Roman" charset="0"/>
              </a:rPr>
              <a:t>Legend</a:t>
            </a:r>
          </a:p>
        </p:txBody>
      </p:sp>
      <p:sp>
        <p:nvSpPr>
          <p:cNvPr id="61" name="AutoShape 6"/>
          <p:cNvSpPr>
            <a:spLocks noChangeArrowheads="1"/>
          </p:cNvSpPr>
          <p:nvPr/>
        </p:nvSpPr>
        <p:spPr bwMode="auto">
          <a:xfrm rot="10800000">
            <a:off x="682762" y="1634818"/>
            <a:ext cx="319088" cy="3785846"/>
          </a:xfrm>
          <a:prstGeom prst="rtTriangle">
            <a:avLst/>
          </a:prstGeom>
          <a:solidFill>
            <a:srgbClr val="99CC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2" name="AutoShape 7"/>
          <p:cNvSpPr>
            <a:spLocks noChangeArrowheads="1"/>
          </p:cNvSpPr>
          <p:nvPr/>
        </p:nvSpPr>
        <p:spPr bwMode="auto">
          <a:xfrm rot="16200000">
            <a:off x="3680755" y="3686675"/>
            <a:ext cx="271463" cy="4445000"/>
          </a:xfrm>
          <a:prstGeom prst="rtTriangle">
            <a:avLst/>
          </a:prstGeom>
          <a:solidFill>
            <a:srgbClr val="99CC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3" name="Text Box 8"/>
          <p:cNvSpPr txBox="1">
            <a:spLocks noChangeArrowheads="1"/>
          </p:cNvSpPr>
          <p:nvPr/>
        </p:nvSpPr>
        <p:spPr bwMode="auto">
          <a:xfrm>
            <a:off x="1125675" y="6141330"/>
            <a:ext cx="5376862" cy="411870"/>
          </a:xfrm>
          <a:prstGeom prst="rect">
            <a:avLst/>
          </a:prstGeom>
          <a:solidFill>
            <a:srgbClr val="33CCCC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 eaLnBrk="1" hangingPunct="1"/>
            <a:r>
              <a:rPr lang="en-US" sz="2000" dirty="0">
                <a:latin typeface="Times New Roman" charset="0"/>
              </a:rPr>
              <a:t>Likelihood of Control Issues</a:t>
            </a:r>
          </a:p>
        </p:txBody>
      </p:sp>
      <p:sp>
        <p:nvSpPr>
          <p:cNvPr id="64" name="Text Box 9"/>
          <p:cNvSpPr txBox="1">
            <a:spLocks noChangeArrowheads="1"/>
          </p:cNvSpPr>
          <p:nvPr/>
        </p:nvSpPr>
        <p:spPr bwMode="auto">
          <a:xfrm rot="16200000">
            <a:off x="-1895338" y="3247701"/>
            <a:ext cx="4410075" cy="400110"/>
          </a:xfrm>
          <a:prstGeom prst="rect">
            <a:avLst/>
          </a:prstGeom>
          <a:solidFill>
            <a:srgbClr val="33CCCC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ctr" eaLnBrk="1" hangingPunct="1"/>
            <a:r>
              <a:rPr lang="en-US" sz="2000" dirty="0">
                <a:solidFill>
                  <a:srgbClr val="313231"/>
                </a:solidFill>
                <a:latin typeface="Times New Roman" charset="0"/>
              </a:rPr>
              <a:t>Impact </a:t>
            </a:r>
          </a:p>
        </p:txBody>
      </p:sp>
      <p:sp>
        <p:nvSpPr>
          <p:cNvPr id="65" name="Text Box 10"/>
          <p:cNvSpPr txBox="1">
            <a:spLocks noChangeArrowheads="1"/>
          </p:cNvSpPr>
          <p:nvPr/>
        </p:nvSpPr>
        <p:spPr bwMode="auto">
          <a:xfrm>
            <a:off x="1127262" y="5704643"/>
            <a:ext cx="619125" cy="251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hangingPunct="1"/>
            <a:r>
              <a:rPr lang="en-US" sz="1400" b="1" dirty="0">
                <a:latin typeface="Times New Roman" charset="0"/>
              </a:rPr>
              <a:t>LOW</a:t>
            </a:r>
          </a:p>
        </p:txBody>
      </p:sp>
      <p:sp>
        <p:nvSpPr>
          <p:cNvPr id="66" name="Text Box 11"/>
          <p:cNvSpPr txBox="1">
            <a:spLocks noChangeArrowheads="1"/>
          </p:cNvSpPr>
          <p:nvPr/>
        </p:nvSpPr>
        <p:spPr bwMode="auto">
          <a:xfrm rot="16200000">
            <a:off x="520837" y="5271256"/>
            <a:ext cx="619125" cy="251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hangingPunct="1"/>
            <a:r>
              <a:rPr lang="en-US" sz="1400" b="1" dirty="0">
                <a:latin typeface="Times New Roman" charset="0"/>
              </a:rPr>
              <a:t>LOW</a:t>
            </a:r>
          </a:p>
        </p:txBody>
      </p:sp>
      <p:sp>
        <p:nvSpPr>
          <p:cNvPr id="67" name="Text Box 12"/>
          <p:cNvSpPr txBox="1">
            <a:spLocks noChangeArrowheads="1"/>
          </p:cNvSpPr>
          <p:nvPr/>
        </p:nvSpPr>
        <p:spPr bwMode="auto">
          <a:xfrm>
            <a:off x="5402176" y="5773687"/>
            <a:ext cx="67348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hangingPunct="1"/>
            <a:r>
              <a:rPr lang="en-US" sz="1400" b="1" dirty="0">
                <a:solidFill>
                  <a:srgbClr val="313231"/>
                </a:solidFill>
                <a:latin typeface="Times New Roman" charset="0"/>
              </a:rPr>
              <a:t>HIGH</a:t>
            </a:r>
          </a:p>
        </p:txBody>
      </p:sp>
      <p:sp>
        <p:nvSpPr>
          <p:cNvPr id="68" name="Text Box 13"/>
          <p:cNvSpPr txBox="1">
            <a:spLocks noChangeArrowheads="1"/>
          </p:cNvSpPr>
          <p:nvPr/>
        </p:nvSpPr>
        <p:spPr bwMode="auto">
          <a:xfrm rot="16200000">
            <a:off x="543959" y="1873861"/>
            <a:ext cx="67348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1" hangingPunct="1"/>
            <a:r>
              <a:rPr lang="en-US" sz="1400" b="1" dirty="0">
                <a:solidFill>
                  <a:srgbClr val="313231"/>
                </a:solidFill>
                <a:latin typeface="Times New Roman" charset="0"/>
              </a:rPr>
              <a:t>HIGH</a:t>
            </a:r>
          </a:p>
        </p:txBody>
      </p:sp>
      <p:sp>
        <p:nvSpPr>
          <p:cNvPr id="69" name="Rectangle 14"/>
          <p:cNvSpPr>
            <a:spLocks noChangeArrowheads="1"/>
          </p:cNvSpPr>
          <p:nvPr/>
        </p:nvSpPr>
        <p:spPr bwMode="auto">
          <a:xfrm>
            <a:off x="1127262" y="1668004"/>
            <a:ext cx="5376863" cy="361189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70" name="Line 15"/>
          <p:cNvSpPr>
            <a:spLocks noChangeShapeType="1"/>
          </p:cNvSpPr>
          <p:nvPr/>
        </p:nvSpPr>
        <p:spPr bwMode="auto">
          <a:xfrm>
            <a:off x="3816487" y="1668004"/>
            <a:ext cx="0" cy="36118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71" name="Line 16"/>
          <p:cNvSpPr>
            <a:spLocks noChangeShapeType="1"/>
          </p:cNvSpPr>
          <p:nvPr/>
        </p:nvSpPr>
        <p:spPr bwMode="auto">
          <a:xfrm rot="5400000">
            <a:off x="3816487" y="1259217"/>
            <a:ext cx="1587" cy="443581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/>
          </a:p>
        </p:txBody>
      </p:sp>
      <p:sp>
        <p:nvSpPr>
          <p:cNvPr id="72" name="Oval 17"/>
          <p:cNvSpPr>
            <a:spLocks noChangeAspect="1" noChangeArrowheads="1"/>
          </p:cNvSpPr>
          <p:nvPr/>
        </p:nvSpPr>
        <p:spPr bwMode="auto">
          <a:xfrm>
            <a:off x="5738917" y="1823481"/>
            <a:ext cx="468378" cy="296508"/>
          </a:xfrm>
          <a:prstGeom prst="ellipse">
            <a:avLst/>
          </a:prstGeom>
          <a:solidFill>
            <a:srgbClr val="0080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8</a:t>
            </a:r>
          </a:p>
        </p:txBody>
      </p:sp>
      <p:sp>
        <p:nvSpPr>
          <p:cNvPr id="73" name="Oval 18"/>
          <p:cNvSpPr>
            <a:spLocks noChangeAspect="1" noChangeArrowheads="1"/>
          </p:cNvSpPr>
          <p:nvPr/>
        </p:nvSpPr>
        <p:spPr bwMode="auto">
          <a:xfrm>
            <a:off x="4970429" y="2145252"/>
            <a:ext cx="467066" cy="295195"/>
          </a:xfrm>
          <a:prstGeom prst="ellipse">
            <a:avLst/>
          </a:prstGeom>
          <a:solidFill>
            <a:srgbClr val="0080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4</a:t>
            </a:r>
          </a:p>
        </p:txBody>
      </p:sp>
      <p:sp>
        <p:nvSpPr>
          <p:cNvPr id="74" name="Oval 19"/>
          <p:cNvSpPr>
            <a:spLocks noChangeAspect="1" noChangeArrowheads="1"/>
          </p:cNvSpPr>
          <p:nvPr/>
        </p:nvSpPr>
        <p:spPr bwMode="auto">
          <a:xfrm>
            <a:off x="4014754" y="1916652"/>
            <a:ext cx="467066" cy="295195"/>
          </a:xfrm>
          <a:prstGeom prst="ellipse">
            <a:avLst/>
          </a:prstGeom>
          <a:solidFill>
            <a:srgbClr val="0080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3</a:t>
            </a:r>
          </a:p>
        </p:txBody>
      </p:sp>
      <p:sp>
        <p:nvSpPr>
          <p:cNvPr id="75" name="Oval 20"/>
          <p:cNvSpPr>
            <a:spLocks noChangeAspect="1" noChangeArrowheads="1"/>
          </p:cNvSpPr>
          <p:nvPr/>
        </p:nvSpPr>
        <p:spPr bwMode="auto">
          <a:xfrm>
            <a:off x="4535454" y="3329664"/>
            <a:ext cx="467066" cy="296508"/>
          </a:xfrm>
          <a:prstGeom prst="ellipse">
            <a:avLst/>
          </a:prstGeom>
          <a:solidFill>
            <a:srgbClr val="FF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11</a:t>
            </a:r>
          </a:p>
        </p:txBody>
      </p:sp>
      <p:sp>
        <p:nvSpPr>
          <p:cNvPr id="76" name="Oval 21"/>
          <p:cNvSpPr>
            <a:spLocks noChangeAspect="1" noChangeArrowheads="1"/>
          </p:cNvSpPr>
          <p:nvPr/>
        </p:nvSpPr>
        <p:spPr bwMode="auto">
          <a:xfrm>
            <a:off x="3598829" y="3713702"/>
            <a:ext cx="467066" cy="295195"/>
          </a:xfrm>
          <a:prstGeom prst="ellipse">
            <a:avLst/>
          </a:prstGeom>
          <a:solidFill>
            <a:srgbClr val="0080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2</a:t>
            </a:r>
          </a:p>
        </p:txBody>
      </p:sp>
      <p:sp>
        <p:nvSpPr>
          <p:cNvPr id="77" name="Oval 22"/>
          <p:cNvSpPr>
            <a:spLocks noChangeAspect="1" noChangeArrowheads="1"/>
          </p:cNvSpPr>
          <p:nvPr/>
        </p:nvSpPr>
        <p:spPr bwMode="auto">
          <a:xfrm>
            <a:off x="4570517" y="4310739"/>
            <a:ext cx="468378" cy="296508"/>
          </a:xfrm>
          <a:prstGeom prst="ellipse">
            <a:avLst/>
          </a:prstGeom>
          <a:solidFill>
            <a:srgbClr val="00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</a:t>
            </a:r>
          </a:p>
        </p:txBody>
      </p:sp>
      <p:sp>
        <p:nvSpPr>
          <p:cNvPr id="78" name="Oval 23"/>
          <p:cNvSpPr>
            <a:spLocks noChangeAspect="1" noChangeArrowheads="1"/>
          </p:cNvSpPr>
          <p:nvPr/>
        </p:nvSpPr>
        <p:spPr bwMode="auto">
          <a:xfrm>
            <a:off x="5403817" y="3724814"/>
            <a:ext cx="467066" cy="295196"/>
          </a:xfrm>
          <a:prstGeom prst="ellipse">
            <a:avLst/>
          </a:prstGeom>
          <a:solidFill>
            <a:srgbClr val="00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16</a:t>
            </a:r>
          </a:p>
        </p:txBody>
      </p:sp>
      <p:sp>
        <p:nvSpPr>
          <p:cNvPr id="79" name="Oval 24"/>
          <p:cNvSpPr>
            <a:spLocks noChangeAspect="1" noChangeArrowheads="1"/>
          </p:cNvSpPr>
          <p:nvPr/>
        </p:nvSpPr>
        <p:spPr bwMode="auto">
          <a:xfrm>
            <a:off x="3595792" y="5002889"/>
            <a:ext cx="468378" cy="296508"/>
          </a:xfrm>
          <a:prstGeom prst="ellipse">
            <a:avLst/>
          </a:prstGeom>
          <a:solidFill>
            <a:srgbClr val="0080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21</a:t>
            </a:r>
          </a:p>
        </p:txBody>
      </p:sp>
      <p:sp>
        <p:nvSpPr>
          <p:cNvPr id="80" name="Oval 25"/>
          <p:cNvSpPr>
            <a:spLocks noChangeAspect="1" noChangeArrowheads="1"/>
          </p:cNvSpPr>
          <p:nvPr/>
        </p:nvSpPr>
        <p:spPr bwMode="auto">
          <a:xfrm>
            <a:off x="3587855" y="1907127"/>
            <a:ext cx="468377" cy="295195"/>
          </a:xfrm>
          <a:prstGeom prst="ellipse">
            <a:avLst/>
          </a:prstGeom>
          <a:solidFill>
            <a:srgbClr val="FFFF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5</a:t>
            </a:r>
          </a:p>
        </p:txBody>
      </p:sp>
      <p:sp>
        <p:nvSpPr>
          <p:cNvPr id="81" name="Oval 26"/>
          <p:cNvSpPr>
            <a:spLocks noChangeAspect="1" noChangeArrowheads="1"/>
          </p:cNvSpPr>
          <p:nvPr/>
        </p:nvSpPr>
        <p:spPr bwMode="auto">
          <a:xfrm>
            <a:off x="1941617" y="3080426"/>
            <a:ext cx="468378" cy="296508"/>
          </a:xfrm>
          <a:prstGeom prst="ellipse">
            <a:avLst/>
          </a:prstGeom>
          <a:solidFill>
            <a:srgbClr val="FFFF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10</a:t>
            </a:r>
          </a:p>
        </p:txBody>
      </p:sp>
      <p:sp>
        <p:nvSpPr>
          <p:cNvPr id="82" name="Oval 27"/>
          <p:cNvSpPr>
            <a:spLocks noChangeAspect="1" noChangeArrowheads="1"/>
          </p:cNvSpPr>
          <p:nvPr/>
        </p:nvSpPr>
        <p:spPr bwMode="auto">
          <a:xfrm>
            <a:off x="4124430" y="3316964"/>
            <a:ext cx="468377" cy="296508"/>
          </a:xfrm>
          <a:prstGeom prst="ellipse">
            <a:avLst/>
          </a:prstGeom>
          <a:solidFill>
            <a:srgbClr val="FFFF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7</a:t>
            </a:r>
          </a:p>
        </p:txBody>
      </p:sp>
      <p:sp>
        <p:nvSpPr>
          <p:cNvPr id="83" name="Oval 28"/>
          <p:cNvSpPr>
            <a:spLocks noChangeAspect="1" noChangeArrowheads="1"/>
          </p:cNvSpPr>
          <p:nvPr/>
        </p:nvSpPr>
        <p:spPr bwMode="auto">
          <a:xfrm>
            <a:off x="4267305" y="2119989"/>
            <a:ext cx="468377" cy="296508"/>
          </a:xfrm>
          <a:prstGeom prst="ellipse">
            <a:avLst/>
          </a:prstGeom>
          <a:solidFill>
            <a:srgbClr val="FF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23</a:t>
            </a:r>
          </a:p>
        </p:txBody>
      </p:sp>
      <p:sp>
        <p:nvSpPr>
          <p:cNvPr id="84" name="Oval 29"/>
          <p:cNvSpPr>
            <a:spLocks noChangeAspect="1" noChangeArrowheads="1"/>
          </p:cNvSpPr>
          <p:nvPr/>
        </p:nvSpPr>
        <p:spPr bwMode="auto">
          <a:xfrm>
            <a:off x="3605317" y="3369214"/>
            <a:ext cx="468378" cy="295196"/>
          </a:xfrm>
          <a:prstGeom prst="ellipse">
            <a:avLst/>
          </a:prstGeom>
          <a:solidFill>
            <a:srgbClr val="FF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14</a:t>
            </a:r>
          </a:p>
        </p:txBody>
      </p:sp>
      <p:sp>
        <p:nvSpPr>
          <p:cNvPr id="85" name="Oval 30"/>
          <p:cNvSpPr>
            <a:spLocks noChangeAspect="1" noChangeArrowheads="1"/>
          </p:cNvSpPr>
          <p:nvPr/>
        </p:nvSpPr>
        <p:spPr bwMode="auto">
          <a:xfrm>
            <a:off x="3556105" y="2245264"/>
            <a:ext cx="468377" cy="295196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6</a:t>
            </a:r>
          </a:p>
        </p:txBody>
      </p:sp>
      <p:sp>
        <p:nvSpPr>
          <p:cNvPr id="86" name="Oval 31"/>
          <p:cNvSpPr>
            <a:spLocks noChangeAspect="1" noChangeArrowheads="1"/>
          </p:cNvSpPr>
          <p:nvPr/>
        </p:nvSpPr>
        <p:spPr bwMode="auto">
          <a:xfrm>
            <a:off x="2690779" y="3820201"/>
            <a:ext cx="467066" cy="296508"/>
          </a:xfrm>
          <a:prstGeom prst="ellipse">
            <a:avLst/>
          </a:prstGeom>
          <a:solidFill>
            <a:srgbClr val="FF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13</a:t>
            </a:r>
          </a:p>
        </p:txBody>
      </p:sp>
      <p:sp>
        <p:nvSpPr>
          <p:cNvPr id="87" name="Oval 32"/>
          <p:cNvSpPr>
            <a:spLocks noChangeAspect="1" noChangeArrowheads="1"/>
          </p:cNvSpPr>
          <p:nvPr/>
        </p:nvSpPr>
        <p:spPr bwMode="auto">
          <a:xfrm>
            <a:off x="3019392" y="3726539"/>
            <a:ext cx="467066" cy="296508"/>
          </a:xfrm>
          <a:prstGeom prst="ellipse">
            <a:avLst/>
          </a:prstGeom>
          <a:solidFill>
            <a:srgbClr val="FF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12</a:t>
            </a:r>
          </a:p>
        </p:txBody>
      </p:sp>
      <p:sp>
        <p:nvSpPr>
          <p:cNvPr id="88" name="Oval 33"/>
          <p:cNvSpPr>
            <a:spLocks noChangeAspect="1" noChangeArrowheads="1"/>
          </p:cNvSpPr>
          <p:nvPr/>
        </p:nvSpPr>
        <p:spPr bwMode="auto">
          <a:xfrm>
            <a:off x="2092292" y="3775751"/>
            <a:ext cx="467066" cy="296508"/>
          </a:xfrm>
          <a:prstGeom prst="ellipse">
            <a:avLst/>
          </a:prstGeom>
          <a:solidFill>
            <a:srgbClr val="FF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19</a:t>
            </a:r>
          </a:p>
        </p:txBody>
      </p:sp>
      <p:sp>
        <p:nvSpPr>
          <p:cNvPr id="89" name="Oval 34"/>
          <p:cNvSpPr>
            <a:spLocks noChangeAspect="1" noChangeArrowheads="1"/>
          </p:cNvSpPr>
          <p:nvPr/>
        </p:nvSpPr>
        <p:spPr bwMode="auto">
          <a:xfrm>
            <a:off x="2775055" y="3354927"/>
            <a:ext cx="468377" cy="295195"/>
          </a:xfrm>
          <a:prstGeom prst="ellipse">
            <a:avLst/>
          </a:prstGeom>
          <a:solidFill>
            <a:srgbClr val="0080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9</a:t>
            </a:r>
          </a:p>
        </p:txBody>
      </p:sp>
      <p:sp>
        <p:nvSpPr>
          <p:cNvPr id="90" name="Oval 35"/>
          <p:cNvSpPr>
            <a:spLocks noChangeAspect="1" noChangeArrowheads="1"/>
          </p:cNvSpPr>
          <p:nvPr/>
        </p:nvSpPr>
        <p:spPr bwMode="auto">
          <a:xfrm>
            <a:off x="5281717" y="3312201"/>
            <a:ext cx="468378" cy="296508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24</a:t>
            </a:r>
          </a:p>
        </p:txBody>
      </p:sp>
      <p:sp>
        <p:nvSpPr>
          <p:cNvPr id="91" name="Text Box 36"/>
          <p:cNvSpPr txBox="1">
            <a:spLocks noChangeArrowheads="1"/>
          </p:cNvSpPr>
          <p:nvPr/>
        </p:nvSpPr>
        <p:spPr bwMode="auto">
          <a:xfrm>
            <a:off x="6705874" y="1589408"/>
            <a:ext cx="1676400" cy="53860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457200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914400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371600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828800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286000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7432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2004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6576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4114800" indent="-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Human Resources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Employee/3</a:t>
            </a:r>
            <a:r>
              <a:rPr lang="en-US" sz="800" baseline="30000" dirty="0">
                <a:latin typeface="+mj-lt"/>
              </a:rPr>
              <a:t>rd</a:t>
            </a:r>
            <a:r>
              <a:rPr lang="en-US" sz="800" dirty="0">
                <a:latin typeface="+mj-lt"/>
              </a:rPr>
              <a:t> Party Fraud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Relevance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Product Pricing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Customer Satisfaction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Channel Effectiveness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Product Development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Budget and Planning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Cash Flow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Reputation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Technology Infrastructure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Efficiency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Partnering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Measurement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Business Cycle Time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Authority/Limit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Sourcing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Capacity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Alignment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Contract Commitment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Currency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Health and Safety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Business Portfolio</a:t>
            </a:r>
          </a:p>
          <a:p>
            <a:pPr eaLnBrk="1" hangingPunct="1">
              <a:spcBef>
                <a:spcPct val="50000"/>
              </a:spcBef>
              <a:buFontTx/>
              <a:buAutoNum type="arabicPeriod"/>
            </a:pPr>
            <a:r>
              <a:rPr lang="en-US" sz="800" dirty="0">
                <a:latin typeface="+mj-lt"/>
              </a:rPr>
              <a:t>Resource Allocation</a:t>
            </a:r>
          </a:p>
        </p:txBody>
      </p:sp>
      <p:sp>
        <p:nvSpPr>
          <p:cNvPr id="92" name="Oval 37"/>
          <p:cNvSpPr>
            <a:spLocks noChangeAspect="1" noChangeArrowheads="1"/>
          </p:cNvSpPr>
          <p:nvPr/>
        </p:nvSpPr>
        <p:spPr bwMode="auto">
          <a:xfrm>
            <a:off x="2082905" y="4439326"/>
            <a:ext cx="468377" cy="296508"/>
          </a:xfrm>
          <a:prstGeom prst="ellipse">
            <a:avLst/>
          </a:prstGeom>
          <a:solidFill>
            <a:srgbClr val="FFFF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15</a:t>
            </a:r>
          </a:p>
        </p:txBody>
      </p:sp>
      <p:sp>
        <p:nvSpPr>
          <p:cNvPr id="93" name="Oval 38"/>
          <p:cNvSpPr>
            <a:spLocks noChangeAspect="1" noChangeArrowheads="1"/>
          </p:cNvSpPr>
          <p:nvPr/>
        </p:nvSpPr>
        <p:spPr bwMode="auto">
          <a:xfrm>
            <a:off x="4424329" y="2531014"/>
            <a:ext cx="467066" cy="295196"/>
          </a:xfrm>
          <a:prstGeom prst="ellipse">
            <a:avLst/>
          </a:prstGeom>
          <a:solidFill>
            <a:srgbClr val="00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20</a:t>
            </a:r>
          </a:p>
        </p:txBody>
      </p:sp>
      <p:sp>
        <p:nvSpPr>
          <p:cNvPr id="94" name="Oval 39"/>
          <p:cNvSpPr>
            <a:spLocks noChangeAspect="1" noChangeArrowheads="1"/>
          </p:cNvSpPr>
          <p:nvPr/>
        </p:nvSpPr>
        <p:spPr bwMode="auto">
          <a:xfrm>
            <a:off x="3281329" y="2975514"/>
            <a:ext cx="467066" cy="295196"/>
          </a:xfrm>
          <a:prstGeom prst="ellipse">
            <a:avLst/>
          </a:prstGeom>
          <a:solidFill>
            <a:srgbClr val="00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17</a:t>
            </a:r>
          </a:p>
        </p:txBody>
      </p:sp>
      <p:sp>
        <p:nvSpPr>
          <p:cNvPr id="95" name="Oval 40"/>
          <p:cNvSpPr>
            <a:spLocks noChangeAspect="1" noChangeArrowheads="1"/>
          </p:cNvSpPr>
          <p:nvPr/>
        </p:nvSpPr>
        <p:spPr bwMode="auto">
          <a:xfrm>
            <a:off x="3624367" y="3121701"/>
            <a:ext cx="468378" cy="296508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18</a:t>
            </a:r>
          </a:p>
        </p:txBody>
      </p:sp>
      <p:sp>
        <p:nvSpPr>
          <p:cNvPr id="96" name="Oval 41"/>
          <p:cNvSpPr>
            <a:spLocks noChangeAspect="1" noChangeArrowheads="1"/>
          </p:cNvSpPr>
          <p:nvPr/>
        </p:nvSpPr>
        <p:spPr bwMode="auto">
          <a:xfrm>
            <a:off x="3624229" y="2823114"/>
            <a:ext cx="467066" cy="295196"/>
          </a:xfrm>
          <a:prstGeom prst="ellipse">
            <a:avLst/>
          </a:prstGeom>
          <a:solidFill>
            <a:srgbClr val="0000FF"/>
          </a:solidFill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hangingPunct="1"/>
            <a:r>
              <a:rPr lang="en-US" sz="1200" dirty="0">
                <a:latin typeface="Times New Roman" charset="0"/>
              </a:rPr>
              <a:t>22</a:t>
            </a:r>
          </a:p>
        </p:txBody>
      </p:sp>
      <p:sp>
        <p:nvSpPr>
          <p:cNvPr id="97" name="Line 43"/>
          <p:cNvSpPr>
            <a:spLocks noChangeShapeType="1"/>
          </p:cNvSpPr>
          <p:nvPr/>
        </p:nvSpPr>
        <p:spPr bwMode="auto">
          <a:xfrm>
            <a:off x="33475" y="1063331"/>
            <a:ext cx="8455025" cy="0"/>
          </a:xfrm>
          <a:prstGeom prst="line">
            <a:avLst/>
          </a:prstGeom>
          <a:noFill/>
          <a:ln w="31750">
            <a:solidFill>
              <a:srgbClr val="99999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592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234181" y="6506808"/>
            <a:ext cx="2228850" cy="301756"/>
          </a:xfrm>
        </p:spPr>
        <p:txBody>
          <a:bodyPr/>
          <a:lstStyle/>
          <a:p>
            <a:fld id="{3B9F6E38-0256-4C4B-981B-FAA90C720E3E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b="0" dirty="0"/>
              <a:t>Reporting </a:t>
            </a:r>
          </a:p>
        </p:txBody>
      </p:sp>
      <p:sp>
        <p:nvSpPr>
          <p:cNvPr id="59" name="Line 3"/>
          <p:cNvSpPr>
            <a:spLocks noChangeShapeType="1"/>
          </p:cNvSpPr>
          <p:nvPr/>
        </p:nvSpPr>
        <p:spPr bwMode="auto">
          <a:xfrm>
            <a:off x="6788287" y="1058568"/>
            <a:ext cx="1603375" cy="0"/>
          </a:xfrm>
          <a:prstGeom prst="line">
            <a:avLst/>
          </a:prstGeom>
          <a:noFill/>
          <a:ln>
            <a:noFill/>
          </a:ln>
          <a:effectLst>
            <a:outerShdw blurRad="63500" dist="38099" dir="2700000" algn="ctr" rotWithShape="0">
              <a:srgbClr val="000000">
                <a:alpha val="74998"/>
              </a:srgbClr>
            </a:outerShdw>
          </a:effectLst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97" name="Line 43"/>
          <p:cNvSpPr>
            <a:spLocks noChangeShapeType="1"/>
          </p:cNvSpPr>
          <p:nvPr/>
        </p:nvSpPr>
        <p:spPr bwMode="auto">
          <a:xfrm>
            <a:off x="33475" y="1063331"/>
            <a:ext cx="8455025" cy="0"/>
          </a:xfrm>
          <a:prstGeom prst="line">
            <a:avLst/>
          </a:prstGeom>
          <a:noFill/>
          <a:ln w="31750">
            <a:solidFill>
              <a:srgbClr val="99999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5" name="Rectangle 3"/>
          <p:cNvSpPr>
            <a:spLocks noChangeArrowheads="1"/>
          </p:cNvSpPr>
          <p:nvPr/>
        </p:nvSpPr>
        <p:spPr bwMode="auto">
          <a:xfrm>
            <a:off x="85725" y="1273175"/>
            <a:ext cx="6443663" cy="71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sz="1100" dirty="0"/>
              <a:t>Our reports are designed to allow users to understand the importance of issues raised.  Succinct Executive Summaries and Action Matrices that highlight important issues are a key part of our reporting style.  The reports will have a format very similar to this document and can be tailored to meet your specific needs.</a:t>
            </a:r>
            <a:r>
              <a:rPr lang="en-US" sz="1000" dirty="0"/>
              <a:t>  </a:t>
            </a:r>
            <a:r>
              <a:rPr lang="en-US" sz="1100" dirty="0"/>
              <a:t>Reports issued typically include the following key sections:</a:t>
            </a:r>
            <a:endParaRPr lang="en-US" sz="1000" dirty="0"/>
          </a:p>
        </p:txBody>
      </p:sp>
      <p:grpSp>
        <p:nvGrpSpPr>
          <p:cNvPr id="46" name="Group 4"/>
          <p:cNvGrpSpPr>
            <a:grpSpLocks/>
          </p:cNvGrpSpPr>
          <p:nvPr/>
        </p:nvGrpSpPr>
        <p:grpSpPr bwMode="auto">
          <a:xfrm>
            <a:off x="1817688" y="2762250"/>
            <a:ext cx="985837" cy="95250"/>
            <a:chOff x="2696" y="1531"/>
            <a:chExt cx="621" cy="60"/>
          </a:xfrm>
          <a:solidFill>
            <a:srgbClr val="3366FF"/>
          </a:solidFill>
        </p:grpSpPr>
        <p:sp>
          <p:nvSpPr>
            <p:cNvPr id="47" name="Line 5"/>
            <p:cNvSpPr>
              <a:spLocks noChangeShapeType="1"/>
            </p:cNvSpPr>
            <p:nvPr/>
          </p:nvSpPr>
          <p:spPr bwMode="auto">
            <a:xfrm flipH="1">
              <a:off x="2696" y="1561"/>
              <a:ext cx="592" cy="0"/>
            </a:xfrm>
            <a:prstGeom prst="lin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" name="Oval 6"/>
            <p:cNvSpPr>
              <a:spLocks noChangeArrowheads="1"/>
            </p:cNvSpPr>
            <p:nvPr/>
          </p:nvSpPr>
          <p:spPr bwMode="auto">
            <a:xfrm flipH="1">
              <a:off x="3257" y="1531"/>
              <a:ext cx="60" cy="60"/>
            </a:xfrm>
            <a:prstGeom prst="ellips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49" name="Rectangle 7"/>
          <p:cNvSpPr>
            <a:spLocks noChangeArrowheads="1"/>
          </p:cNvSpPr>
          <p:nvPr/>
        </p:nvSpPr>
        <p:spPr bwMode="auto">
          <a:xfrm>
            <a:off x="2811463" y="2503488"/>
            <a:ext cx="1671637" cy="85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 sz="1000" dirty="0"/>
              <a:t>A high-level overview of the engagement, including scope of the work, audit objectives, and the actual work performed.  </a:t>
            </a:r>
          </a:p>
        </p:txBody>
      </p:sp>
      <p:graphicFrame>
        <p:nvGraphicFramePr>
          <p:cNvPr id="50" name="Object 8"/>
          <p:cNvGraphicFramePr>
            <a:graphicFrameLocks noChangeAspect="1"/>
          </p:cNvGraphicFramePr>
          <p:nvPr/>
        </p:nvGraphicFramePr>
        <p:xfrm>
          <a:off x="333375" y="2357438"/>
          <a:ext cx="1544638" cy="1150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76" name="Slide" r:id="rId3" imgW="4549874" imgH="3394541" progId="PowerPoint.Slide.8">
                  <p:embed/>
                </p:oleObj>
              </mc:Choice>
              <mc:Fallback>
                <p:oleObj name="Slide" r:id="rId3" imgW="4549874" imgH="3394541" progId="PowerPoint.Slid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375" y="2357438"/>
                        <a:ext cx="1544638" cy="1150937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Oval 9"/>
          <p:cNvSpPr>
            <a:spLocks noChangeAspect="1" noChangeArrowheads="1"/>
          </p:cNvSpPr>
          <p:nvPr/>
        </p:nvSpPr>
        <p:spPr bwMode="auto">
          <a:xfrm>
            <a:off x="1527175" y="2476500"/>
            <a:ext cx="960438" cy="960438"/>
          </a:xfrm>
          <a:prstGeom prst="ellipse">
            <a:avLst/>
          </a:prstGeom>
          <a:solidFill>
            <a:srgbClr val="3366FF"/>
          </a:solidFill>
          <a:ln>
            <a:noFill/>
          </a:ln>
          <a:effectLst/>
        </p:spPr>
        <p:txBody>
          <a:bodyPr wrap="none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Executive </a:t>
            </a:r>
            <a:br>
              <a:rPr lang="en-US" sz="1000" b="1" dirty="0">
                <a:solidFill>
                  <a:schemeClr val="bg1"/>
                </a:solidFill>
                <a:latin typeface="Univers Extended" charset="0"/>
              </a:rPr>
            </a:br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Summary</a:t>
            </a:r>
            <a:endParaRPr lang="en-US" sz="1200" dirty="0">
              <a:solidFill>
                <a:schemeClr val="bg1"/>
              </a:solidFill>
            </a:endParaRPr>
          </a:p>
        </p:txBody>
      </p:sp>
      <p:grpSp>
        <p:nvGrpSpPr>
          <p:cNvPr id="52" name="Group 10"/>
          <p:cNvGrpSpPr>
            <a:grpSpLocks/>
          </p:cNvGrpSpPr>
          <p:nvPr/>
        </p:nvGrpSpPr>
        <p:grpSpPr bwMode="auto">
          <a:xfrm>
            <a:off x="6034088" y="2727325"/>
            <a:ext cx="985837" cy="95250"/>
            <a:chOff x="2696" y="1531"/>
            <a:chExt cx="621" cy="60"/>
          </a:xfrm>
          <a:solidFill>
            <a:srgbClr val="3366FF"/>
          </a:solidFill>
        </p:grpSpPr>
        <p:sp>
          <p:nvSpPr>
            <p:cNvPr id="53" name="Line 11"/>
            <p:cNvSpPr>
              <a:spLocks noChangeShapeType="1"/>
            </p:cNvSpPr>
            <p:nvPr/>
          </p:nvSpPr>
          <p:spPr bwMode="auto">
            <a:xfrm flipH="1">
              <a:off x="2696" y="1561"/>
              <a:ext cx="592" cy="0"/>
            </a:xfrm>
            <a:prstGeom prst="lin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4" name="Oval 12"/>
            <p:cNvSpPr>
              <a:spLocks noChangeArrowheads="1"/>
            </p:cNvSpPr>
            <p:nvPr/>
          </p:nvSpPr>
          <p:spPr bwMode="auto">
            <a:xfrm flipH="1">
              <a:off x="3257" y="1531"/>
              <a:ext cx="60" cy="60"/>
            </a:xfrm>
            <a:prstGeom prst="ellips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55" name="Rectangle 13"/>
          <p:cNvSpPr>
            <a:spLocks noChangeArrowheads="1"/>
          </p:cNvSpPr>
          <p:nvPr/>
        </p:nvSpPr>
        <p:spPr bwMode="auto">
          <a:xfrm>
            <a:off x="7027863" y="2493963"/>
            <a:ext cx="1735137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 sz="1000" dirty="0"/>
              <a:t>Quantitative diagnostic questionnaire results that have been benchmarked against  Industry Best Practices database.</a:t>
            </a:r>
          </a:p>
        </p:txBody>
      </p:sp>
      <p:graphicFrame>
        <p:nvGraphicFramePr>
          <p:cNvPr id="56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235026"/>
              </p:ext>
            </p:extLst>
          </p:nvPr>
        </p:nvGraphicFramePr>
        <p:xfrm>
          <a:off x="4539164" y="2354264"/>
          <a:ext cx="1548899" cy="1154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77" name="Slide" r:id="rId5" imgW="4549874" imgH="3394541" progId="PowerPoint.Slide.8">
                  <p:embed/>
                </p:oleObj>
              </mc:Choice>
              <mc:Fallback>
                <p:oleObj name="Slide" r:id="rId5" imgW="4549874" imgH="3394541" progId="PowerPoint.Slid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39164" y="2354264"/>
                        <a:ext cx="1548899" cy="1154112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" name="Oval 15"/>
          <p:cNvSpPr>
            <a:spLocks noChangeAspect="1" noChangeArrowheads="1"/>
          </p:cNvSpPr>
          <p:nvPr/>
        </p:nvSpPr>
        <p:spPr bwMode="auto">
          <a:xfrm>
            <a:off x="5730875" y="2473325"/>
            <a:ext cx="960438" cy="960438"/>
          </a:xfrm>
          <a:prstGeom prst="ellipse">
            <a:avLst/>
          </a:prstGeom>
          <a:solidFill>
            <a:srgbClr val="3366FF"/>
          </a:solidFill>
          <a:ln>
            <a:noFill/>
          </a:ln>
          <a:effectLst/>
        </p:spPr>
        <p:txBody>
          <a:bodyPr wrap="none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Benchmark</a:t>
            </a:r>
          </a:p>
          <a:p>
            <a:pPr algn="ctr"/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Diagnostics</a:t>
            </a:r>
            <a:endParaRPr lang="en-US" sz="1200" dirty="0">
              <a:solidFill>
                <a:schemeClr val="bg1"/>
              </a:solidFill>
            </a:endParaRPr>
          </a:p>
        </p:txBody>
      </p:sp>
      <p:grpSp>
        <p:nvGrpSpPr>
          <p:cNvPr id="99" name="Group 16"/>
          <p:cNvGrpSpPr>
            <a:grpSpLocks/>
          </p:cNvGrpSpPr>
          <p:nvPr/>
        </p:nvGrpSpPr>
        <p:grpSpPr bwMode="auto">
          <a:xfrm>
            <a:off x="1817688" y="4137025"/>
            <a:ext cx="985837" cy="95250"/>
            <a:chOff x="2696" y="1531"/>
            <a:chExt cx="621" cy="60"/>
          </a:xfrm>
          <a:solidFill>
            <a:srgbClr val="3366FF"/>
          </a:solidFill>
        </p:grpSpPr>
        <p:sp>
          <p:nvSpPr>
            <p:cNvPr id="100" name="Line 17"/>
            <p:cNvSpPr>
              <a:spLocks noChangeShapeType="1"/>
            </p:cNvSpPr>
            <p:nvPr/>
          </p:nvSpPr>
          <p:spPr bwMode="auto">
            <a:xfrm flipH="1">
              <a:off x="2696" y="1561"/>
              <a:ext cx="592" cy="0"/>
            </a:xfrm>
            <a:prstGeom prst="lin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1" name="Oval 18"/>
            <p:cNvSpPr>
              <a:spLocks noChangeArrowheads="1"/>
            </p:cNvSpPr>
            <p:nvPr/>
          </p:nvSpPr>
          <p:spPr bwMode="auto">
            <a:xfrm flipH="1">
              <a:off x="3257" y="1531"/>
              <a:ext cx="60" cy="60"/>
            </a:xfrm>
            <a:prstGeom prst="ellips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102" name="Rectangle 19"/>
          <p:cNvSpPr>
            <a:spLocks noChangeArrowheads="1"/>
          </p:cNvSpPr>
          <p:nvPr/>
        </p:nvSpPr>
        <p:spPr bwMode="auto">
          <a:xfrm>
            <a:off x="2811463" y="3802063"/>
            <a:ext cx="1620837" cy="85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 sz="1000" dirty="0"/>
              <a:t>Information on the process being reviewed, including process background, statistics, graphs.</a:t>
            </a:r>
          </a:p>
        </p:txBody>
      </p:sp>
      <p:graphicFrame>
        <p:nvGraphicFramePr>
          <p:cNvPr id="103" name="Object 20"/>
          <p:cNvGraphicFramePr>
            <a:graphicFrameLocks noChangeAspect="1"/>
          </p:cNvGraphicFramePr>
          <p:nvPr/>
        </p:nvGraphicFramePr>
        <p:xfrm>
          <a:off x="333375" y="3729038"/>
          <a:ext cx="1544638" cy="1150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78" name="Slide" r:id="rId7" imgW="4549874" imgH="3394541" progId="PowerPoint.Slide.8">
                  <p:embed/>
                </p:oleObj>
              </mc:Choice>
              <mc:Fallback>
                <p:oleObj name="Slide" r:id="rId7" imgW="4549874" imgH="3394541" progId="PowerPoint.Slid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375" y="3729038"/>
                        <a:ext cx="1544638" cy="1150937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" name="Oval 21"/>
          <p:cNvSpPr>
            <a:spLocks noChangeAspect="1" noChangeArrowheads="1"/>
          </p:cNvSpPr>
          <p:nvPr/>
        </p:nvSpPr>
        <p:spPr bwMode="auto">
          <a:xfrm>
            <a:off x="1527175" y="3849688"/>
            <a:ext cx="960438" cy="960437"/>
          </a:xfrm>
          <a:prstGeom prst="ellipse">
            <a:avLst/>
          </a:prstGeom>
          <a:solidFill>
            <a:srgbClr val="3366FF"/>
          </a:solidFill>
          <a:ln>
            <a:noFill/>
          </a:ln>
          <a:effectLst/>
        </p:spPr>
        <p:txBody>
          <a:bodyPr wrap="none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Background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5" name="Rectangle 22"/>
          <p:cNvSpPr>
            <a:spLocks noChangeArrowheads="1"/>
          </p:cNvSpPr>
          <p:nvPr/>
        </p:nvSpPr>
        <p:spPr bwMode="auto">
          <a:xfrm>
            <a:off x="7027863" y="3687763"/>
            <a:ext cx="1735137" cy="131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 sz="1000" dirty="0"/>
              <a:t>Discussion of key issues identified during the engagement, including recommendations that have been agreed upon by management with committed implementation timeframes.</a:t>
            </a:r>
          </a:p>
        </p:txBody>
      </p:sp>
      <p:grpSp>
        <p:nvGrpSpPr>
          <p:cNvPr id="106" name="Group 23"/>
          <p:cNvGrpSpPr>
            <a:grpSpLocks/>
          </p:cNvGrpSpPr>
          <p:nvPr/>
        </p:nvGrpSpPr>
        <p:grpSpPr bwMode="auto">
          <a:xfrm>
            <a:off x="6008688" y="4135438"/>
            <a:ext cx="985837" cy="95250"/>
            <a:chOff x="2696" y="1531"/>
            <a:chExt cx="621" cy="60"/>
          </a:xfrm>
          <a:solidFill>
            <a:srgbClr val="3366FF"/>
          </a:solidFill>
        </p:grpSpPr>
        <p:sp>
          <p:nvSpPr>
            <p:cNvPr id="107" name="Line 24"/>
            <p:cNvSpPr>
              <a:spLocks noChangeShapeType="1"/>
            </p:cNvSpPr>
            <p:nvPr/>
          </p:nvSpPr>
          <p:spPr bwMode="auto">
            <a:xfrm flipH="1">
              <a:off x="2696" y="1561"/>
              <a:ext cx="592" cy="0"/>
            </a:xfrm>
            <a:prstGeom prst="lin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8" name="Oval 25"/>
            <p:cNvSpPr>
              <a:spLocks noChangeArrowheads="1"/>
            </p:cNvSpPr>
            <p:nvPr/>
          </p:nvSpPr>
          <p:spPr bwMode="auto">
            <a:xfrm flipH="1">
              <a:off x="3257" y="1531"/>
              <a:ext cx="60" cy="60"/>
            </a:xfrm>
            <a:prstGeom prst="ellips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</p:grpSp>
      <p:graphicFrame>
        <p:nvGraphicFramePr>
          <p:cNvPr id="109" name="Object 26"/>
          <p:cNvGraphicFramePr>
            <a:graphicFrameLocks noChangeAspect="1"/>
          </p:cNvGraphicFramePr>
          <p:nvPr/>
        </p:nvGraphicFramePr>
        <p:xfrm>
          <a:off x="4546600" y="3730625"/>
          <a:ext cx="1544638" cy="1150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79" name="Slide" r:id="rId9" imgW="4549874" imgH="3394541" progId="PowerPoint.Slide.8">
                  <p:embed/>
                </p:oleObj>
              </mc:Choice>
              <mc:Fallback>
                <p:oleObj name="Slide" r:id="rId9" imgW="4549874" imgH="3394541" progId="PowerPoint.Slid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6600" y="3730625"/>
                        <a:ext cx="1544638" cy="1150938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" name="Oval 27"/>
          <p:cNvSpPr>
            <a:spLocks noChangeAspect="1" noChangeArrowheads="1"/>
          </p:cNvSpPr>
          <p:nvPr/>
        </p:nvSpPr>
        <p:spPr bwMode="auto">
          <a:xfrm>
            <a:off x="5730875" y="3848100"/>
            <a:ext cx="960438" cy="960438"/>
          </a:xfrm>
          <a:prstGeom prst="ellipse">
            <a:avLst/>
          </a:prstGeom>
          <a:solidFill>
            <a:srgbClr val="3366FF"/>
          </a:solidFill>
          <a:ln>
            <a:noFill/>
          </a:ln>
          <a:effectLst/>
        </p:spPr>
        <p:txBody>
          <a:bodyPr wrap="none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Action </a:t>
            </a:r>
          </a:p>
          <a:p>
            <a:pPr algn="ctr"/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Matrix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11" name="Rectangle 28"/>
          <p:cNvSpPr>
            <a:spLocks noChangeArrowheads="1"/>
          </p:cNvSpPr>
          <p:nvPr/>
        </p:nvSpPr>
        <p:spPr bwMode="auto">
          <a:xfrm>
            <a:off x="2811463" y="5178425"/>
            <a:ext cx="1620837" cy="85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 sz="1000" dirty="0"/>
              <a:t>An evaluation of the company</a:t>
            </a:r>
            <a:r>
              <a:rPr lang="ja-JP" altLang="en-US" sz="1000" dirty="0">
                <a:latin typeface="Arial"/>
              </a:rPr>
              <a:t>’</a:t>
            </a:r>
            <a:r>
              <a:rPr lang="en-US" sz="1000" dirty="0"/>
              <a:t>s practices and internal controls against Best Practices/Internal Controls.</a:t>
            </a:r>
          </a:p>
        </p:txBody>
      </p:sp>
      <p:grpSp>
        <p:nvGrpSpPr>
          <p:cNvPr id="112" name="Group 29"/>
          <p:cNvGrpSpPr>
            <a:grpSpLocks/>
          </p:cNvGrpSpPr>
          <p:nvPr/>
        </p:nvGrpSpPr>
        <p:grpSpPr bwMode="auto">
          <a:xfrm>
            <a:off x="1804988" y="5522913"/>
            <a:ext cx="985837" cy="95250"/>
            <a:chOff x="2696" y="1531"/>
            <a:chExt cx="621" cy="60"/>
          </a:xfrm>
          <a:solidFill>
            <a:srgbClr val="3366FF"/>
          </a:solidFill>
        </p:grpSpPr>
        <p:sp>
          <p:nvSpPr>
            <p:cNvPr id="113" name="Line 30"/>
            <p:cNvSpPr>
              <a:spLocks noChangeShapeType="1"/>
            </p:cNvSpPr>
            <p:nvPr/>
          </p:nvSpPr>
          <p:spPr bwMode="auto">
            <a:xfrm flipH="1">
              <a:off x="2696" y="1561"/>
              <a:ext cx="592" cy="0"/>
            </a:xfrm>
            <a:prstGeom prst="lin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14" name="Oval 31"/>
            <p:cNvSpPr>
              <a:spLocks noChangeArrowheads="1"/>
            </p:cNvSpPr>
            <p:nvPr/>
          </p:nvSpPr>
          <p:spPr bwMode="auto">
            <a:xfrm flipH="1">
              <a:off x="3257" y="1531"/>
              <a:ext cx="60" cy="60"/>
            </a:xfrm>
            <a:prstGeom prst="ellips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</p:grpSp>
      <p:graphicFrame>
        <p:nvGraphicFramePr>
          <p:cNvPr id="115" name="Object 32"/>
          <p:cNvGraphicFramePr>
            <a:graphicFrameLocks noChangeAspect="1"/>
          </p:cNvGraphicFramePr>
          <p:nvPr/>
        </p:nvGraphicFramePr>
        <p:xfrm>
          <a:off x="333375" y="5118100"/>
          <a:ext cx="1544638" cy="1150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80" name="Slide" r:id="rId11" imgW="4549874" imgH="3394541" progId="PowerPoint.Slide.8">
                  <p:embed/>
                </p:oleObj>
              </mc:Choice>
              <mc:Fallback>
                <p:oleObj name="Slide" r:id="rId11" imgW="4549874" imgH="3394541" progId="PowerPoint.Slid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375" y="5118100"/>
                        <a:ext cx="1544638" cy="1150938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Oval 33"/>
          <p:cNvSpPr>
            <a:spLocks noChangeAspect="1" noChangeArrowheads="1"/>
          </p:cNvSpPr>
          <p:nvPr/>
        </p:nvSpPr>
        <p:spPr bwMode="auto">
          <a:xfrm>
            <a:off x="1527175" y="5237163"/>
            <a:ext cx="960438" cy="960437"/>
          </a:xfrm>
          <a:prstGeom prst="ellipse">
            <a:avLst/>
          </a:prstGeom>
          <a:solidFill>
            <a:srgbClr val="3366FF"/>
          </a:solidFill>
          <a:ln>
            <a:noFill/>
          </a:ln>
          <a:effectLst/>
        </p:spPr>
        <p:txBody>
          <a:bodyPr wrap="none" lIns="0" tIns="0" rIns="0" bIns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Best </a:t>
            </a:r>
            <a:br>
              <a:rPr lang="en-US" sz="1000" b="1" dirty="0">
                <a:solidFill>
                  <a:schemeClr val="bg1"/>
                </a:solidFill>
                <a:latin typeface="Univers Extended" charset="0"/>
              </a:rPr>
            </a:br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Practices/</a:t>
            </a:r>
          </a:p>
          <a:p>
            <a:pPr algn="ctr"/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Internal </a:t>
            </a:r>
            <a:br>
              <a:rPr lang="en-US" sz="1000" b="1" dirty="0">
                <a:solidFill>
                  <a:schemeClr val="bg1"/>
                </a:solidFill>
                <a:latin typeface="Univers Extended" charset="0"/>
              </a:rPr>
            </a:br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Control </a:t>
            </a:r>
            <a:br>
              <a:rPr lang="en-US" sz="1000" b="1" dirty="0">
                <a:solidFill>
                  <a:schemeClr val="bg1"/>
                </a:solidFill>
                <a:latin typeface="Univers Extended" charset="0"/>
              </a:rPr>
            </a:br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Scorecard</a:t>
            </a:r>
          </a:p>
        </p:txBody>
      </p:sp>
      <p:sp>
        <p:nvSpPr>
          <p:cNvPr id="117" name="Rectangle 34"/>
          <p:cNvSpPr>
            <a:spLocks noChangeArrowheads="1"/>
          </p:cNvSpPr>
          <p:nvPr/>
        </p:nvSpPr>
        <p:spPr bwMode="auto">
          <a:xfrm>
            <a:off x="7023100" y="5140325"/>
            <a:ext cx="1739900" cy="1158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 sz="1000" dirty="0"/>
              <a:t>Graphical representation of the process being reviewed which identifies key internal control points, Best Practices and internal control/process improvement opportunities. </a:t>
            </a:r>
          </a:p>
        </p:txBody>
      </p:sp>
      <p:grpSp>
        <p:nvGrpSpPr>
          <p:cNvPr id="118" name="Group 35"/>
          <p:cNvGrpSpPr>
            <a:grpSpLocks/>
          </p:cNvGrpSpPr>
          <p:nvPr/>
        </p:nvGrpSpPr>
        <p:grpSpPr bwMode="auto">
          <a:xfrm>
            <a:off x="6007100" y="5487988"/>
            <a:ext cx="985838" cy="95250"/>
            <a:chOff x="2696" y="1531"/>
            <a:chExt cx="621" cy="60"/>
          </a:xfrm>
          <a:solidFill>
            <a:srgbClr val="3366FF"/>
          </a:solidFill>
        </p:grpSpPr>
        <p:sp>
          <p:nvSpPr>
            <p:cNvPr id="119" name="Line 36"/>
            <p:cNvSpPr>
              <a:spLocks noChangeShapeType="1"/>
            </p:cNvSpPr>
            <p:nvPr/>
          </p:nvSpPr>
          <p:spPr bwMode="auto">
            <a:xfrm flipH="1">
              <a:off x="2696" y="1561"/>
              <a:ext cx="592" cy="0"/>
            </a:xfrm>
            <a:prstGeom prst="lin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0" name="Oval 37"/>
            <p:cNvSpPr>
              <a:spLocks noChangeArrowheads="1"/>
            </p:cNvSpPr>
            <p:nvPr/>
          </p:nvSpPr>
          <p:spPr bwMode="auto">
            <a:xfrm flipH="1">
              <a:off x="3257" y="1531"/>
              <a:ext cx="60" cy="60"/>
            </a:xfrm>
            <a:prstGeom prst="ellipse">
              <a:avLst/>
            </a:prstGeom>
            <a:grp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</p:grpSp>
      <p:graphicFrame>
        <p:nvGraphicFramePr>
          <p:cNvPr id="121" name="Object 38"/>
          <p:cNvGraphicFramePr>
            <a:graphicFrameLocks noChangeAspect="1"/>
          </p:cNvGraphicFramePr>
          <p:nvPr/>
        </p:nvGraphicFramePr>
        <p:xfrm>
          <a:off x="4545013" y="5114925"/>
          <a:ext cx="1544637" cy="1150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81" name="Slide" r:id="rId13" imgW="4549874" imgH="3394541" progId="PowerPoint.Slide.8">
                  <p:embed/>
                </p:oleObj>
              </mc:Choice>
              <mc:Fallback>
                <p:oleObj name="Slide" r:id="rId13" imgW="4549874" imgH="3394541" progId="PowerPoint.Slide.8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5013" y="5114925"/>
                        <a:ext cx="1544637" cy="1150938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" name="Oval 39"/>
          <p:cNvSpPr>
            <a:spLocks noChangeArrowheads="1"/>
          </p:cNvSpPr>
          <p:nvPr/>
        </p:nvSpPr>
        <p:spPr bwMode="auto">
          <a:xfrm>
            <a:off x="5734050" y="5233988"/>
            <a:ext cx="960438" cy="960437"/>
          </a:xfrm>
          <a:prstGeom prst="ellipse">
            <a:avLst/>
          </a:prstGeom>
          <a:solidFill>
            <a:srgbClr val="3366FF"/>
          </a:solidFill>
          <a:ln>
            <a:noFill/>
          </a:ln>
          <a:effectLst/>
        </p:spPr>
        <p:txBody>
          <a:bodyPr wrap="none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Process</a:t>
            </a:r>
          </a:p>
          <a:p>
            <a:pPr algn="ctr"/>
            <a:r>
              <a:rPr lang="en-US" sz="1000" b="1" dirty="0">
                <a:solidFill>
                  <a:schemeClr val="bg1"/>
                </a:solidFill>
                <a:latin typeface="Univers Extended" charset="0"/>
              </a:rPr>
              <a:t>Flowcharts</a:t>
            </a:r>
          </a:p>
        </p:txBody>
      </p:sp>
    </p:spTree>
    <p:extLst>
      <p:ext uri="{BB962C8B-B14F-4D97-AF65-F5344CB8AC3E}">
        <p14:creationId xmlns:p14="http://schemas.microsoft.com/office/powerpoint/2010/main" val="4040794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F6E38-0256-4C4B-981B-FAA90C720E3E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b="0" dirty="0"/>
              <a:t>Risk Universe – Risk Identification</a:t>
            </a:r>
          </a:p>
        </p:txBody>
      </p:sp>
      <p:pic>
        <p:nvPicPr>
          <p:cNvPr id="6" name="Picture 3" descr="0412-0603644_NewRiskUniverse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2185"/>
          <a:stretch>
            <a:fillRect/>
          </a:stretch>
        </p:blipFill>
        <p:spPr bwMode="auto">
          <a:xfrm>
            <a:off x="838201" y="1698627"/>
            <a:ext cx="7832725" cy="493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27814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b="0" dirty="0"/>
              <a:t>Risk Universe – Risk Identification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0" y="1041400"/>
            <a:ext cx="7200900" cy="5816600"/>
          </a:xfrm>
          <a:prstGeom prst="rect">
            <a:avLst/>
          </a:prstGeom>
        </p:spPr>
      </p:pic>
      <p:sp>
        <p:nvSpPr>
          <p:cNvPr id="61" name="Rectangle 60"/>
          <p:cNvSpPr>
            <a:spLocks noChangeArrowheads="1"/>
          </p:cNvSpPr>
          <p:nvPr/>
        </p:nvSpPr>
        <p:spPr bwMode="auto">
          <a:xfrm>
            <a:off x="231680" y="1084332"/>
            <a:ext cx="3491667" cy="505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eaLnBrk="0" hangingPunct="0">
              <a:spcBef>
                <a:spcPct val="25000"/>
              </a:spcBef>
            </a:pPr>
            <a:r>
              <a:rPr lang="en-US" sz="1200" b="1" u="sng" kern="1200" dirty="0">
                <a:latin typeface="Book Antiqua" charset="0"/>
              </a:rPr>
              <a:t>The Model</a:t>
            </a:r>
            <a:r>
              <a:rPr lang="en-US" sz="1200" b="1" kern="1200" dirty="0">
                <a:latin typeface="Book Antiqua" charset="0"/>
              </a:rPr>
              <a:t>:  </a:t>
            </a:r>
          </a:p>
          <a:p>
            <a:pPr eaLnBrk="0" hangingPunct="0">
              <a:spcBef>
                <a:spcPct val="25000"/>
              </a:spcBef>
            </a:pPr>
            <a:r>
              <a:rPr lang="en-US" sz="1200" kern="1200" dirty="0">
                <a:latin typeface="Book Antiqua" charset="0"/>
              </a:rPr>
              <a:t>Use the Business Risk Model</a:t>
            </a:r>
            <a:r>
              <a:rPr lang="en-US" sz="1200" baseline="30000" dirty="0">
                <a:latin typeface="Book Antiqua" charset="0"/>
              </a:rPr>
              <a:t> </a:t>
            </a:r>
            <a:r>
              <a:rPr lang="en-US" sz="1200" kern="1200" dirty="0">
                <a:latin typeface="Book Antiqua" charset="0"/>
              </a:rPr>
              <a:t>as a framework for:</a:t>
            </a:r>
          </a:p>
        </p:txBody>
      </p:sp>
      <p:sp>
        <p:nvSpPr>
          <p:cNvPr id="62" name="Rectangle 33"/>
          <p:cNvSpPr>
            <a:spLocks noChangeArrowheads="1"/>
          </p:cNvSpPr>
          <p:nvPr/>
        </p:nvSpPr>
        <p:spPr bwMode="auto">
          <a:xfrm>
            <a:off x="193675" y="1755775"/>
            <a:ext cx="3209926" cy="1059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marL="114300" indent="-114300" eaLnBrk="0" hangingPunct="0">
              <a:spcBef>
                <a:spcPct val="25000"/>
              </a:spcBef>
              <a:buFontTx/>
              <a:buChar char="•"/>
            </a:pPr>
            <a:r>
              <a:rPr lang="en-US" sz="1200" dirty="0">
                <a:latin typeface="Book Antiqua" charset="0"/>
              </a:rPr>
              <a:t>Defining an organization</a:t>
            </a:r>
            <a:r>
              <a:rPr lang="ja-JP" altLang="en-US" sz="1200" dirty="0">
                <a:latin typeface="Arial"/>
              </a:rPr>
              <a:t>’</a:t>
            </a:r>
            <a:r>
              <a:rPr lang="en-US" sz="1200" dirty="0">
                <a:latin typeface="Book Antiqua" charset="0"/>
              </a:rPr>
              <a:t>s business risk universe. </a:t>
            </a:r>
          </a:p>
          <a:p>
            <a:pPr marL="114300" indent="-114300" eaLnBrk="0" hangingPunct="0">
              <a:spcBef>
                <a:spcPct val="25000"/>
              </a:spcBef>
              <a:buFontTx/>
              <a:buChar char="•"/>
            </a:pPr>
            <a:r>
              <a:rPr lang="en-US" sz="1200" dirty="0">
                <a:latin typeface="Book Antiqua" charset="0"/>
              </a:rPr>
              <a:t>Identifying key business risks impacting the organization as a whole or one or more business processes.</a:t>
            </a:r>
          </a:p>
        </p:txBody>
      </p:sp>
    </p:spTree>
    <p:extLst>
      <p:ext uri="{BB962C8B-B14F-4D97-AF65-F5344CB8AC3E}">
        <p14:creationId xmlns:p14="http://schemas.microsoft.com/office/powerpoint/2010/main" val="2318225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727200" y="1698704"/>
            <a:ext cx="441700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Thank You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4737100"/>
            <a:ext cx="43688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021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U5dxsIdEJEqV5rsmRjo0Yw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Yhy4BWRjcUigZf13Nl9yAQ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U5dxsIdEJEqV5rsmRjo0Yw"/>
</p:tagLst>
</file>

<file path=ppt/theme/theme1.xml><?xml version="1.0" encoding="utf-8"?>
<a:theme xmlns:a="http://schemas.openxmlformats.org/drawingml/2006/main" name="Office Theme">
  <a:themeElements>
    <a:clrScheme name="Steinhoff">
      <a:dk1>
        <a:srgbClr val="313231"/>
      </a:dk1>
      <a:lt1>
        <a:srgbClr val="FFFFFF"/>
      </a:lt1>
      <a:dk2>
        <a:srgbClr val="72002A"/>
      </a:dk2>
      <a:lt2>
        <a:srgbClr val="AB0045"/>
      </a:lt2>
      <a:accent1>
        <a:srgbClr val="FED51E"/>
      </a:accent1>
      <a:accent2>
        <a:srgbClr val="CC006A"/>
      </a:accent2>
      <a:accent3>
        <a:srgbClr val="CD0920"/>
      </a:accent3>
      <a:accent4>
        <a:srgbClr val="8A8B8A"/>
      </a:accent4>
      <a:accent5>
        <a:srgbClr val="94A423"/>
      </a:accent5>
      <a:accent6>
        <a:srgbClr val="D3CF88"/>
      </a:accent6>
      <a:hlink>
        <a:srgbClr val="009192"/>
      </a:hlink>
      <a:folHlink>
        <a:srgbClr val="0096FF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ED07A4D0EFD94BBFDF5B9915BE4FC6" ma:contentTypeVersion="8" ma:contentTypeDescription="Create a new document." ma:contentTypeScope="" ma:versionID="66fbea9be4c469ce127569fde2b04d72">
  <xsd:schema xmlns:xsd="http://www.w3.org/2001/XMLSchema" xmlns:xs="http://www.w3.org/2001/XMLSchema" xmlns:p="http://schemas.microsoft.com/office/2006/metadata/properties" xmlns:ns2="aa578a4e-e84e-40c5-a385-82e0b3ca401e" targetNamespace="http://schemas.microsoft.com/office/2006/metadata/properties" ma:root="true" ma:fieldsID="97bd2463ba188584e3f03907e9a827a9" ns2:_="">
    <xsd:import namespace="aa578a4e-e84e-40c5-a385-82e0b3ca40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a578a4e-e84e-40c5-a385-82e0b3ca40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3455C61-A3AE-4367-ACF5-AA070F87153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EB52BDA-6FC3-44FD-9BE6-9531ECC24346}">
  <ds:schemaRefs>
    <ds:schemaRef ds:uri="http://schemas.microsoft.com/office/infopath/2007/PartnerControls"/>
    <ds:schemaRef ds:uri="aa578a4e-e84e-40c5-a385-82e0b3ca401e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DAC4D75C-BC5C-4185-AA29-C67C9D3BD25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a578a4e-e84e-40c5-a385-82e0b3ca40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11596</TotalTime>
  <Words>848</Words>
  <Application>Microsoft Office PowerPoint</Application>
  <PresentationFormat>A4 Paper (210x297 mm)</PresentationFormat>
  <Paragraphs>247</Paragraphs>
  <Slides>11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Arial</vt:lpstr>
      <vt:lpstr>Book Antiqua</vt:lpstr>
      <vt:lpstr>Calibri</vt:lpstr>
      <vt:lpstr>Century Gothic</vt:lpstr>
      <vt:lpstr>Times New Roman</vt:lpstr>
      <vt:lpstr>Univers Extended</vt:lpstr>
      <vt:lpstr>Wingdings</vt:lpstr>
      <vt:lpstr>Office Theme</vt:lpstr>
      <vt:lpstr>Worksheet</vt:lpstr>
      <vt:lpstr>Slide</vt:lpstr>
      <vt:lpstr>PowerPoint Presentation</vt:lpstr>
      <vt:lpstr>Roadmap to Success</vt:lpstr>
      <vt:lpstr>Risk Management Drivers &amp; Objectives</vt:lpstr>
      <vt:lpstr>Approach</vt:lpstr>
      <vt:lpstr>PowerPoint Presentation</vt:lpstr>
      <vt:lpstr>Budget</vt:lpstr>
      <vt:lpstr>Risk Results</vt:lpstr>
      <vt:lpstr>Reporting </vt:lpstr>
      <vt:lpstr>Risk Universe – Risk Identification</vt:lpstr>
      <vt:lpstr>Risk Universe – Risk Identification</vt:lpstr>
      <vt:lpstr>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Karin Henriques</dc:creator>
  <cp:lastModifiedBy>Maurice Edwards</cp:lastModifiedBy>
  <cp:revision>222</cp:revision>
  <cp:lastPrinted>2016-08-29T13:15:36Z</cp:lastPrinted>
  <dcterms:created xsi:type="dcterms:W3CDTF">2016-02-05T05:31:21Z</dcterms:created>
  <dcterms:modified xsi:type="dcterms:W3CDTF">2021-02-04T07:34:14Z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0x010100E4ED07A4D0EFD94BBFDF5B9915BE4FC6</vt:lpwstr>
  </property>
</Properties>
</file>