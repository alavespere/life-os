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sldIdLst>
    <p:sldId id="256" r:id="rId2"/>
    <p:sldId id="294" r:id="rId3"/>
    <p:sldId id="257" r:id="rId4"/>
    <p:sldId id="295" r:id="rId5"/>
    <p:sldId id="296" r:id="rId6"/>
    <p:sldId id="297" r:id="rId7"/>
    <p:sldId id="298" r:id="rId8"/>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2" r:id="rId41"/>
    <p:sldId id="333" r:id="rId42"/>
    <p:sldId id="334" r:id="rId43"/>
    <p:sldId id="335" r:id="rId44"/>
    <p:sldId id="336" r:id="rId45"/>
    <p:sldId id="337" r:id="rId46"/>
    <p:sldId id="338" r:id="rId47"/>
    <p:sldId id="339" r:id="rId48"/>
    <p:sldId id="340" r:id="rId49"/>
    <p:sldId id="341" r:id="rId50"/>
    <p:sldId id="342" r:id="rId51"/>
    <p:sldId id="343" r:id="rId52"/>
    <p:sldId id="344" r:id="rId53"/>
    <p:sldId id="345" r:id="rId54"/>
    <p:sldId id="346" r:id="rId55"/>
    <p:sldId id="347" r:id="rId56"/>
    <p:sldId id="348" r:id="rId57"/>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5226" autoAdjust="0"/>
  </p:normalViewPr>
  <p:slideViewPr>
    <p:cSldViewPr snapToGrid="0">
      <p:cViewPr varScale="1">
        <p:scale>
          <a:sx n="79" d="100"/>
          <a:sy n="79" d="100"/>
        </p:scale>
        <p:origin x="86" y="13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7"/>
          </a:xfrm>
          <a:prstGeom prst="rect">
            <a:avLst/>
          </a:prstGeom>
        </p:spPr>
        <p:txBody>
          <a:bodyPr vert="horz" lIns="93164" tIns="46582" rIns="93164" bIns="46582" rtlCol="0"/>
          <a:lstStyle>
            <a:lvl1pPr algn="l">
              <a:defRPr sz="1200"/>
            </a:lvl1pPr>
          </a:lstStyle>
          <a:p>
            <a:endParaRPr lang="en-US"/>
          </a:p>
        </p:txBody>
      </p:sp>
      <p:sp>
        <p:nvSpPr>
          <p:cNvPr id="3" name="Date Placeholder 2"/>
          <p:cNvSpPr>
            <a:spLocks noGrp="1"/>
          </p:cNvSpPr>
          <p:nvPr>
            <p:ph type="dt" idx="1"/>
          </p:nvPr>
        </p:nvSpPr>
        <p:spPr>
          <a:xfrm>
            <a:off x="3970938" y="1"/>
            <a:ext cx="3037840" cy="463407"/>
          </a:xfrm>
          <a:prstGeom prst="rect">
            <a:avLst/>
          </a:prstGeom>
        </p:spPr>
        <p:txBody>
          <a:bodyPr vert="horz" lIns="93164" tIns="46582" rIns="93164" bIns="46582" rtlCol="0"/>
          <a:lstStyle>
            <a:lvl1pPr algn="r">
              <a:defRPr sz="1200"/>
            </a:lvl1pPr>
          </a:lstStyle>
          <a:p>
            <a:fld id="{0353CDD9-3B7B-4FFE-B690-112CDEF21C44}" type="datetimeFigureOut">
              <a:rPr lang="en-US" smtClean="0"/>
              <a:t>10/23/2023</a:t>
            </a:fld>
            <a:endParaRPr lang="en-US"/>
          </a:p>
        </p:txBody>
      </p:sp>
      <p:sp>
        <p:nvSpPr>
          <p:cNvPr id="4" name="Slide Image Placeholder 3"/>
          <p:cNvSpPr>
            <a:spLocks noGrp="1" noRot="1" noChangeAspect="1"/>
          </p:cNvSpPr>
          <p:nvPr>
            <p:ph type="sldImg" idx="2"/>
          </p:nvPr>
        </p:nvSpPr>
        <p:spPr>
          <a:xfrm>
            <a:off x="735013" y="1154113"/>
            <a:ext cx="5540375" cy="3116262"/>
          </a:xfrm>
          <a:prstGeom prst="rect">
            <a:avLst/>
          </a:prstGeom>
          <a:noFill/>
          <a:ln w="12700">
            <a:solidFill>
              <a:prstClr val="black"/>
            </a:solidFill>
          </a:ln>
        </p:spPr>
        <p:txBody>
          <a:bodyPr vert="horz" lIns="93164" tIns="46582" rIns="93164" bIns="46582"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3164" tIns="46582" rIns="93164" bIns="4658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1"/>
            <a:ext cx="3037840" cy="463406"/>
          </a:xfrm>
          <a:prstGeom prst="rect">
            <a:avLst/>
          </a:prstGeom>
        </p:spPr>
        <p:txBody>
          <a:bodyPr vert="horz" lIns="93164" tIns="46582" rIns="93164" bIns="46582"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1"/>
            <a:ext cx="3037840" cy="463406"/>
          </a:xfrm>
          <a:prstGeom prst="rect">
            <a:avLst/>
          </a:prstGeom>
        </p:spPr>
        <p:txBody>
          <a:bodyPr vert="horz" lIns="93164" tIns="46582" rIns="93164" bIns="46582" rtlCol="0" anchor="b"/>
          <a:lstStyle>
            <a:lvl1pPr algn="r">
              <a:defRPr sz="1200"/>
            </a:lvl1pPr>
          </a:lstStyle>
          <a:p>
            <a:fld id="{C511A54D-6FF0-4E4E-8D29-D769C8A7123F}" type="slidenum">
              <a:rPr lang="en-US" smtClean="0"/>
              <a:t>‹#›</a:t>
            </a:fld>
            <a:endParaRPr lang="en-US"/>
          </a:p>
        </p:txBody>
      </p:sp>
    </p:spTree>
    <p:extLst>
      <p:ext uri="{BB962C8B-B14F-4D97-AF65-F5344CB8AC3E}">
        <p14:creationId xmlns:p14="http://schemas.microsoft.com/office/powerpoint/2010/main" val="3144474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511A54D-6FF0-4E4E-8D29-D769C8A7123F}" type="slidenum">
              <a:rPr lang="en-US" smtClean="0"/>
              <a:t>10</a:t>
            </a:fld>
            <a:endParaRPr lang="en-US"/>
          </a:p>
        </p:txBody>
      </p:sp>
    </p:spTree>
    <p:extLst>
      <p:ext uri="{BB962C8B-B14F-4D97-AF65-F5344CB8AC3E}">
        <p14:creationId xmlns:p14="http://schemas.microsoft.com/office/powerpoint/2010/main" val="2836315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D371E-6A90-82EE-52A2-DB47A02C07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D8EE73E-EC51-68A7-BC83-C3415190C1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E69D9FB-BEF5-F9BE-2B72-6EBF9D4D1307}"/>
              </a:ext>
            </a:extLst>
          </p:cNvPr>
          <p:cNvSpPr>
            <a:spLocks noGrp="1"/>
          </p:cNvSpPr>
          <p:nvPr>
            <p:ph type="dt" sz="half" idx="10"/>
          </p:nvPr>
        </p:nvSpPr>
        <p:spPr/>
        <p:txBody>
          <a:bodyPr/>
          <a:lstStyle/>
          <a:p>
            <a:fld id="{D161EAC8-6439-48EF-8470-51C680B676F7}" type="datetime1">
              <a:rPr lang="en-US" smtClean="0"/>
              <a:t>10/23/2023</a:t>
            </a:fld>
            <a:endParaRPr lang="en-US"/>
          </a:p>
        </p:txBody>
      </p:sp>
      <p:sp>
        <p:nvSpPr>
          <p:cNvPr id="5" name="Footer Placeholder 4">
            <a:extLst>
              <a:ext uri="{FF2B5EF4-FFF2-40B4-BE49-F238E27FC236}">
                <a16:creationId xmlns:a16="http://schemas.microsoft.com/office/drawing/2014/main" id="{77A34F77-B11C-002D-488A-D29EAF6BFF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F0A225-58FF-4B70-EBD4-86173D551015}"/>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4714635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2AF2F-BE5C-1914-E814-1CF89F460B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90DF02B-18B1-1702-2F37-69BBB66DA0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EF128A-84DE-1B71-767C-478572DF0B79}"/>
              </a:ext>
            </a:extLst>
          </p:cNvPr>
          <p:cNvSpPr>
            <a:spLocks noGrp="1"/>
          </p:cNvSpPr>
          <p:nvPr>
            <p:ph type="dt" sz="half" idx="10"/>
          </p:nvPr>
        </p:nvSpPr>
        <p:spPr/>
        <p:txBody>
          <a:bodyPr/>
          <a:lstStyle/>
          <a:p>
            <a:fld id="{B2AB764C-65D8-41F5-9B86-57691DD2037A}" type="datetime1">
              <a:rPr lang="en-US" smtClean="0"/>
              <a:t>10/23/2023</a:t>
            </a:fld>
            <a:endParaRPr lang="en-US"/>
          </a:p>
        </p:txBody>
      </p:sp>
      <p:sp>
        <p:nvSpPr>
          <p:cNvPr id="5" name="Footer Placeholder 4">
            <a:extLst>
              <a:ext uri="{FF2B5EF4-FFF2-40B4-BE49-F238E27FC236}">
                <a16:creationId xmlns:a16="http://schemas.microsoft.com/office/drawing/2014/main" id="{3FA27418-3E12-4124-4C21-52E567C50580}"/>
              </a:ext>
            </a:extLst>
          </p:cNvPr>
          <p:cNvSpPr>
            <a:spLocks noGrp="1"/>
          </p:cNvSpPr>
          <p:nvPr>
            <p:ph type="ftr" sz="quarter" idx="11"/>
          </p:nvPr>
        </p:nvSpPr>
        <p:spPr/>
        <p:txBody>
          <a:bodyPr/>
          <a:lstStyle/>
          <a:p>
            <a:endParaRPr lang="en-US"/>
          </a:p>
        </p:txBody>
      </p:sp>
      <p:sp>
        <p:nvSpPr>
          <p:cNvPr id="7" name="Slide Number Placeholder 5">
            <a:extLst>
              <a:ext uri="{FF2B5EF4-FFF2-40B4-BE49-F238E27FC236}">
                <a16:creationId xmlns:a16="http://schemas.microsoft.com/office/drawing/2014/main" id="{430573C8-8FC0-7EEF-42CE-F72C0D618FBF}"/>
              </a:ext>
            </a:extLst>
          </p:cNvPr>
          <p:cNvSpPr>
            <a:spLocks noGrp="1"/>
          </p:cNvSpPr>
          <p:nvPr>
            <p:ph type="sldNum" sz="quarter" idx="12"/>
          </p:nvPr>
        </p:nvSpPr>
        <p:spPr>
          <a:xfrm>
            <a:off x="8610600" y="6356350"/>
            <a:ext cx="2743200" cy="365125"/>
          </a:xfrm>
        </p:spPr>
        <p:txBody>
          <a:bodyPr/>
          <a:lstStyle>
            <a:lvl1pPr>
              <a:defRPr/>
            </a:lvl1pPr>
          </a:lstStyle>
          <a:p>
            <a:fld id="{C857CEEC-B959-4A37-A10B-AE2FE373736E}" type="slidenum">
              <a:rPr lang="en-US" smtClean="0"/>
              <a:pPr/>
              <a:t>‹#›</a:t>
            </a:fld>
            <a:endParaRPr lang="en-US" dirty="0"/>
          </a:p>
        </p:txBody>
      </p:sp>
    </p:spTree>
    <p:extLst>
      <p:ext uri="{BB962C8B-B14F-4D97-AF65-F5344CB8AC3E}">
        <p14:creationId xmlns:p14="http://schemas.microsoft.com/office/powerpoint/2010/main" val="1137232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D68C7-F23F-BE75-1E15-1C258A9C920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ED66BBA-95CC-5D8D-6C64-0DF80D4859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B8DB27A-5BC0-5974-DC9A-9B4DC4A51EAA}"/>
              </a:ext>
            </a:extLst>
          </p:cNvPr>
          <p:cNvSpPr>
            <a:spLocks noGrp="1"/>
          </p:cNvSpPr>
          <p:nvPr>
            <p:ph type="dt" sz="half" idx="10"/>
          </p:nvPr>
        </p:nvSpPr>
        <p:spPr/>
        <p:txBody>
          <a:bodyPr/>
          <a:lstStyle/>
          <a:p>
            <a:fld id="{BA99BCCC-08B9-4701-94AC-DE23AFB57C95}" type="datetime1">
              <a:rPr lang="en-US" smtClean="0"/>
              <a:t>10/23/2023</a:t>
            </a:fld>
            <a:endParaRPr lang="en-US"/>
          </a:p>
        </p:txBody>
      </p:sp>
      <p:sp>
        <p:nvSpPr>
          <p:cNvPr id="5" name="Footer Placeholder 4">
            <a:extLst>
              <a:ext uri="{FF2B5EF4-FFF2-40B4-BE49-F238E27FC236}">
                <a16:creationId xmlns:a16="http://schemas.microsoft.com/office/drawing/2014/main" id="{32F1942A-3EA5-F179-7B2E-81149E08AF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DE66DB-8AE8-36E4-7E61-9833219A0CCF}"/>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2401866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305AF-9C49-4C7E-78E0-2F6B167E8F0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D316311-3D61-60CF-1EB6-75E3D6751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63E569-B396-28CD-80B4-56F736FA52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D284D2-795B-6713-C1E8-AE1F25FEFA11}"/>
              </a:ext>
            </a:extLst>
          </p:cNvPr>
          <p:cNvSpPr>
            <a:spLocks noGrp="1"/>
          </p:cNvSpPr>
          <p:nvPr>
            <p:ph type="dt" sz="half" idx="10"/>
          </p:nvPr>
        </p:nvSpPr>
        <p:spPr/>
        <p:txBody>
          <a:bodyPr/>
          <a:lstStyle/>
          <a:p>
            <a:fld id="{BAC64F92-593F-4C67-9A86-4D3011E45948}" type="datetime1">
              <a:rPr lang="en-US" smtClean="0"/>
              <a:t>10/23/2023</a:t>
            </a:fld>
            <a:endParaRPr lang="en-US"/>
          </a:p>
        </p:txBody>
      </p:sp>
      <p:sp>
        <p:nvSpPr>
          <p:cNvPr id="6" name="Footer Placeholder 5">
            <a:extLst>
              <a:ext uri="{FF2B5EF4-FFF2-40B4-BE49-F238E27FC236}">
                <a16:creationId xmlns:a16="http://schemas.microsoft.com/office/drawing/2014/main" id="{6E2C332C-E729-1FE4-7990-4E77E95228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3381D1-F9E5-4ECF-09E3-2D5112F62AC5}"/>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2352933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23AC-D04D-5E15-917C-69EFF454D5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661868-D667-AF2D-8538-54B5322261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77B024D-1C7A-6BD6-E84D-F04B123FCAD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56267C2-9B2D-3FDD-86BC-E5E54C10BD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85755B-1EBA-9E5B-02D1-38BC378B0D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5B1521-F4EC-88D8-A928-4A4BAFCAF080}"/>
              </a:ext>
            </a:extLst>
          </p:cNvPr>
          <p:cNvSpPr>
            <a:spLocks noGrp="1"/>
          </p:cNvSpPr>
          <p:nvPr>
            <p:ph type="dt" sz="half" idx="10"/>
          </p:nvPr>
        </p:nvSpPr>
        <p:spPr/>
        <p:txBody>
          <a:bodyPr/>
          <a:lstStyle/>
          <a:p>
            <a:fld id="{0907DF0A-0933-4277-944C-7B8E5426E908}" type="datetime1">
              <a:rPr lang="en-US" smtClean="0"/>
              <a:t>10/23/2023</a:t>
            </a:fld>
            <a:endParaRPr lang="en-US"/>
          </a:p>
        </p:txBody>
      </p:sp>
      <p:sp>
        <p:nvSpPr>
          <p:cNvPr id="8" name="Footer Placeholder 7">
            <a:extLst>
              <a:ext uri="{FF2B5EF4-FFF2-40B4-BE49-F238E27FC236}">
                <a16:creationId xmlns:a16="http://schemas.microsoft.com/office/drawing/2014/main" id="{ACD4CF71-6245-D130-544D-525147E1A0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7551980-115B-FDB2-4D26-0C1CCC22BA7A}"/>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2236619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B95F0-BB1F-A2C2-B554-BC8B87A880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92F409-43C3-8037-6803-4E44EA301FC7}"/>
              </a:ext>
            </a:extLst>
          </p:cNvPr>
          <p:cNvSpPr>
            <a:spLocks noGrp="1"/>
          </p:cNvSpPr>
          <p:nvPr>
            <p:ph type="dt" sz="half" idx="10"/>
          </p:nvPr>
        </p:nvSpPr>
        <p:spPr/>
        <p:txBody>
          <a:bodyPr/>
          <a:lstStyle/>
          <a:p>
            <a:fld id="{A2F9F8CB-543E-4D08-B32B-91AFE824BB4F}" type="datetime1">
              <a:rPr lang="en-US" smtClean="0"/>
              <a:t>10/23/2023</a:t>
            </a:fld>
            <a:endParaRPr lang="en-US"/>
          </a:p>
        </p:txBody>
      </p:sp>
      <p:sp>
        <p:nvSpPr>
          <p:cNvPr id="4" name="Footer Placeholder 3">
            <a:extLst>
              <a:ext uri="{FF2B5EF4-FFF2-40B4-BE49-F238E27FC236}">
                <a16:creationId xmlns:a16="http://schemas.microsoft.com/office/drawing/2014/main" id="{70DB1C29-CC33-03BB-8894-C83FC5E67FC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681F4F0-2832-549B-CA06-5622EDAC45F9}"/>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22592783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74E0B3-B5EF-496C-4831-50ADB0E82146}"/>
              </a:ext>
            </a:extLst>
          </p:cNvPr>
          <p:cNvSpPr>
            <a:spLocks noGrp="1"/>
          </p:cNvSpPr>
          <p:nvPr>
            <p:ph type="dt" sz="half" idx="10"/>
          </p:nvPr>
        </p:nvSpPr>
        <p:spPr/>
        <p:txBody>
          <a:bodyPr/>
          <a:lstStyle/>
          <a:p>
            <a:fld id="{E97C2EBA-1CB9-41DC-AE8C-13A0BDB78ABA}" type="datetime1">
              <a:rPr lang="en-US" smtClean="0"/>
              <a:t>10/23/2023</a:t>
            </a:fld>
            <a:endParaRPr lang="en-US"/>
          </a:p>
        </p:txBody>
      </p:sp>
      <p:sp>
        <p:nvSpPr>
          <p:cNvPr id="3" name="Footer Placeholder 2">
            <a:extLst>
              <a:ext uri="{FF2B5EF4-FFF2-40B4-BE49-F238E27FC236}">
                <a16:creationId xmlns:a16="http://schemas.microsoft.com/office/drawing/2014/main" id="{AD39B021-BD12-C78F-570B-E51560005A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3F89977-858B-015A-45BD-797E93AC1588}"/>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1068868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1DF4A-3954-7CA9-2924-DBFCD39264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E8CB6E6-0F81-6479-56B0-A1C932C950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44197B-5FAD-C9BD-3064-846C760B8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72D6F7-1AA8-3468-7199-FE07C1C62E3C}"/>
              </a:ext>
            </a:extLst>
          </p:cNvPr>
          <p:cNvSpPr>
            <a:spLocks noGrp="1"/>
          </p:cNvSpPr>
          <p:nvPr>
            <p:ph type="dt" sz="half" idx="10"/>
          </p:nvPr>
        </p:nvSpPr>
        <p:spPr/>
        <p:txBody>
          <a:bodyPr/>
          <a:lstStyle/>
          <a:p>
            <a:fld id="{13EFD3E2-3A24-4219-B074-32A8BCC60094}" type="datetime1">
              <a:rPr lang="en-US" smtClean="0"/>
              <a:t>10/23/2023</a:t>
            </a:fld>
            <a:endParaRPr lang="en-US"/>
          </a:p>
        </p:txBody>
      </p:sp>
      <p:sp>
        <p:nvSpPr>
          <p:cNvPr id="6" name="Footer Placeholder 5">
            <a:extLst>
              <a:ext uri="{FF2B5EF4-FFF2-40B4-BE49-F238E27FC236}">
                <a16:creationId xmlns:a16="http://schemas.microsoft.com/office/drawing/2014/main" id="{04B2F4B3-9CB1-A354-4B16-3F0BC3CE88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BF928A-2E25-0C32-B1BE-5E53125698FE}"/>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252701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F4C06-FB74-E3D6-5103-43BAC5D6C6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9C5EC-4279-32FD-3B71-20008C0195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10B03DD-D3A4-5517-AF9F-ABB4755EFD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367F74-E332-07E3-C630-BF5DA14BC7B3}"/>
              </a:ext>
            </a:extLst>
          </p:cNvPr>
          <p:cNvSpPr>
            <a:spLocks noGrp="1"/>
          </p:cNvSpPr>
          <p:nvPr>
            <p:ph type="dt" sz="half" idx="10"/>
          </p:nvPr>
        </p:nvSpPr>
        <p:spPr/>
        <p:txBody>
          <a:bodyPr/>
          <a:lstStyle/>
          <a:p>
            <a:fld id="{8BC8E528-C1B8-4CCC-8B84-DFD5EF7E49F5}" type="datetime1">
              <a:rPr lang="en-US" smtClean="0"/>
              <a:t>10/23/2023</a:t>
            </a:fld>
            <a:endParaRPr lang="en-US"/>
          </a:p>
        </p:txBody>
      </p:sp>
      <p:sp>
        <p:nvSpPr>
          <p:cNvPr id="6" name="Footer Placeholder 5">
            <a:extLst>
              <a:ext uri="{FF2B5EF4-FFF2-40B4-BE49-F238E27FC236}">
                <a16:creationId xmlns:a16="http://schemas.microsoft.com/office/drawing/2014/main" id="{03798651-DFC3-A6F1-538D-A13B8484B7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22D337-2B5E-DE77-7379-F84134625BD5}"/>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13594954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19EC4-D4D7-D27A-F359-08FC86CF6A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19117D-918C-C1DB-0C35-55D78BAC5C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96D3B-0631-4973-45B1-B721114DB68A}"/>
              </a:ext>
            </a:extLst>
          </p:cNvPr>
          <p:cNvSpPr>
            <a:spLocks noGrp="1"/>
          </p:cNvSpPr>
          <p:nvPr>
            <p:ph type="dt" sz="half" idx="10"/>
          </p:nvPr>
        </p:nvSpPr>
        <p:spPr/>
        <p:txBody>
          <a:bodyPr/>
          <a:lstStyle/>
          <a:p>
            <a:fld id="{31D6F124-9A85-4520-86C2-52A78C382306}" type="datetime1">
              <a:rPr lang="en-US" smtClean="0"/>
              <a:t>10/23/2023</a:t>
            </a:fld>
            <a:endParaRPr lang="en-US"/>
          </a:p>
        </p:txBody>
      </p:sp>
      <p:sp>
        <p:nvSpPr>
          <p:cNvPr id="5" name="Footer Placeholder 4">
            <a:extLst>
              <a:ext uri="{FF2B5EF4-FFF2-40B4-BE49-F238E27FC236}">
                <a16:creationId xmlns:a16="http://schemas.microsoft.com/office/drawing/2014/main" id="{38B1E7E0-AEA6-C1E5-DA81-9E66914E27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9AD7A6-25CA-0954-263D-1843C61C12E2}"/>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3503684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577038-F557-31B8-02CC-3ED46252EF5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FF8CA8A-5933-1EC4-5EEF-78822182046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6A8FA7-1603-304B-0AF2-180E12253C0A}"/>
              </a:ext>
            </a:extLst>
          </p:cNvPr>
          <p:cNvSpPr>
            <a:spLocks noGrp="1"/>
          </p:cNvSpPr>
          <p:nvPr>
            <p:ph type="dt" sz="half" idx="10"/>
          </p:nvPr>
        </p:nvSpPr>
        <p:spPr/>
        <p:txBody>
          <a:bodyPr/>
          <a:lstStyle/>
          <a:p>
            <a:fld id="{3C06C1B4-975E-46FC-AA46-1F1B33368593}" type="datetime1">
              <a:rPr lang="en-US" smtClean="0"/>
              <a:t>10/23/2023</a:t>
            </a:fld>
            <a:endParaRPr lang="en-US"/>
          </a:p>
        </p:txBody>
      </p:sp>
      <p:sp>
        <p:nvSpPr>
          <p:cNvPr id="5" name="Footer Placeholder 4">
            <a:extLst>
              <a:ext uri="{FF2B5EF4-FFF2-40B4-BE49-F238E27FC236}">
                <a16:creationId xmlns:a16="http://schemas.microsoft.com/office/drawing/2014/main" id="{8A0CDE5F-361D-BD90-0F26-985FD035CF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6C50EB-B693-43E4-B118-E674112DB317}"/>
              </a:ext>
            </a:extLst>
          </p:cNvPr>
          <p:cNvSpPr>
            <a:spLocks noGrp="1"/>
          </p:cNvSpPr>
          <p:nvPr>
            <p:ph type="sldNum" sz="quarter" idx="12"/>
          </p:nvPr>
        </p:nvSpPr>
        <p:spPr/>
        <p:txBody>
          <a:bodyPr/>
          <a:lstStyle/>
          <a:p>
            <a:fld id="{D3EF66BB-30B7-4DB9-BC02-7D906384CF30}" type="slidenum">
              <a:rPr lang="en-US" smtClean="0"/>
              <a:t>‹#›</a:t>
            </a:fld>
            <a:endParaRPr lang="en-US"/>
          </a:p>
        </p:txBody>
      </p:sp>
    </p:spTree>
    <p:extLst>
      <p:ext uri="{BB962C8B-B14F-4D97-AF65-F5344CB8AC3E}">
        <p14:creationId xmlns:p14="http://schemas.microsoft.com/office/powerpoint/2010/main" val="8908540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CDE69C-8651-E880-AD10-EBED1C75CA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F66E6A-01B6-7063-2CFD-EC72B629C0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00CE10-B104-1F8E-975B-905B0E1562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02281FD-A062-4C87-A693-2FC13B3075C9}" type="datetime1">
              <a:rPr lang="en-US" smtClean="0"/>
              <a:t>10/23/2023</a:t>
            </a:fld>
            <a:endParaRPr lang="en-US"/>
          </a:p>
        </p:txBody>
      </p:sp>
      <p:sp>
        <p:nvSpPr>
          <p:cNvPr id="5" name="Footer Placeholder 4">
            <a:extLst>
              <a:ext uri="{FF2B5EF4-FFF2-40B4-BE49-F238E27FC236}">
                <a16:creationId xmlns:a16="http://schemas.microsoft.com/office/drawing/2014/main" id="{37C44B5C-6DEC-C1BF-ED70-14A6B5A954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CDAF687-4FA0-31EF-8A84-59A1652A73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28156C-CCB3-4244-83FB-D7893AA4A109}" type="slidenum">
              <a:rPr lang="en-US" smtClean="0"/>
              <a:pPr/>
              <a:t>‹#›</a:t>
            </a:fld>
            <a:endParaRPr lang="en-US" dirty="0"/>
          </a:p>
        </p:txBody>
      </p:sp>
    </p:spTree>
    <p:extLst>
      <p:ext uri="{BB962C8B-B14F-4D97-AF65-F5344CB8AC3E}">
        <p14:creationId xmlns:p14="http://schemas.microsoft.com/office/powerpoint/2010/main" val="24181303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www.donovanhatem.com/wp/wp-content/uploads/2022/03/032122-Letter-to-the-Editor-ENR.pdf"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s://www.donovanhatem.com/early-contractor-involvement-rethinking-and-recalibratingdelivery-methods-for-subsurface-projects/"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F617-A5F0-4DC3-2EC1-9C7B1244910E}"/>
              </a:ext>
            </a:extLst>
          </p:cNvPr>
          <p:cNvSpPr>
            <a:spLocks noGrp="1"/>
          </p:cNvSpPr>
          <p:nvPr>
            <p:ph type="ctrTitle"/>
          </p:nvPr>
        </p:nvSpPr>
        <p:spPr>
          <a:xfrm>
            <a:off x="1524000" y="646361"/>
            <a:ext cx="9247573" cy="5474161"/>
          </a:xfrm>
        </p:spPr>
        <p:txBody>
          <a:bodyPr>
            <a:normAutofit fontScale="90000"/>
          </a:bodyPr>
          <a:lstStyle/>
          <a:p>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r>
              <a:rPr lang="en-US" sz="3100" b="1" dirty="0"/>
              <a:t>	</a:t>
            </a: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br>
              <a:rPr lang="en-US" sz="3100" b="1" dirty="0"/>
            </a:br>
            <a:r>
              <a:rPr lang="en-US" sz="3100" b="1" dirty="0"/>
              <a:t>Contractor Involvement in Design of Permanent Project Work: Evolving and Diversified Roles, Responsibilities and Risk Allocation</a:t>
            </a:r>
            <a:br>
              <a:rPr lang="en-US" sz="3100" b="1" dirty="0"/>
            </a:br>
            <a:br>
              <a:rPr lang="en-US" sz="3100" b="1" dirty="0"/>
            </a:br>
            <a:r>
              <a:rPr lang="en-US" sz="3100" b="1" dirty="0"/>
              <a:t>BSCES/SEI Structural Fall Lecture Series</a:t>
            </a:r>
            <a:br>
              <a:rPr lang="en-US" sz="3100" b="1" dirty="0"/>
            </a:br>
            <a:br>
              <a:rPr lang="en-US" sz="3100" b="1" dirty="0"/>
            </a:br>
            <a:r>
              <a:rPr lang="en-US" sz="3100" b="1" dirty="0"/>
              <a:t>Shifting  Paradigms in Engineering</a:t>
            </a:r>
            <a:br>
              <a:rPr lang="en-US" sz="3100" b="1" dirty="0"/>
            </a:br>
            <a:r>
              <a:rPr lang="en-US" sz="3100" b="1" dirty="0"/>
              <a:t>November 4, 2023</a:t>
            </a:r>
            <a:br>
              <a:rPr lang="en-US" sz="3100" b="1" dirty="0"/>
            </a:br>
            <a:br>
              <a:rPr lang="en-US" sz="3100" b="1" dirty="0"/>
            </a:br>
            <a:br>
              <a:rPr lang="en-US" sz="3100" b="1" dirty="0"/>
            </a:br>
            <a:r>
              <a:rPr lang="en-US" sz="2700" dirty="0"/>
              <a:t>David J. Hatem, PC</a:t>
            </a:r>
            <a:br>
              <a:rPr lang="en-US" sz="2700" dirty="0"/>
            </a:br>
            <a:r>
              <a:rPr lang="en-US" sz="2700" dirty="0"/>
              <a:t>Donovan Hatem LLP</a:t>
            </a:r>
            <a:br>
              <a:rPr lang="en-US" sz="2700" dirty="0"/>
            </a:br>
            <a:r>
              <a:rPr lang="en-US" sz="2700" dirty="0"/>
              <a:t>Boston, MA</a:t>
            </a:r>
            <a:br>
              <a:rPr lang="en-US" sz="2700" dirty="0"/>
            </a:br>
            <a:br>
              <a:rPr lang="en-US" sz="2000" dirty="0"/>
            </a:br>
            <a:r>
              <a:rPr lang="en-US" sz="2000" dirty="0"/>
              <a:t>	</a:t>
            </a:r>
          </a:p>
        </p:txBody>
      </p:sp>
      <p:sp>
        <p:nvSpPr>
          <p:cNvPr id="3" name="Subtitle 2">
            <a:extLst>
              <a:ext uri="{FF2B5EF4-FFF2-40B4-BE49-F238E27FC236}">
                <a16:creationId xmlns:a16="http://schemas.microsoft.com/office/drawing/2014/main" id="{D4484717-7785-C3C3-FF17-1DFC9D9F3007}"/>
              </a:ext>
            </a:extLst>
          </p:cNvPr>
          <p:cNvSpPr>
            <a:spLocks noGrp="1" noRot="1" noMove="1" noResize="1" noEditPoints="1" noAdjustHandles="1" noChangeArrowheads="1" noChangeShapeType="1"/>
          </p:cNvSpPr>
          <p:nvPr>
            <p:ph type="subTitle" idx="1"/>
          </p:nvPr>
        </p:nvSpPr>
        <p:spPr>
          <a:xfrm>
            <a:off x="1524000" y="488272"/>
            <a:ext cx="9144000" cy="5997375"/>
          </a:xfrm>
        </p:spPr>
        <p:txBody>
          <a:bodyPr>
            <a:normAutofit/>
          </a:bodyPr>
          <a:lstStyle/>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6D4D4610-A05F-3DBB-99F5-841C4F8A8B2D}"/>
              </a:ext>
            </a:extLst>
          </p:cNvPr>
          <p:cNvSpPr>
            <a:spLocks noGrp="1"/>
          </p:cNvSpPr>
          <p:nvPr>
            <p:ph type="sldNum" sz="quarter" idx="12"/>
          </p:nvPr>
        </p:nvSpPr>
        <p:spPr/>
        <p:txBody>
          <a:bodyPr/>
          <a:lstStyle/>
          <a:p>
            <a:fld id="{D3EF66BB-30B7-4DB9-BC02-7D906384CF30}" type="slidenum">
              <a:rPr lang="en-US" smtClean="0"/>
              <a:t>1</a:t>
            </a:fld>
            <a:endParaRPr lang="en-US"/>
          </a:p>
        </p:txBody>
      </p:sp>
    </p:spTree>
    <p:extLst>
      <p:ext uri="{BB962C8B-B14F-4D97-AF65-F5344CB8AC3E}">
        <p14:creationId xmlns:p14="http://schemas.microsoft.com/office/powerpoint/2010/main" val="1989502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E0182-E438-EAD9-70EA-655034E3E8B7}"/>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FC470B6D-4187-3D63-B5EC-B4F903EF6DCF}"/>
              </a:ext>
            </a:extLst>
          </p:cNvPr>
          <p:cNvSpPr>
            <a:spLocks noGrp="1"/>
          </p:cNvSpPr>
          <p:nvPr>
            <p:ph idx="1"/>
          </p:nvPr>
        </p:nvSpPr>
        <p:spPr/>
        <p:txBody>
          <a:bodyPr/>
          <a:lstStyle/>
          <a:p>
            <a:pPr marL="0" indent="0">
              <a:buNone/>
            </a:pPr>
            <a:r>
              <a:rPr lang="en-US" dirty="0"/>
              <a:t>Evolving and Diversified Permanent Design: Roles, Responsibilities and Risks of Project Participants</a:t>
            </a:r>
          </a:p>
          <a:p>
            <a:r>
              <a:rPr lang="en-US" dirty="0"/>
              <a:t>Significant and increasing variations and diversifications in design roles, responsibilities, and risks (“3Rs”)</a:t>
            </a:r>
          </a:p>
          <a:p>
            <a:r>
              <a:rPr lang="en-US" dirty="0"/>
              <a:t>Design Development Processes and 3Rs – More Complexity, More Risk for Design Professionals</a:t>
            </a:r>
          </a:p>
          <a:p>
            <a:r>
              <a:rPr lang="en-US" dirty="0"/>
              <a:t>Importance of:</a:t>
            </a:r>
          </a:p>
          <a:p>
            <a:pPr lvl="1"/>
            <a:r>
              <a:rPr lang="en-US" dirty="0"/>
              <a:t>Clarity and consistency in 3Rs Contractual Articulation and Actual Practice</a:t>
            </a:r>
          </a:p>
          <a:p>
            <a:pPr lvl="1"/>
            <a:r>
              <a:rPr lang="en-US" dirty="0"/>
              <a:t>Reasonably Informed, Fair and Balanced Risk Allocation</a:t>
            </a:r>
          </a:p>
          <a:p>
            <a:pPr lvl="1"/>
            <a:r>
              <a:rPr lang="en-US" dirty="0"/>
              <a:t>Actual Performance Consistent with 3Rs as Contractually-Defined</a:t>
            </a:r>
          </a:p>
        </p:txBody>
      </p:sp>
      <p:sp>
        <p:nvSpPr>
          <p:cNvPr id="4" name="Slide Number Placeholder 3">
            <a:extLst>
              <a:ext uri="{FF2B5EF4-FFF2-40B4-BE49-F238E27FC236}">
                <a16:creationId xmlns:a16="http://schemas.microsoft.com/office/drawing/2014/main" id="{885CD2D2-6E9D-04A9-1C2C-E4AD7626964C}"/>
              </a:ext>
            </a:extLst>
          </p:cNvPr>
          <p:cNvSpPr>
            <a:spLocks noGrp="1"/>
          </p:cNvSpPr>
          <p:nvPr>
            <p:ph type="sldNum" sz="quarter" idx="12"/>
          </p:nvPr>
        </p:nvSpPr>
        <p:spPr/>
        <p:txBody>
          <a:bodyPr/>
          <a:lstStyle/>
          <a:p>
            <a:fld id="{C857CEEC-B959-4A37-A10B-AE2FE373736E}" type="slidenum">
              <a:rPr lang="en-US" smtClean="0"/>
              <a:pPr/>
              <a:t>2</a:t>
            </a:fld>
            <a:endParaRPr lang="en-US" dirty="0"/>
          </a:p>
        </p:txBody>
      </p:sp>
    </p:spTree>
    <p:extLst>
      <p:ext uri="{BB962C8B-B14F-4D97-AF65-F5344CB8AC3E}">
        <p14:creationId xmlns:p14="http://schemas.microsoft.com/office/powerpoint/2010/main" val="4835103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CBEC3-6B74-0C27-134E-50D7C46D9B8F}"/>
              </a:ext>
            </a:extLst>
          </p:cNvPr>
          <p:cNvSpPr>
            <a:spLocks noGrp="1"/>
          </p:cNvSpPr>
          <p:nvPr>
            <p:ph type="title"/>
          </p:nvPr>
        </p:nvSpPr>
        <p:spPr/>
        <p:txBody>
          <a:bodyPr/>
          <a:lstStyle/>
          <a:p>
            <a:r>
              <a:rPr lang="en-US" dirty="0"/>
              <a:t>Presentation Focus</a:t>
            </a:r>
          </a:p>
        </p:txBody>
      </p:sp>
      <p:sp>
        <p:nvSpPr>
          <p:cNvPr id="3" name="Content Placeholder 2">
            <a:extLst>
              <a:ext uri="{FF2B5EF4-FFF2-40B4-BE49-F238E27FC236}">
                <a16:creationId xmlns:a16="http://schemas.microsoft.com/office/drawing/2014/main" id="{A2A2ED64-F8B7-61C0-E451-93B9782AC2F9}"/>
              </a:ext>
            </a:extLst>
          </p:cNvPr>
          <p:cNvSpPr>
            <a:spLocks noGrp="1"/>
          </p:cNvSpPr>
          <p:nvPr>
            <p:ph idx="1"/>
          </p:nvPr>
        </p:nvSpPr>
        <p:spPr/>
        <p:txBody>
          <a:bodyPr>
            <a:normAutofit lnSpcReduction="10000"/>
          </a:bodyPr>
          <a:lstStyle/>
          <a:p>
            <a:r>
              <a:rPr lang="en-US" sz="2000" dirty="0"/>
              <a:t>Design-Bid-Build</a:t>
            </a:r>
          </a:p>
          <a:p>
            <a:pPr marL="457200" lvl="1" indent="0">
              <a:buNone/>
            </a:pPr>
            <a:r>
              <a:rPr lang="en-US" dirty="0"/>
              <a:t>-	</a:t>
            </a:r>
            <a:r>
              <a:rPr lang="en-US" sz="1800" dirty="0"/>
              <a:t>Conventional Roles, Risks and Responsibilities</a:t>
            </a:r>
          </a:p>
          <a:p>
            <a:pPr marL="457200" lvl="1" indent="0">
              <a:buNone/>
            </a:pPr>
            <a:r>
              <a:rPr lang="en-US" sz="1800" dirty="0"/>
              <a:t>-	Variations</a:t>
            </a:r>
          </a:p>
          <a:p>
            <a:pPr lvl="2">
              <a:buFont typeface="Courier New" panose="02070309020205020404" pitchFamily="49" charset="0"/>
              <a:buChar char="o"/>
            </a:pPr>
            <a:r>
              <a:rPr lang="en-US" sz="1800" dirty="0"/>
              <a:t>Design Assist</a:t>
            </a:r>
          </a:p>
          <a:p>
            <a:pPr lvl="2">
              <a:buFont typeface="Courier New" panose="02070309020205020404" pitchFamily="49" charset="0"/>
              <a:buChar char="o"/>
            </a:pPr>
            <a:r>
              <a:rPr lang="en-US" sz="1800" dirty="0"/>
              <a:t>Design Delegation</a:t>
            </a:r>
          </a:p>
          <a:p>
            <a:pPr marL="914400" lvl="2" indent="0">
              <a:buNone/>
            </a:pPr>
            <a:endParaRPr lang="en-US" sz="1800" dirty="0"/>
          </a:p>
          <a:p>
            <a:pPr marL="342900" lvl="2" indent="-342900"/>
            <a:r>
              <a:rPr lang="en-US" dirty="0"/>
              <a:t>Design-Build</a:t>
            </a:r>
          </a:p>
          <a:p>
            <a:pPr marL="457200" lvl="1" indent="0">
              <a:buNone/>
            </a:pPr>
            <a:r>
              <a:rPr lang="en-US" sz="1800" dirty="0"/>
              <a:t>-	Conventional</a:t>
            </a:r>
          </a:p>
          <a:p>
            <a:pPr marL="457200" lvl="1" indent="0">
              <a:buNone/>
            </a:pPr>
            <a:r>
              <a:rPr lang="en-US" sz="1800" dirty="0"/>
              <a:t>-	Variations</a:t>
            </a:r>
          </a:p>
          <a:p>
            <a:pPr lvl="2">
              <a:buFont typeface="Symbol" panose="05050102010706020507" pitchFamily="18" charset="2"/>
              <a:buChar char=""/>
            </a:pPr>
            <a:r>
              <a:rPr lang="en-US" sz="1800" dirty="0"/>
              <a:t>Multi-Prime Design Professionals </a:t>
            </a:r>
          </a:p>
          <a:p>
            <a:pPr lvl="2">
              <a:buFont typeface="Symbol" panose="05050102010706020507" pitchFamily="18" charset="2"/>
              <a:buChar char=""/>
            </a:pPr>
            <a:r>
              <a:rPr lang="en-US" sz="1800" dirty="0"/>
              <a:t>Contractor Self-Performed Design</a:t>
            </a:r>
          </a:p>
          <a:p>
            <a:pPr marL="285750" lvl="1" indent="-285750"/>
            <a:r>
              <a:rPr lang="en-US" sz="1800" dirty="0"/>
              <a:t>Early Contractor Involvement</a:t>
            </a:r>
          </a:p>
          <a:p>
            <a:pPr marL="457200" lvl="1" indent="0">
              <a:buNone/>
            </a:pPr>
            <a:r>
              <a:rPr lang="en-US" sz="1800" dirty="0"/>
              <a:t>-	Progressive Design-Build</a:t>
            </a:r>
          </a:p>
          <a:p>
            <a:pPr marL="457200" lvl="1" indent="0">
              <a:buNone/>
            </a:pPr>
            <a:r>
              <a:rPr lang="en-US" sz="1800" dirty="0"/>
              <a:t>-	Construction Manager/General Contractor</a:t>
            </a:r>
          </a:p>
          <a:p>
            <a:pPr marL="0" lvl="2" indent="0">
              <a:buNone/>
            </a:pPr>
            <a:endParaRPr lang="en-US" dirty="0"/>
          </a:p>
        </p:txBody>
      </p:sp>
      <p:sp>
        <p:nvSpPr>
          <p:cNvPr id="6" name="Slide Number Placeholder 5">
            <a:extLst>
              <a:ext uri="{FF2B5EF4-FFF2-40B4-BE49-F238E27FC236}">
                <a16:creationId xmlns:a16="http://schemas.microsoft.com/office/drawing/2014/main" id="{6F9F722F-48A9-3AE8-9FA2-89F04AEE4DBF}"/>
              </a:ext>
            </a:extLst>
          </p:cNvPr>
          <p:cNvSpPr>
            <a:spLocks noGrp="1"/>
          </p:cNvSpPr>
          <p:nvPr>
            <p:ph type="sldNum" sz="quarter" idx="12"/>
          </p:nvPr>
        </p:nvSpPr>
        <p:spPr/>
        <p:txBody>
          <a:bodyPr/>
          <a:lstStyle/>
          <a:p>
            <a:fld id="{C857CEEC-B959-4A37-A10B-AE2FE373736E}" type="slidenum">
              <a:rPr lang="en-US" smtClean="0"/>
              <a:pPr/>
              <a:t>3</a:t>
            </a:fld>
            <a:endParaRPr lang="en-US" dirty="0"/>
          </a:p>
        </p:txBody>
      </p:sp>
    </p:spTree>
    <p:extLst>
      <p:ext uri="{BB962C8B-B14F-4D97-AF65-F5344CB8AC3E}">
        <p14:creationId xmlns:p14="http://schemas.microsoft.com/office/powerpoint/2010/main" val="31582291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FFCD0-FC5A-E3DB-58B9-1DCA6120831F}"/>
              </a:ext>
            </a:extLst>
          </p:cNvPr>
          <p:cNvSpPr>
            <a:spLocks noGrp="1"/>
          </p:cNvSpPr>
          <p:nvPr>
            <p:ph type="title"/>
          </p:nvPr>
        </p:nvSpPr>
        <p:spPr>
          <a:xfrm>
            <a:off x="838200" y="399171"/>
            <a:ext cx="10515600" cy="1554163"/>
          </a:xfrm>
        </p:spPr>
        <p:txBody>
          <a:bodyPr>
            <a:noAutofit/>
          </a:bodyPr>
          <a:lstStyle/>
          <a:p>
            <a:r>
              <a:rPr lang="en-US" sz="3200" dirty="0"/>
              <a:t>INTRODUCTION</a:t>
            </a:r>
            <a:br>
              <a:rPr lang="en-US" sz="3200" dirty="0"/>
            </a:br>
            <a:r>
              <a:rPr lang="en-US" sz="3200" dirty="0"/>
              <a:t>CONTRACTOR PERMANENT WORKS DESIGN INVOLVEMENT: DRIVERS AND FACTORS</a:t>
            </a:r>
          </a:p>
        </p:txBody>
      </p:sp>
      <p:sp>
        <p:nvSpPr>
          <p:cNvPr id="3" name="Content Placeholder 2">
            <a:extLst>
              <a:ext uri="{FF2B5EF4-FFF2-40B4-BE49-F238E27FC236}">
                <a16:creationId xmlns:a16="http://schemas.microsoft.com/office/drawing/2014/main" id="{C7769073-4FD1-1B25-D32E-7CA30FE423AC}"/>
              </a:ext>
            </a:extLst>
          </p:cNvPr>
          <p:cNvSpPr>
            <a:spLocks noGrp="1"/>
          </p:cNvSpPr>
          <p:nvPr>
            <p:ph idx="1"/>
          </p:nvPr>
        </p:nvSpPr>
        <p:spPr>
          <a:xfrm>
            <a:off x="839821" y="2374730"/>
            <a:ext cx="10515600" cy="3560223"/>
          </a:xfrm>
        </p:spPr>
        <p:txBody>
          <a:bodyPr/>
          <a:lstStyle/>
          <a:p>
            <a:pPr marL="0" indent="0">
              <a:buNone/>
            </a:pPr>
            <a:endParaRPr lang="en-US" sz="2000" dirty="0"/>
          </a:p>
          <a:p>
            <a:pPr marL="214313" indent="-214313">
              <a:buFont typeface="Arial" panose="020B0604020202020204" pitchFamily="34" charset="0"/>
              <a:buChar char="•"/>
            </a:pPr>
            <a:r>
              <a:rPr lang="en-US" sz="2000" dirty="0"/>
              <a:t>Drivers and factors are influenced by project-specific considerations and project delivery methods</a:t>
            </a:r>
          </a:p>
          <a:p>
            <a:pPr marL="214313" indent="-214313">
              <a:buFont typeface="Arial" panose="020B0604020202020204" pitchFamily="34" charset="0"/>
              <a:buChar char="•"/>
            </a:pPr>
            <a:r>
              <a:rPr lang="en-US" sz="2000" dirty="0"/>
              <a:t>Generally, drivers and factors include:</a:t>
            </a:r>
          </a:p>
          <a:p>
            <a:pPr marL="771525" lvl="1">
              <a:buFont typeface="Arial" panose="020B0604020202020204" pitchFamily="34" charset="0"/>
              <a:buChar char="•"/>
            </a:pPr>
            <a:r>
              <a:rPr lang="en-US" sz="1800" dirty="0">
                <a:latin typeface="Arial Narrow" panose="020B0606020202030204" pitchFamily="34" charset="0"/>
              </a:rPr>
              <a:t>Value of increased Design Professional and Contractor collaboration in design development process</a:t>
            </a:r>
          </a:p>
          <a:p>
            <a:pPr marL="771525" lvl="1">
              <a:buFont typeface="Arial" panose="020B0604020202020204" pitchFamily="34" charset="0"/>
              <a:buChar char="•"/>
            </a:pPr>
            <a:r>
              <a:rPr lang="en-US" sz="1800" dirty="0">
                <a:latin typeface="Arial Narrow" panose="020B0606020202030204" pitchFamily="34" charset="0"/>
              </a:rPr>
              <a:t>Advisability and benefits of timely Contractor input in design and constructability considerations</a:t>
            </a:r>
          </a:p>
          <a:p>
            <a:pPr marL="771525" lvl="1">
              <a:buFont typeface="Arial" panose="020B0604020202020204" pitchFamily="34" charset="0"/>
              <a:buChar char="•"/>
            </a:pPr>
            <a:r>
              <a:rPr lang="en-US" sz="1800" dirty="0">
                <a:latin typeface="Arial Narrow" panose="020B0606020202030204" pitchFamily="34" charset="0"/>
              </a:rPr>
              <a:t>Effective and efficient design often benefits when informed by relevant Contractor input</a:t>
            </a:r>
          </a:p>
          <a:p>
            <a:pPr marL="771525" lvl="1">
              <a:buFont typeface="Arial" panose="020B0604020202020204" pitchFamily="34" charset="0"/>
              <a:buChar char="•"/>
            </a:pPr>
            <a:r>
              <a:rPr lang="en-US" sz="1800" dirty="0">
                <a:latin typeface="Arial Narrow" panose="020B0606020202030204" pitchFamily="34" charset="0"/>
              </a:rPr>
              <a:t>Complex, specialized products and systems require specialized (delegated) designers with relevant expertise</a:t>
            </a:r>
          </a:p>
          <a:p>
            <a:endParaRPr lang="en-US" dirty="0"/>
          </a:p>
        </p:txBody>
      </p:sp>
      <p:sp>
        <p:nvSpPr>
          <p:cNvPr id="4" name="Slide Number Placeholder 3">
            <a:extLst>
              <a:ext uri="{FF2B5EF4-FFF2-40B4-BE49-F238E27FC236}">
                <a16:creationId xmlns:a16="http://schemas.microsoft.com/office/drawing/2014/main" id="{953757D8-EBE0-0545-DD18-D994CEB46AFC}"/>
              </a:ext>
            </a:extLst>
          </p:cNvPr>
          <p:cNvSpPr>
            <a:spLocks noGrp="1"/>
          </p:cNvSpPr>
          <p:nvPr>
            <p:ph type="sldNum" sz="quarter" idx="12"/>
          </p:nvPr>
        </p:nvSpPr>
        <p:spPr/>
        <p:txBody>
          <a:bodyPr/>
          <a:lstStyle/>
          <a:p>
            <a:fld id="{C857CEEC-B959-4A37-A10B-AE2FE373736E}" type="slidenum">
              <a:rPr lang="en-US" smtClean="0"/>
              <a:pPr/>
              <a:t>4</a:t>
            </a:fld>
            <a:endParaRPr lang="en-US" dirty="0"/>
          </a:p>
        </p:txBody>
      </p:sp>
    </p:spTree>
    <p:extLst>
      <p:ext uri="{BB962C8B-B14F-4D97-AF65-F5344CB8AC3E}">
        <p14:creationId xmlns:p14="http://schemas.microsoft.com/office/powerpoint/2010/main" val="1407558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9CE0B-39E5-8BAC-AA10-A4C221E2D2D0}"/>
              </a:ext>
            </a:extLst>
          </p:cNvPr>
          <p:cNvSpPr>
            <a:spLocks noGrp="1"/>
          </p:cNvSpPr>
          <p:nvPr>
            <p:ph type="title"/>
          </p:nvPr>
        </p:nvSpPr>
        <p:spPr/>
        <p:txBody>
          <a:bodyPr>
            <a:noAutofit/>
          </a:bodyPr>
          <a:lstStyle/>
          <a:p>
            <a:r>
              <a:rPr lang="en-US" sz="3200" dirty="0"/>
              <a:t>INTRODUCTION</a:t>
            </a:r>
            <a:br>
              <a:rPr lang="en-US" sz="3200" dirty="0"/>
            </a:br>
            <a:r>
              <a:rPr lang="en-US" sz="3200" dirty="0"/>
              <a:t>CONTRACTOR PERMANENT WORKS DESIGN INVOLVEMENT: DRIVERS AND FACTORS</a:t>
            </a:r>
          </a:p>
        </p:txBody>
      </p:sp>
      <p:sp>
        <p:nvSpPr>
          <p:cNvPr id="3" name="Content Placeholder 2">
            <a:extLst>
              <a:ext uri="{FF2B5EF4-FFF2-40B4-BE49-F238E27FC236}">
                <a16:creationId xmlns:a16="http://schemas.microsoft.com/office/drawing/2014/main" id="{E60348C9-9ECE-388B-C417-922A978BBAA7}"/>
              </a:ext>
            </a:extLst>
          </p:cNvPr>
          <p:cNvSpPr>
            <a:spLocks noGrp="1"/>
          </p:cNvSpPr>
          <p:nvPr>
            <p:ph idx="1"/>
          </p:nvPr>
        </p:nvSpPr>
        <p:spPr/>
        <p:txBody>
          <a:bodyPr/>
          <a:lstStyle/>
          <a:p>
            <a:pPr marL="214313" indent="-214313">
              <a:buFont typeface="Arial" panose="020B0604020202020204" pitchFamily="34" charset="0"/>
              <a:buChar char="•"/>
            </a:pPr>
            <a:r>
              <a:rPr lang="en-US" sz="2000" dirty="0"/>
              <a:t>Timely Contractor involvement in design promotes realistic pricing and contingency decisions; and more balanced transparent and informed risk allocation</a:t>
            </a:r>
          </a:p>
          <a:p>
            <a:pPr marL="214313" indent="-214313">
              <a:buFont typeface="Arial" panose="020B0604020202020204" pitchFamily="34" charset="0"/>
              <a:buChar char="•"/>
            </a:pPr>
            <a:r>
              <a:rPr lang="en-US" sz="2000" dirty="0"/>
              <a:t>Assignment of design responsibility to the Contractor in Design-Build provides Owners with opportunities for:</a:t>
            </a:r>
          </a:p>
          <a:p>
            <a:pPr marL="771525" lvl="1">
              <a:buFont typeface="Arial" panose="020B0604020202020204" pitchFamily="34" charset="0"/>
              <a:buChar char="•"/>
            </a:pPr>
            <a:r>
              <a:rPr lang="en-US" sz="1800" dirty="0">
                <a:latin typeface="Arial Narrow" panose="020B0606020202030204" pitchFamily="34" charset="0"/>
              </a:rPr>
              <a:t>Single point design and construction responsibility assigned to the Contractor</a:t>
            </a:r>
          </a:p>
          <a:p>
            <a:pPr marL="771525" lvl="1">
              <a:buFont typeface="Arial" panose="020B0604020202020204" pitchFamily="34" charset="0"/>
              <a:buChar char="•"/>
            </a:pPr>
            <a:r>
              <a:rPr lang="en-US" sz="1800" dirty="0">
                <a:latin typeface="Arial Narrow" panose="020B0606020202030204" pitchFamily="34" charset="0"/>
              </a:rPr>
              <a:t>Significant cost/schedule risk containment</a:t>
            </a:r>
          </a:p>
          <a:p>
            <a:pPr marL="771525" lvl="1">
              <a:buFont typeface="Arial" panose="020B0604020202020204" pitchFamily="34" charset="0"/>
              <a:buChar char="•"/>
            </a:pPr>
            <a:r>
              <a:rPr lang="en-US" sz="1800" dirty="0">
                <a:latin typeface="Arial Narrow" panose="020B0606020202030204" pitchFamily="34" charset="0"/>
              </a:rPr>
              <a:t>Substantial risk transfer to the Contractor</a:t>
            </a:r>
            <a:endParaRPr lang="en-US" dirty="0"/>
          </a:p>
        </p:txBody>
      </p:sp>
      <p:sp>
        <p:nvSpPr>
          <p:cNvPr id="4" name="Slide Number Placeholder 3">
            <a:extLst>
              <a:ext uri="{FF2B5EF4-FFF2-40B4-BE49-F238E27FC236}">
                <a16:creationId xmlns:a16="http://schemas.microsoft.com/office/drawing/2014/main" id="{3F5BD236-79C0-4914-8E1E-B2C0D4EEE061}"/>
              </a:ext>
            </a:extLst>
          </p:cNvPr>
          <p:cNvSpPr>
            <a:spLocks noGrp="1"/>
          </p:cNvSpPr>
          <p:nvPr>
            <p:ph type="sldNum" sz="quarter" idx="12"/>
          </p:nvPr>
        </p:nvSpPr>
        <p:spPr/>
        <p:txBody>
          <a:bodyPr/>
          <a:lstStyle/>
          <a:p>
            <a:fld id="{C857CEEC-B959-4A37-A10B-AE2FE373736E}" type="slidenum">
              <a:rPr lang="en-US" smtClean="0"/>
              <a:pPr/>
              <a:t>5</a:t>
            </a:fld>
            <a:endParaRPr lang="en-US" dirty="0"/>
          </a:p>
        </p:txBody>
      </p:sp>
    </p:spTree>
    <p:extLst>
      <p:ext uri="{BB962C8B-B14F-4D97-AF65-F5344CB8AC3E}">
        <p14:creationId xmlns:p14="http://schemas.microsoft.com/office/powerpoint/2010/main" val="3562274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70777-EB00-0DBC-6730-AC9B6C55513E}"/>
              </a:ext>
            </a:extLst>
          </p:cNvPr>
          <p:cNvSpPr>
            <a:spLocks noGrp="1"/>
          </p:cNvSpPr>
          <p:nvPr>
            <p:ph type="title"/>
          </p:nvPr>
        </p:nvSpPr>
        <p:spPr/>
        <p:txBody>
          <a:bodyPr>
            <a:noAutofit/>
          </a:bodyPr>
          <a:lstStyle/>
          <a:p>
            <a:r>
              <a:rPr lang="en-US" sz="3200" dirty="0"/>
              <a:t>INTRODUCTION</a:t>
            </a:r>
            <a:br>
              <a:rPr lang="en-US" sz="3200" dirty="0"/>
            </a:br>
            <a:r>
              <a:rPr lang="en-US" sz="3200" dirty="0"/>
              <a:t>Roles, Responsibilities and Risks</a:t>
            </a:r>
          </a:p>
        </p:txBody>
      </p:sp>
      <p:sp>
        <p:nvSpPr>
          <p:cNvPr id="3" name="Content Placeholder 2">
            <a:extLst>
              <a:ext uri="{FF2B5EF4-FFF2-40B4-BE49-F238E27FC236}">
                <a16:creationId xmlns:a16="http://schemas.microsoft.com/office/drawing/2014/main" id="{C8B2E1C3-68CB-BBF1-0CB0-61E57DD67E52}"/>
              </a:ext>
            </a:extLst>
          </p:cNvPr>
          <p:cNvSpPr>
            <a:spLocks noGrp="1"/>
          </p:cNvSpPr>
          <p:nvPr>
            <p:ph idx="1"/>
          </p:nvPr>
        </p:nvSpPr>
        <p:spPr/>
        <p:txBody>
          <a:bodyPr>
            <a:normAutofit fontScale="92500" lnSpcReduction="20000"/>
          </a:bodyPr>
          <a:lstStyle/>
          <a:p>
            <a:pPr marL="0" indent="0">
              <a:spcAft>
                <a:spcPts val="450"/>
              </a:spcAft>
              <a:buNone/>
            </a:pPr>
            <a:r>
              <a:rPr lang="en-US" b="1" u="sng" dirty="0"/>
              <a:t>Critical Questions</a:t>
            </a:r>
          </a:p>
          <a:p>
            <a:pPr marL="285750" indent="-285750">
              <a:spcAft>
                <a:spcPts val="450"/>
              </a:spcAft>
            </a:pPr>
            <a:r>
              <a:rPr lang="en-US" b="1" dirty="0"/>
              <a:t>Design Roles</a:t>
            </a:r>
            <a:r>
              <a:rPr lang="en-US" dirty="0"/>
              <a:t>:  </a:t>
            </a:r>
            <a:r>
              <a:rPr lang="en-US" u="sng" dirty="0"/>
              <a:t>Who</a:t>
            </a:r>
            <a:r>
              <a:rPr lang="en-US" dirty="0"/>
              <a:t> will be providing design-related services and </a:t>
            </a:r>
            <a:r>
              <a:rPr lang="en-US" u="sng" dirty="0"/>
              <a:t>what</a:t>
            </a:r>
            <a:r>
              <a:rPr lang="en-US" dirty="0"/>
              <a:t> is the scope of those services?</a:t>
            </a:r>
          </a:p>
          <a:p>
            <a:pPr marL="0" indent="0">
              <a:spcAft>
                <a:spcPts val="450"/>
              </a:spcAft>
              <a:buNone/>
            </a:pPr>
            <a:endParaRPr lang="en-US" sz="800" dirty="0"/>
          </a:p>
          <a:p>
            <a:pPr marL="285750" indent="-285750">
              <a:spcAft>
                <a:spcPts val="450"/>
              </a:spcAft>
            </a:pPr>
            <a:r>
              <a:rPr lang="en-US" b="1" dirty="0"/>
              <a:t>Design Responsibilities</a:t>
            </a:r>
            <a:r>
              <a:rPr lang="en-US" dirty="0"/>
              <a:t>:  </a:t>
            </a:r>
            <a:r>
              <a:rPr lang="en-US" u="sng" dirty="0"/>
              <a:t>Who</a:t>
            </a:r>
            <a:r>
              <a:rPr lang="en-US" dirty="0"/>
              <a:t> has contractual and/or professional responsibility for the adequacy of design and for </a:t>
            </a:r>
            <a:r>
              <a:rPr lang="en-US" u="sng" dirty="0"/>
              <a:t>what</a:t>
            </a:r>
            <a:r>
              <a:rPr lang="en-US" dirty="0"/>
              <a:t> portions of the design?</a:t>
            </a:r>
          </a:p>
          <a:p>
            <a:pPr marL="0" indent="0">
              <a:spcAft>
                <a:spcPts val="450"/>
              </a:spcAft>
              <a:buNone/>
            </a:pPr>
            <a:endParaRPr lang="en-US" sz="800" dirty="0"/>
          </a:p>
          <a:p>
            <a:pPr marL="285750" indent="-285750">
              <a:spcAft>
                <a:spcPts val="450"/>
              </a:spcAft>
            </a:pPr>
            <a:r>
              <a:rPr lang="en-US" b="1" dirty="0"/>
              <a:t>Design Risk Allocation</a:t>
            </a:r>
            <a:r>
              <a:rPr lang="en-US" dirty="0"/>
              <a:t>:  </a:t>
            </a:r>
            <a:r>
              <a:rPr lang="en-US" u="sng" dirty="0"/>
              <a:t>Who</a:t>
            </a:r>
            <a:r>
              <a:rPr lang="en-US" dirty="0"/>
              <a:t> has been allocated the risk for design inadequacies or deficiencies and for </a:t>
            </a:r>
            <a:r>
              <a:rPr lang="en-US" u="sng" dirty="0"/>
              <a:t>what</a:t>
            </a:r>
            <a:r>
              <a:rPr lang="en-US" dirty="0"/>
              <a:t> portions of the design?</a:t>
            </a:r>
          </a:p>
          <a:p>
            <a:pPr marL="0" indent="0">
              <a:spcBef>
                <a:spcPts val="600"/>
              </a:spcBef>
              <a:buNone/>
            </a:pPr>
            <a:r>
              <a:rPr lang="en-US" sz="2000" i="1" dirty="0"/>
              <a:t>Note</a:t>
            </a:r>
            <a:r>
              <a:rPr lang="en-US" sz="2000" dirty="0"/>
              <a:t>:  “Design” refers to design of </a:t>
            </a:r>
            <a:r>
              <a:rPr lang="en-US" sz="2000" b="1" dirty="0"/>
              <a:t>permanent project work</a:t>
            </a:r>
            <a:r>
              <a:rPr lang="en-US" sz="2000" dirty="0"/>
              <a:t>, as distinct from design of construction means, methods, or temporary or incidental work.</a:t>
            </a:r>
            <a:endParaRPr lang="en-US" sz="2000" u="sng" dirty="0"/>
          </a:p>
          <a:p>
            <a:endParaRPr lang="en-US" dirty="0"/>
          </a:p>
        </p:txBody>
      </p:sp>
      <p:sp>
        <p:nvSpPr>
          <p:cNvPr id="4" name="Slide Number Placeholder 3">
            <a:extLst>
              <a:ext uri="{FF2B5EF4-FFF2-40B4-BE49-F238E27FC236}">
                <a16:creationId xmlns:a16="http://schemas.microsoft.com/office/drawing/2014/main" id="{D3901CA8-63FD-735F-B857-C770D551AB23}"/>
              </a:ext>
            </a:extLst>
          </p:cNvPr>
          <p:cNvSpPr>
            <a:spLocks noGrp="1"/>
          </p:cNvSpPr>
          <p:nvPr>
            <p:ph type="sldNum" sz="quarter" idx="12"/>
          </p:nvPr>
        </p:nvSpPr>
        <p:spPr/>
        <p:txBody>
          <a:bodyPr/>
          <a:lstStyle/>
          <a:p>
            <a:fld id="{C857CEEC-B959-4A37-A10B-AE2FE373736E}" type="slidenum">
              <a:rPr lang="en-US" smtClean="0"/>
              <a:pPr/>
              <a:t>6</a:t>
            </a:fld>
            <a:endParaRPr lang="en-US" dirty="0"/>
          </a:p>
        </p:txBody>
      </p:sp>
    </p:spTree>
    <p:extLst>
      <p:ext uri="{BB962C8B-B14F-4D97-AF65-F5344CB8AC3E}">
        <p14:creationId xmlns:p14="http://schemas.microsoft.com/office/powerpoint/2010/main" val="6140112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18855-6FD3-E10C-1CC3-66FAABE37B42}"/>
              </a:ext>
            </a:extLst>
          </p:cNvPr>
          <p:cNvSpPr>
            <a:spLocks noGrp="1"/>
          </p:cNvSpPr>
          <p:nvPr>
            <p:ph type="title"/>
          </p:nvPr>
        </p:nvSpPr>
        <p:spPr/>
        <p:txBody>
          <a:bodyPr>
            <a:normAutofit fontScale="90000"/>
          </a:bodyPr>
          <a:lstStyle/>
          <a:p>
            <a:r>
              <a:rPr lang="en-US" sz="3200" dirty="0"/>
              <a:t>INTRODUCTION</a:t>
            </a:r>
            <a:br>
              <a:rPr lang="en-US" sz="3200" dirty="0"/>
            </a:br>
            <a:r>
              <a:rPr lang="en-US" sz="3200" dirty="0"/>
              <a:t>BASIC DISTINCTIONS AND DELINEATIONS AS TO CONTRACTOR DESIGN INVOLVEMENT</a:t>
            </a:r>
          </a:p>
        </p:txBody>
      </p:sp>
      <p:sp>
        <p:nvSpPr>
          <p:cNvPr id="3" name="Content Placeholder 2">
            <a:extLst>
              <a:ext uri="{FF2B5EF4-FFF2-40B4-BE49-F238E27FC236}">
                <a16:creationId xmlns:a16="http://schemas.microsoft.com/office/drawing/2014/main" id="{3768FC50-7EE3-C408-972D-890D165A3398}"/>
              </a:ext>
            </a:extLst>
          </p:cNvPr>
          <p:cNvSpPr>
            <a:spLocks noGrp="1"/>
          </p:cNvSpPr>
          <p:nvPr>
            <p:ph idx="1"/>
          </p:nvPr>
        </p:nvSpPr>
        <p:spPr/>
        <p:txBody>
          <a:bodyPr/>
          <a:lstStyle/>
          <a:p>
            <a:pPr marL="214313" indent="-214313">
              <a:buFont typeface="Arial" panose="020B0604020202020204" pitchFamily="34" charset="0"/>
              <a:buChar char="•"/>
            </a:pPr>
            <a:r>
              <a:rPr lang="en-US" sz="2800" dirty="0"/>
              <a:t>Whether the Contractor is merely providing input to influence final design development </a:t>
            </a:r>
            <a:r>
              <a:rPr lang="en-US" sz="2800" b="1" dirty="0"/>
              <a:t>or</a:t>
            </a:r>
            <a:r>
              <a:rPr lang="en-US" sz="2800" dirty="0"/>
              <a:t> is undertaking professional and contractual responsibility for some portion or all of the final design</a:t>
            </a:r>
          </a:p>
          <a:p>
            <a:pPr marL="214313" indent="-214313">
              <a:buFont typeface="Arial" panose="020B0604020202020204" pitchFamily="34" charset="0"/>
              <a:buChar char="•"/>
            </a:pPr>
            <a:r>
              <a:rPr lang="en-US" sz="2800" dirty="0"/>
              <a:t>Relevant design responsibility and risk allocation contractual terms among primary project participants</a:t>
            </a:r>
          </a:p>
          <a:p>
            <a:pPr marL="214313" indent="-214313">
              <a:buFont typeface="Arial" panose="020B0604020202020204" pitchFamily="34" charset="0"/>
              <a:buChar char="•"/>
            </a:pPr>
            <a:r>
              <a:rPr lang="en-US" sz="2800" dirty="0"/>
              <a:t>Potential application of implied warranty of design adequacy (</a:t>
            </a:r>
            <a:r>
              <a:rPr lang="en-US" sz="2800" u="sng" dirty="0" err="1"/>
              <a:t>Spearin</a:t>
            </a:r>
            <a:r>
              <a:rPr lang="en-US" sz="2800" dirty="0"/>
              <a:t>) principle</a:t>
            </a:r>
          </a:p>
          <a:p>
            <a:endParaRPr lang="en-US" dirty="0"/>
          </a:p>
        </p:txBody>
      </p:sp>
      <p:sp>
        <p:nvSpPr>
          <p:cNvPr id="4" name="Slide Number Placeholder 3">
            <a:extLst>
              <a:ext uri="{FF2B5EF4-FFF2-40B4-BE49-F238E27FC236}">
                <a16:creationId xmlns:a16="http://schemas.microsoft.com/office/drawing/2014/main" id="{9E4AE2B3-755C-15A4-8708-18CF0FFEC87E}"/>
              </a:ext>
            </a:extLst>
          </p:cNvPr>
          <p:cNvSpPr>
            <a:spLocks noGrp="1"/>
          </p:cNvSpPr>
          <p:nvPr>
            <p:ph type="sldNum" sz="quarter" idx="12"/>
          </p:nvPr>
        </p:nvSpPr>
        <p:spPr/>
        <p:txBody>
          <a:bodyPr/>
          <a:lstStyle/>
          <a:p>
            <a:fld id="{C857CEEC-B959-4A37-A10B-AE2FE373736E}" type="slidenum">
              <a:rPr lang="en-US" smtClean="0"/>
              <a:pPr/>
              <a:t>7</a:t>
            </a:fld>
            <a:endParaRPr lang="en-US" dirty="0"/>
          </a:p>
        </p:txBody>
      </p:sp>
    </p:spTree>
    <p:extLst>
      <p:ext uri="{BB962C8B-B14F-4D97-AF65-F5344CB8AC3E}">
        <p14:creationId xmlns:p14="http://schemas.microsoft.com/office/powerpoint/2010/main" val="251356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279FD-F594-3FEA-3E19-E4E54B92FB99}"/>
              </a:ext>
            </a:extLst>
          </p:cNvPr>
          <p:cNvSpPr>
            <a:spLocks noGrp="1"/>
          </p:cNvSpPr>
          <p:nvPr>
            <p:ph type="title"/>
          </p:nvPr>
        </p:nvSpPr>
        <p:spPr/>
        <p:txBody>
          <a:bodyPr>
            <a:noAutofit/>
          </a:bodyPr>
          <a:lstStyle/>
          <a:p>
            <a:r>
              <a:rPr lang="en-US" sz="3200" dirty="0"/>
              <a:t>INTRODUCTION</a:t>
            </a:r>
            <a:br>
              <a:rPr lang="en-US" sz="3200" dirty="0"/>
            </a:br>
            <a:r>
              <a:rPr lang="en-US" sz="3200" dirty="0"/>
              <a:t>LEGAL ISSUES PERTAINING TO CONTRACTOR DESIGN INVOLVEMENT</a:t>
            </a:r>
          </a:p>
        </p:txBody>
      </p:sp>
      <p:sp>
        <p:nvSpPr>
          <p:cNvPr id="3" name="Content Placeholder 2">
            <a:extLst>
              <a:ext uri="{FF2B5EF4-FFF2-40B4-BE49-F238E27FC236}">
                <a16:creationId xmlns:a16="http://schemas.microsoft.com/office/drawing/2014/main" id="{5FFDE73E-99F6-D530-04BC-A8948AA25686}"/>
              </a:ext>
            </a:extLst>
          </p:cNvPr>
          <p:cNvSpPr>
            <a:spLocks noGrp="1"/>
          </p:cNvSpPr>
          <p:nvPr>
            <p:ph idx="1"/>
          </p:nvPr>
        </p:nvSpPr>
        <p:spPr/>
        <p:txBody>
          <a:bodyPr>
            <a:normAutofit fontScale="85000" lnSpcReduction="20000"/>
          </a:bodyPr>
          <a:lstStyle/>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Lack of clarity, inconsistencies, and “gaps” in contractual assignment of design responsibility</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Integration/interface design risk arising from distribution of design services among several project participants</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Design responsibility fragmentation risk</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Design responsibility fragmentation risk</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Project participant practices</a:t>
            </a:r>
          </a:p>
          <a:p>
            <a:pPr marL="914400" lvl="2" indent="-342900">
              <a:buSzPts val="1800"/>
              <a:buFont typeface="Oswald"/>
              <a:buChar char="●"/>
            </a:pPr>
            <a:r>
              <a:rPr lang="en-US" sz="1800" dirty="0">
                <a:solidFill>
                  <a:schemeClr val="dk2"/>
                </a:solidFill>
                <a:latin typeface="Arial Narrow" panose="020B0606020202030204" pitchFamily="34" charset="0"/>
                <a:sym typeface="Oswald"/>
              </a:rPr>
              <a:t>Level of design development</a:t>
            </a:r>
          </a:p>
          <a:p>
            <a:pPr marL="914400" lvl="2" indent="-342900">
              <a:buSzPts val="1800"/>
              <a:buFont typeface="Oswald"/>
              <a:buChar char="●"/>
            </a:pPr>
            <a:r>
              <a:rPr lang="en-US" sz="1800" dirty="0">
                <a:solidFill>
                  <a:schemeClr val="dk2"/>
                </a:solidFill>
                <a:latin typeface="Arial Narrow" panose="020B0606020202030204" pitchFamily="34" charset="0"/>
                <a:sym typeface="Oswald"/>
              </a:rPr>
              <a:t>Degree of design prescription</a:t>
            </a:r>
          </a:p>
          <a:p>
            <a:pPr marL="914400" lvl="2" indent="-342900">
              <a:buSzPts val="1800"/>
              <a:buFont typeface="Oswald"/>
              <a:buChar char="●"/>
            </a:pPr>
            <a:r>
              <a:rPr lang="en-US" sz="1800" dirty="0">
                <a:solidFill>
                  <a:schemeClr val="dk2"/>
                </a:solidFill>
                <a:latin typeface="Arial Narrow" panose="020B0606020202030204" pitchFamily="34" charset="0"/>
                <a:sym typeface="Oswald"/>
              </a:rPr>
              <a:t>Extent of review of Contractor’s design submittals</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Displacement of contractual terms by irreconcilable conduct/performance of project participants</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Control principle and design risk allocation imbalances</a:t>
            </a:r>
          </a:p>
          <a:p>
            <a:pPr marL="457200"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Applicability of implied warranty principle</a:t>
            </a:r>
          </a:p>
          <a:p>
            <a:pPr marL="457200" indent="-342900">
              <a:lnSpc>
                <a:spcPct val="115000"/>
              </a:lnSpc>
              <a:buClr>
                <a:schemeClr val="dk2"/>
              </a:buClr>
              <a:buSzPts val="1800"/>
              <a:buFont typeface="Oswald"/>
              <a:buChar char="●"/>
            </a:pPr>
            <a:endParaRPr lang="en-US" sz="1800" dirty="0">
              <a:solidFill>
                <a:schemeClr val="dk2"/>
              </a:solidFill>
              <a:latin typeface="Arial Narrow" panose="020B0606020202030204" pitchFamily="34" charset="0"/>
              <a:sym typeface="Oswald"/>
            </a:endParaRPr>
          </a:p>
          <a:p>
            <a:pPr marL="457200" indent="-342900">
              <a:lnSpc>
                <a:spcPct val="115000"/>
              </a:lnSpc>
              <a:buClr>
                <a:schemeClr val="dk2"/>
              </a:buClr>
              <a:buSzPts val="1800"/>
              <a:buFont typeface="Oswald"/>
              <a:buChar char="●"/>
            </a:pPr>
            <a:r>
              <a:rPr lang="en-US" sz="1800" u="sng" dirty="0">
                <a:solidFill>
                  <a:schemeClr val="dk2"/>
                </a:solidFill>
                <a:latin typeface="Arial Narrow" panose="020B0606020202030204" pitchFamily="34" charset="0"/>
                <a:sym typeface="Oswald"/>
              </a:rPr>
              <a:t>See </a:t>
            </a:r>
            <a:r>
              <a:rPr lang="en-US" sz="1800" dirty="0">
                <a:solidFill>
                  <a:schemeClr val="dk2"/>
                </a:solidFill>
                <a:latin typeface="Arial Narrow" panose="020B0606020202030204" pitchFamily="34" charset="0"/>
                <a:sym typeface="Oswald"/>
              </a:rPr>
              <a:t>J. Heusinger, Ambiguity Breeds Conflict:  The Importance of Defining “Design Assist” in the Construction Industry, </a:t>
            </a:r>
            <a:r>
              <a:rPr lang="en-US" sz="1800" u="sng" dirty="0">
                <a:solidFill>
                  <a:schemeClr val="dk2"/>
                </a:solidFill>
                <a:latin typeface="Arial Narrow" panose="020B0606020202030204" pitchFamily="34" charset="0"/>
                <a:sym typeface="Oswald"/>
              </a:rPr>
              <a:t>The American College of Construction Lawyers Journal</a:t>
            </a:r>
            <a:r>
              <a:rPr lang="en-US" sz="1800" dirty="0">
                <a:solidFill>
                  <a:schemeClr val="dk2"/>
                </a:solidFill>
                <a:latin typeface="Arial Narrow" panose="020B0606020202030204" pitchFamily="34" charset="0"/>
                <a:sym typeface="Oswald"/>
              </a:rPr>
              <a:t>, Vol. II, Issue 1 (Winter 2017)</a:t>
            </a:r>
          </a:p>
          <a:p>
            <a:endParaRPr lang="en-US" dirty="0"/>
          </a:p>
        </p:txBody>
      </p:sp>
      <p:sp>
        <p:nvSpPr>
          <p:cNvPr id="4" name="Slide Number Placeholder 3">
            <a:extLst>
              <a:ext uri="{FF2B5EF4-FFF2-40B4-BE49-F238E27FC236}">
                <a16:creationId xmlns:a16="http://schemas.microsoft.com/office/drawing/2014/main" id="{315EE608-4F05-393B-6E65-91D56686419D}"/>
              </a:ext>
            </a:extLst>
          </p:cNvPr>
          <p:cNvSpPr>
            <a:spLocks noGrp="1"/>
          </p:cNvSpPr>
          <p:nvPr>
            <p:ph type="sldNum" sz="quarter" idx="12"/>
          </p:nvPr>
        </p:nvSpPr>
        <p:spPr/>
        <p:txBody>
          <a:bodyPr/>
          <a:lstStyle/>
          <a:p>
            <a:fld id="{C857CEEC-B959-4A37-A10B-AE2FE373736E}" type="slidenum">
              <a:rPr lang="en-US" smtClean="0"/>
              <a:pPr/>
              <a:t>8</a:t>
            </a:fld>
            <a:endParaRPr lang="en-US" dirty="0"/>
          </a:p>
        </p:txBody>
      </p:sp>
    </p:spTree>
    <p:extLst>
      <p:ext uri="{BB962C8B-B14F-4D97-AF65-F5344CB8AC3E}">
        <p14:creationId xmlns:p14="http://schemas.microsoft.com/office/powerpoint/2010/main" val="355613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5B18-B054-59FB-3D12-21BFD1ADD062}"/>
              </a:ext>
            </a:extLst>
          </p:cNvPr>
          <p:cNvSpPr>
            <a:spLocks noGrp="1"/>
          </p:cNvSpPr>
          <p:nvPr>
            <p:ph type="title"/>
          </p:nvPr>
        </p:nvSpPr>
        <p:spPr/>
        <p:txBody>
          <a:bodyPr/>
          <a:lstStyle/>
          <a:p>
            <a:r>
              <a:rPr lang="en-US" dirty="0"/>
              <a:t>INTRODUCTION</a:t>
            </a:r>
            <a:br>
              <a:rPr lang="en-US" dirty="0"/>
            </a:br>
            <a:r>
              <a:rPr lang="en-US" dirty="0"/>
              <a:t>DESIGN ADEQUACY RISK CONTINUUM</a:t>
            </a:r>
          </a:p>
        </p:txBody>
      </p:sp>
      <p:sp>
        <p:nvSpPr>
          <p:cNvPr id="4" name="Slide Number Placeholder 3">
            <a:extLst>
              <a:ext uri="{FF2B5EF4-FFF2-40B4-BE49-F238E27FC236}">
                <a16:creationId xmlns:a16="http://schemas.microsoft.com/office/drawing/2014/main" id="{40575E16-B8DE-3B3C-6F25-940129C54286}"/>
              </a:ext>
            </a:extLst>
          </p:cNvPr>
          <p:cNvSpPr>
            <a:spLocks noGrp="1"/>
          </p:cNvSpPr>
          <p:nvPr>
            <p:ph type="sldNum" sz="quarter" idx="12"/>
          </p:nvPr>
        </p:nvSpPr>
        <p:spPr/>
        <p:txBody>
          <a:bodyPr/>
          <a:lstStyle/>
          <a:p>
            <a:fld id="{C857CEEC-B959-4A37-A10B-AE2FE373736E}" type="slidenum">
              <a:rPr lang="en-US" smtClean="0"/>
              <a:pPr/>
              <a:t>9</a:t>
            </a:fld>
            <a:endParaRPr lang="en-US" dirty="0"/>
          </a:p>
        </p:txBody>
      </p:sp>
      <p:sp>
        <p:nvSpPr>
          <p:cNvPr id="5" name="TextBox 4">
            <a:extLst>
              <a:ext uri="{FF2B5EF4-FFF2-40B4-BE49-F238E27FC236}">
                <a16:creationId xmlns:a16="http://schemas.microsoft.com/office/drawing/2014/main" id="{32D6AFA3-D09E-C939-000D-ADD19438AD97}"/>
              </a:ext>
            </a:extLst>
          </p:cNvPr>
          <p:cNvSpPr txBox="1"/>
          <p:nvPr/>
        </p:nvSpPr>
        <p:spPr>
          <a:xfrm>
            <a:off x="3236807" y="2049829"/>
            <a:ext cx="5486400" cy="646331"/>
          </a:xfrm>
          <a:prstGeom prst="rect">
            <a:avLst/>
          </a:prstGeom>
          <a:noFill/>
        </p:spPr>
        <p:txBody>
          <a:bodyPr wrap="square" rtlCol="0">
            <a:spAutoFit/>
          </a:bodyPr>
          <a:lstStyle/>
          <a:p>
            <a:pPr algn="ctr">
              <a:buClr>
                <a:srgbClr val="51312D"/>
              </a:buClr>
              <a:buSzPts val="2300"/>
            </a:pPr>
            <a:r>
              <a:rPr lang="en-US" sz="3600" b="1" dirty="0">
                <a:solidFill>
                  <a:srgbClr val="4E738A"/>
                </a:solidFill>
                <a:latin typeface="Arial Narrow" panose="020B0606020202030204" pitchFamily="34" charset="0"/>
                <a:sym typeface="Oswald"/>
              </a:rPr>
              <a:t>Design Adequacy Risk</a:t>
            </a:r>
          </a:p>
        </p:txBody>
      </p:sp>
      <p:sp>
        <p:nvSpPr>
          <p:cNvPr id="6" name="TextBox 5">
            <a:extLst>
              <a:ext uri="{FF2B5EF4-FFF2-40B4-BE49-F238E27FC236}">
                <a16:creationId xmlns:a16="http://schemas.microsoft.com/office/drawing/2014/main" id="{CB739D64-2B22-53CF-7752-CDAA36EDEE84}"/>
              </a:ext>
            </a:extLst>
          </p:cNvPr>
          <p:cNvSpPr txBox="1"/>
          <p:nvPr/>
        </p:nvSpPr>
        <p:spPr>
          <a:xfrm>
            <a:off x="2650994" y="2785269"/>
            <a:ext cx="1396661" cy="523220"/>
          </a:xfrm>
          <a:prstGeom prst="rect">
            <a:avLst/>
          </a:prstGeom>
          <a:noFill/>
        </p:spPr>
        <p:txBody>
          <a:bodyPr wrap="square" rtlCol="0">
            <a:spAutoFit/>
          </a:bodyPr>
          <a:lstStyle/>
          <a:p>
            <a:r>
              <a:rPr lang="en-US" sz="2800" dirty="0">
                <a:latin typeface="Arial Narrow" panose="020B0606020202030204" pitchFamily="34" charset="0"/>
              </a:rPr>
              <a:t>Owner</a:t>
            </a:r>
          </a:p>
        </p:txBody>
      </p:sp>
      <p:cxnSp>
        <p:nvCxnSpPr>
          <p:cNvPr id="7" name="Straight Arrow Connector 6">
            <a:extLst>
              <a:ext uri="{FF2B5EF4-FFF2-40B4-BE49-F238E27FC236}">
                <a16:creationId xmlns:a16="http://schemas.microsoft.com/office/drawing/2014/main" id="{333FF320-806C-F70A-E8F8-119E951F24A1}"/>
              </a:ext>
            </a:extLst>
          </p:cNvPr>
          <p:cNvCxnSpPr>
            <a:cxnSpLocks/>
          </p:cNvCxnSpPr>
          <p:nvPr/>
        </p:nvCxnSpPr>
        <p:spPr>
          <a:xfrm flipH="1">
            <a:off x="1468880" y="3330576"/>
            <a:ext cx="33657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17DE17A-7145-E25B-8FAE-1A8747D83FA7}"/>
              </a:ext>
            </a:extLst>
          </p:cNvPr>
          <p:cNvCxnSpPr>
            <a:cxnSpLocks/>
          </p:cNvCxnSpPr>
          <p:nvPr/>
        </p:nvCxnSpPr>
        <p:spPr>
          <a:xfrm>
            <a:off x="7422204" y="3330576"/>
            <a:ext cx="33754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Table 8">
            <a:extLst>
              <a:ext uri="{FF2B5EF4-FFF2-40B4-BE49-F238E27FC236}">
                <a16:creationId xmlns:a16="http://schemas.microsoft.com/office/drawing/2014/main" id="{D044D31A-6AB4-1671-A02C-005671A8BA9C}"/>
              </a:ext>
            </a:extLst>
          </p:cNvPr>
          <p:cNvGraphicFramePr>
            <a:graphicFrameLocks noGrp="1"/>
          </p:cNvGraphicFramePr>
          <p:nvPr>
            <p:extLst>
              <p:ext uri="{D42A27DB-BD31-4B8C-83A1-F6EECF244321}">
                <p14:modId xmlns:p14="http://schemas.microsoft.com/office/powerpoint/2010/main" val="3805147226"/>
              </p:ext>
            </p:extLst>
          </p:nvPr>
        </p:nvGraphicFramePr>
        <p:xfrm>
          <a:off x="1157591" y="4278086"/>
          <a:ext cx="9854118" cy="982980"/>
        </p:xfrm>
        <a:graphic>
          <a:graphicData uri="http://schemas.openxmlformats.org/drawingml/2006/table">
            <a:tbl>
              <a:tblPr firstRow="1" bandRow="1">
                <a:tableStyleId>{5C22544A-7EE6-4342-B048-85BDC9FD1C3A}</a:tableStyleId>
              </a:tblPr>
              <a:tblGrid>
                <a:gridCol w="1642353">
                  <a:extLst>
                    <a:ext uri="{9D8B030D-6E8A-4147-A177-3AD203B41FA5}">
                      <a16:colId xmlns:a16="http://schemas.microsoft.com/office/drawing/2014/main" val="3594771288"/>
                    </a:ext>
                  </a:extLst>
                </a:gridCol>
                <a:gridCol w="1642353">
                  <a:extLst>
                    <a:ext uri="{9D8B030D-6E8A-4147-A177-3AD203B41FA5}">
                      <a16:colId xmlns:a16="http://schemas.microsoft.com/office/drawing/2014/main" val="3002478170"/>
                    </a:ext>
                  </a:extLst>
                </a:gridCol>
                <a:gridCol w="1642353">
                  <a:extLst>
                    <a:ext uri="{9D8B030D-6E8A-4147-A177-3AD203B41FA5}">
                      <a16:colId xmlns:a16="http://schemas.microsoft.com/office/drawing/2014/main" val="2636949456"/>
                    </a:ext>
                  </a:extLst>
                </a:gridCol>
                <a:gridCol w="1642353">
                  <a:extLst>
                    <a:ext uri="{9D8B030D-6E8A-4147-A177-3AD203B41FA5}">
                      <a16:colId xmlns:a16="http://schemas.microsoft.com/office/drawing/2014/main" val="288065425"/>
                    </a:ext>
                  </a:extLst>
                </a:gridCol>
                <a:gridCol w="1642353">
                  <a:extLst>
                    <a:ext uri="{9D8B030D-6E8A-4147-A177-3AD203B41FA5}">
                      <a16:colId xmlns:a16="http://schemas.microsoft.com/office/drawing/2014/main" val="548690086"/>
                    </a:ext>
                  </a:extLst>
                </a:gridCol>
                <a:gridCol w="1642353">
                  <a:extLst>
                    <a:ext uri="{9D8B030D-6E8A-4147-A177-3AD203B41FA5}">
                      <a16:colId xmlns:a16="http://schemas.microsoft.com/office/drawing/2014/main" val="297265104"/>
                    </a:ext>
                  </a:extLst>
                </a:gridCol>
              </a:tblGrid>
              <a:tr h="947057">
                <a:tc>
                  <a:txBody>
                    <a:bodyPr/>
                    <a:lstStyle/>
                    <a:p>
                      <a:pPr algn="ctr"/>
                      <a:r>
                        <a:rPr lang="en-US" sz="2000" dirty="0">
                          <a:solidFill>
                            <a:srgbClr val="4E738A"/>
                          </a:solidFill>
                          <a:latin typeface="Arial Narrow" panose="020B0606020202030204" pitchFamily="34" charset="0"/>
                        </a:rPr>
                        <a:t>Conventional</a:t>
                      </a:r>
                    </a:p>
                    <a:p>
                      <a:pPr algn="ctr"/>
                      <a:r>
                        <a:rPr lang="en-US" sz="2000" dirty="0">
                          <a:solidFill>
                            <a:srgbClr val="4E738A"/>
                          </a:solidFill>
                          <a:latin typeface="Arial Narrow" panose="020B0606020202030204" pitchFamily="34" charset="0"/>
                        </a:rPr>
                        <a:t>Design-Bid-Build</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dirty="0">
                          <a:solidFill>
                            <a:srgbClr val="4E738A"/>
                          </a:solidFill>
                          <a:latin typeface="Arial Narrow" panose="020B0606020202030204" pitchFamily="34" charset="0"/>
                        </a:rPr>
                        <a:t>Design Assist</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dirty="0">
                          <a:solidFill>
                            <a:srgbClr val="4E738A"/>
                          </a:solidFill>
                          <a:latin typeface="Arial Narrow" panose="020B0606020202030204" pitchFamily="34" charset="0"/>
                        </a:rPr>
                        <a:t>Design Delegation</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dirty="0">
                          <a:solidFill>
                            <a:srgbClr val="4E738A"/>
                          </a:solidFill>
                          <a:latin typeface="Arial Narrow" panose="020B0606020202030204" pitchFamily="34" charset="0"/>
                        </a:rPr>
                        <a:t>CM/GC</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dirty="0">
                          <a:solidFill>
                            <a:srgbClr val="4E738A"/>
                          </a:solidFill>
                          <a:latin typeface="Arial Narrow" panose="020B0606020202030204" pitchFamily="34" charset="0"/>
                        </a:rPr>
                        <a:t>Progressive</a:t>
                      </a:r>
                    </a:p>
                    <a:p>
                      <a:pPr algn="ctr"/>
                      <a:r>
                        <a:rPr lang="en-US" sz="2000" dirty="0">
                          <a:solidFill>
                            <a:srgbClr val="4E738A"/>
                          </a:solidFill>
                          <a:latin typeface="Arial Narrow" panose="020B0606020202030204" pitchFamily="34" charset="0"/>
                        </a:rPr>
                        <a:t>Design-build</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000" dirty="0">
                          <a:solidFill>
                            <a:srgbClr val="4E738A"/>
                          </a:solidFill>
                          <a:latin typeface="Arial Narrow" panose="020B0606020202030204" pitchFamily="34" charset="0"/>
                        </a:rPr>
                        <a:t>Conventional</a:t>
                      </a:r>
                    </a:p>
                    <a:p>
                      <a:pPr algn="ctr"/>
                      <a:r>
                        <a:rPr lang="en-US" sz="2000" dirty="0">
                          <a:solidFill>
                            <a:srgbClr val="4E738A"/>
                          </a:solidFill>
                          <a:latin typeface="Arial Narrow" panose="020B0606020202030204" pitchFamily="34" charset="0"/>
                        </a:rPr>
                        <a:t>Design-Build</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4818862"/>
                  </a:ext>
                </a:extLst>
              </a:tr>
            </a:tbl>
          </a:graphicData>
        </a:graphic>
      </p:graphicFrame>
      <p:grpSp>
        <p:nvGrpSpPr>
          <p:cNvPr id="10" name="Group 9">
            <a:extLst>
              <a:ext uri="{FF2B5EF4-FFF2-40B4-BE49-F238E27FC236}">
                <a16:creationId xmlns:a16="http://schemas.microsoft.com/office/drawing/2014/main" id="{73B09478-F0D5-22BB-6108-37EF967E4F8C}"/>
              </a:ext>
            </a:extLst>
          </p:cNvPr>
          <p:cNvGrpSpPr/>
          <p:nvPr/>
        </p:nvGrpSpPr>
        <p:grpSpPr>
          <a:xfrm>
            <a:off x="1468880" y="3646417"/>
            <a:ext cx="9328821" cy="575539"/>
            <a:chOff x="1543050" y="1771650"/>
            <a:chExt cx="5829300" cy="342900"/>
          </a:xfrm>
        </p:grpSpPr>
        <p:cxnSp>
          <p:nvCxnSpPr>
            <p:cNvPr id="11" name="Straight Connector 10">
              <a:extLst>
                <a:ext uri="{FF2B5EF4-FFF2-40B4-BE49-F238E27FC236}">
                  <a16:creationId xmlns:a16="http://schemas.microsoft.com/office/drawing/2014/main" id="{6CB2BC41-63C4-B84D-4B99-E9544743F94F}"/>
                </a:ext>
              </a:extLst>
            </p:cNvPr>
            <p:cNvCxnSpPr>
              <a:cxnSpLocks/>
            </p:cNvCxnSpPr>
            <p:nvPr/>
          </p:nvCxnSpPr>
          <p:spPr>
            <a:xfrm>
              <a:off x="1543050" y="1943100"/>
              <a:ext cx="5829300" cy="0"/>
            </a:xfrm>
            <a:prstGeom prst="line">
              <a:avLst/>
            </a:prstGeom>
            <a:ln w="9525"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 name="Straight Connector 11">
              <a:extLst>
                <a:ext uri="{FF2B5EF4-FFF2-40B4-BE49-F238E27FC236}">
                  <a16:creationId xmlns:a16="http://schemas.microsoft.com/office/drawing/2014/main" id="{97020101-2AC2-418A-023C-B5090616353A}"/>
                </a:ext>
              </a:extLst>
            </p:cNvPr>
            <p:cNvCxnSpPr/>
            <p:nvPr/>
          </p:nvCxnSpPr>
          <p:spPr>
            <a:xfrm>
              <a:off x="1543050" y="1771650"/>
              <a:ext cx="0" cy="342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6477933-B712-C90F-4F57-6A8E369892A3}"/>
                </a:ext>
              </a:extLst>
            </p:cNvPr>
            <p:cNvCxnSpPr>
              <a:cxnSpLocks/>
            </p:cNvCxnSpPr>
            <p:nvPr/>
          </p:nvCxnSpPr>
          <p:spPr>
            <a:xfrm>
              <a:off x="2857500" y="194310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6E3261B-276F-E19A-3122-003F3E65CB17}"/>
                </a:ext>
              </a:extLst>
            </p:cNvPr>
            <p:cNvCxnSpPr/>
            <p:nvPr/>
          </p:nvCxnSpPr>
          <p:spPr>
            <a:xfrm>
              <a:off x="2857500" y="1833065"/>
              <a:ext cx="0" cy="22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024FC78-2A46-E8DB-F95B-B54AF8723FDD}"/>
                </a:ext>
              </a:extLst>
            </p:cNvPr>
            <p:cNvCxnSpPr/>
            <p:nvPr/>
          </p:nvCxnSpPr>
          <p:spPr>
            <a:xfrm>
              <a:off x="3886200" y="1833065"/>
              <a:ext cx="0" cy="22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DBB5296-23B7-4A12-4BBF-8A62FE5DFD7C}"/>
                </a:ext>
              </a:extLst>
            </p:cNvPr>
            <p:cNvCxnSpPr/>
            <p:nvPr/>
          </p:nvCxnSpPr>
          <p:spPr>
            <a:xfrm>
              <a:off x="4972050" y="194310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BA729F3-8003-AB9B-4495-40773C6E2C70}"/>
                </a:ext>
              </a:extLst>
            </p:cNvPr>
            <p:cNvCxnSpPr>
              <a:cxnSpLocks/>
            </p:cNvCxnSpPr>
            <p:nvPr/>
          </p:nvCxnSpPr>
          <p:spPr>
            <a:xfrm>
              <a:off x="4972050" y="1833065"/>
              <a:ext cx="0" cy="22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FFACBD6-A8C9-8B1E-6D30-1035C50BA1CF}"/>
                </a:ext>
              </a:extLst>
            </p:cNvPr>
            <p:cNvCxnSpPr/>
            <p:nvPr/>
          </p:nvCxnSpPr>
          <p:spPr>
            <a:xfrm>
              <a:off x="6115050" y="194310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DE3D980-D4BA-4969-5E2B-C948B5C9D7F9}"/>
                </a:ext>
              </a:extLst>
            </p:cNvPr>
            <p:cNvCxnSpPr/>
            <p:nvPr/>
          </p:nvCxnSpPr>
          <p:spPr>
            <a:xfrm>
              <a:off x="6115050" y="1833065"/>
              <a:ext cx="0" cy="22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1EF6747-86C6-5A7C-18FC-7E7DB6F5020A}"/>
                </a:ext>
              </a:extLst>
            </p:cNvPr>
            <p:cNvCxnSpPr/>
            <p:nvPr/>
          </p:nvCxnSpPr>
          <p:spPr>
            <a:xfrm>
              <a:off x="7372350" y="1833065"/>
              <a:ext cx="0" cy="22860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21" name="Straight Connector 20">
            <a:extLst>
              <a:ext uri="{FF2B5EF4-FFF2-40B4-BE49-F238E27FC236}">
                <a16:creationId xmlns:a16="http://schemas.microsoft.com/office/drawing/2014/main" id="{7F294AC0-070A-3BBD-EF36-FF6925AE8281}"/>
              </a:ext>
            </a:extLst>
          </p:cNvPr>
          <p:cNvCxnSpPr/>
          <p:nvPr/>
        </p:nvCxnSpPr>
        <p:spPr>
          <a:xfrm flipV="1">
            <a:off x="8923566" y="3159126"/>
            <a:ext cx="0" cy="171450"/>
          </a:xfrm>
          <a:prstGeom prst="line">
            <a:avLst/>
          </a:prstGeom>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8144346" y="2727975"/>
            <a:ext cx="1558440" cy="523220"/>
          </a:xfrm>
          <a:prstGeom prst="rect">
            <a:avLst/>
          </a:prstGeom>
        </p:spPr>
        <p:txBody>
          <a:bodyPr wrap="none">
            <a:spAutoFit/>
          </a:bodyPr>
          <a:lstStyle/>
          <a:p>
            <a:r>
              <a:rPr lang="en-US" sz="2800" dirty="0">
                <a:latin typeface="Arial Narrow" panose="020B0606020202030204" pitchFamily="34" charset="0"/>
              </a:rPr>
              <a:t>Contractor</a:t>
            </a:r>
          </a:p>
        </p:txBody>
      </p:sp>
    </p:spTree>
    <p:extLst>
      <p:ext uri="{BB962C8B-B14F-4D97-AF65-F5344CB8AC3E}">
        <p14:creationId xmlns:p14="http://schemas.microsoft.com/office/powerpoint/2010/main" val="3789144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D0083-FCC7-06E3-88BF-B3EE95554C2D}"/>
              </a:ext>
            </a:extLst>
          </p:cNvPr>
          <p:cNvSpPr>
            <a:spLocks noGrp="1"/>
          </p:cNvSpPr>
          <p:nvPr>
            <p:ph type="title"/>
          </p:nvPr>
        </p:nvSpPr>
        <p:spPr>
          <a:xfrm>
            <a:off x="838200" y="365126"/>
            <a:ext cx="10515600" cy="987020"/>
          </a:xfrm>
        </p:spPr>
        <p:txBody>
          <a:bodyPr/>
          <a:lstStyle/>
          <a:p>
            <a:r>
              <a:rPr lang="en-US" dirty="0"/>
              <a:t>DESIGN-BID-BUILD</a:t>
            </a:r>
          </a:p>
        </p:txBody>
      </p:sp>
      <p:sp>
        <p:nvSpPr>
          <p:cNvPr id="4" name="Slide Number Placeholder 3">
            <a:extLst>
              <a:ext uri="{FF2B5EF4-FFF2-40B4-BE49-F238E27FC236}">
                <a16:creationId xmlns:a16="http://schemas.microsoft.com/office/drawing/2014/main" id="{33D5B21D-62B3-15A2-142D-3CDE170F2356}"/>
              </a:ext>
            </a:extLst>
          </p:cNvPr>
          <p:cNvSpPr>
            <a:spLocks noGrp="1"/>
          </p:cNvSpPr>
          <p:nvPr>
            <p:ph type="sldNum" sz="quarter" idx="12"/>
          </p:nvPr>
        </p:nvSpPr>
        <p:spPr/>
        <p:txBody>
          <a:bodyPr/>
          <a:lstStyle/>
          <a:p>
            <a:fld id="{C857CEEC-B959-4A37-A10B-AE2FE373736E}" type="slidenum">
              <a:rPr lang="en-US" smtClean="0"/>
              <a:pPr/>
              <a:t>10</a:t>
            </a:fld>
            <a:endParaRPr lang="en-US" dirty="0"/>
          </a:p>
        </p:txBody>
      </p:sp>
      <p:graphicFrame>
        <p:nvGraphicFramePr>
          <p:cNvPr id="5" name="Table 4">
            <a:extLst>
              <a:ext uri="{FF2B5EF4-FFF2-40B4-BE49-F238E27FC236}">
                <a16:creationId xmlns:a16="http://schemas.microsoft.com/office/drawing/2014/main" id="{E9B2A51C-D958-1CB3-F45F-ADB4ED9C617A}"/>
              </a:ext>
            </a:extLst>
          </p:cNvPr>
          <p:cNvGraphicFramePr>
            <a:graphicFrameLocks noGrp="1"/>
          </p:cNvGraphicFramePr>
          <p:nvPr>
            <p:extLst>
              <p:ext uri="{D42A27DB-BD31-4B8C-83A1-F6EECF244321}">
                <p14:modId xmlns:p14="http://schemas.microsoft.com/office/powerpoint/2010/main" val="449033253"/>
              </p:ext>
            </p:extLst>
          </p:nvPr>
        </p:nvGraphicFramePr>
        <p:xfrm>
          <a:off x="157264" y="179345"/>
          <a:ext cx="11877472" cy="8511019"/>
        </p:xfrm>
        <a:graphic>
          <a:graphicData uri="http://schemas.openxmlformats.org/drawingml/2006/table">
            <a:tbl>
              <a:tblPr firstRow="1" bandRow="1">
                <a:tableStyleId>{5C22544A-7EE6-4342-B048-85BDC9FD1C3A}</a:tableStyleId>
              </a:tblPr>
              <a:tblGrid>
                <a:gridCol w="5319408">
                  <a:extLst>
                    <a:ext uri="{9D8B030D-6E8A-4147-A177-3AD203B41FA5}">
                      <a16:colId xmlns:a16="http://schemas.microsoft.com/office/drawing/2014/main" val="2962941426"/>
                    </a:ext>
                  </a:extLst>
                </a:gridCol>
                <a:gridCol w="1192543">
                  <a:extLst>
                    <a:ext uri="{9D8B030D-6E8A-4147-A177-3AD203B41FA5}">
                      <a16:colId xmlns:a16="http://schemas.microsoft.com/office/drawing/2014/main" val="1104803786"/>
                    </a:ext>
                  </a:extLst>
                </a:gridCol>
                <a:gridCol w="1531202">
                  <a:extLst>
                    <a:ext uri="{9D8B030D-6E8A-4147-A177-3AD203B41FA5}">
                      <a16:colId xmlns:a16="http://schemas.microsoft.com/office/drawing/2014/main" val="3584959970"/>
                    </a:ext>
                  </a:extLst>
                </a:gridCol>
                <a:gridCol w="1908048">
                  <a:extLst>
                    <a:ext uri="{9D8B030D-6E8A-4147-A177-3AD203B41FA5}">
                      <a16:colId xmlns:a16="http://schemas.microsoft.com/office/drawing/2014/main" val="713202341"/>
                    </a:ext>
                  </a:extLst>
                </a:gridCol>
                <a:gridCol w="1422149">
                  <a:extLst>
                    <a:ext uri="{9D8B030D-6E8A-4147-A177-3AD203B41FA5}">
                      <a16:colId xmlns:a16="http://schemas.microsoft.com/office/drawing/2014/main" val="1627941789"/>
                    </a:ext>
                  </a:extLst>
                </a:gridCol>
                <a:gridCol w="504122">
                  <a:extLst>
                    <a:ext uri="{9D8B030D-6E8A-4147-A177-3AD203B41FA5}">
                      <a16:colId xmlns:a16="http://schemas.microsoft.com/office/drawing/2014/main" val="1201211500"/>
                    </a:ext>
                  </a:extLst>
                </a:gridCol>
              </a:tblGrid>
              <a:tr h="872259">
                <a:tc>
                  <a:txBody>
                    <a:bodyPr/>
                    <a:lstStyle/>
                    <a:p>
                      <a:pPr marL="342900" indent="-342900">
                        <a:buFont typeface="Arial" panose="020B0604020202020204" pitchFamily="34" charset="0"/>
                        <a:buChar char="•"/>
                      </a:pPr>
                      <a:r>
                        <a:rPr lang="en-US" sz="2400" b="1" u="sng" kern="1200" dirty="0">
                          <a:solidFill>
                            <a:srgbClr val="51312D"/>
                          </a:solidFill>
                          <a:latin typeface="Arial Narrow" panose="020B0606020202030204" pitchFamily="34" charset="0"/>
                          <a:ea typeface="+mn-ea"/>
                          <a:cs typeface="+mn-cs"/>
                        </a:rPr>
                        <a:t>Conventional   </a:t>
                      </a: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sz="2400" dirty="0">
                        <a:solidFill>
                          <a:srgbClr val="51312D"/>
                        </a:solidFill>
                        <a:latin typeface="Arial Narrow" panose="020B0606020202030204" pitchFamily="34" charset="0"/>
                      </a:endParaRP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sz="2400">
                        <a:latin typeface="Arial Narrow" panose="020B0606020202030204" pitchFamily="34" charset="0"/>
                      </a:endParaRP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68374772"/>
                  </a:ext>
                </a:extLst>
              </a:tr>
              <a:tr h="1126014">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     Owner</a:t>
                      </a: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60361852"/>
                  </a:ext>
                </a:extLst>
              </a:tr>
              <a:tr h="779895">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b="1" dirty="0">
                          <a:latin typeface="Arial Narrow" panose="020B0606020202030204" pitchFamily="34" charset="0"/>
                        </a:rPr>
                        <a:t>Design-</a:t>
                      </a:r>
                    </a:p>
                    <a:p>
                      <a:r>
                        <a:rPr lang="en-US" sz="2400" b="1" dirty="0">
                          <a:latin typeface="Arial Narrow" panose="020B0606020202030204" pitchFamily="34" charset="0"/>
                        </a:rPr>
                        <a:t>Professional</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b="1" dirty="0">
                          <a:latin typeface="Arial Narrow" panose="020B0606020202030204" pitchFamily="34" charset="0"/>
                        </a:rPr>
                        <a:t>Contractor</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91404694"/>
                  </a:ext>
                </a:extLst>
              </a:tr>
              <a:tr h="779895">
                <a:tc>
                  <a:txBody>
                    <a:bodyPr/>
                    <a:lstStyle/>
                    <a:p>
                      <a:pPr marL="342900" indent="-342900">
                        <a:buFont typeface="Arial" panose="020B0604020202020204" pitchFamily="34" charset="0"/>
                        <a:buChar char="•"/>
                      </a:pPr>
                      <a:r>
                        <a:rPr lang="en-US" sz="2400" b="1" u="sng" kern="1200" dirty="0">
                          <a:solidFill>
                            <a:srgbClr val="51312D"/>
                          </a:solidFill>
                          <a:latin typeface="Arial Narrow" panose="020B0606020202030204" pitchFamily="34" charset="0"/>
                          <a:ea typeface="+mn-ea"/>
                          <a:cs typeface="+mn-cs"/>
                        </a:rPr>
                        <a:t>Design</a:t>
                      </a:r>
                      <a:r>
                        <a:rPr lang="en-US" sz="2400" b="1" u="sng" dirty="0">
                          <a:latin typeface="Arial Narrow" panose="020B0606020202030204" pitchFamily="34" charset="0"/>
                        </a:rPr>
                        <a:t> </a:t>
                      </a:r>
                      <a:r>
                        <a:rPr lang="en-US" sz="2400" b="1" u="sng" kern="1200" dirty="0">
                          <a:solidFill>
                            <a:srgbClr val="51312D"/>
                          </a:solidFill>
                          <a:latin typeface="Arial Narrow" panose="020B0606020202030204" pitchFamily="34" charset="0"/>
                          <a:ea typeface="+mn-ea"/>
                          <a:cs typeface="+mn-cs"/>
                        </a:rPr>
                        <a:t>Assist</a:t>
                      </a:r>
                    </a:p>
                    <a:p>
                      <a:pPr marL="342900" indent="-342900">
                        <a:buFont typeface="Arial" panose="020B0604020202020204" pitchFamily="34" charset="0"/>
                        <a:buChar char="•"/>
                      </a:pPr>
                      <a:endParaRPr lang="en-US" sz="2400" b="1" u="sng" kern="1200" dirty="0">
                        <a:solidFill>
                          <a:srgbClr val="51312D"/>
                        </a:solidFill>
                        <a:latin typeface="Arial Narrow" panose="020B0606020202030204" pitchFamily="34" charset="0"/>
                        <a:ea typeface="+mn-ea"/>
                        <a:cs typeface="+mn-cs"/>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5348050"/>
                  </a:ext>
                </a:extLst>
              </a:tr>
              <a:tr h="433774">
                <a:tc>
                  <a:txBody>
                    <a:bodyPr/>
                    <a:lstStyle/>
                    <a:p>
                      <a:pPr marL="171450" indent="-171450">
                        <a:buFont typeface="Arial" panose="020B0604020202020204" pitchFamily="34" charset="0"/>
                        <a:buChar char="•"/>
                      </a:pPr>
                      <a:r>
                        <a:rPr lang="en-US" sz="2400" b="1" u="none" dirty="0">
                          <a:latin typeface="Arial Narrow" panose="020B0606020202030204" pitchFamily="34" charset="0"/>
                        </a:rPr>
                        <a:t>  </a:t>
                      </a:r>
                      <a:r>
                        <a:rPr lang="en-US" sz="2400" b="1" u="sng" dirty="0">
                          <a:latin typeface="Arial Narrow" panose="020B0606020202030204" pitchFamily="34" charset="0"/>
                        </a:rPr>
                        <a:t>Design Delegation</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09695713"/>
                  </a:ext>
                </a:extLst>
              </a:tr>
              <a:tr h="1202098">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Owner</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69682905"/>
                  </a:ext>
                </a:extLst>
              </a:tr>
              <a:tr h="537725">
                <a:tc>
                  <a:txBody>
                    <a:bodyPr/>
                    <a:lstStyle/>
                    <a:p>
                      <a:r>
                        <a:rPr lang="en-US" sz="2400" dirty="0">
                          <a:latin typeface="Arial Narrow" panose="020B0606020202030204" pitchFamily="34" charset="0"/>
                        </a:rPr>
                        <a:t>D     </a:t>
                      </a:r>
                      <a:r>
                        <a:rPr lang="en-US" sz="2400" dirty="0" err="1">
                          <a:latin typeface="Arial Narrow" panose="020B0606020202030204" pitchFamily="34" charset="0"/>
                        </a:rPr>
                        <a:t>esign</a:t>
                      </a:r>
                      <a:r>
                        <a:rPr lang="en-US" sz="2400" dirty="0">
                          <a:latin typeface="Arial Narrow" panose="020B0606020202030204" pitchFamily="34" charset="0"/>
                        </a:rPr>
                        <a:t> </a:t>
                      </a:r>
                    </a:p>
                    <a:p>
                      <a:r>
                        <a:rPr lang="en-US" sz="2400" dirty="0">
                          <a:latin typeface="Arial Narrow" panose="020B0606020202030204" pitchFamily="34" charset="0"/>
                        </a:rPr>
                        <a:t>Professional</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Contractor</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125976"/>
                  </a:ext>
                </a:extLst>
              </a:tr>
              <a:tr h="779895">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Design</a:t>
                      </a:r>
                    </a:p>
                    <a:p>
                      <a:r>
                        <a:rPr lang="en-US" sz="2400" dirty="0">
                          <a:latin typeface="Arial Narrow" panose="020B0606020202030204" pitchFamily="34" charset="0"/>
                        </a:rPr>
                        <a:t>Professional</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Specialty Trade Contractor</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20227796"/>
                  </a:ext>
                </a:extLst>
              </a:tr>
              <a:tr h="433774">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sz="2400" dirty="0">
                          <a:latin typeface="Arial Narrow" panose="020B0606020202030204" pitchFamily="34" charset="0"/>
                        </a:rPr>
                        <a:t>Design Professional</a:t>
                      </a: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US" sz="2400" dirty="0">
                        <a:latin typeface="Arial Narrow" panose="020B0606020202030204" pitchFamily="34" charset="0"/>
                      </a:endParaRPr>
                    </a:p>
                  </a:txBody>
                  <a:tcPr marL="92627" marR="92627" marT="46314" marB="46314">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993129"/>
                  </a:ext>
                </a:extLst>
              </a:tr>
            </a:tbl>
          </a:graphicData>
        </a:graphic>
      </p:graphicFrame>
      <p:cxnSp>
        <p:nvCxnSpPr>
          <p:cNvPr id="6" name="Straight Connector 5">
            <a:extLst>
              <a:ext uri="{FF2B5EF4-FFF2-40B4-BE49-F238E27FC236}">
                <a16:creationId xmlns:a16="http://schemas.microsoft.com/office/drawing/2014/main" id="{3F189D16-A375-6279-8874-ED03BACBD62A}"/>
              </a:ext>
            </a:extLst>
          </p:cNvPr>
          <p:cNvCxnSpPr>
            <a:cxnSpLocks/>
          </p:cNvCxnSpPr>
          <p:nvPr/>
        </p:nvCxnSpPr>
        <p:spPr>
          <a:xfrm flipH="1">
            <a:off x="5954949" y="5702226"/>
            <a:ext cx="903051" cy="421215"/>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0459180-46C5-65E7-6E0F-E7EDFA7BC1C1}"/>
              </a:ext>
            </a:extLst>
          </p:cNvPr>
          <p:cNvCxnSpPr>
            <a:cxnSpLocks/>
          </p:cNvCxnSpPr>
          <p:nvPr/>
        </p:nvCxnSpPr>
        <p:spPr>
          <a:xfrm>
            <a:off x="7654240" y="1621107"/>
            <a:ext cx="875489" cy="502935"/>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64ACDC5-D34A-F3FF-76DD-5C77B7CDFAD1}"/>
              </a:ext>
            </a:extLst>
          </p:cNvPr>
          <p:cNvCxnSpPr>
            <a:cxnSpLocks/>
          </p:cNvCxnSpPr>
          <p:nvPr/>
        </p:nvCxnSpPr>
        <p:spPr>
          <a:xfrm flipH="1">
            <a:off x="6477000" y="1648838"/>
            <a:ext cx="762000" cy="50293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07CA86-8920-5CB6-1950-E1AD3A46F989}"/>
              </a:ext>
            </a:extLst>
          </p:cNvPr>
          <p:cNvCxnSpPr>
            <a:cxnSpLocks/>
          </p:cNvCxnSpPr>
          <p:nvPr/>
        </p:nvCxnSpPr>
        <p:spPr>
          <a:xfrm>
            <a:off x="7654240" y="5662515"/>
            <a:ext cx="544749" cy="500636"/>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4C089E-6987-CAAD-B8DE-E434945AEE50}"/>
              </a:ext>
            </a:extLst>
          </p:cNvPr>
          <p:cNvCxnSpPr/>
          <p:nvPr/>
        </p:nvCxnSpPr>
        <p:spPr>
          <a:xfrm flipH="1">
            <a:off x="3860692" y="4734656"/>
            <a:ext cx="662103" cy="30564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3B92B0D-8E6F-10A7-380A-87A4009E2D81}"/>
              </a:ext>
            </a:extLst>
          </p:cNvPr>
          <p:cNvCxnSpPr>
            <a:cxnSpLocks/>
          </p:cNvCxnSpPr>
          <p:nvPr/>
        </p:nvCxnSpPr>
        <p:spPr>
          <a:xfrm>
            <a:off x="5287144" y="4734656"/>
            <a:ext cx="808856" cy="33588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7077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38F9A-9FFC-0C28-6959-0DD881AB0AD9}"/>
              </a:ext>
            </a:extLst>
          </p:cNvPr>
          <p:cNvSpPr>
            <a:spLocks noGrp="1"/>
          </p:cNvSpPr>
          <p:nvPr>
            <p:ph type="title"/>
          </p:nvPr>
        </p:nvSpPr>
        <p:spPr/>
        <p:txBody>
          <a:bodyPr/>
          <a:lstStyle/>
          <a:p>
            <a:r>
              <a:rPr lang="en-US" dirty="0"/>
              <a:t>DESIGN-BID-BUILD</a:t>
            </a:r>
          </a:p>
        </p:txBody>
      </p:sp>
      <p:sp>
        <p:nvSpPr>
          <p:cNvPr id="3" name="Content Placeholder 2">
            <a:extLst>
              <a:ext uri="{FF2B5EF4-FFF2-40B4-BE49-F238E27FC236}">
                <a16:creationId xmlns:a16="http://schemas.microsoft.com/office/drawing/2014/main" id="{04E9EF1C-B906-5208-4DD9-0821EA754AB9}"/>
              </a:ext>
            </a:extLst>
          </p:cNvPr>
          <p:cNvSpPr>
            <a:spLocks noGrp="1"/>
          </p:cNvSpPr>
          <p:nvPr>
            <p:ph idx="1"/>
          </p:nvPr>
        </p:nvSpPr>
        <p:spPr/>
        <p:txBody>
          <a:bodyPr/>
          <a:lstStyle/>
          <a:p>
            <a:r>
              <a:rPr lang="en-US" sz="2800" b="1" dirty="0">
                <a:latin typeface="Arial Narrow" panose="020B0606020202030204" pitchFamily="34" charset="0"/>
              </a:rPr>
              <a:t>Conventional</a:t>
            </a:r>
          </a:p>
          <a:p>
            <a:pPr marL="214313" indent="-214313">
              <a:buFont typeface="Arial" panose="020B0604020202020204" pitchFamily="34" charset="0"/>
              <a:buChar char="•"/>
            </a:pPr>
            <a:r>
              <a:rPr lang="en-US" sz="2800" dirty="0">
                <a:latin typeface="Arial Narrow" panose="020B0606020202030204" pitchFamily="34" charset="0"/>
              </a:rPr>
              <a:t>Owner Design Adequacy Responsibility:  Implied Warranty Principle</a:t>
            </a:r>
          </a:p>
          <a:p>
            <a:pPr marL="214313" indent="-214313">
              <a:buFont typeface="Arial" panose="020B0604020202020204" pitchFamily="34" charset="0"/>
              <a:buChar char="•"/>
            </a:pPr>
            <a:r>
              <a:rPr lang="en-US" sz="2800" dirty="0">
                <a:latin typeface="Arial Narrow" panose="020B0606020202030204" pitchFamily="34" charset="0"/>
              </a:rPr>
              <a:t>Design Professional Design Adequacy Responsibility:  Professional Standard of Care</a:t>
            </a:r>
          </a:p>
          <a:p>
            <a:pPr marL="214313" indent="-214313">
              <a:buFont typeface="Arial" panose="020B0604020202020204" pitchFamily="34" charset="0"/>
              <a:buChar char="•"/>
            </a:pPr>
            <a:r>
              <a:rPr lang="en-US" sz="2800" dirty="0">
                <a:latin typeface="Arial Narrow" panose="020B0606020202030204" pitchFamily="34" charset="0"/>
              </a:rPr>
              <a:t>Contractor Design Adequacy Responsibility:  Typically minimal, if at all; other than for design of construction means and methods</a:t>
            </a:r>
          </a:p>
          <a:p>
            <a:endParaRPr lang="en-US" dirty="0"/>
          </a:p>
        </p:txBody>
      </p:sp>
      <p:sp>
        <p:nvSpPr>
          <p:cNvPr id="4" name="Slide Number Placeholder 3">
            <a:extLst>
              <a:ext uri="{FF2B5EF4-FFF2-40B4-BE49-F238E27FC236}">
                <a16:creationId xmlns:a16="http://schemas.microsoft.com/office/drawing/2014/main" id="{5A0CEC09-1453-5C3F-0061-D9C4B2D00FD9}"/>
              </a:ext>
            </a:extLst>
          </p:cNvPr>
          <p:cNvSpPr>
            <a:spLocks noGrp="1"/>
          </p:cNvSpPr>
          <p:nvPr>
            <p:ph type="sldNum" sz="quarter" idx="12"/>
          </p:nvPr>
        </p:nvSpPr>
        <p:spPr/>
        <p:txBody>
          <a:bodyPr/>
          <a:lstStyle/>
          <a:p>
            <a:fld id="{C857CEEC-B959-4A37-A10B-AE2FE373736E}" type="slidenum">
              <a:rPr lang="en-US" smtClean="0"/>
              <a:pPr/>
              <a:t>11</a:t>
            </a:fld>
            <a:endParaRPr lang="en-US" dirty="0"/>
          </a:p>
        </p:txBody>
      </p:sp>
    </p:spTree>
    <p:extLst>
      <p:ext uri="{BB962C8B-B14F-4D97-AF65-F5344CB8AC3E}">
        <p14:creationId xmlns:p14="http://schemas.microsoft.com/office/powerpoint/2010/main" val="407827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3BF71-DF52-5680-8CF6-CBBB3D7BA353}"/>
              </a:ext>
            </a:extLst>
          </p:cNvPr>
          <p:cNvSpPr>
            <a:spLocks noGrp="1"/>
          </p:cNvSpPr>
          <p:nvPr>
            <p:ph type="title"/>
          </p:nvPr>
        </p:nvSpPr>
        <p:spPr/>
        <p:txBody>
          <a:bodyPr/>
          <a:lstStyle/>
          <a:p>
            <a:r>
              <a:rPr lang="en-US" dirty="0"/>
              <a:t>DESIGN BID-BUILD</a:t>
            </a:r>
          </a:p>
        </p:txBody>
      </p:sp>
      <p:sp>
        <p:nvSpPr>
          <p:cNvPr id="3" name="Content Placeholder 2">
            <a:extLst>
              <a:ext uri="{FF2B5EF4-FFF2-40B4-BE49-F238E27FC236}">
                <a16:creationId xmlns:a16="http://schemas.microsoft.com/office/drawing/2014/main" id="{52E371A2-C992-266C-96A1-6E1822AB4B16}"/>
              </a:ext>
            </a:extLst>
          </p:cNvPr>
          <p:cNvSpPr>
            <a:spLocks noGrp="1"/>
          </p:cNvSpPr>
          <p:nvPr>
            <p:ph idx="1"/>
          </p:nvPr>
        </p:nvSpPr>
        <p:spPr/>
        <p:txBody>
          <a:bodyPr/>
          <a:lstStyle/>
          <a:p>
            <a:pPr marL="0" indent="0">
              <a:buNone/>
            </a:pPr>
            <a:r>
              <a:rPr lang="en-US" sz="3200" dirty="0"/>
              <a:t>DESIGN ASSIST</a:t>
            </a:r>
          </a:p>
          <a:p>
            <a:pPr marL="214313" indent="-214313">
              <a:buFont typeface="Arial" panose="020B0604020202020204" pitchFamily="34" charset="0"/>
              <a:buChar char="•"/>
            </a:pPr>
            <a:r>
              <a:rPr lang="en-US" sz="1400" dirty="0"/>
              <a:t>Industry Definition of “Design Assist”</a:t>
            </a:r>
          </a:p>
          <a:p>
            <a:pPr marL="557213" lvl="1" indent="-214313">
              <a:buFont typeface="Arial" panose="020B0604020202020204" pitchFamily="34" charset="0"/>
              <a:buChar char="•"/>
            </a:pPr>
            <a:r>
              <a:rPr lang="en-US" dirty="0">
                <a:latin typeface="Arial Narrow" panose="020B0606020202030204" pitchFamily="34" charset="0"/>
              </a:rPr>
              <a:t>“The ultimate goal of a design-assist approach is to encourage collaboration between the design team, multiple trade partners, and the general contractor to achieve benefits not available in a traditional design-bid-build process.  The benefits of the design-assist process include improved constructability at the job site, faster construction schedules, and budget savings for the client.” </a:t>
            </a:r>
          </a:p>
          <a:p>
            <a:pPr lvl="1"/>
            <a:r>
              <a:rPr lang="en-US" dirty="0">
                <a:latin typeface="Arial Narrow" panose="020B0606020202030204" pitchFamily="34" charset="0"/>
              </a:rPr>
              <a:t>Van </a:t>
            </a:r>
            <a:r>
              <a:rPr lang="en-US" dirty="0" err="1">
                <a:latin typeface="Arial Narrow" panose="020B0606020202030204" pitchFamily="34" charset="0"/>
              </a:rPr>
              <a:t>Deren</a:t>
            </a:r>
            <a:r>
              <a:rPr lang="en-US" dirty="0">
                <a:latin typeface="Arial Narrow" panose="020B0606020202030204" pitchFamily="34" charset="0"/>
              </a:rPr>
              <a:t>, Scott, “Relationships and Results on Design-Assist Projects”, </a:t>
            </a:r>
            <a:r>
              <a:rPr lang="en-US" i="1" dirty="0">
                <a:latin typeface="Arial Narrow" panose="020B0606020202030204" pitchFamily="34" charset="0"/>
              </a:rPr>
              <a:t>Structure</a:t>
            </a:r>
            <a:r>
              <a:rPr lang="en-US" dirty="0">
                <a:latin typeface="Arial Narrow" panose="020B0606020202030204" pitchFamily="34" charset="0"/>
              </a:rPr>
              <a:t>, Feb., 2018, pp. 36-37</a:t>
            </a:r>
          </a:p>
          <a:p>
            <a:endParaRPr lang="en-US" dirty="0"/>
          </a:p>
        </p:txBody>
      </p:sp>
      <p:sp>
        <p:nvSpPr>
          <p:cNvPr id="4" name="Slide Number Placeholder 3">
            <a:extLst>
              <a:ext uri="{FF2B5EF4-FFF2-40B4-BE49-F238E27FC236}">
                <a16:creationId xmlns:a16="http://schemas.microsoft.com/office/drawing/2014/main" id="{3A67276E-2C96-5F15-FB00-180B5BB34DEC}"/>
              </a:ext>
            </a:extLst>
          </p:cNvPr>
          <p:cNvSpPr>
            <a:spLocks noGrp="1"/>
          </p:cNvSpPr>
          <p:nvPr>
            <p:ph type="sldNum" sz="quarter" idx="12"/>
          </p:nvPr>
        </p:nvSpPr>
        <p:spPr/>
        <p:txBody>
          <a:bodyPr/>
          <a:lstStyle/>
          <a:p>
            <a:fld id="{C857CEEC-B959-4A37-A10B-AE2FE373736E}" type="slidenum">
              <a:rPr lang="en-US" smtClean="0"/>
              <a:pPr/>
              <a:t>12</a:t>
            </a:fld>
            <a:endParaRPr lang="en-US" dirty="0"/>
          </a:p>
        </p:txBody>
      </p:sp>
    </p:spTree>
    <p:extLst>
      <p:ext uri="{BB962C8B-B14F-4D97-AF65-F5344CB8AC3E}">
        <p14:creationId xmlns:p14="http://schemas.microsoft.com/office/powerpoint/2010/main" val="2600950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7CE08-9CD4-C9C7-A6ED-EF13D9EF7C83}"/>
              </a:ext>
            </a:extLst>
          </p:cNvPr>
          <p:cNvSpPr>
            <a:spLocks noGrp="1"/>
          </p:cNvSpPr>
          <p:nvPr>
            <p:ph type="title"/>
          </p:nvPr>
        </p:nvSpPr>
        <p:spPr/>
        <p:txBody>
          <a:bodyPr/>
          <a:lstStyle/>
          <a:p>
            <a:r>
              <a:rPr lang="en-US" dirty="0"/>
              <a:t>DESIGN BID-BUILD</a:t>
            </a:r>
            <a:br>
              <a:rPr lang="en-US" dirty="0"/>
            </a:br>
            <a:r>
              <a:rPr lang="en-US" dirty="0"/>
              <a:t>DESIGN ASSIST</a:t>
            </a:r>
          </a:p>
        </p:txBody>
      </p:sp>
      <p:sp>
        <p:nvSpPr>
          <p:cNvPr id="3" name="Content Placeholder 2">
            <a:extLst>
              <a:ext uri="{FF2B5EF4-FFF2-40B4-BE49-F238E27FC236}">
                <a16:creationId xmlns:a16="http://schemas.microsoft.com/office/drawing/2014/main" id="{38EC9A96-DD93-35F1-E784-998FDEF8C3AE}"/>
              </a:ext>
            </a:extLst>
          </p:cNvPr>
          <p:cNvSpPr>
            <a:spLocks noGrp="1"/>
          </p:cNvSpPr>
          <p:nvPr>
            <p:ph idx="1"/>
          </p:nvPr>
        </p:nvSpPr>
        <p:spPr/>
        <p:txBody>
          <a:bodyPr>
            <a:normAutofit fontScale="92500" lnSpcReduction="20000"/>
          </a:bodyPr>
          <a:lstStyle/>
          <a:p>
            <a:pPr marL="557213" lvl="1" indent="-214313">
              <a:buFont typeface="Arial" panose="020B0604020202020204" pitchFamily="34" charset="0"/>
              <a:buChar char="•"/>
            </a:pPr>
            <a:r>
              <a:rPr lang="en-US" sz="2800" dirty="0">
                <a:latin typeface="Arial Narrow" panose="020B0606020202030204" pitchFamily="34" charset="0"/>
              </a:rPr>
              <a:t>Consider also:</a:t>
            </a:r>
          </a:p>
          <a:p>
            <a:pPr lvl="1"/>
            <a:r>
              <a:rPr lang="en-US" sz="2800" dirty="0">
                <a:latin typeface="Arial Narrow" panose="020B0606020202030204" pitchFamily="34" charset="0"/>
              </a:rPr>
              <a:t>“The term design-assist may have several definitions.  No research was found on this subject.  Understanding the industry definition of design-assist may vary from trade to trade.  One goal of our research was to ask participants how they define the term design-assist.  Recent publications described design-assist as “a process that allows the subcontractor to assist the design team through consultation without taking responsibility for the design” by providing key design direction and services (</a:t>
            </a:r>
            <a:r>
              <a:rPr lang="en-US" sz="2800" dirty="0" err="1">
                <a:latin typeface="Arial Narrow" panose="020B0606020202030204" pitchFamily="34" charset="0"/>
              </a:rPr>
              <a:t>Kenig</a:t>
            </a:r>
            <a:r>
              <a:rPr lang="en-US" sz="2800" dirty="0">
                <a:latin typeface="Arial Narrow" panose="020B0606020202030204" pitchFamily="34" charset="0"/>
              </a:rPr>
              <a:t>. 2011).  In most cases, the subcontractor will work as a design assistant to the design team.  </a:t>
            </a:r>
            <a:r>
              <a:rPr lang="en-US" sz="2800" dirty="0" err="1">
                <a:latin typeface="Arial Narrow" panose="020B0606020202030204" pitchFamily="34" charset="0"/>
              </a:rPr>
              <a:t>Kenig</a:t>
            </a:r>
            <a:r>
              <a:rPr lang="en-US" sz="2800" dirty="0">
                <a:latin typeface="Arial Narrow" panose="020B0606020202030204" pitchFamily="34" charset="0"/>
              </a:rPr>
              <a:t> continues, “The subcontractor is expected to collaborate and provide full cooperation and information to the design team on details”.  This may include but not limited to system calculations, material sizing and selection, equipment sizing and selection, as well as the preparation of drawings, sections, details, and specifications.  The client can be the owner, design team, or the CM/GC.</a:t>
            </a:r>
          </a:p>
          <a:p>
            <a:endParaRPr lang="en-US" dirty="0"/>
          </a:p>
        </p:txBody>
      </p:sp>
      <p:sp>
        <p:nvSpPr>
          <p:cNvPr id="4" name="Slide Number Placeholder 3">
            <a:extLst>
              <a:ext uri="{FF2B5EF4-FFF2-40B4-BE49-F238E27FC236}">
                <a16:creationId xmlns:a16="http://schemas.microsoft.com/office/drawing/2014/main" id="{296C21AA-69D3-61FD-2978-A026072117B9}"/>
              </a:ext>
            </a:extLst>
          </p:cNvPr>
          <p:cNvSpPr>
            <a:spLocks noGrp="1"/>
          </p:cNvSpPr>
          <p:nvPr>
            <p:ph type="sldNum" sz="quarter" idx="12"/>
          </p:nvPr>
        </p:nvSpPr>
        <p:spPr/>
        <p:txBody>
          <a:bodyPr/>
          <a:lstStyle/>
          <a:p>
            <a:fld id="{C857CEEC-B959-4A37-A10B-AE2FE373736E}" type="slidenum">
              <a:rPr lang="en-US" smtClean="0"/>
              <a:pPr/>
              <a:t>13</a:t>
            </a:fld>
            <a:endParaRPr lang="en-US" dirty="0"/>
          </a:p>
        </p:txBody>
      </p:sp>
    </p:spTree>
    <p:extLst>
      <p:ext uri="{BB962C8B-B14F-4D97-AF65-F5344CB8AC3E}">
        <p14:creationId xmlns:p14="http://schemas.microsoft.com/office/powerpoint/2010/main" val="3910636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65EA0-75BF-62D4-5D1A-38468739AF56}"/>
              </a:ext>
            </a:extLst>
          </p:cNvPr>
          <p:cNvSpPr>
            <a:spLocks noGrp="1"/>
          </p:cNvSpPr>
          <p:nvPr>
            <p:ph type="title"/>
          </p:nvPr>
        </p:nvSpPr>
        <p:spPr/>
        <p:txBody>
          <a:bodyPr/>
          <a:lstStyle/>
          <a:p>
            <a:r>
              <a:rPr lang="en-US" dirty="0"/>
              <a:t>DESIGN BID-BUILD</a:t>
            </a:r>
            <a:br>
              <a:rPr lang="en-US" dirty="0"/>
            </a:br>
            <a:r>
              <a:rPr lang="en-US" dirty="0"/>
              <a:t>DESIGN ASSIST</a:t>
            </a:r>
          </a:p>
        </p:txBody>
      </p:sp>
      <p:sp>
        <p:nvSpPr>
          <p:cNvPr id="3" name="Content Placeholder 2">
            <a:extLst>
              <a:ext uri="{FF2B5EF4-FFF2-40B4-BE49-F238E27FC236}">
                <a16:creationId xmlns:a16="http://schemas.microsoft.com/office/drawing/2014/main" id="{8684B3A9-3434-8BF4-9E3D-FF7A1F9CCB55}"/>
              </a:ext>
            </a:extLst>
          </p:cNvPr>
          <p:cNvSpPr>
            <a:spLocks noGrp="1"/>
          </p:cNvSpPr>
          <p:nvPr>
            <p:ph idx="1"/>
          </p:nvPr>
        </p:nvSpPr>
        <p:spPr/>
        <p:txBody>
          <a:bodyPr>
            <a:normAutofit fontScale="70000" lnSpcReduction="20000"/>
          </a:bodyPr>
          <a:lstStyle/>
          <a:p>
            <a:pPr marL="114300" indent="0">
              <a:buNone/>
            </a:pPr>
            <a:r>
              <a:rPr lang="en-US" sz="2800" dirty="0"/>
              <a:t>At the time of this research, there existed very little contractual language intended for the design-assist process.  To date, the process of design-assist is considered a preconstruction service which may or may not be covered in a contract.  This lack of design-assist contract language along with the perceived financial risk is the genesis of this research.  As stated by Kelly in 2014, “...the most commonly used construction documents from the American Institute of Architects (AIA)”, they have “always held a leading position in the construction contractual document marketplace.  The A401 does not identify any preconstruction phase responsibilities for subcontractors.  The B101 outlines the services architects are to perform during the design phase.  Those services are consistent with what most specialty subcontractors provide performing design-assist”  (Kelly, 2014).  Because of this, Kelly (2014) continues, “Design-assist blurs the line between designer and subcontractor and this is where a design responsibility dispute can start.”   There is a possibility without specific design-assist language in place, the design-assist subcontractor performing design-assist services, risks the change of additional design liability whether intentional or not, putting their companies at contractual risk.”</a:t>
            </a:r>
          </a:p>
          <a:p>
            <a:pPr marL="114300" indent="0">
              <a:buNone/>
            </a:pPr>
            <a:endParaRPr lang="en-US" sz="2800" dirty="0"/>
          </a:p>
          <a:p>
            <a:pPr marL="114300" indent="0">
              <a:buNone/>
            </a:pPr>
            <a:r>
              <a:rPr lang="en-US" sz="2800" dirty="0"/>
              <a:t>C. Rangel, B. </a:t>
            </a:r>
            <a:r>
              <a:rPr lang="en-US" sz="2800" dirty="0" err="1"/>
              <a:t>Benhart</a:t>
            </a:r>
            <a:r>
              <a:rPr lang="en-US" sz="2800" dirty="0"/>
              <a:t>, “Contractor’s Knowledge and Understanding of Design Assist Contracting Risk”, 54</a:t>
            </a:r>
            <a:r>
              <a:rPr lang="en-US" sz="2800" baseline="30000" dirty="0"/>
              <a:t>th</a:t>
            </a:r>
            <a:r>
              <a:rPr lang="en-US" sz="2800" dirty="0"/>
              <a:t> Annual International Conference Proceedings pp. 355-362 (2018). </a:t>
            </a:r>
          </a:p>
          <a:p>
            <a:endParaRPr lang="en-US" dirty="0"/>
          </a:p>
        </p:txBody>
      </p:sp>
      <p:sp>
        <p:nvSpPr>
          <p:cNvPr id="4" name="Slide Number Placeholder 3">
            <a:extLst>
              <a:ext uri="{FF2B5EF4-FFF2-40B4-BE49-F238E27FC236}">
                <a16:creationId xmlns:a16="http://schemas.microsoft.com/office/drawing/2014/main" id="{998B6AEC-3D80-F563-F236-9820B973C0BD}"/>
              </a:ext>
            </a:extLst>
          </p:cNvPr>
          <p:cNvSpPr>
            <a:spLocks noGrp="1"/>
          </p:cNvSpPr>
          <p:nvPr>
            <p:ph type="sldNum" sz="quarter" idx="12"/>
          </p:nvPr>
        </p:nvSpPr>
        <p:spPr/>
        <p:txBody>
          <a:bodyPr/>
          <a:lstStyle/>
          <a:p>
            <a:fld id="{C857CEEC-B959-4A37-A10B-AE2FE373736E}" type="slidenum">
              <a:rPr lang="en-US" smtClean="0"/>
              <a:pPr/>
              <a:t>14</a:t>
            </a:fld>
            <a:endParaRPr lang="en-US" dirty="0"/>
          </a:p>
        </p:txBody>
      </p:sp>
    </p:spTree>
    <p:extLst>
      <p:ext uri="{BB962C8B-B14F-4D97-AF65-F5344CB8AC3E}">
        <p14:creationId xmlns:p14="http://schemas.microsoft.com/office/powerpoint/2010/main" val="519953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42A3A-43CD-38B7-2EDF-B38F148B8814}"/>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BE9C7E7C-044D-4139-BE96-0B71E4136E8C}"/>
              </a:ext>
            </a:extLst>
          </p:cNvPr>
          <p:cNvSpPr>
            <a:spLocks noGrp="1"/>
          </p:cNvSpPr>
          <p:nvPr>
            <p:ph idx="1"/>
          </p:nvPr>
        </p:nvSpPr>
        <p:spPr/>
        <p:txBody>
          <a:bodyPr/>
          <a:lstStyle/>
          <a:p>
            <a:pPr marL="214313" indent="-214313">
              <a:buFont typeface="Arial" panose="020B0604020202020204" pitchFamily="34" charset="0"/>
              <a:buChar char="•"/>
            </a:pPr>
            <a:r>
              <a:rPr lang="en-US" sz="1600" dirty="0"/>
              <a:t>Clarity in Defining Contractor role in providing input as to permanent work design or its constructability</a:t>
            </a:r>
          </a:p>
          <a:p>
            <a:pPr marL="214313" indent="-214313">
              <a:buFont typeface="Arial" panose="020B0604020202020204" pitchFamily="34" charset="0"/>
              <a:buChar char="•"/>
            </a:pPr>
            <a:r>
              <a:rPr lang="en-US" sz="1600" dirty="0"/>
              <a:t>Clarity and Consistency in Assignment of Roles and Responsibilities of Project Participants</a:t>
            </a:r>
          </a:p>
          <a:p>
            <a:pPr marL="557213" lvl="1" indent="-214313">
              <a:buFont typeface="Arial" panose="020B0604020202020204" pitchFamily="34" charset="0"/>
              <a:buChar char="•"/>
            </a:pPr>
            <a:r>
              <a:rPr lang="en-US" sz="1600" dirty="0">
                <a:latin typeface="Arial Narrow" panose="020B0606020202030204" pitchFamily="34" charset="0"/>
              </a:rPr>
              <a:t>Design Professional of Record (“DPR”)</a:t>
            </a:r>
          </a:p>
          <a:p>
            <a:pPr marL="557213" lvl="1" indent="-214313">
              <a:buFont typeface="Arial" panose="020B0604020202020204" pitchFamily="34" charset="0"/>
              <a:buChar char="•"/>
            </a:pPr>
            <a:r>
              <a:rPr lang="en-US" sz="1600" dirty="0">
                <a:latin typeface="Arial Narrow" panose="020B0606020202030204" pitchFamily="34" charset="0"/>
              </a:rPr>
              <a:t>Design Assist Contractor</a:t>
            </a:r>
          </a:p>
          <a:p>
            <a:pPr marL="557213" lvl="1" indent="-214313">
              <a:buFont typeface="Arial" panose="020B0604020202020204" pitchFamily="34" charset="0"/>
              <a:buChar char="•"/>
            </a:pPr>
            <a:r>
              <a:rPr lang="en-US" sz="1600" dirty="0">
                <a:latin typeface="Arial Narrow" panose="020B0606020202030204" pitchFamily="34" charset="0"/>
              </a:rPr>
              <a:t>Design Consultant to Contractor</a:t>
            </a:r>
          </a:p>
          <a:p>
            <a:pPr marL="557213" lvl="1" indent="-214313">
              <a:buFont typeface="Arial" panose="020B0604020202020204" pitchFamily="34" charset="0"/>
              <a:buChar char="•"/>
            </a:pPr>
            <a:r>
              <a:rPr lang="en-US" sz="1600" dirty="0">
                <a:latin typeface="Arial Narrow" panose="020B0606020202030204" pitchFamily="34" charset="0"/>
              </a:rPr>
              <a:t>Interface, Integration, Coordination and Compatibility Responsibility</a:t>
            </a:r>
          </a:p>
          <a:p>
            <a:endParaRPr lang="en-US" dirty="0"/>
          </a:p>
        </p:txBody>
      </p:sp>
      <p:sp>
        <p:nvSpPr>
          <p:cNvPr id="4" name="Slide Number Placeholder 3">
            <a:extLst>
              <a:ext uri="{FF2B5EF4-FFF2-40B4-BE49-F238E27FC236}">
                <a16:creationId xmlns:a16="http://schemas.microsoft.com/office/drawing/2014/main" id="{7A8E906A-820C-1B06-F845-844C1E01F3D5}"/>
              </a:ext>
            </a:extLst>
          </p:cNvPr>
          <p:cNvSpPr>
            <a:spLocks noGrp="1"/>
          </p:cNvSpPr>
          <p:nvPr>
            <p:ph type="sldNum" sz="quarter" idx="12"/>
          </p:nvPr>
        </p:nvSpPr>
        <p:spPr/>
        <p:txBody>
          <a:bodyPr/>
          <a:lstStyle/>
          <a:p>
            <a:fld id="{C857CEEC-B959-4A37-A10B-AE2FE373736E}" type="slidenum">
              <a:rPr lang="en-US" smtClean="0"/>
              <a:pPr/>
              <a:t>15</a:t>
            </a:fld>
            <a:endParaRPr lang="en-US" dirty="0"/>
          </a:p>
        </p:txBody>
      </p:sp>
    </p:spTree>
    <p:extLst>
      <p:ext uri="{BB962C8B-B14F-4D97-AF65-F5344CB8AC3E}">
        <p14:creationId xmlns:p14="http://schemas.microsoft.com/office/powerpoint/2010/main" val="41039432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AFC5B-5616-AD26-9589-BC6FAE718CAC}"/>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237ECE1C-82A5-0146-FDD1-7B32C36DB4E8}"/>
              </a:ext>
            </a:extLst>
          </p:cNvPr>
          <p:cNvSpPr>
            <a:spLocks noGrp="1"/>
          </p:cNvSpPr>
          <p:nvPr>
            <p:ph idx="1"/>
          </p:nvPr>
        </p:nvSpPr>
        <p:spPr/>
        <p:txBody>
          <a:bodyPr/>
          <a:lstStyle/>
          <a:p>
            <a:pPr marL="214313" indent="-214313">
              <a:spcAft>
                <a:spcPts val="800"/>
              </a:spcAft>
              <a:buFont typeface="Arial" panose="020B0604020202020204" pitchFamily="34" charset="0"/>
              <a:buChar char="•"/>
            </a:pPr>
            <a:r>
              <a:rPr lang="en-US" sz="2000" dirty="0"/>
              <a:t>Significant variation and inconsistencies between (a) actual project participant performance </a:t>
            </a:r>
            <a:r>
              <a:rPr lang="en-US" sz="2000" u="sng" dirty="0"/>
              <a:t>and</a:t>
            </a:r>
            <a:r>
              <a:rPr lang="en-US" sz="2000" dirty="0"/>
              <a:t> (b) in contractual articulation and implementation of design assist process</a:t>
            </a:r>
          </a:p>
          <a:p>
            <a:pPr marL="214313" indent="-214313">
              <a:spcAft>
                <a:spcPts val="800"/>
              </a:spcAft>
              <a:buFont typeface="Arial" panose="020B0604020202020204" pitchFamily="34" charset="0"/>
              <a:buChar char="•"/>
            </a:pPr>
            <a:r>
              <a:rPr lang="en-US" sz="2000" dirty="0"/>
              <a:t>Dynamics and evolution as to design roles, responsibilities and risks in design assist context</a:t>
            </a:r>
          </a:p>
          <a:p>
            <a:pPr marL="214313" indent="-214313">
              <a:spcAft>
                <a:spcPts val="800"/>
              </a:spcAft>
              <a:buFont typeface="Arial" panose="020B0604020202020204" pitchFamily="34" charset="0"/>
              <a:buChar char="•"/>
            </a:pPr>
            <a:r>
              <a:rPr lang="en-US" sz="2000" dirty="0"/>
              <a:t>Those variations produce significant differences in roles, responsibilities and risks</a:t>
            </a:r>
          </a:p>
          <a:p>
            <a:pPr marL="214313" indent="-214313">
              <a:spcAft>
                <a:spcPts val="800"/>
              </a:spcAft>
              <a:buFont typeface="Arial" panose="020B0604020202020204" pitchFamily="34" charset="0"/>
              <a:buChar char="•"/>
            </a:pPr>
            <a:r>
              <a:rPr lang="en-US" sz="2000" dirty="0"/>
              <a:t>Legal principles and precedent – Limited, and in early developmental stage</a:t>
            </a:r>
          </a:p>
          <a:p>
            <a:pPr marL="214313" indent="-214313">
              <a:buFont typeface="Arial" panose="020B0604020202020204" pitchFamily="34" charset="0"/>
              <a:buChar char="•"/>
            </a:pPr>
            <a:r>
              <a:rPr lang="en-US" sz="2000" dirty="0"/>
              <a:t>Critical issues for Design Consultant and Design Professional of Record (“DPR”) functioning in Design Assist context</a:t>
            </a:r>
          </a:p>
          <a:p>
            <a:pPr marL="557213" lvl="1" indent="-214313">
              <a:buFont typeface="Arial" panose="020B0604020202020204" pitchFamily="34" charset="0"/>
              <a:buChar char="•"/>
            </a:pPr>
            <a:r>
              <a:rPr lang="en-US" sz="2000" dirty="0">
                <a:latin typeface="Arial Narrow" panose="020B0606020202030204" pitchFamily="34" charset="0"/>
              </a:rPr>
              <a:t>Clarity and consistency as to service scope, and design and other professional responsibilities</a:t>
            </a:r>
          </a:p>
          <a:p>
            <a:pPr marL="557213" lvl="1" indent="-214313">
              <a:buFont typeface="Arial" panose="020B0604020202020204" pitchFamily="34" charset="0"/>
              <a:buChar char="•"/>
            </a:pPr>
            <a:r>
              <a:rPr lang="en-US" sz="2000" dirty="0">
                <a:latin typeface="Arial Narrow" panose="020B0606020202030204" pitchFamily="34" charset="0"/>
              </a:rPr>
              <a:t>Risk allocation for defective design</a:t>
            </a:r>
          </a:p>
          <a:p>
            <a:pPr marL="557213" lvl="1" indent="-214313">
              <a:buFont typeface="Arial" panose="020B0604020202020204" pitchFamily="34" charset="0"/>
              <a:buChar char="•"/>
            </a:pPr>
            <a:r>
              <a:rPr lang="en-US" sz="2000" dirty="0">
                <a:latin typeface="Arial Narrow" panose="020B0606020202030204" pitchFamily="34" charset="0"/>
              </a:rPr>
              <a:t>Interface/compatibility of bifurcated design responsibility</a:t>
            </a:r>
          </a:p>
          <a:p>
            <a:endParaRPr lang="en-US" dirty="0"/>
          </a:p>
        </p:txBody>
      </p:sp>
      <p:sp>
        <p:nvSpPr>
          <p:cNvPr id="4" name="Slide Number Placeholder 3">
            <a:extLst>
              <a:ext uri="{FF2B5EF4-FFF2-40B4-BE49-F238E27FC236}">
                <a16:creationId xmlns:a16="http://schemas.microsoft.com/office/drawing/2014/main" id="{E647DC3B-EE63-BB68-BEE9-8A063030D21E}"/>
              </a:ext>
            </a:extLst>
          </p:cNvPr>
          <p:cNvSpPr>
            <a:spLocks noGrp="1"/>
          </p:cNvSpPr>
          <p:nvPr>
            <p:ph type="sldNum" sz="quarter" idx="12"/>
          </p:nvPr>
        </p:nvSpPr>
        <p:spPr/>
        <p:txBody>
          <a:bodyPr/>
          <a:lstStyle/>
          <a:p>
            <a:fld id="{C857CEEC-B959-4A37-A10B-AE2FE373736E}" type="slidenum">
              <a:rPr lang="en-US" smtClean="0"/>
              <a:pPr/>
              <a:t>16</a:t>
            </a:fld>
            <a:endParaRPr lang="en-US" dirty="0"/>
          </a:p>
        </p:txBody>
      </p:sp>
    </p:spTree>
    <p:extLst>
      <p:ext uri="{BB962C8B-B14F-4D97-AF65-F5344CB8AC3E}">
        <p14:creationId xmlns:p14="http://schemas.microsoft.com/office/powerpoint/2010/main" val="417480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48EC3-DC5E-E2CD-C8E1-7763A7C72CC9}"/>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06C033D9-A320-0E68-A458-9D85AE78BAA6}"/>
              </a:ext>
            </a:extLst>
          </p:cNvPr>
          <p:cNvSpPr>
            <a:spLocks noGrp="1"/>
          </p:cNvSpPr>
          <p:nvPr>
            <p:ph idx="1"/>
          </p:nvPr>
        </p:nvSpPr>
        <p:spPr>
          <a:xfrm>
            <a:off x="1595336" y="1825625"/>
            <a:ext cx="9758464" cy="2970111"/>
          </a:xfrm>
        </p:spPr>
        <p:txBody>
          <a:bodyPr>
            <a:normAutofit fontScale="92500" lnSpcReduction="10000"/>
          </a:bodyPr>
          <a:lstStyle/>
          <a:p>
            <a:r>
              <a:rPr lang="en-US" u="sng" dirty="0" err="1"/>
              <a:t>Coghlin</a:t>
            </a:r>
            <a:r>
              <a:rPr lang="en-US" u="sng" dirty="0"/>
              <a:t> Electrical Contractors, Inc. v. Gilbane Building Company</a:t>
            </a:r>
            <a:r>
              <a:rPr lang="en-US" dirty="0"/>
              <a:t>, 472 Mass. 549 (2015)</a:t>
            </a:r>
          </a:p>
          <a:p>
            <a:endParaRPr lang="en-US" u="sng" dirty="0"/>
          </a:p>
          <a:p>
            <a:r>
              <a:rPr lang="en-US" u="sng" dirty="0"/>
              <a:t>Project</a:t>
            </a:r>
            <a:r>
              <a:rPr lang="en-US" dirty="0"/>
              <a:t>:  DCAM project for design and construction of a 320-bed psychiatric facility</a:t>
            </a:r>
          </a:p>
          <a:p>
            <a:endParaRPr lang="en-US" u="sng" dirty="0"/>
          </a:p>
          <a:p>
            <a:r>
              <a:rPr lang="en-US" u="sng" dirty="0"/>
              <a:t>Delivery Method</a:t>
            </a:r>
            <a:r>
              <a:rPr lang="en-US" dirty="0"/>
              <a:t>:  CMAR</a:t>
            </a:r>
            <a:endParaRPr lang="en-US" u="sng" dirty="0"/>
          </a:p>
          <a:p>
            <a:endParaRPr lang="en-US" dirty="0"/>
          </a:p>
        </p:txBody>
      </p:sp>
      <p:sp>
        <p:nvSpPr>
          <p:cNvPr id="4" name="Slide Number Placeholder 3">
            <a:extLst>
              <a:ext uri="{FF2B5EF4-FFF2-40B4-BE49-F238E27FC236}">
                <a16:creationId xmlns:a16="http://schemas.microsoft.com/office/drawing/2014/main" id="{08B04D2F-2F5F-911C-75F7-7AFDC95BBB80}"/>
              </a:ext>
            </a:extLst>
          </p:cNvPr>
          <p:cNvSpPr>
            <a:spLocks noGrp="1"/>
          </p:cNvSpPr>
          <p:nvPr>
            <p:ph type="sldNum" sz="quarter" idx="12"/>
          </p:nvPr>
        </p:nvSpPr>
        <p:spPr/>
        <p:txBody>
          <a:bodyPr/>
          <a:lstStyle/>
          <a:p>
            <a:fld id="{C857CEEC-B959-4A37-A10B-AE2FE373736E}" type="slidenum">
              <a:rPr lang="en-US" smtClean="0"/>
              <a:pPr/>
              <a:t>17</a:t>
            </a:fld>
            <a:endParaRPr lang="en-US" dirty="0"/>
          </a:p>
        </p:txBody>
      </p:sp>
      <p:graphicFrame>
        <p:nvGraphicFramePr>
          <p:cNvPr id="7" name="Table 6">
            <a:extLst>
              <a:ext uri="{FF2B5EF4-FFF2-40B4-BE49-F238E27FC236}">
                <a16:creationId xmlns:a16="http://schemas.microsoft.com/office/drawing/2014/main" id="{F979400E-1DC9-4CFF-8C1D-F38C52417125}"/>
              </a:ext>
            </a:extLst>
          </p:cNvPr>
          <p:cNvGraphicFramePr>
            <a:graphicFrameLocks noGrp="1"/>
          </p:cNvGraphicFramePr>
          <p:nvPr>
            <p:extLst>
              <p:ext uri="{D42A27DB-BD31-4B8C-83A1-F6EECF244321}">
                <p14:modId xmlns:p14="http://schemas.microsoft.com/office/powerpoint/2010/main" val="3245104153"/>
              </p:ext>
            </p:extLst>
          </p:nvPr>
        </p:nvGraphicFramePr>
        <p:xfrm>
          <a:off x="2398736" y="4729904"/>
          <a:ext cx="6275904" cy="1925740"/>
        </p:xfrm>
        <a:graphic>
          <a:graphicData uri="http://schemas.openxmlformats.org/drawingml/2006/table">
            <a:tbl>
              <a:tblPr firstRow="1" bandRow="1">
                <a:tableStyleId>{5C22544A-7EE6-4342-B048-85BDC9FD1C3A}</a:tableStyleId>
              </a:tblPr>
              <a:tblGrid>
                <a:gridCol w="2091968">
                  <a:extLst>
                    <a:ext uri="{9D8B030D-6E8A-4147-A177-3AD203B41FA5}">
                      <a16:colId xmlns:a16="http://schemas.microsoft.com/office/drawing/2014/main" val="2746519042"/>
                    </a:ext>
                  </a:extLst>
                </a:gridCol>
                <a:gridCol w="2091968">
                  <a:extLst>
                    <a:ext uri="{9D8B030D-6E8A-4147-A177-3AD203B41FA5}">
                      <a16:colId xmlns:a16="http://schemas.microsoft.com/office/drawing/2014/main" val="2288174147"/>
                    </a:ext>
                  </a:extLst>
                </a:gridCol>
                <a:gridCol w="2091968">
                  <a:extLst>
                    <a:ext uri="{9D8B030D-6E8A-4147-A177-3AD203B41FA5}">
                      <a16:colId xmlns:a16="http://schemas.microsoft.com/office/drawing/2014/main" val="3699032312"/>
                    </a:ext>
                  </a:extLst>
                </a:gridCol>
              </a:tblGrid>
              <a:tr h="427942">
                <a:tc>
                  <a:txBody>
                    <a:bodyPr/>
                    <a:lstStyle/>
                    <a:p>
                      <a:endParaRPr lang="en-US" dirty="0"/>
                    </a:p>
                  </a:txBody>
                  <a:tcPr>
                    <a:solidFill>
                      <a:srgbClr val="3333CC"/>
                    </a:solidFill>
                  </a:tcPr>
                </a:tc>
                <a:tc>
                  <a:txBody>
                    <a:bodyPr/>
                    <a:lstStyle/>
                    <a:p>
                      <a:pPr algn="ctr"/>
                      <a:r>
                        <a:rPr lang="en-US" dirty="0"/>
                        <a:t>DCAM</a:t>
                      </a:r>
                    </a:p>
                  </a:txBody>
                  <a:tcPr>
                    <a:solidFill>
                      <a:srgbClr val="3333CC"/>
                    </a:solidFill>
                  </a:tcPr>
                </a:tc>
                <a:tc>
                  <a:txBody>
                    <a:bodyPr/>
                    <a:lstStyle/>
                    <a:p>
                      <a:endParaRPr lang="en-US"/>
                    </a:p>
                  </a:txBody>
                  <a:tcPr>
                    <a:solidFill>
                      <a:srgbClr val="3333CC"/>
                    </a:solidFill>
                  </a:tcPr>
                </a:tc>
                <a:extLst>
                  <a:ext uri="{0D108BD9-81ED-4DB2-BD59-A6C34878D82A}">
                    <a16:rowId xmlns:a16="http://schemas.microsoft.com/office/drawing/2014/main" val="1442755142"/>
                  </a:ext>
                </a:extLst>
              </a:tr>
              <a:tr h="748899">
                <a:tc>
                  <a:txBody>
                    <a:bodyPr/>
                    <a:lstStyle/>
                    <a:p>
                      <a:endParaRPr lang="en-US" dirty="0">
                        <a:solidFill>
                          <a:schemeClr val="bg1"/>
                        </a:solidFill>
                      </a:endParaRPr>
                    </a:p>
                    <a:p>
                      <a:r>
                        <a:rPr lang="en-US" dirty="0">
                          <a:solidFill>
                            <a:schemeClr val="bg1"/>
                          </a:solidFill>
                        </a:rPr>
                        <a:t>Architect</a:t>
                      </a:r>
                    </a:p>
                  </a:txBody>
                  <a:tcPr>
                    <a:solidFill>
                      <a:srgbClr val="3333CC"/>
                    </a:solidFill>
                  </a:tcPr>
                </a:tc>
                <a:tc>
                  <a:txBody>
                    <a:bodyPr/>
                    <a:lstStyle/>
                    <a:p>
                      <a:endParaRPr lang="en-US" dirty="0"/>
                    </a:p>
                  </a:txBody>
                  <a:tcPr>
                    <a:solidFill>
                      <a:srgbClr val="3333CC"/>
                    </a:solidFill>
                  </a:tcPr>
                </a:tc>
                <a:tc>
                  <a:txBody>
                    <a:bodyPr/>
                    <a:lstStyle/>
                    <a:p>
                      <a:endParaRPr lang="en-US" dirty="0">
                        <a:solidFill>
                          <a:schemeClr val="bg1"/>
                        </a:solidFill>
                      </a:endParaRPr>
                    </a:p>
                    <a:p>
                      <a:r>
                        <a:rPr lang="en-US" dirty="0">
                          <a:solidFill>
                            <a:schemeClr val="bg1"/>
                          </a:solidFill>
                        </a:rPr>
                        <a:t>Gilbane</a:t>
                      </a:r>
                    </a:p>
                  </a:txBody>
                  <a:tcPr>
                    <a:solidFill>
                      <a:srgbClr val="3333CC"/>
                    </a:solidFill>
                  </a:tcPr>
                </a:tc>
                <a:extLst>
                  <a:ext uri="{0D108BD9-81ED-4DB2-BD59-A6C34878D82A}">
                    <a16:rowId xmlns:a16="http://schemas.microsoft.com/office/drawing/2014/main" val="920222799"/>
                  </a:ext>
                </a:extLst>
              </a:tr>
              <a:tr h="748899">
                <a:tc>
                  <a:txBody>
                    <a:bodyPr/>
                    <a:lstStyle/>
                    <a:p>
                      <a:endParaRPr lang="en-US" dirty="0"/>
                    </a:p>
                  </a:txBody>
                  <a:tcPr>
                    <a:solidFill>
                      <a:srgbClr val="3333CC"/>
                    </a:solidFill>
                  </a:tcPr>
                </a:tc>
                <a:tc>
                  <a:txBody>
                    <a:bodyPr/>
                    <a:lstStyle/>
                    <a:p>
                      <a:endParaRPr lang="en-US" dirty="0"/>
                    </a:p>
                  </a:txBody>
                  <a:tcPr>
                    <a:solidFill>
                      <a:srgbClr val="3333CC"/>
                    </a:solidFill>
                  </a:tcPr>
                </a:tc>
                <a:tc>
                  <a:txBody>
                    <a:bodyPr/>
                    <a:lstStyle/>
                    <a:p>
                      <a:endParaRPr lang="en-US" dirty="0">
                        <a:solidFill>
                          <a:schemeClr val="bg1"/>
                        </a:solidFill>
                      </a:endParaRPr>
                    </a:p>
                    <a:p>
                      <a:r>
                        <a:rPr lang="en-US" dirty="0" err="1">
                          <a:solidFill>
                            <a:schemeClr val="bg1"/>
                          </a:solidFill>
                        </a:rPr>
                        <a:t>Coghlin</a:t>
                      </a:r>
                      <a:r>
                        <a:rPr lang="en-US" dirty="0">
                          <a:solidFill>
                            <a:schemeClr val="bg1"/>
                          </a:solidFill>
                        </a:rPr>
                        <a:t> Electrical</a:t>
                      </a:r>
                    </a:p>
                  </a:txBody>
                  <a:tcPr>
                    <a:solidFill>
                      <a:srgbClr val="3333CC"/>
                    </a:solidFill>
                  </a:tcPr>
                </a:tc>
                <a:extLst>
                  <a:ext uri="{0D108BD9-81ED-4DB2-BD59-A6C34878D82A}">
                    <a16:rowId xmlns:a16="http://schemas.microsoft.com/office/drawing/2014/main" val="1163133983"/>
                  </a:ext>
                </a:extLst>
              </a:tr>
            </a:tbl>
          </a:graphicData>
        </a:graphic>
      </p:graphicFrame>
      <p:cxnSp>
        <p:nvCxnSpPr>
          <p:cNvPr id="8" name="Straight Connector 7">
            <a:extLst>
              <a:ext uri="{FF2B5EF4-FFF2-40B4-BE49-F238E27FC236}">
                <a16:creationId xmlns:a16="http://schemas.microsoft.com/office/drawing/2014/main" id="{6C480669-63A6-440D-A8AB-A6839E32ECE5}"/>
              </a:ext>
            </a:extLst>
          </p:cNvPr>
          <p:cNvCxnSpPr>
            <a:cxnSpLocks/>
          </p:cNvCxnSpPr>
          <p:nvPr/>
        </p:nvCxnSpPr>
        <p:spPr>
          <a:xfrm flipH="1">
            <a:off x="5050970" y="5352938"/>
            <a:ext cx="1752600" cy="22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6E3A1AC-35D3-4C16-9253-E093DD326899}"/>
              </a:ext>
            </a:extLst>
          </p:cNvPr>
          <p:cNvCxnSpPr>
            <a:cxnSpLocks/>
          </p:cNvCxnSpPr>
          <p:nvPr/>
        </p:nvCxnSpPr>
        <p:spPr>
          <a:xfrm>
            <a:off x="7108370" y="5342753"/>
            <a:ext cx="1143000" cy="2286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28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202CE-EE40-BCF7-BA34-0F6611D0DB87}"/>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EBE59C42-8ECD-631D-4356-54D452E51864}"/>
              </a:ext>
            </a:extLst>
          </p:cNvPr>
          <p:cNvSpPr>
            <a:spLocks noGrp="1"/>
          </p:cNvSpPr>
          <p:nvPr>
            <p:ph idx="1"/>
          </p:nvPr>
        </p:nvSpPr>
        <p:spPr/>
        <p:txBody>
          <a:bodyPr/>
          <a:lstStyle/>
          <a:p>
            <a:r>
              <a:rPr lang="en-US" u="sng" dirty="0"/>
              <a:t>Dispute</a:t>
            </a:r>
            <a:r>
              <a:rPr lang="en-US" dirty="0"/>
              <a:t>:  </a:t>
            </a:r>
            <a:r>
              <a:rPr lang="en-US" dirty="0" err="1"/>
              <a:t>Coghlin</a:t>
            </a:r>
            <a:r>
              <a:rPr lang="en-US" dirty="0"/>
              <a:t> Electrical sued Gilbane for several million dollars in additional costs incurred from alleged scheduling, coordination, management and design errors .  Gilbane sued DCAM, contending that DCAM had implied warranty [or </a:t>
            </a:r>
            <a:r>
              <a:rPr lang="en-US" u="sng" dirty="0" err="1"/>
              <a:t>Spearin</a:t>
            </a:r>
            <a:r>
              <a:rPr lang="en-US" dirty="0"/>
              <a:t>] responsibilities to indemnify Gilbane for </a:t>
            </a:r>
            <a:r>
              <a:rPr lang="en-US" dirty="0" err="1"/>
              <a:t>Coghlin</a:t>
            </a:r>
            <a:r>
              <a:rPr lang="en-US" dirty="0"/>
              <a:t> </a:t>
            </a:r>
            <a:r>
              <a:rPr lang="en-US" dirty="0" err="1"/>
              <a:t>Electrical’s</a:t>
            </a:r>
            <a:r>
              <a:rPr lang="en-US" dirty="0"/>
              <a:t> claims against Gilbane.  DCAM defended on the basis that the implied warranty obligation did not apply in CMAR delivery given Gilbane’s contractual obligations to provide pre-construction services.</a:t>
            </a:r>
            <a:endParaRPr lang="en-US" u="sng" dirty="0"/>
          </a:p>
          <a:p>
            <a:endParaRPr lang="en-US" dirty="0"/>
          </a:p>
        </p:txBody>
      </p:sp>
      <p:sp>
        <p:nvSpPr>
          <p:cNvPr id="4" name="Slide Number Placeholder 3">
            <a:extLst>
              <a:ext uri="{FF2B5EF4-FFF2-40B4-BE49-F238E27FC236}">
                <a16:creationId xmlns:a16="http://schemas.microsoft.com/office/drawing/2014/main" id="{647437F9-BB7D-3CA7-BA5C-3BE0857E5BB0}"/>
              </a:ext>
            </a:extLst>
          </p:cNvPr>
          <p:cNvSpPr>
            <a:spLocks noGrp="1"/>
          </p:cNvSpPr>
          <p:nvPr>
            <p:ph type="sldNum" sz="quarter" idx="12"/>
          </p:nvPr>
        </p:nvSpPr>
        <p:spPr/>
        <p:txBody>
          <a:bodyPr/>
          <a:lstStyle/>
          <a:p>
            <a:fld id="{C857CEEC-B959-4A37-A10B-AE2FE373736E}" type="slidenum">
              <a:rPr lang="en-US" smtClean="0"/>
              <a:pPr/>
              <a:t>18</a:t>
            </a:fld>
            <a:endParaRPr lang="en-US" dirty="0"/>
          </a:p>
        </p:txBody>
      </p:sp>
    </p:spTree>
    <p:extLst>
      <p:ext uri="{BB962C8B-B14F-4D97-AF65-F5344CB8AC3E}">
        <p14:creationId xmlns:p14="http://schemas.microsoft.com/office/powerpoint/2010/main" val="2181450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A6C8B-25B5-C514-E2B5-51B5FCE799DF}"/>
              </a:ext>
            </a:extLst>
          </p:cNvPr>
          <p:cNvSpPr>
            <a:spLocks noGrp="1"/>
          </p:cNvSpPr>
          <p:nvPr>
            <p:ph type="title"/>
          </p:nvPr>
        </p:nvSpPr>
        <p:spPr/>
        <p:txBody>
          <a:bodyPr/>
          <a:lstStyle/>
          <a:p>
            <a:endParaRPr lang="en-US"/>
          </a:p>
        </p:txBody>
      </p:sp>
      <p:sp>
        <p:nvSpPr>
          <p:cNvPr id="4" name="Slide Number Placeholder 3">
            <a:extLst>
              <a:ext uri="{FF2B5EF4-FFF2-40B4-BE49-F238E27FC236}">
                <a16:creationId xmlns:a16="http://schemas.microsoft.com/office/drawing/2014/main" id="{F2B524D8-9E24-EB3D-8A09-35669A6EF544}"/>
              </a:ext>
            </a:extLst>
          </p:cNvPr>
          <p:cNvSpPr>
            <a:spLocks noGrp="1"/>
          </p:cNvSpPr>
          <p:nvPr>
            <p:ph type="sldNum" sz="quarter" idx="12"/>
          </p:nvPr>
        </p:nvSpPr>
        <p:spPr/>
        <p:txBody>
          <a:bodyPr/>
          <a:lstStyle/>
          <a:p>
            <a:fld id="{C857CEEC-B959-4A37-A10B-AE2FE373736E}" type="slidenum">
              <a:rPr lang="en-US" smtClean="0"/>
              <a:pPr/>
              <a:t>19</a:t>
            </a:fld>
            <a:endParaRPr lang="en-US" dirty="0"/>
          </a:p>
        </p:txBody>
      </p:sp>
      <p:sp>
        <p:nvSpPr>
          <p:cNvPr id="6" name="Content Placeholder 5">
            <a:extLst>
              <a:ext uri="{FF2B5EF4-FFF2-40B4-BE49-F238E27FC236}">
                <a16:creationId xmlns:a16="http://schemas.microsoft.com/office/drawing/2014/main" id="{D81CB0A2-E06C-D3A7-4438-8A3284B0AA27}"/>
              </a:ext>
            </a:extLst>
          </p:cNvPr>
          <p:cNvSpPr>
            <a:spLocks noGrp="1"/>
          </p:cNvSpPr>
          <p:nvPr>
            <p:ph idx="1"/>
          </p:nvPr>
        </p:nvSpPr>
        <p:spPr/>
        <p:txBody>
          <a:bodyPr/>
          <a:lstStyle/>
          <a:p>
            <a:pPr marL="0" indent="0">
              <a:buNone/>
            </a:pPr>
            <a:r>
              <a:rPr lang="en-US" dirty="0"/>
              <a:t>NEED TO ADD SLIDE</a:t>
            </a:r>
          </a:p>
          <a:p>
            <a:pPr marL="0" indent="0">
              <a:buNone/>
            </a:pPr>
            <a:r>
              <a:rPr lang="en-US" dirty="0"/>
              <a:t>From page 28 sept 2022 rt</a:t>
            </a:r>
          </a:p>
        </p:txBody>
      </p:sp>
      <p:graphicFrame>
        <p:nvGraphicFramePr>
          <p:cNvPr id="5" name="Table 4">
            <a:extLst>
              <a:ext uri="{FF2B5EF4-FFF2-40B4-BE49-F238E27FC236}">
                <a16:creationId xmlns:a16="http://schemas.microsoft.com/office/drawing/2014/main" id="{5E2143E2-1A9C-4590-884B-12E948E2B5DD}"/>
              </a:ext>
            </a:extLst>
          </p:cNvPr>
          <p:cNvGraphicFramePr>
            <a:graphicFrameLocks noGrp="1"/>
          </p:cNvGraphicFramePr>
          <p:nvPr>
            <p:extLst>
              <p:ext uri="{D42A27DB-BD31-4B8C-83A1-F6EECF244321}">
                <p14:modId xmlns:p14="http://schemas.microsoft.com/office/powerpoint/2010/main" val="2278150292"/>
              </p:ext>
            </p:extLst>
          </p:nvPr>
        </p:nvGraphicFramePr>
        <p:xfrm>
          <a:off x="1929493" y="3039110"/>
          <a:ext cx="8534400" cy="2865120"/>
        </p:xfrm>
        <a:graphic>
          <a:graphicData uri="http://schemas.openxmlformats.org/drawingml/2006/table">
            <a:tbl>
              <a:tblPr firstRow="1" bandRow="1">
                <a:tableStyleId>{5C22544A-7EE6-4342-B048-85BDC9FD1C3A}</a:tableStyleId>
              </a:tblPr>
              <a:tblGrid>
                <a:gridCol w="1778000">
                  <a:extLst>
                    <a:ext uri="{9D8B030D-6E8A-4147-A177-3AD203B41FA5}">
                      <a16:colId xmlns:a16="http://schemas.microsoft.com/office/drawing/2014/main" val="2308191011"/>
                    </a:ext>
                  </a:extLst>
                </a:gridCol>
                <a:gridCol w="6756400">
                  <a:extLst>
                    <a:ext uri="{9D8B030D-6E8A-4147-A177-3AD203B41FA5}">
                      <a16:colId xmlns:a16="http://schemas.microsoft.com/office/drawing/2014/main" val="1600705196"/>
                    </a:ext>
                  </a:extLst>
                </a:gridCol>
              </a:tblGrid>
              <a:tr h="2570480">
                <a:tc>
                  <a:txBody>
                    <a:bodyPr/>
                    <a:lstStyle/>
                    <a:p>
                      <a:r>
                        <a:rPr lang="en-US" sz="1400" u="sng" dirty="0"/>
                        <a:t>Relevant CMAR Contract Terms:</a:t>
                      </a:r>
                    </a:p>
                    <a:p>
                      <a:endParaRPr lang="en-US" sz="1400" u="sng" dirty="0"/>
                    </a:p>
                    <a:p>
                      <a:endParaRPr lang="en-US" sz="1400" u="sng" dirty="0"/>
                    </a:p>
                    <a:p>
                      <a:endParaRPr lang="en-US" sz="1400" u="sng" dirty="0"/>
                    </a:p>
                    <a:p>
                      <a:endParaRPr lang="en-US" sz="1400" u="sng" dirty="0"/>
                    </a:p>
                    <a:p>
                      <a:endParaRPr lang="en-US" sz="1400" u="sng" dirty="0"/>
                    </a:p>
                    <a:p>
                      <a:endParaRPr lang="en-US" sz="1400" u="sng" dirty="0"/>
                    </a:p>
                    <a:p>
                      <a:r>
                        <a:rPr lang="en-US" sz="1400" u="sng" dirty="0"/>
                        <a:t>Supreme Judicial Court Decision</a:t>
                      </a:r>
                      <a:r>
                        <a:rPr lang="en-US" sz="1400" u="none" dirty="0"/>
                        <a:t>:</a:t>
                      </a:r>
                      <a:endParaRPr lang="en-US" sz="1400" u="sng" dirty="0"/>
                    </a:p>
                  </a:txBody>
                  <a:tcPr/>
                </a:tc>
                <a:tc>
                  <a:txBody>
                    <a:bodyPr/>
                    <a:lstStyle/>
                    <a:p>
                      <a:pPr marL="285750" indent="-285750">
                        <a:buFont typeface="Arial" panose="020B0604020202020204" pitchFamily="34" charset="0"/>
                        <a:buChar char="•"/>
                      </a:pPr>
                      <a:r>
                        <a:rPr lang="en-US" sz="1400" dirty="0"/>
                        <a:t>“The CM shall review, on a continuous basis, development of the Drawings, Specifications or other design documents produced by the Designer… Review of the documents is to discover inconsistencies, errors and omissions between and within design disciplines… Without limitation, the CM shall review the design documents for clarity, consistency, constructability, maintainability/operability.”</a:t>
                      </a:r>
                    </a:p>
                    <a:p>
                      <a:pPr marL="285750" indent="-285750">
                        <a:buFont typeface="Arial" panose="020B0604020202020204" pitchFamily="34" charset="0"/>
                        <a:buChar char="•"/>
                      </a:pPr>
                      <a:endParaRPr lang="en-US" sz="1400" dirty="0"/>
                    </a:p>
                    <a:p>
                      <a:pPr marL="285750" indent="-285750">
                        <a:buFont typeface="Arial" panose="020B0604020202020204" pitchFamily="34" charset="0"/>
                        <a:buChar char="•"/>
                      </a:pPr>
                      <a:endParaRPr lang="en-US" sz="1400" dirty="0"/>
                    </a:p>
                    <a:p>
                      <a:pPr marL="285750" indent="-285750">
                        <a:buFont typeface="Arial" panose="020B0604020202020204" pitchFamily="34" charset="0"/>
                        <a:buChar char="•"/>
                      </a:pPr>
                      <a:r>
                        <a:rPr lang="en-US" sz="1400" dirty="0"/>
                        <a:t>Owner’s Implied Warranty obligation applies in CMAR [and Design Assist] context.</a:t>
                      </a:r>
                    </a:p>
                    <a:p>
                      <a:pPr marL="285750" indent="-285750">
                        <a:buFont typeface="Arial" panose="020B0604020202020204" pitchFamily="34" charset="0"/>
                        <a:buChar char="•"/>
                      </a:pPr>
                      <a:r>
                        <a:rPr lang="en-US" sz="1400" dirty="0"/>
                        <a:t>The Owner and its Design Professional of Record remain responsible for design adequacy in CMAR [and Design Assist]</a:t>
                      </a:r>
                    </a:p>
                    <a:p>
                      <a:pPr marL="285750" indent="-285750">
                        <a:buFont typeface="Arial" panose="020B0604020202020204" pitchFamily="34" charset="0"/>
                        <a:buChar char="•"/>
                      </a:pPr>
                      <a:r>
                        <a:rPr lang="en-US" sz="1400" dirty="0"/>
                        <a:t>However, the scope of that design responsibility may vary in those delivery approaches and be more limited based on contractual assignment to CMAR [or Design Assist Contractor] of roles, responsibilities and risks.</a:t>
                      </a:r>
                    </a:p>
                  </a:txBody>
                  <a:tcPr/>
                </a:tc>
                <a:extLst>
                  <a:ext uri="{0D108BD9-81ED-4DB2-BD59-A6C34878D82A}">
                    <a16:rowId xmlns:a16="http://schemas.microsoft.com/office/drawing/2014/main" val="1450323074"/>
                  </a:ext>
                </a:extLst>
              </a:tr>
            </a:tbl>
          </a:graphicData>
        </a:graphic>
      </p:graphicFrame>
    </p:spTree>
    <p:extLst>
      <p:ext uri="{BB962C8B-B14F-4D97-AF65-F5344CB8AC3E}">
        <p14:creationId xmlns:p14="http://schemas.microsoft.com/office/powerpoint/2010/main" val="5673616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FA817-6309-CF34-FC92-DBDC6D527AA1}"/>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64D0B126-9DEF-FE6E-045C-2B01484BE5AA}"/>
              </a:ext>
            </a:extLst>
          </p:cNvPr>
          <p:cNvSpPr>
            <a:spLocks noGrp="1"/>
          </p:cNvSpPr>
          <p:nvPr>
            <p:ph idx="1"/>
          </p:nvPr>
        </p:nvSpPr>
        <p:spPr/>
        <p:txBody>
          <a:bodyPr>
            <a:normAutofit fontScale="62500" lnSpcReduction="20000"/>
          </a:bodyPr>
          <a:lstStyle/>
          <a:p>
            <a:pPr marL="114300" indent="0">
              <a:spcAft>
                <a:spcPts val="600"/>
              </a:spcAft>
              <a:buNone/>
            </a:pPr>
            <a:r>
              <a:rPr lang="en-US" sz="3600" b="1" dirty="0"/>
              <a:t>Design Risk Allocation As Between Owner and Design Assist Entity</a:t>
            </a:r>
          </a:p>
          <a:p>
            <a:pPr marL="114300" indent="0">
              <a:spcAft>
                <a:spcPts val="600"/>
              </a:spcAft>
              <a:buNone/>
            </a:pPr>
            <a:r>
              <a:rPr lang="en-US" sz="2800" b="1" dirty="0"/>
              <a:t>“</a:t>
            </a:r>
            <a:r>
              <a:rPr lang="en-US" sz="2800" dirty="0"/>
              <a:t>Although the owner’s implied warranty applies in a public construction management at risk contract, the differences between the responsibilities of a general contractor in a design-bid-build project and those of a CMAR affect the scope of the implied warranty.  The general contractor in a design-bid-build project may benefit from the implied warranty where it relied on the plans and specifications in good faith, but the CMAR may benefit from the implied warranty only where it has acted in good faith reliance on the design </a:t>
            </a:r>
            <a:r>
              <a:rPr lang="en-US" sz="2800" i="1" dirty="0"/>
              <a:t>and</a:t>
            </a:r>
            <a:r>
              <a:rPr lang="en-US" sz="2800" dirty="0"/>
              <a:t> acted reasonably in light of the CMAR’s own design responsibilities. The CMAR’s level of participation in the design phase of the project and the extent to which the contract delegates design responsibility to the CMAR may affect a fact finder’s determination as to whether the CMAR’s reliance was reasonable. The greater the CMAR’s design responsibilities in the contract, the greater the CMAR’s burden will be to show, when it seeks to establish the owner’s liability under the implied warranty, that its reliance on the defective design was both reasonable and in good faith.  </a:t>
            </a:r>
            <a:r>
              <a:rPr lang="en-US" sz="2800" i="1" dirty="0"/>
              <a:t>See</a:t>
            </a:r>
            <a:r>
              <a:rPr lang="en-US" sz="2800" dirty="0"/>
              <a:t> generally </a:t>
            </a:r>
            <a:r>
              <a:rPr lang="en-US" sz="2800" i="1" dirty="0"/>
              <a:t>Sweet &amp; </a:t>
            </a:r>
            <a:r>
              <a:rPr lang="en-US" sz="2800" i="1" dirty="0" err="1"/>
              <a:t>Schneier</a:t>
            </a:r>
            <a:r>
              <a:rPr lang="en-US" sz="2800" dirty="0"/>
              <a:t>, supra at §14.04 (“all of the modern variations [on the design-bid-build method] have as a common denominator: a blurring of the lines of responsibility”).  …The amount of recoverable damages may be limited to that which is caused by the CMAR’s reasonable and good faith reliance on design defects that constitute a breach of the implied warranty.</a:t>
            </a:r>
            <a:r>
              <a:rPr lang="en-US" sz="2800" b="1" dirty="0"/>
              <a:t>”</a:t>
            </a:r>
            <a:r>
              <a:rPr lang="en-US" sz="2800" dirty="0"/>
              <a:t>*</a:t>
            </a:r>
            <a:endParaRPr lang="en-US" sz="3200" dirty="0"/>
          </a:p>
          <a:p>
            <a:pPr marL="114300" indent="0">
              <a:buNone/>
            </a:pPr>
            <a:r>
              <a:rPr lang="en-US" sz="2400" dirty="0"/>
              <a:t>*</a:t>
            </a:r>
            <a:r>
              <a:rPr lang="en-US" sz="2400" i="1" dirty="0" err="1"/>
              <a:t>Coghlin</a:t>
            </a:r>
            <a:r>
              <a:rPr lang="en-US" sz="2400" i="1" dirty="0"/>
              <a:t> Electrical Contractors, Inc. v. Gilbane Building Company</a:t>
            </a:r>
            <a:r>
              <a:rPr lang="en-US" sz="2400" dirty="0"/>
              <a:t>, 472 Mass. 549 (2015) </a:t>
            </a:r>
          </a:p>
          <a:p>
            <a:pPr marL="114300" indent="0">
              <a:buNone/>
            </a:pPr>
            <a:r>
              <a:rPr lang="en-US" sz="2400" dirty="0"/>
              <a:t>D. J. Hatem</a:t>
            </a:r>
            <a:r>
              <a:rPr lang="en-US" sz="2400" i="1" dirty="0"/>
              <a:t>, Recent CM-At-Risk Massachusetts Supreme Judicial Court Decision – What Does It Mean for Project Participants</a:t>
            </a:r>
            <a:r>
              <a:rPr lang="en-US" sz="2400" dirty="0"/>
              <a:t>, ACEC Insights (Summer/Fall 2015</a:t>
            </a:r>
            <a:r>
              <a:rPr lang="en-US" sz="2400" i="1" dirty="0"/>
              <a:t>)</a:t>
            </a:r>
            <a:endParaRPr lang="en-US" sz="2400" u="sng" dirty="0"/>
          </a:p>
          <a:p>
            <a:endParaRPr lang="en-US" dirty="0"/>
          </a:p>
        </p:txBody>
      </p:sp>
      <p:sp>
        <p:nvSpPr>
          <p:cNvPr id="4" name="Slide Number Placeholder 3">
            <a:extLst>
              <a:ext uri="{FF2B5EF4-FFF2-40B4-BE49-F238E27FC236}">
                <a16:creationId xmlns:a16="http://schemas.microsoft.com/office/drawing/2014/main" id="{5BA2901D-C832-49EF-E693-9BB740C30DAF}"/>
              </a:ext>
            </a:extLst>
          </p:cNvPr>
          <p:cNvSpPr>
            <a:spLocks noGrp="1"/>
          </p:cNvSpPr>
          <p:nvPr>
            <p:ph type="sldNum" sz="quarter" idx="12"/>
          </p:nvPr>
        </p:nvSpPr>
        <p:spPr/>
        <p:txBody>
          <a:bodyPr/>
          <a:lstStyle/>
          <a:p>
            <a:fld id="{C857CEEC-B959-4A37-A10B-AE2FE373736E}" type="slidenum">
              <a:rPr lang="en-US" smtClean="0"/>
              <a:pPr/>
              <a:t>20</a:t>
            </a:fld>
            <a:endParaRPr lang="en-US" dirty="0"/>
          </a:p>
        </p:txBody>
      </p:sp>
    </p:spTree>
    <p:extLst>
      <p:ext uri="{BB962C8B-B14F-4D97-AF65-F5344CB8AC3E}">
        <p14:creationId xmlns:p14="http://schemas.microsoft.com/office/powerpoint/2010/main" val="36839559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2553-09C8-5E46-47FB-75C09989AB9C}"/>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26508D34-50C5-D002-E02F-4172F229B60A}"/>
              </a:ext>
            </a:extLst>
          </p:cNvPr>
          <p:cNvSpPr>
            <a:spLocks noGrp="1"/>
          </p:cNvSpPr>
          <p:nvPr>
            <p:ph idx="1"/>
          </p:nvPr>
        </p:nvSpPr>
        <p:spPr/>
        <p:txBody>
          <a:bodyPr>
            <a:normAutofit fontScale="85000" lnSpcReduction="10000"/>
          </a:bodyPr>
          <a:lstStyle/>
          <a:p>
            <a:pPr marL="214313" indent="-214313">
              <a:spcBef>
                <a:spcPts val="450"/>
              </a:spcBef>
              <a:spcAft>
                <a:spcPts val="450"/>
              </a:spcAft>
              <a:buFont typeface="Arial" panose="020B0604020202020204" pitchFamily="34" charset="0"/>
              <a:buChar char="•"/>
            </a:pPr>
            <a:r>
              <a:rPr lang="en-US" sz="2800" dirty="0"/>
              <a:t>Conscientiously evaluate and contractually document design assist process to clearly define roles, responsibilities and risk allocation relating to design adequacy</a:t>
            </a:r>
          </a:p>
          <a:p>
            <a:pPr marL="214313" indent="-214313">
              <a:spcBef>
                <a:spcPts val="450"/>
              </a:spcBef>
              <a:spcAft>
                <a:spcPts val="450"/>
              </a:spcAft>
              <a:buFont typeface="Arial" panose="020B0604020202020204" pitchFamily="34" charset="0"/>
              <a:buChar char="•"/>
            </a:pPr>
            <a:r>
              <a:rPr lang="en-US" sz="2800" dirty="0"/>
              <a:t>Contract terms should explicitly define and limit roles, responsibilities and risks</a:t>
            </a:r>
          </a:p>
          <a:p>
            <a:pPr marL="214313" indent="-214313">
              <a:spcBef>
                <a:spcPts val="450"/>
              </a:spcBef>
              <a:spcAft>
                <a:spcPts val="450"/>
              </a:spcAft>
              <a:buFont typeface="Arial" panose="020B0604020202020204" pitchFamily="34" charset="0"/>
              <a:buChar char="•"/>
            </a:pPr>
            <a:r>
              <a:rPr lang="en-US" sz="2800" dirty="0"/>
              <a:t>Input of project participants as to source(s) and content should be documented</a:t>
            </a:r>
          </a:p>
          <a:p>
            <a:pPr marL="214313" indent="-214313">
              <a:spcBef>
                <a:spcPts val="450"/>
              </a:spcBef>
              <a:spcAft>
                <a:spcPts val="450"/>
              </a:spcAft>
              <a:buFont typeface="Arial" panose="020B0604020202020204" pitchFamily="34" charset="0"/>
              <a:buChar char="•"/>
            </a:pPr>
            <a:r>
              <a:rPr lang="en-US" sz="2800" dirty="0"/>
              <a:t>Prepare a Matrix of </a:t>
            </a:r>
            <a:r>
              <a:rPr lang="en-US" sz="2800" b="1" dirty="0"/>
              <a:t>roles</a:t>
            </a:r>
            <a:r>
              <a:rPr lang="en-US" sz="2800" dirty="0"/>
              <a:t> and </a:t>
            </a:r>
            <a:r>
              <a:rPr lang="en-US" sz="2800" b="1" dirty="0"/>
              <a:t>responsibilities</a:t>
            </a:r>
            <a:r>
              <a:rPr lang="en-US" sz="2800" dirty="0"/>
              <a:t> as to design adequacy that identifies and distinguishes  among the various project participants</a:t>
            </a:r>
          </a:p>
          <a:p>
            <a:pPr marL="214313" indent="-214313">
              <a:spcBef>
                <a:spcPts val="450"/>
              </a:spcBef>
              <a:spcAft>
                <a:spcPts val="450"/>
              </a:spcAft>
              <a:buFont typeface="Arial" panose="020B0604020202020204" pitchFamily="34" charset="0"/>
              <a:buChar char="•"/>
            </a:pPr>
            <a:r>
              <a:rPr lang="en-US" sz="2800" dirty="0"/>
              <a:t>Prepare Execution Plan for design assist process</a:t>
            </a:r>
          </a:p>
          <a:p>
            <a:pPr marL="214313" indent="-214313">
              <a:spcBef>
                <a:spcPts val="450"/>
              </a:spcBef>
              <a:spcAft>
                <a:spcPts val="450"/>
              </a:spcAft>
              <a:buFont typeface="Arial" panose="020B0604020202020204" pitchFamily="34" charset="0"/>
              <a:buChar char="•"/>
            </a:pPr>
            <a:r>
              <a:rPr lang="en-US" sz="2800" dirty="0"/>
              <a:t>Perform Consistently Within Contractual Bounds</a:t>
            </a:r>
          </a:p>
          <a:p>
            <a:pPr marL="214313" indent="-214313">
              <a:spcBef>
                <a:spcPts val="450"/>
              </a:spcBef>
              <a:spcAft>
                <a:spcPts val="450"/>
              </a:spcAft>
              <a:buFont typeface="Arial" panose="020B0604020202020204" pitchFamily="34" charset="0"/>
              <a:buChar char="•"/>
            </a:pPr>
            <a:r>
              <a:rPr lang="en-US" sz="2800" dirty="0"/>
              <a:t>Recognize that risks and responsibilities may evolve in a manner that impacts roles, responsibilities and risk allocation</a:t>
            </a:r>
          </a:p>
          <a:p>
            <a:endParaRPr lang="en-US" dirty="0"/>
          </a:p>
        </p:txBody>
      </p:sp>
      <p:sp>
        <p:nvSpPr>
          <p:cNvPr id="4" name="Slide Number Placeholder 3">
            <a:extLst>
              <a:ext uri="{FF2B5EF4-FFF2-40B4-BE49-F238E27FC236}">
                <a16:creationId xmlns:a16="http://schemas.microsoft.com/office/drawing/2014/main" id="{50DFA700-DCAA-8276-71E1-419E85B33D2F}"/>
              </a:ext>
            </a:extLst>
          </p:cNvPr>
          <p:cNvSpPr>
            <a:spLocks noGrp="1"/>
          </p:cNvSpPr>
          <p:nvPr>
            <p:ph type="sldNum" sz="quarter" idx="12"/>
          </p:nvPr>
        </p:nvSpPr>
        <p:spPr/>
        <p:txBody>
          <a:bodyPr/>
          <a:lstStyle/>
          <a:p>
            <a:fld id="{C857CEEC-B959-4A37-A10B-AE2FE373736E}" type="slidenum">
              <a:rPr lang="en-US" smtClean="0"/>
              <a:pPr/>
              <a:t>21</a:t>
            </a:fld>
            <a:endParaRPr lang="en-US" dirty="0"/>
          </a:p>
        </p:txBody>
      </p:sp>
    </p:spTree>
    <p:extLst>
      <p:ext uri="{BB962C8B-B14F-4D97-AF65-F5344CB8AC3E}">
        <p14:creationId xmlns:p14="http://schemas.microsoft.com/office/powerpoint/2010/main" val="22436371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9CB58-ADD6-E1AE-4B2D-80CF9EFE917F}"/>
              </a:ext>
            </a:extLst>
          </p:cNvPr>
          <p:cNvSpPr>
            <a:spLocks noGrp="1"/>
          </p:cNvSpPr>
          <p:nvPr>
            <p:ph type="title"/>
          </p:nvPr>
        </p:nvSpPr>
        <p:spPr/>
        <p:txBody>
          <a:bodyPr/>
          <a:lstStyle/>
          <a:p>
            <a:r>
              <a:rPr lang="en-US" dirty="0"/>
              <a:t>DESIGN-BID-BUILD</a:t>
            </a:r>
            <a:br>
              <a:rPr lang="en-US" dirty="0"/>
            </a:br>
            <a:r>
              <a:rPr lang="en-US" dirty="0"/>
              <a:t>DESIGN ASSIST: CRITICAL ISSUES</a:t>
            </a:r>
          </a:p>
        </p:txBody>
      </p:sp>
      <p:sp>
        <p:nvSpPr>
          <p:cNvPr id="3" name="Content Placeholder 2">
            <a:extLst>
              <a:ext uri="{FF2B5EF4-FFF2-40B4-BE49-F238E27FC236}">
                <a16:creationId xmlns:a16="http://schemas.microsoft.com/office/drawing/2014/main" id="{6FD3CDF3-DB63-2237-CB0C-3DE900CFA3F9}"/>
              </a:ext>
            </a:extLst>
          </p:cNvPr>
          <p:cNvSpPr>
            <a:spLocks noGrp="1"/>
          </p:cNvSpPr>
          <p:nvPr>
            <p:ph idx="1"/>
          </p:nvPr>
        </p:nvSpPr>
        <p:spPr/>
        <p:txBody>
          <a:bodyPr/>
          <a:lstStyle/>
          <a:p>
            <a:pPr marL="214313" indent="-214313">
              <a:buFont typeface="Arial" panose="020B0604020202020204" pitchFamily="34" charset="0"/>
              <a:buChar char="•"/>
            </a:pPr>
            <a:r>
              <a:rPr lang="en-US" sz="2800" dirty="0"/>
              <a:t>Clearly state limitations/constraints of Basis of Design or mandatory design criteria or standards </a:t>
            </a:r>
          </a:p>
          <a:p>
            <a:pPr marL="214313" indent="-214313">
              <a:buFont typeface="Arial" panose="020B0604020202020204" pitchFamily="34" charset="0"/>
              <a:buChar char="•"/>
            </a:pPr>
            <a:endParaRPr lang="en-US" sz="2800" dirty="0"/>
          </a:p>
          <a:p>
            <a:pPr marL="214313" indent="-214313">
              <a:buFont typeface="Arial" panose="020B0604020202020204" pitchFamily="34" charset="0"/>
              <a:buChar char="•"/>
            </a:pPr>
            <a:r>
              <a:rPr lang="en-US" sz="2800" dirty="0"/>
              <a:t>Specify minimum qualifications and experience, and registration status of  Design </a:t>
            </a:r>
            <a:r>
              <a:rPr lang="en-US" dirty="0"/>
              <a:t>A</a:t>
            </a:r>
            <a:r>
              <a:rPr lang="en-US" sz="2800" dirty="0"/>
              <a:t>ssist participants (including professional advisors)</a:t>
            </a:r>
          </a:p>
          <a:p>
            <a:endParaRPr lang="en-US" dirty="0"/>
          </a:p>
        </p:txBody>
      </p:sp>
      <p:sp>
        <p:nvSpPr>
          <p:cNvPr id="4" name="Slide Number Placeholder 3">
            <a:extLst>
              <a:ext uri="{FF2B5EF4-FFF2-40B4-BE49-F238E27FC236}">
                <a16:creationId xmlns:a16="http://schemas.microsoft.com/office/drawing/2014/main" id="{5F8F3023-B14A-F1EB-7166-E08BEF44108D}"/>
              </a:ext>
            </a:extLst>
          </p:cNvPr>
          <p:cNvSpPr>
            <a:spLocks noGrp="1"/>
          </p:cNvSpPr>
          <p:nvPr>
            <p:ph type="sldNum" sz="quarter" idx="12"/>
          </p:nvPr>
        </p:nvSpPr>
        <p:spPr/>
        <p:txBody>
          <a:bodyPr/>
          <a:lstStyle/>
          <a:p>
            <a:fld id="{C857CEEC-B959-4A37-A10B-AE2FE373736E}" type="slidenum">
              <a:rPr lang="en-US" smtClean="0"/>
              <a:pPr/>
              <a:t>22</a:t>
            </a:fld>
            <a:endParaRPr lang="en-US" dirty="0"/>
          </a:p>
        </p:txBody>
      </p:sp>
    </p:spTree>
    <p:extLst>
      <p:ext uri="{BB962C8B-B14F-4D97-AF65-F5344CB8AC3E}">
        <p14:creationId xmlns:p14="http://schemas.microsoft.com/office/powerpoint/2010/main" val="2684201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7041F-FACF-AE87-25E1-06A93A691853}"/>
              </a:ext>
            </a:extLst>
          </p:cNvPr>
          <p:cNvSpPr>
            <a:spLocks noGrp="1"/>
          </p:cNvSpPr>
          <p:nvPr>
            <p:ph type="title"/>
          </p:nvPr>
        </p:nvSpPr>
        <p:spPr/>
        <p:txBody>
          <a:bodyPr/>
          <a:lstStyle/>
          <a:p>
            <a:r>
              <a:rPr lang="en-US" dirty="0"/>
              <a:t>Design-Bid-Build</a:t>
            </a:r>
          </a:p>
        </p:txBody>
      </p:sp>
      <p:sp>
        <p:nvSpPr>
          <p:cNvPr id="3" name="Content Placeholder 2">
            <a:extLst>
              <a:ext uri="{FF2B5EF4-FFF2-40B4-BE49-F238E27FC236}">
                <a16:creationId xmlns:a16="http://schemas.microsoft.com/office/drawing/2014/main" id="{0E9122E6-C664-65F9-5175-3DE0595DF6CF}"/>
              </a:ext>
            </a:extLst>
          </p:cNvPr>
          <p:cNvSpPr>
            <a:spLocks noGrp="1"/>
          </p:cNvSpPr>
          <p:nvPr>
            <p:ph idx="1"/>
          </p:nvPr>
        </p:nvSpPr>
        <p:spPr/>
        <p:txBody>
          <a:bodyPr>
            <a:normAutofit/>
          </a:bodyPr>
          <a:lstStyle/>
          <a:p>
            <a:pPr marL="0" indent="0">
              <a:buNone/>
            </a:pPr>
            <a:r>
              <a:rPr lang="en-US" sz="3600" dirty="0"/>
              <a:t>Design Delegation</a:t>
            </a:r>
          </a:p>
        </p:txBody>
      </p:sp>
      <p:sp>
        <p:nvSpPr>
          <p:cNvPr id="4" name="Slide Number Placeholder 3">
            <a:extLst>
              <a:ext uri="{FF2B5EF4-FFF2-40B4-BE49-F238E27FC236}">
                <a16:creationId xmlns:a16="http://schemas.microsoft.com/office/drawing/2014/main" id="{D3B116DD-E905-E41F-C5BD-68C60154F4A7}"/>
              </a:ext>
            </a:extLst>
          </p:cNvPr>
          <p:cNvSpPr>
            <a:spLocks noGrp="1"/>
          </p:cNvSpPr>
          <p:nvPr>
            <p:ph type="sldNum" sz="quarter" idx="12"/>
          </p:nvPr>
        </p:nvSpPr>
        <p:spPr/>
        <p:txBody>
          <a:bodyPr/>
          <a:lstStyle/>
          <a:p>
            <a:fld id="{C857CEEC-B959-4A37-A10B-AE2FE373736E}" type="slidenum">
              <a:rPr lang="en-US" smtClean="0"/>
              <a:pPr/>
              <a:t>23</a:t>
            </a:fld>
            <a:endParaRPr lang="en-US" dirty="0"/>
          </a:p>
        </p:txBody>
      </p:sp>
      <p:graphicFrame>
        <p:nvGraphicFramePr>
          <p:cNvPr id="5" name="Table 4">
            <a:extLst>
              <a:ext uri="{FF2B5EF4-FFF2-40B4-BE49-F238E27FC236}">
                <a16:creationId xmlns:a16="http://schemas.microsoft.com/office/drawing/2014/main" id="{1B2B5E07-8BAD-A527-79B9-A5E6EFF57F09}"/>
              </a:ext>
            </a:extLst>
          </p:cNvPr>
          <p:cNvGraphicFramePr>
            <a:graphicFrameLocks noGrp="1"/>
          </p:cNvGraphicFramePr>
          <p:nvPr>
            <p:extLst>
              <p:ext uri="{D42A27DB-BD31-4B8C-83A1-F6EECF244321}">
                <p14:modId xmlns:p14="http://schemas.microsoft.com/office/powerpoint/2010/main" val="1059390143"/>
              </p:ext>
            </p:extLst>
          </p:nvPr>
        </p:nvGraphicFramePr>
        <p:xfrm>
          <a:off x="2287089" y="3092727"/>
          <a:ext cx="5372100" cy="236601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548317585"/>
                    </a:ext>
                  </a:extLst>
                </a:gridCol>
                <a:gridCol w="971550">
                  <a:extLst>
                    <a:ext uri="{9D8B030D-6E8A-4147-A177-3AD203B41FA5}">
                      <a16:colId xmlns:a16="http://schemas.microsoft.com/office/drawing/2014/main" val="4056712809"/>
                    </a:ext>
                  </a:extLst>
                </a:gridCol>
                <a:gridCol w="1314450">
                  <a:extLst>
                    <a:ext uri="{9D8B030D-6E8A-4147-A177-3AD203B41FA5}">
                      <a16:colId xmlns:a16="http://schemas.microsoft.com/office/drawing/2014/main" val="245919927"/>
                    </a:ext>
                  </a:extLst>
                </a:gridCol>
                <a:gridCol w="1371600">
                  <a:extLst>
                    <a:ext uri="{9D8B030D-6E8A-4147-A177-3AD203B41FA5}">
                      <a16:colId xmlns:a16="http://schemas.microsoft.com/office/drawing/2014/main" val="1224045767"/>
                    </a:ext>
                  </a:extLst>
                </a:gridCol>
                <a:gridCol w="457200">
                  <a:extLst>
                    <a:ext uri="{9D8B030D-6E8A-4147-A177-3AD203B41FA5}">
                      <a16:colId xmlns:a16="http://schemas.microsoft.com/office/drawing/2014/main" val="3774706349"/>
                    </a:ext>
                  </a:extLst>
                </a:gridCol>
              </a:tblGrid>
              <a:tr h="552450">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en-US" sz="1400" b="0" dirty="0">
                          <a:solidFill>
                            <a:schemeClr val="tx1"/>
                          </a:solidFill>
                          <a:latin typeface="Arial Narrow" panose="020B0606020202030204" pitchFamily="34" charset="0"/>
                        </a:rPr>
                        <a:t>Owner</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4174855969"/>
                  </a:ext>
                </a:extLst>
              </a:tr>
              <a:tr h="552450">
                <a:tc>
                  <a:txBody>
                    <a:bodyPr/>
                    <a:lstStyle/>
                    <a:p>
                      <a:r>
                        <a:rPr lang="en-US" sz="1400" dirty="0">
                          <a:latin typeface="Arial Narrow" panose="020B0606020202030204" pitchFamily="34" charset="0"/>
                        </a:rPr>
                        <a:t>Design</a:t>
                      </a:r>
                    </a:p>
                    <a:p>
                      <a:r>
                        <a:rPr lang="en-US" sz="1400" dirty="0">
                          <a:latin typeface="Arial Narrow" panose="020B0606020202030204" pitchFamily="34" charset="0"/>
                        </a:rPr>
                        <a:t>Professional</a:t>
                      </a:r>
                    </a:p>
                  </a:txBody>
                  <a:tcPr marL="68580" marR="68580" marT="34290" marB="34290">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r>
                        <a:rPr lang="en-US" sz="1400" dirty="0">
                          <a:latin typeface="Arial Narrow" panose="020B0606020202030204" pitchFamily="34" charset="0"/>
                        </a:rPr>
                        <a:t>Contractor</a:t>
                      </a:r>
                    </a:p>
                  </a:txBody>
                  <a:tcPr marL="68580" marR="68580" marT="34290" marB="34290">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100">
                        <a:latin typeface="Arial Narrow" panose="020B0606020202030204" pitchFamily="34" charset="0"/>
                      </a:endParaRPr>
                    </a:p>
                  </a:txBody>
                  <a:tcPr marL="68580" marR="68580" marT="34290" marB="34290">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14615977"/>
                  </a:ext>
                </a:extLst>
              </a:tr>
              <a:tr h="685800">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400" dirty="0">
                          <a:latin typeface="Arial Narrow" panose="020B0606020202030204" pitchFamily="34" charset="0"/>
                        </a:rPr>
                        <a:t>Specialty</a:t>
                      </a:r>
                    </a:p>
                    <a:p>
                      <a:r>
                        <a:rPr lang="en-US" sz="1400" dirty="0">
                          <a:latin typeface="Arial Narrow" panose="020B0606020202030204" pitchFamily="34" charset="0"/>
                        </a:rPr>
                        <a:t>Trade</a:t>
                      </a:r>
                    </a:p>
                    <a:p>
                      <a:r>
                        <a:rPr lang="en-US" sz="1400" dirty="0">
                          <a:latin typeface="Arial Narrow" panose="020B0606020202030204" pitchFamily="34" charset="0"/>
                        </a:rPr>
                        <a:t>Subcontractor</a:t>
                      </a: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Design Professional</a:t>
                      </a: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799293903"/>
                  </a:ext>
                </a:extLst>
              </a:tr>
              <a:tr h="552450">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p>
                      <a:r>
                        <a:rPr lang="en-US" sz="1200" dirty="0">
                          <a:latin typeface="Arial Narrow" panose="020B0606020202030204" pitchFamily="34" charset="0"/>
                        </a:rPr>
                        <a:t>Design Professional</a:t>
                      </a: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100" dirty="0">
                        <a:latin typeface="Arial Narrow" panose="020B0606020202030204" pitchFamily="34" charset="0"/>
                      </a:endParaRPr>
                    </a:p>
                  </a:txBody>
                  <a:tcPr marL="68580" marR="68580" marT="34290" marB="3429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71316936"/>
                  </a:ext>
                </a:extLst>
              </a:tr>
            </a:tbl>
          </a:graphicData>
        </a:graphic>
      </p:graphicFrame>
      <p:grpSp>
        <p:nvGrpSpPr>
          <p:cNvPr id="6" name="Group 5">
            <a:extLst>
              <a:ext uri="{FF2B5EF4-FFF2-40B4-BE49-F238E27FC236}">
                <a16:creationId xmlns:a16="http://schemas.microsoft.com/office/drawing/2014/main" id="{471D48F5-7105-0970-D72C-2D2BFD212D6D}"/>
              </a:ext>
            </a:extLst>
          </p:cNvPr>
          <p:cNvGrpSpPr/>
          <p:nvPr/>
        </p:nvGrpSpPr>
        <p:grpSpPr>
          <a:xfrm>
            <a:off x="3087189" y="3369726"/>
            <a:ext cx="2914650" cy="1704201"/>
            <a:chOff x="2286000" y="1324749"/>
            <a:chExt cx="2914650" cy="1704201"/>
          </a:xfrm>
        </p:grpSpPr>
        <p:cxnSp>
          <p:nvCxnSpPr>
            <p:cNvPr id="7" name="Straight Connector 6">
              <a:extLst>
                <a:ext uri="{FF2B5EF4-FFF2-40B4-BE49-F238E27FC236}">
                  <a16:creationId xmlns:a16="http://schemas.microsoft.com/office/drawing/2014/main" id="{8F563827-63E7-1C6D-763C-F03BACDCB43C}"/>
                </a:ext>
              </a:extLst>
            </p:cNvPr>
            <p:cNvCxnSpPr/>
            <p:nvPr/>
          </p:nvCxnSpPr>
          <p:spPr>
            <a:xfrm flipH="1">
              <a:off x="2286000" y="1324749"/>
              <a:ext cx="800100" cy="251252"/>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F55379D1-BF4A-9E4F-0D09-3279C12918D8}"/>
                </a:ext>
              </a:extLst>
            </p:cNvPr>
            <p:cNvCxnSpPr/>
            <p:nvPr/>
          </p:nvCxnSpPr>
          <p:spPr>
            <a:xfrm>
              <a:off x="3257550" y="1371600"/>
              <a:ext cx="742950" cy="204401"/>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F916FAF4-F188-AD68-2D87-E59302B421E4}"/>
                </a:ext>
              </a:extLst>
            </p:cNvPr>
            <p:cNvCxnSpPr/>
            <p:nvPr/>
          </p:nvCxnSpPr>
          <p:spPr>
            <a:xfrm>
              <a:off x="4057650" y="1885950"/>
              <a:ext cx="0" cy="285750"/>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CFD95EA-8A95-62AB-4D59-9FF1FAD6B8A0}"/>
                </a:ext>
              </a:extLst>
            </p:cNvPr>
            <p:cNvCxnSpPr/>
            <p:nvPr/>
          </p:nvCxnSpPr>
          <p:spPr>
            <a:xfrm>
              <a:off x="4343400" y="1943100"/>
              <a:ext cx="857250" cy="171450"/>
            </a:xfrm>
            <a:prstGeom prst="line">
              <a:avLst/>
            </a:prstGeom>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8BF53BE1-731B-8432-4EED-75C89B40E73C}"/>
                </a:ext>
              </a:extLst>
            </p:cNvPr>
            <p:cNvCxnSpPr/>
            <p:nvPr/>
          </p:nvCxnSpPr>
          <p:spPr>
            <a:xfrm>
              <a:off x="4057650" y="2857500"/>
              <a:ext cx="0" cy="171450"/>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2256862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10F39-6127-C580-BC01-81252CCCF97F}"/>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27335FE3-EC97-C08F-0B9B-1131DABB2C55}"/>
              </a:ext>
            </a:extLst>
          </p:cNvPr>
          <p:cNvSpPr>
            <a:spLocks noGrp="1"/>
          </p:cNvSpPr>
          <p:nvPr>
            <p:ph idx="1"/>
          </p:nvPr>
        </p:nvSpPr>
        <p:spPr/>
        <p:txBody>
          <a:bodyPr>
            <a:normAutofit fontScale="92500" lnSpcReduction="20000"/>
          </a:bodyPr>
          <a:lstStyle/>
          <a:p>
            <a:pPr marL="0" indent="0">
              <a:buNone/>
            </a:pPr>
            <a:r>
              <a:rPr lang="en-US" altLang="en-US" u="sng" dirty="0"/>
              <a:t>Definition</a:t>
            </a:r>
            <a:r>
              <a:rPr lang="en-US" altLang="en-US" dirty="0"/>
              <a:t>: Delegation of final design responsibility for a  portion of permanent project work. Design delegation pertains to </a:t>
            </a:r>
            <a:r>
              <a:rPr lang="en-US" altLang="en-US" b="1" dirty="0"/>
              <a:t>permanent project work </a:t>
            </a:r>
            <a:r>
              <a:rPr lang="en-US" altLang="en-US" dirty="0"/>
              <a:t>– not temporary works or construction means/methods</a:t>
            </a:r>
          </a:p>
          <a:p>
            <a:pPr marL="0" indent="0">
              <a:buNone/>
            </a:pPr>
            <a:endParaRPr lang="en-US" altLang="en-US" u="sng" dirty="0"/>
          </a:p>
          <a:p>
            <a:pPr marL="0" indent="0">
              <a:buNone/>
            </a:pPr>
            <a:r>
              <a:rPr lang="en-US" altLang="en-US" u="sng" dirty="0"/>
              <a:t>Basic Principles</a:t>
            </a:r>
            <a:r>
              <a:rPr lang="en-US" altLang="en-US" dirty="0"/>
              <a:t>:</a:t>
            </a:r>
          </a:p>
          <a:p>
            <a:pPr marL="0" indent="0">
              <a:buNone/>
            </a:pPr>
            <a:endParaRPr lang="en-US" altLang="en-US" dirty="0"/>
          </a:p>
          <a:p>
            <a:pPr marL="685800" lvl="1" indent="-342900">
              <a:buFont typeface="+mj-lt"/>
              <a:buAutoNum type="arabicPeriod"/>
            </a:pPr>
            <a:r>
              <a:rPr lang="en-US" altLang="en-US" dirty="0"/>
              <a:t>Project Owner delegates a portion of final design responsibility to Contractor</a:t>
            </a:r>
          </a:p>
          <a:p>
            <a:pPr marL="685800" lvl="1" indent="-342900">
              <a:buFont typeface="+mj-lt"/>
              <a:buAutoNum type="arabicPeriod"/>
            </a:pPr>
            <a:endParaRPr lang="en-US" altLang="en-US" dirty="0"/>
          </a:p>
          <a:p>
            <a:pPr marL="685800" lvl="1" indent="-342900">
              <a:buFont typeface="+mj-lt"/>
              <a:buAutoNum type="arabicPeriod"/>
            </a:pPr>
            <a:r>
              <a:rPr lang="en-US" altLang="en-US" dirty="0"/>
              <a:t>Owner’s Design Professional (“ODP”) defines design criteria or performance standards required for the final design</a:t>
            </a:r>
          </a:p>
          <a:p>
            <a:pPr marL="685800" lvl="1" indent="-342900">
              <a:buFont typeface="+mj-lt"/>
              <a:buAutoNum type="arabicPeriod"/>
            </a:pPr>
            <a:endParaRPr lang="en-US" altLang="en-US" dirty="0"/>
          </a:p>
          <a:p>
            <a:pPr marL="685800" lvl="1" indent="-342900">
              <a:buFont typeface="+mj-lt"/>
              <a:buAutoNum type="arabicPeriod"/>
            </a:pPr>
            <a:r>
              <a:rPr lang="en-US" altLang="en-US" dirty="0"/>
              <a:t>Contractor/Trade subcontractor (“Contractor </a:t>
            </a:r>
            <a:r>
              <a:rPr lang="en-US" altLang="en-US" dirty="0" err="1"/>
              <a:t>Delegatee</a:t>
            </a:r>
            <a:r>
              <a:rPr lang="en-US" altLang="en-US" dirty="0"/>
              <a:t>”) retains a Design Professional (“Delegated Designer”) to prepare and stamp/seal the final design</a:t>
            </a:r>
          </a:p>
          <a:p>
            <a:endParaRPr lang="en-US" dirty="0"/>
          </a:p>
        </p:txBody>
      </p:sp>
      <p:sp>
        <p:nvSpPr>
          <p:cNvPr id="4" name="Slide Number Placeholder 3">
            <a:extLst>
              <a:ext uri="{FF2B5EF4-FFF2-40B4-BE49-F238E27FC236}">
                <a16:creationId xmlns:a16="http://schemas.microsoft.com/office/drawing/2014/main" id="{EA49EA4A-85E5-8A37-E8C2-03078782181A}"/>
              </a:ext>
            </a:extLst>
          </p:cNvPr>
          <p:cNvSpPr>
            <a:spLocks noGrp="1"/>
          </p:cNvSpPr>
          <p:nvPr>
            <p:ph type="sldNum" sz="quarter" idx="12"/>
          </p:nvPr>
        </p:nvSpPr>
        <p:spPr/>
        <p:txBody>
          <a:bodyPr/>
          <a:lstStyle/>
          <a:p>
            <a:fld id="{C857CEEC-B959-4A37-A10B-AE2FE373736E}" type="slidenum">
              <a:rPr lang="en-US" smtClean="0"/>
              <a:pPr/>
              <a:t>24</a:t>
            </a:fld>
            <a:endParaRPr lang="en-US" dirty="0"/>
          </a:p>
        </p:txBody>
      </p:sp>
    </p:spTree>
    <p:extLst>
      <p:ext uri="{BB962C8B-B14F-4D97-AF65-F5344CB8AC3E}">
        <p14:creationId xmlns:p14="http://schemas.microsoft.com/office/powerpoint/2010/main" val="3821414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14FF-0FFA-697C-DAF1-1FF9EE4A4084}"/>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82FCB7AC-E5F6-1BF6-5BA3-FB6CE3C2267A}"/>
              </a:ext>
            </a:extLst>
          </p:cNvPr>
          <p:cNvSpPr>
            <a:spLocks noGrp="1"/>
          </p:cNvSpPr>
          <p:nvPr>
            <p:ph idx="1"/>
          </p:nvPr>
        </p:nvSpPr>
        <p:spPr/>
        <p:txBody>
          <a:bodyPr>
            <a:normAutofit fontScale="55000" lnSpcReduction="20000"/>
          </a:bodyPr>
          <a:lstStyle/>
          <a:p>
            <a:pPr marL="0" indent="0">
              <a:buNone/>
            </a:pPr>
            <a:r>
              <a:rPr lang="en-US" dirty="0"/>
              <a:t>Representative Subject Areas</a:t>
            </a:r>
          </a:p>
          <a:p>
            <a:pPr marL="172641" indent="-172641">
              <a:buFont typeface="Arial" panose="020B0604020202020204" pitchFamily="34" charset="0"/>
              <a:buChar char="•"/>
              <a:tabLst>
                <a:tab pos="172641" algn="l"/>
              </a:tabLst>
            </a:pPr>
            <a:r>
              <a:rPr lang="en-US" sz="2800" dirty="0">
                <a:solidFill>
                  <a:schemeClr val="tx1"/>
                </a:solidFill>
              </a:rPr>
              <a:t>Curtain walls</a:t>
            </a:r>
          </a:p>
          <a:p>
            <a:pPr marL="172641" indent="-172641">
              <a:buNone/>
              <a:tabLst>
                <a:tab pos="172641" algn="l"/>
              </a:tabLst>
            </a:pPr>
            <a:r>
              <a:rPr lang="en-US" sz="2800" dirty="0">
                <a:solidFill>
                  <a:schemeClr val="tx1"/>
                </a:solidFill>
              </a:rPr>
              <a:t>•	Precast concrete panels    (e.g. walls, floors)</a:t>
            </a:r>
          </a:p>
          <a:p>
            <a:pPr marL="172641" indent="-172641">
              <a:buNone/>
              <a:tabLst>
                <a:tab pos="172641" algn="l"/>
              </a:tabLst>
            </a:pPr>
            <a:r>
              <a:rPr lang="en-US" sz="2800" dirty="0">
                <a:solidFill>
                  <a:schemeClr val="tx1"/>
                </a:solidFill>
              </a:rPr>
              <a:t>•	Proprietary exterior walls, windows and floor systems</a:t>
            </a:r>
          </a:p>
          <a:p>
            <a:pPr marL="172641" indent="-172641">
              <a:buNone/>
              <a:tabLst>
                <a:tab pos="172641" algn="l"/>
              </a:tabLst>
            </a:pPr>
            <a:r>
              <a:rPr lang="en-US" sz="2800" dirty="0">
                <a:solidFill>
                  <a:schemeClr val="tx1"/>
                </a:solidFill>
              </a:rPr>
              <a:t>•	Handrail and guardrail systems</a:t>
            </a:r>
          </a:p>
          <a:p>
            <a:pPr marL="172641" indent="-172641">
              <a:buNone/>
              <a:tabLst>
                <a:tab pos="172641" algn="l"/>
              </a:tabLst>
            </a:pPr>
            <a:r>
              <a:rPr lang="en-US" sz="2800" dirty="0">
                <a:solidFill>
                  <a:schemeClr val="tx1"/>
                </a:solidFill>
              </a:rPr>
              <a:t>•	Steel attachments</a:t>
            </a:r>
          </a:p>
          <a:p>
            <a:pPr marL="172641" indent="-172641">
              <a:buNone/>
              <a:tabLst>
                <a:tab pos="172641" algn="l"/>
              </a:tabLst>
            </a:pPr>
            <a:r>
              <a:rPr lang="en-US" sz="2800" dirty="0">
                <a:solidFill>
                  <a:schemeClr val="tx1"/>
                </a:solidFill>
              </a:rPr>
              <a:t>•	Pre-engineered systems including elevators, escalators, lifts and conveying equipment</a:t>
            </a:r>
          </a:p>
          <a:p>
            <a:pPr marL="172641" indent="-172641">
              <a:buNone/>
              <a:tabLst>
                <a:tab pos="172641" algn="l"/>
              </a:tabLst>
            </a:pPr>
            <a:r>
              <a:rPr lang="en-US" sz="2800" dirty="0">
                <a:solidFill>
                  <a:schemeClr val="tx1"/>
                </a:solidFill>
              </a:rPr>
              <a:t>•	Gorilla glass</a:t>
            </a:r>
          </a:p>
          <a:p>
            <a:pPr marL="172641" indent="-172641">
              <a:buNone/>
              <a:tabLst>
                <a:tab pos="172641" algn="l"/>
              </a:tabLst>
            </a:pPr>
            <a:r>
              <a:rPr lang="en-US" sz="2800" dirty="0">
                <a:solidFill>
                  <a:schemeClr val="tx1"/>
                </a:solidFill>
              </a:rPr>
              <a:t>•	Sprinkler systems</a:t>
            </a:r>
          </a:p>
          <a:p>
            <a:pPr marL="172641" indent="-172641">
              <a:buNone/>
              <a:tabLst>
                <a:tab pos="172641" algn="l"/>
              </a:tabLst>
            </a:pPr>
            <a:r>
              <a:rPr lang="en-US" sz="2800" dirty="0">
                <a:solidFill>
                  <a:schemeClr val="tx1"/>
                </a:solidFill>
              </a:rPr>
              <a:t>•	Fire suppression/smoke systems</a:t>
            </a:r>
          </a:p>
          <a:p>
            <a:pPr marL="172641" indent="-172641">
              <a:buNone/>
              <a:tabLst>
                <a:tab pos="172641" algn="l"/>
              </a:tabLst>
            </a:pPr>
            <a:r>
              <a:rPr lang="en-US" sz="2800" dirty="0">
                <a:solidFill>
                  <a:schemeClr val="tx1"/>
                </a:solidFill>
              </a:rPr>
              <a:t>•	Exhaust systems</a:t>
            </a:r>
          </a:p>
          <a:p>
            <a:pPr marL="172641" indent="-172641">
              <a:buNone/>
              <a:tabLst>
                <a:tab pos="172641" algn="l"/>
              </a:tabLst>
            </a:pPr>
            <a:r>
              <a:rPr lang="en-US" sz="2800" dirty="0">
                <a:solidFill>
                  <a:schemeClr val="tx1"/>
                </a:solidFill>
              </a:rPr>
              <a:t>•	Fire proofing materials and assemblies (UL assemblies) </a:t>
            </a:r>
          </a:p>
          <a:p>
            <a:pPr marL="172641" indent="-172641">
              <a:buFont typeface="Arial" panose="020B0604020202020204" pitchFamily="34" charset="0"/>
              <a:buChar char="•"/>
              <a:tabLst>
                <a:tab pos="172641" algn="l"/>
              </a:tabLst>
            </a:pPr>
            <a:r>
              <a:rPr lang="en-US" sz="2800" dirty="0">
                <a:solidFill>
                  <a:schemeClr val="tx1"/>
                </a:solidFill>
              </a:rPr>
              <a:t>Electrical systems and lighting fixtures</a:t>
            </a:r>
          </a:p>
          <a:p>
            <a:pPr marL="172641" indent="-172641">
              <a:buFont typeface="Arial" panose="020B0604020202020204" pitchFamily="34" charset="0"/>
              <a:buChar char="•"/>
              <a:tabLst>
                <a:tab pos="172641" algn="l"/>
              </a:tabLst>
            </a:pPr>
            <a:r>
              <a:rPr lang="en-US" sz="2800" dirty="0">
                <a:solidFill>
                  <a:schemeClr val="tx1"/>
                </a:solidFill>
              </a:rPr>
              <a:t>Retaining walls</a:t>
            </a:r>
          </a:p>
          <a:p>
            <a:pPr marL="172641" indent="-172641">
              <a:buFont typeface="Arial" panose="020B0604020202020204" pitchFamily="34" charset="0"/>
              <a:buChar char="•"/>
              <a:tabLst>
                <a:tab pos="172641" algn="l"/>
              </a:tabLst>
            </a:pPr>
            <a:r>
              <a:rPr lang="en-US" sz="2800" dirty="0">
                <a:solidFill>
                  <a:schemeClr val="tx1"/>
                </a:solidFill>
              </a:rPr>
              <a:t>Clean rooms</a:t>
            </a:r>
          </a:p>
          <a:p>
            <a:endParaRPr lang="en-US" dirty="0"/>
          </a:p>
        </p:txBody>
      </p:sp>
      <p:sp>
        <p:nvSpPr>
          <p:cNvPr id="4" name="Slide Number Placeholder 3">
            <a:extLst>
              <a:ext uri="{FF2B5EF4-FFF2-40B4-BE49-F238E27FC236}">
                <a16:creationId xmlns:a16="http://schemas.microsoft.com/office/drawing/2014/main" id="{2F3B01EA-C825-B916-D45A-C7B4D798C7C7}"/>
              </a:ext>
            </a:extLst>
          </p:cNvPr>
          <p:cNvSpPr>
            <a:spLocks noGrp="1"/>
          </p:cNvSpPr>
          <p:nvPr>
            <p:ph type="sldNum" sz="quarter" idx="12"/>
          </p:nvPr>
        </p:nvSpPr>
        <p:spPr/>
        <p:txBody>
          <a:bodyPr/>
          <a:lstStyle/>
          <a:p>
            <a:fld id="{C857CEEC-B959-4A37-A10B-AE2FE373736E}" type="slidenum">
              <a:rPr lang="en-US" smtClean="0"/>
              <a:pPr/>
              <a:t>25</a:t>
            </a:fld>
            <a:endParaRPr lang="en-US" dirty="0"/>
          </a:p>
        </p:txBody>
      </p:sp>
    </p:spTree>
    <p:extLst>
      <p:ext uri="{BB962C8B-B14F-4D97-AF65-F5344CB8AC3E}">
        <p14:creationId xmlns:p14="http://schemas.microsoft.com/office/powerpoint/2010/main" val="2906177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64F15-5FDE-A9E8-0917-06FFFB0C1809}"/>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316058C8-EE20-B12A-D0BC-F929CFDAE956}"/>
              </a:ext>
            </a:extLst>
          </p:cNvPr>
          <p:cNvSpPr>
            <a:spLocks noGrp="1"/>
          </p:cNvSpPr>
          <p:nvPr>
            <p:ph idx="1"/>
          </p:nvPr>
        </p:nvSpPr>
        <p:spPr/>
        <p:txBody>
          <a:bodyPr>
            <a:normAutofit fontScale="47500" lnSpcReduction="20000"/>
          </a:bodyPr>
          <a:lstStyle/>
          <a:p>
            <a:pPr marL="0" indent="0">
              <a:buNone/>
              <a:tabLst>
                <a:tab pos="172641" algn="l"/>
              </a:tabLst>
            </a:pPr>
            <a:r>
              <a:rPr lang="en-US" sz="2800" dirty="0">
                <a:solidFill>
                  <a:schemeClr val="tx1"/>
                </a:solidFill>
              </a:rPr>
              <a:t>Representative Subject Areas</a:t>
            </a:r>
          </a:p>
          <a:p>
            <a:pPr marL="172641" indent="-172641">
              <a:buFont typeface="Arial" panose="020B0604020202020204" pitchFamily="34" charset="0"/>
              <a:buChar char="•"/>
              <a:tabLst>
                <a:tab pos="172641" algn="l"/>
              </a:tabLst>
            </a:pPr>
            <a:r>
              <a:rPr lang="en-US" sz="2800" dirty="0">
                <a:solidFill>
                  <a:schemeClr val="tx1"/>
                </a:solidFill>
              </a:rPr>
              <a:t>HVAC systems	</a:t>
            </a:r>
          </a:p>
          <a:p>
            <a:pPr marL="172641" indent="-172641">
              <a:buFont typeface="Arial" panose="020B0604020202020204" pitchFamily="34" charset="0"/>
              <a:buChar char="•"/>
              <a:tabLst>
                <a:tab pos="172641" algn="l"/>
              </a:tabLst>
            </a:pPr>
            <a:endParaRPr lang="en-US" sz="800" dirty="0">
              <a:solidFill>
                <a:schemeClr val="tx1"/>
              </a:solidFill>
            </a:endParaRPr>
          </a:p>
          <a:p>
            <a:pPr marL="172641" indent="-172641">
              <a:buFont typeface="Arial" panose="020B0604020202020204" pitchFamily="34" charset="0"/>
              <a:buChar char="•"/>
              <a:tabLst>
                <a:tab pos="172641" algn="l"/>
              </a:tabLst>
            </a:pPr>
            <a:r>
              <a:rPr lang="en-US" sz="2800" dirty="0">
                <a:solidFill>
                  <a:schemeClr val="tx1"/>
                </a:solidFill>
              </a:rPr>
              <a:t>Ceiling support systems</a:t>
            </a:r>
          </a:p>
          <a:p>
            <a:pPr marL="172641" indent="-172641">
              <a:buFont typeface="Arial" panose="020B0604020202020204" pitchFamily="34" charset="0"/>
              <a:buChar char="•"/>
              <a:tabLst>
                <a:tab pos="172641" algn="l"/>
              </a:tabLst>
            </a:pPr>
            <a:endParaRPr lang="en-US" sz="800" dirty="0">
              <a:solidFill>
                <a:schemeClr val="tx1"/>
              </a:solidFill>
            </a:endParaRPr>
          </a:p>
          <a:p>
            <a:pPr marL="172641" indent="-172641">
              <a:buFont typeface="Arial" panose="020B0604020202020204" pitchFamily="34" charset="0"/>
              <a:buChar char="•"/>
              <a:tabLst>
                <a:tab pos="172641" algn="l"/>
              </a:tabLst>
            </a:pPr>
            <a:r>
              <a:rPr lang="en-US" sz="2800" dirty="0">
                <a:solidFill>
                  <a:schemeClr val="tx1"/>
                </a:solidFill>
              </a:rPr>
              <a:t>Components to meet performance criteria stated by a manufacturer or a testing laboratory</a:t>
            </a:r>
          </a:p>
          <a:p>
            <a:pPr marL="172641" indent="-172641">
              <a:buFont typeface="Arial" panose="020B0604020202020204" pitchFamily="34" charset="0"/>
              <a:buChar char="•"/>
              <a:tabLst>
                <a:tab pos="172641" algn="l"/>
              </a:tabLst>
            </a:pPr>
            <a:endParaRPr lang="en-US" sz="800" dirty="0">
              <a:solidFill>
                <a:schemeClr val="tx1"/>
              </a:solidFill>
            </a:endParaRPr>
          </a:p>
          <a:p>
            <a:pPr marL="172641" indent="-172641">
              <a:buFont typeface="Arial" panose="020B0604020202020204" pitchFamily="34" charset="0"/>
              <a:buChar char="•"/>
              <a:tabLst>
                <a:tab pos="172641" algn="l"/>
              </a:tabLst>
            </a:pPr>
            <a:r>
              <a:rPr lang="en-US" sz="2800" dirty="0">
                <a:solidFill>
                  <a:schemeClr val="tx1"/>
                </a:solidFill>
              </a:rPr>
              <a:t>Steel connections consistent with a fabricator’s shop practice</a:t>
            </a:r>
          </a:p>
          <a:p>
            <a:pPr marL="0" indent="172641">
              <a:buFont typeface="Arial" panose="020B0604020202020204" pitchFamily="34" charset="0"/>
              <a:buChar char="•"/>
              <a:tabLst>
                <a:tab pos="172641" algn="l"/>
              </a:tabLst>
            </a:pPr>
            <a:endParaRPr lang="en-US" sz="800" dirty="0">
              <a:solidFill>
                <a:schemeClr val="tx1"/>
              </a:solidFill>
            </a:endParaRPr>
          </a:p>
          <a:p>
            <a:pPr marL="0" indent="172641">
              <a:buFont typeface="Arial" panose="020B0604020202020204" pitchFamily="34" charset="0"/>
              <a:buChar char="•"/>
              <a:tabLst>
                <a:tab pos="172641" algn="l"/>
              </a:tabLst>
            </a:pPr>
            <a:r>
              <a:rPr lang="en-US" sz="2800" dirty="0">
                <a:solidFill>
                  <a:schemeClr val="tx1"/>
                </a:solidFill>
              </a:rPr>
              <a:t>Prefabricated and pre-engineered components</a:t>
            </a:r>
          </a:p>
          <a:p>
            <a:pPr marL="0" indent="172641">
              <a:buFont typeface="Arial" panose="020B0604020202020204" pitchFamily="34" charset="0"/>
              <a:buChar char="•"/>
              <a:tabLst>
                <a:tab pos="172641" algn="l"/>
              </a:tabLst>
            </a:pPr>
            <a:endParaRPr lang="en-US" sz="800" dirty="0">
              <a:solidFill>
                <a:schemeClr val="tx1"/>
              </a:solidFill>
            </a:endParaRPr>
          </a:p>
          <a:p>
            <a:pPr marL="172641" indent="-172641">
              <a:buFont typeface="Arial" panose="020B0604020202020204" pitchFamily="34" charset="0"/>
              <a:buChar char="•"/>
              <a:tabLst>
                <a:tab pos="172641" algn="l"/>
              </a:tabLst>
            </a:pPr>
            <a:r>
              <a:rPr lang="en-US" sz="2800" dirty="0">
                <a:solidFill>
                  <a:schemeClr val="tx1"/>
                </a:solidFill>
              </a:rPr>
              <a:t>Lead/asbestos/pollution control delegation and hazardous abatement</a:t>
            </a:r>
          </a:p>
          <a:p>
            <a:pPr marL="0" indent="172641">
              <a:buFont typeface="Arial" panose="020B0604020202020204" pitchFamily="34" charset="0"/>
              <a:buChar char="•"/>
              <a:tabLst>
                <a:tab pos="172641" algn="l"/>
              </a:tabLst>
            </a:pPr>
            <a:endParaRPr lang="en-US" sz="800" dirty="0">
              <a:solidFill>
                <a:schemeClr val="tx1"/>
              </a:solidFill>
            </a:endParaRPr>
          </a:p>
          <a:p>
            <a:pPr marL="0" indent="172641">
              <a:buFont typeface="Arial" panose="020B0604020202020204" pitchFamily="34" charset="0"/>
              <a:buChar char="•"/>
              <a:tabLst>
                <a:tab pos="172641" algn="l"/>
              </a:tabLst>
            </a:pPr>
            <a:r>
              <a:rPr lang="en-US" sz="2800" dirty="0">
                <a:solidFill>
                  <a:schemeClr val="tx1"/>
                </a:solidFill>
              </a:rPr>
              <a:t>Handicapped/accessible components </a:t>
            </a:r>
          </a:p>
          <a:p>
            <a:pPr marL="0" indent="0">
              <a:buNone/>
              <a:tabLst>
                <a:tab pos="172641" algn="l"/>
              </a:tabLst>
            </a:pPr>
            <a:br>
              <a:rPr lang="en-US" sz="2800" dirty="0">
                <a:solidFill>
                  <a:schemeClr val="tx1"/>
                </a:solidFill>
              </a:rPr>
            </a:br>
            <a:br>
              <a:rPr lang="en-US" sz="2800" dirty="0">
                <a:solidFill>
                  <a:schemeClr val="tx1"/>
                </a:solidFill>
              </a:rPr>
            </a:br>
            <a:endParaRPr lang="en-US" sz="2800" dirty="0">
              <a:solidFill>
                <a:schemeClr val="tx1"/>
              </a:solidFill>
            </a:endParaRPr>
          </a:p>
          <a:p>
            <a:pPr marL="285750" indent="-285750">
              <a:buFont typeface="Arial" panose="020B0604020202020204" pitchFamily="34" charset="0"/>
              <a:buChar char="•"/>
              <a:tabLst>
                <a:tab pos="172641" algn="l"/>
              </a:tabLst>
            </a:pPr>
            <a:r>
              <a:rPr lang="en-US" sz="2800" dirty="0">
                <a:solidFill>
                  <a:schemeClr val="tx1"/>
                </a:solidFill>
              </a:rPr>
              <a:t>Special, high tech components: computerized systems that run conveyor systems (airports) computerized control systems for security and emergency power systems (proprietary items)</a:t>
            </a:r>
          </a:p>
          <a:p>
            <a:pPr marL="285750" indent="-285750">
              <a:buFont typeface="Arial" panose="020B0604020202020204" pitchFamily="34" charset="0"/>
              <a:buChar char="•"/>
              <a:tabLst>
                <a:tab pos="172641" algn="l"/>
              </a:tabLst>
            </a:pPr>
            <a:r>
              <a:rPr lang="en-US" sz="2800" dirty="0">
                <a:solidFill>
                  <a:schemeClr val="tx1"/>
                </a:solidFill>
              </a:rPr>
              <a:t>Stair systems</a:t>
            </a:r>
          </a:p>
          <a:p>
            <a:pPr marL="0" indent="172641">
              <a:buFont typeface="Arial" panose="020B0604020202020204" pitchFamily="34" charset="0"/>
              <a:buChar char="•"/>
              <a:tabLst>
                <a:tab pos="172641" algn="l"/>
              </a:tabLst>
            </a:pPr>
            <a:endParaRPr lang="en-US" sz="700"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6CE5E389-19FE-B66A-D88D-726A96F0590D}"/>
              </a:ext>
            </a:extLst>
          </p:cNvPr>
          <p:cNvSpPr>
            <a:spLocks noGrp="1"/>
          </p:cNvSpPr>
          <p:nvPr>
            <p:ph type="sldNum" sz="quarter" idx="12"/>
          </p:nvPr>
        </p:nvSpPr>
        <p:spPr/>
        <p:txBody>
          <a:bodyPr/>
          <a:lstStyle/>
          <a:p>
            <a:fld id="{C857CEEC-B959-4A37-A10B-AE2FE373736E}" type="slidenum">
              <a:rPr lang="en-US" smtClean="0"/>
              <a:pPr/>
              <a:t>26</a:t>
            </a:fld>
            <a:endParaRPr lang="en-US" dirty="0"/>
          </a:p>
        </p:txBody>
      </p:sp>
    </p:spTree>
    <p:extLst>
      <p:ext uri="{BB962C8B-B14F-4D97-AF65-F5344CB8AC3E}">
        <p14:creationId xmlns:p14="http://schemas.microsoft.com/office/powerpoint/2010/main" val="326626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76648-92BD-98FB-AD6C-4B014226EBB4}"/>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24463DFF-3EB3-7538-D2D3-820D8FA0173D}"/>
              </a:ext>
            </a:extLst>
          </p:cNvPr>
          <p:cNvSpPr>
            <a:spLocks noGrp="1"/>
          </p:cNvSpPr>
          <p:nvPr>
            <p:ph idx="1"/>
          </p:nvPr>
        </p:nvSpPr>
        <p:spPr/>
        <p:txBody>
          <a:bodyPr>
            <a:normAutofit/>
          </a:bodyPr>
          <a:lstStyle/>
          <a:p>
            <a:pPr marL="114300" indent="0">
              <a:buNone/>
            </a:pPr>
            <a:r>
              <a:rPr lang="en-US" sz="1800" dirty="0"/>
              <a:t>Contractual Considerations</a:t>
            </a:r>
          </a:p>
          <a:p>
            <a:pPr marL="342900">
              <a:buFont typeface="Arial" panose="020B0604020202020204" pitchFamily="34" charset="0"/>
              <a:buChar char="•"/>
            </a:pPr>
            <a:r>
              <a:rPr lang="en-US" sz="1800" dirty="0"/>
              <a:t>Clarity, specificity and definitiveness of delegated design scope/subject matter</a:t>
            </a:r>
          </a:p>
          <a:p>
            <a:pPr marL="342900">
              <a:buFont typeface="Arial" panose="020B0604020202020204" pitchFamily="34" charset="0"/>
              <a:buChar char="•"/>
            </a:pPr>
            <a:r>
              <a:rPr lang="en-US" sz="1800" dirty="0"/>
              <a:t>Clarity and definitiveness in assignment of design responsibility </a:t>
            </a:r>
          </a:p>
          <a:p>
            <a:pPr marL="342900">
              <a:buFont typeface="Arial" panose="020B0604020202020204" pitchFamily="34" charset="0"/>
              <a:buChar char="•"/>
            </a:pPr>
            <a:r>
              <a:rPr lang="en-US" sz="1800" dirty="0"/>
              <a:t>Owner-Design Professional Agreement</a:t>
            </a:r>
          </a:p>
          <a:p>
            <a:pPr lvl="1">
              <a:buFontTx/>
              <a:buChar char="-"/>
            </a:pPr>
            <a:r>
              <a:rPr lang="en-US" sz="1800" dirty="0">
                <a:latin typeface="Arial Narrow" panose="020B0606020202030204" pitchFamily="34" charset="0"/>
              </a:rPr>
              <a:t>Authority to implement delegation</a:t>
            </a:r>
          </a:p>
          <a:p>
            <a:pPr lvl="1">
              <a:buFontTx/>
              <a:buChar char="-"/>
            </a:pPr>
            <a:r>
              <a:rPr lang="en-US" sz="1800" dirty="0">
                <a:latin typeface="Arial Narrow" panose="020B0606020202030204" pitchFamily="34" charset="0"/>
              </a:rPr>
              <a:t>Exclusion of ODP responsibility for delegated design</a:t>
            </a:r>
          </a:p>
          <a:p>
            <a:pPr lvl="1">
              <a:buFontTx/>
              <a:buChar char="-"/>
            </a:pPr>
            <a:r>
              <a:rPr lang="en-US" sz="1800" dirty="0">
                <a:latin typeface="Arial Narrow" panose="020B0606020202030204" pitchFamily="34" charset="0"/>
              </a:rPr>
              <a:t>Design coordination/interface/integration responsibility</a:t>
            </a:r>
          </a:p>
          <a:p>
            <a:pPr lvl="1">
              <a:buFontTx/>
              <a:buChar char="-"/>
            </a:pPr>
            <a:r>
              <a:rPr lang="en-US" sz="1800" dirty="0">
                <a:latin typeface="Arial Narrow" panose="020B0606020202030204" pitchFamily="34" charset="0"/>
              </a:rPr>
              <a:t>Roles and responsibilities in review of </a:t>
            </a:r>
            <a:r>
              <a:rPr lang="en-US" sz="1800" dirty="0" err="1">
                <a:latin typeface="Arial Narrow" panose="020B0606020202030204" pitchFamily="34" charset="0"/>
              </a:rPr>
              <a:t>Delagatee</a:t>
            </a:r>
            <a:r>
              <a:rPr lang="en-US" sz="1800" dirty="0">
                <a:latin typeface="Arial Narrow" panose="020B0606020202030204" pitchFamily="34" charset="0"/>
              </a:rPr>
              <a:t> Designer’s design submittals</a:t>
            </a:r>
          </a:p>
          <a:p>
            <a:pPr marL="342900">
              <a:buFont typeface="Arial" panose="020B0604020202020204" pitchFamily="34" charset="0"/>
              <a:buChar char="•"/>
            </a:pPr>
            <a:r>
              <a:rPr lang="en-US" sz="1800" dirty="0"/>
              <a:t>Owner-Contractor Agreement</a:t>
            </a:r>
          </a:p>
          <a:p>
            <a:pPr lvl="1" indent="-257175">
              <a:buFontTx/>
              <a:buChar char="-"/>
            </a:pPr>
            <a:r>
              <a:rPr lang="en-US" sz="1800" dirty="0">
                <a:latin typeface="Arial Narrow" panose="020B0606020202030204" pitchFamily="34" charset="0"/>
              </a:rPr>
              <a:t>General/supplementary conditions</a:t>
            </a:r>
          </a:p>
          <a:p>
            <a:pPr lvl="1">
              <a:buFontTx/>
              <a:buChar char="-"/>
            </a:pPr>
            <a:r>
              <a:rPr lang="en-US" sz="1800" dirty="0">
                <a:latin typeface="Arial Narrow" panose="020B0606020202030204" pitchFamily="34" charset="0"/>
              </a:rPr>
              <a:t>Technical specifications</a:t>
            </a:r>
            <a:endParaRPr lang="en-US" sz="1800" dirty="0"/>
          </a:p>
        </p:txBody>
      </p:sp>
      <p:sp>
        <p:nvSpPr>
          <p:cNvPr id="4" name="Slide Number Placeholder 3">
            <a:extLst>
              <a:ext uri="{FF2B5EF4-FFF2-40B4-BE49-F238E27FC236}">
                <a16:creationId xmlns:a16="http://schemas.microsoft.com/office/drawing/2014/main" id="{CE0CBC09-5CFF-11BD-0986-D6674375C519}"/>
              </a:ext>
            </a:extLst>
          </p:cNvPr>
          <p:cNvSpPr>
            <a:spLocks noGrp="1"/>
          </p:cNvSpPr>
          <p:nvPr>
            <p:ph type="sldNum" sz="quarter" idx="12"/>
          </p:nvPr>
        </p:nvSpPr>
        <p:spPr/>
        <p:txBody>
          <a:bodyPr/>
          <a:lstStyle/>
          <a:p>
            <a:fld id="{C857CEEC-B959-4A37-A10B-AE2FE373736E}" type="slidenum">
              <a:rPr lang="en-US" smtClean="0"/>
              <a:pPr/>
              <a:t>27</a:t>
            </a:fld>
            <a:endParaRPr lang="en-US" dirty="0"/>
          </a:p>
        </p:txBody>
      </p:sp>
    </p:spTree>
    <p:extLst>
      <p:ext uri="{BB962C8B-B14F-4D97-AF65-F5344CB8AC3E}">
        <p14:creationId xmlns:p14="http://schemas.microsoft.com/office/powerpoint/2010/main" val="32942599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F1EF-B218-42A0-8778-080D9E053443}"/>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F07304FA-24B4-FA16-2DC8-C24E649A38B8}"/>
              </a:ext>
            </a:extLst>
          </p:cNvPr>
          <p:cNvSpPr>
            <a:spLocks noGrp="1"/>
          </p:cNvSpPr>
          <p:nvPr>
            <p:ph idx="1"/>
          </p:nvPr>
        </p:nvSpPr>
        <p:spPr/>
        <p:txBody>
          <a:bodyPr>
            <a:normAutofit fontScale="47500" lnSpcReduction="20000"/>
          </a:bodyPr>
          <a:lstStyle/>
          <a:p>
            <a:r>
              <a:rPr lang="en-US" dirty="0"/>
              <a:t>Contractual Considerations</a:t>
            </a:r>
          </a:p>
          <a:p>
            <a:r>
              <a:rPr lang="en-US" dirty="0"/>
              <a:t>The AIA has explicitly acknowledged the practice of design delegation in Paragraph 3.12.10 of the 2017 edition of AIA Document A201, the General Conditions of the Contract for Construction.</a:t>
            </a:r>
          </a:p>
          <a:p>
            <a:pPr algn="just"/>
            <a:r>
              <a:rPr lang="en-US" sz="2800" b="1" dirty="0">
                <a:solidFill>
                  <a:schemeClr val="tx1"/>
                </a:solidFill>
              </a:rPr>
              <a:t>§ 3.12.10</a:t>
            </a:r>
            <a:r>
              <a:rPr lang="en-US" sz="2800" dirty="0">
                <a:solidFill>
                  <a:schemeClr val="tx1"/>
                </a:solidFill>
              </a:rPr>
              <a:t> The Contractor shall not be required to provide professional services that constitute the practice of architecture or engineering unless such services are specifically required by the Contract Documents for a portion of the Work or unless the Contractor needs to provide such services in order to carry out the Contractor’s responsibilities for construction means, methods, techniques, sequences, and procedures. The Contractor shall not be required to provide professional services in violation of applicable law.</a:t>
            </a:r>
          </a:p>
          <a:p>
            <a:pPr algn="just"/>
            <a:r>
              <a:rPr lang="en-US" sz="2800" dirty="0">
                <a:solidFill>
                  <a:schemeClr val="tx1"/>
                </a:solidFill>
              </a:rPr>
              <a:t> </a:t>
            </a:r>
          </a:p>
          <a:p>
            <a:pPr algn="just"/>
            <a:r>
              <a:rPr lang="en-US" sz="2800" b="1" dirty="0">
                <a:solidFill>
                  <a:schemeClr val="tx1"/>
                </a:solidFill>
              </a:rPr>
              <a:t>§ 3.12.10.1</a:t>
            </a:r>
            <a:r>
              <a:rPr lang="en-US" sz="2800" dirty="0">
                <a:solidFill>
                  <a:schemeClr val="tx1"/>
                </a:solidFill>
              </a:rPr>
              <a:t> If professional design services or certifications by a design professional related to systems, materials, or equipment are specifically required of the Contractor by the Contract Documents, the Owner and the Architect will specify all performance and design criteria that such services must satisfy. The Contractor shall be entitled to rely upon the adequacy and accuracy of the performance and design criteria provided in the Contract Documents. The Contractor shall cause such services or certifications to be provided by an appropriately licensed design professional, whose signature and seal shall appear on all drawings, calculations, specifications, certifications, Shop Drawings, and other submittals prepared by such professional. Shop Drawings, and other submittals related to the Work, designed or certified by such professional, if prepared by others, shall bear such professional’s written approval when submitted to the Architect. The Owner and the Architect shall be entitled to rely upon the adequacy and accuracy of the services, certifications, and approvals performed or provided by such design professionals, provided the Owner and Architect have specified to the Contractor the performance and design criteria that such services must satisfy. Pursuant to this Section 3.12.10, the Architect will review and approve or take other appropriate action on submittals only for the limited purpose of checking for conformance with information given and the design concept expressed in the Contract Documents.</a:t>
            </a:r>
          </a:p>
          <a:p>
            <a:pPr algn="just"/>
            <a:r>
              <a:rPr lang="en-US" sz="2800" dirty="0">
                <a:solidFill>
                  <a:schemeClr val="tx1"/>
                </a:solidFill>
              </a:rPr>
              <a:t> </a:t>
            </a:r>
          </a:p>
          <a:p>
            <a:pPr algn="just"/>
            <a:r>
              <a:rPr lang="en-US" sz="2800" b="1" dirty="0">
                <a:solidFill>
                  <a:schemeClr val="tx1"/>
                </a:solidFill>
              </a:rPr>
              <a:t>§ 3.12.10.2</a:t>
            </a:r>
            <a:r>
              <a:rPr lang="en-US" sz="2800" dirty="0">
                <a:solidFill>
                  <a:schemeClr val="tx1"/>
                </a:solidFill>
              </a:rPr>
              <a:t> If the Contract Documents require the Contractor’s design professional to certify that the Work has been performed in accordance with the design criteria, the Contractor shall furnish such certifications to the Architect at the time and in the form specified by the Architect.</a:t>
            </a:r>
          </a:p>
          <a:p>
            <a:pPr marL="0" indent="0">
              <a:buNone/>
            </a:pPr>
            <a:endParaRPr lang="en-US" dirty="0"/>
          </a:p>
        </p:txBody>
      </p:sp>
      <p:sp>
        <p:nvSpPr>
          <p:cNvPr id="4" name="Slide Number Placeholder 3">
            <a:extLst>
              <a:ext uri="{FF2B5EF4-FFF2-40B4-BE49-F238E27FC236}">
                <a16:creationId xmlns:a16="http://schemas.microsoft.com/office/drawing/2014/main" id="{88A5CDF8-DF2F-97A7-99F2-57A970B48E23}"/>
              </a:ext>
            </a:extLst>
          </p:cNvPr>
          <p:cNvSpPr>
            <a:spLocks noGrp="1"/>
          </p:cNvSpPr>
          <p:nvPr>
            <p:ph type="sldNum" sz="quarter" idx="12"/>
          </p:nvPr>
        </p:nvSpPr>
        <p:spPr/>
        <p:txBody>
          <a:bodyPr/>
          <a:lstStyle/>
          <a:p>
            <a:fld id="{C857CEEC-B959-4A37-A10B-AE2FE373736E}" type="slidenum">
              <a:rPr lang="en-US" smtClean="0"/>
              <a:pPr/>
              <a:t>28</a:t>
            </a:fld>
            <a:endParaRPr lang="en-US" dirty="0"/>
          </a:p>
        </p:txBody>
      </p:sp>
    </p:spTree>
    <p:extLst>
      <p:ext uri="{BB962C8B-B14F-4D97-AF65-F5344CB8AC3E}">
        <p14:creationId xmlns:p14="http://schemas.microsoft.com/office/powerpoint/2010/main" val="2613269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1DBC6-EBB8-BF7B-A9BE-8B3195656B6B}"/>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6AEACEC9-1F82-5493-7D9B-31D48A8E1529}"/>
              </a:ext>
            </a:extLst>
          </p:cNvPr>
          <p:cNvSpPr>
            <a:spLocks noGrp="1"/>
          </p:cNvSpPr>
          <p:nvPr>
            <p:ph idx="1"/>
          </p:nvPr>
        </p:nvSpPr>
        <p:spPr/>
        <p:txBody>
          <a:bodyPr>
            <a:normAutofit fontScale="70000" lnSpcReduction="20000"/>
          </a:bodyPr>
          <a:lstStyle/>
          <a:p>
            <a:pPr>
              <a:buFont typeface="Arial" panose="020B0604020202020204" pitchFamily="34" charset="0"/>
              <a:buChar char="•"/>
            </a:pPr>
            <a:r>
              <a:rPr lang="en-US" altLang="en-US" sz="3200" dirty="0"/>
              <a:t>Under paragraph 3.12.10, the ODP is required, or likely, to provide the following services in the design delegation process:</a:t>
            </a:r>
          </a:p>
          <a:p>
            <a:pPr>
              <a:buFont typeface="Arial" panose="020B0604020202020204" pitchFamily="34" charset="0"/>
              <a:buChar char="•"/>
            </a:pPr>
            <a:endParaRPr lang="en-US" altLang="en-US" sz="3200" dirty="0"/>
          </a:p>
          <a:p>
            <a:pPr lvl="1"/>
            <a:r>
              <a:rPr lang="en-US" altLang="en-US" sz="3200" dirty="0">
                <a:latin typeface="Arial Narrow" panose="020B0606020202030204" pitchFamily="34" charset="0"/>
              </a:rPr>
              <a:t>Developing and specifying contractual basis of design, design criteria and performance standards relating to the delegated design</a:t>
            </a:r>
          </a:p>
          <a:p>
            <a:pPr lvl="1"/>
            <a:endParaRPr lang="en-US" altLang="en-US" sz="3200" dirty="0">
              <a:latin typeface="Arial Narrow" panose="020B0606020202030204" pitchFamily="34" charset="0"/>
            </a:endParaRPr>
          </a:p>
          <a:p>
            <a:pPr lvl="1"/>
            <a:r>
              <a:rPr lang="en-US" altLang="en-US" sz="3200" dirty="0">
                <a:latin typeface="Arial Narrow" panose="020B0606020202030204" pitchFamily="34" charset="0"/>
              </a:rPr>
              <a:t>Defining qualifications of specialty designer (i.e., Delegated Designer)</a:t>
            </a:r>
          </a:p>
          <a:p>
            <a:pPr lvl="1"/>
            <a:endParaRPr lang="en-US" altLang="en-US" sz="3200" dirty="0">
              <a:latin typeface="Arial Narrow" panose="020B0606020202030204" pitchFamily="34" charset="0"/>
            </a:endParaRPr>
          </a:p>
          <a:p>
            <a:pPr lvl="1"/>
            <a:r>
              <a:rPr lang="en-US" altLang="en-US" sz="3200" dirty="0">
                <a:latin typeface="Arial Narrow" panose="020B0606020202030204" pitchFamily="34" charset="0"/>
              </a:rPr>
              <a:t>Preparing general/supplementary conditions and technical provisions relating to the delegated design</a:t>
            </a:r>
          </a:p>
          <a:p>
            <a:pPr lvl="1"/>
            <a:endParaRPr lang="en-US" altLang="en-US" sz="3200" dirty="0">
              <a:latin typeface="Arial Narrow" panose="020B0606020202030204" pitchFamily="34" charset="0"/>
            </a:endParaRPr>
          </a:p>
          <a:p>
            <a:pPr lvl="1"/>
            <a:r>
              <a:rPr lang="en-US" altLang="en-US" sz="3200" dirty="0">
                <a:latin typeface="Arial Narrow" panose="020B0606020202030204" pitchFamily="34" charset="0"/>
              </a:rPr>
              <a:t>Reviewing design development submittals of the Delegated Designer</a:t>
            </a:r>
          </a:p>
          <a:p>
            <a:pPr lvl="1"/>
            <a:endParaRPr lang="en-US" altLang="en-US" sz="3200" dirty="0">
              <a:latin typeface="Arial Narrow" panose="020B0606020202030204" pitchFamily="34" charset="0"/>
            </a:endParaRPr>
          </a:p>
          <a:p>
            <a:pPr lvl="1"/>
            <a:r>
              <a:rPr lang="en-US" altLang="en-US" sz="3200" dirty="0">
                <a:latin typeface="Arial Narrow" panose="020B0606020202030204" pitchFamily="34" charset="0"/>
              </a:rPr>
              <a:t>Coordinating and integrating delegated design with overall project design</a:t>
            </a:r>
          </a:p>
          <a:p>
            <a:endParaRPr lang="en-US" dirty="0"/>
          </a:p>
        </p:txBody>
      </p:sp>
      <p:sp>
        <p:nvSpPr>
          <p:cNvPr id="4" name="Slide Number Placeholder 3">
            <a:extLst>
              <a:ext uri="{FF2B5EF4-FFF2-40B4-BE49-F238E27FC236}">
                <a16:creationId xmlns:a16="http://schemas.microsoft.com/office/drawing/2014/main" id="{A9658D02-D45C-4AD0-8E26-81B7DBEC26A2}"/>
              </a:ext>
            </a:extLst>
          </p:cNvPr>
          <p:cNvSpPr>
            <a:spLocks noGrp="1"/>
          </p:cNvSpPr>
          <p:nvPr>
            <p:ph type="sldNum" sz="quarter" idx="12"/>
          </p:nvPr>
        </p:nvSpPr>
        <p:spPr/>
        <p:txBody>
          <a:bodyPr/>
          <a:lstStyle/>
          <a:p>
            <a:fld id="{C857CEEC-B959-4A37-A10B-AE2FE373736E}" type="slidenum">
              <a:rPr lang="en-US" smtClean="0"/>
              <a:pPr/>
              <a:t>29</a:t>
            </a:fld>
            <a:endParaRPr lang="en-US" dirty="0"/>
          </a:p>
        </p:txBody>
      </p:sp>
    </p:spTree>
    <p:extLst>
      <p:ext uri="{BB962C8B-B14F-4D97-AF65-F5344CB8AC3E}">
        <p14:creationId xmlns:p14="http://schemas.microsoft.com/office/powerpoint/2010/main" val="37222263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21E4F-B538-A8B9-0213-A62602DE9768}"/>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E01B24DF-B381-E18A-5040-3D236C75988B}"/>
              </a:ext>
            </a:extLst>
          </p:cNvPr>
          <p:cNvSpPr>
            <a:spLocks noGrp="1"/>
          </p:cNvSpPr>
          <p:nvPr>
            <p:ph idx="1"/>
          </p:nvPr>
        </p:nvSpPr>
        <p:spPr/>
        <p:txBody>
          <a:bodyPr>
            <a:normAutofit fontScale="92500" lnSpcReduction="10000"/>
          </a:bodyPr>
          <a:lstStyle/>
          <a:p>
            <a:pPr>
              <a:lnSpc>
                <a:spcPct val="90000"/>
              </a:lnSpc>
              <a:buFont typeface="Wingdings" panose="05000000000000000000" pitchFamily="2" charset="2"/>
              <a:buChar char="§"/>
            </a:pPr>
            <a:r>
              <a:rPr lang="en-US" altLang="en-US" sz="1500" dirty="0"/>
              <a:t>Section 3.12.10 Design Delegation Issues:</a:t>
            </a:r>
          </a:p>
          <a:p>
            <a:pPr lvl="2">
              <a:lnSpc>
                <a:spcPct val="90000"/>
              </a:lnSpc>
              <a:buFont typeface="Wingdings" pitchFamily="2" charset="2"/>
              <a:buChar char="§"/>
            </a:pPr>
            <a:endParaRPr lang="en-US" altLang="en-US" sz="750" dirty="0">
              <a:latin typeface="Arial Narrow" panose="020B0606020202030204" pitchFamily="34" charset="0"/>
            </a:endParaRPr>
          </a:p>
          <a:p>
            <a:pPr lvl="1">
              <a:lnSpc>
                <a:spcPct val="90000"/>
              </a:lnSpc>
            </a:pPr>
            <a:r>
              <a:rPr lang="en-US" altLang="en-US" dirty="0">
                <a:latin typeface="Arial Narrow" panose="020B0606020202030204" pitchFamily="34" charset="0"/>
              </a:rPr>
              <a:t>Does the ODP remain responsible for the design delegated if that design falls within the scope of the ODP’s original design responsibilities?</a:t>
            </a:r>
          </a:p>
          <a:p>
            <a:pPr lvl="1">
              <a:lnSpc>
                <a:spcPct val="90000"/>
              </a:lnSpc>
            </a:pPr>
            <a:endParaRPr lang="en-US" altLang="en-US" sz="800" dirty="0">
              <a:latin typeface="Arial Narrow" panose="020B0606020202030204" pitchFamily="34" charset="0"/>
            </a:endParaRPr>
          </a:p>
          <a:p>
            <a:pPr lvl="1">
              <a:lnSpc>
                <a:spcPct val="90000"/>
              </a:lnSpc>
            </a:pPr>
            <a:r>
              <a:rPr lang="en-US" altLang="en-US" dirty="0">
                <a:latin typeface="Arial Narrow" panose="020B0606020202030204" pitchFamily="34" charset="0"/>
              </a:rPr>
              <a:t>Is the ODP required to furnish design criteria or performance standards for the development of the delegated design?</a:t>
            </a:r>
          </a:p>
          <a:p>
            <a:pPr lvl="1">
              <a:lnSpc>
                <a:spcPct val="90000"/>
              </a:lnSpc>
            </a:pPr>
            <a:endParaRPr lang="en-US" altLang="en-US" sz="800" dirty="0">
              <a:latin typeface="Arial Narrow" panose="020B0606020202030204" pitchFamily="34" charset="0"/>
            </a:endParaRPr>
          </a:p>
          <a:p>
            <a:pPr lvl="1">
              <a:lnSpc>
                <a:spcPct val="90000"/>
              </a:lnSpc>
            </a:pPr>
            <a:r>
              <a:rPr lang="en-US" altLang="en-US" dirty="0">
                <a:latin typeface="Arial Narrow" panose="020B0606020202030204" pitchFamily="34" charset="0"/>
              </a:rPr>
              <a:t>What is the scope of the ODP’s review of the Delegated Designer’s design submittals?</a:t>
            </a:r>
          </a:p>
          <a:p>
            <a:pPr lvl="1">
              <a:lnSpc>
                <a:spcPct val="90000"/>
              </a:lnSpc>
            </a:pPr>
            <a:endParaRPr lang="en-US" altLang="en-US" sz="800" dirty="0">
              <a:latin typeface="Arial Narrow" panose="020B0606020202030204" pitchFamily="34" charset="0"/>
            </a:endParaRPr>
          </a:p>
          <a:p>
            <a:pPr lvl="1">
              <a:lnSpc>
                <a:spcPct val="90000"/>
              </a:lnSpc>
            </a:pPr>
            <a:r>
              <a:rPr lang="en-US" altLang="en-US" dirty="0">
                <a:latin typeface="Arial Narrow" panose="020B0606020202030204" pitchFamily="34" charset="0"/>
              </a:rPr>
              <a:t>Who is responsible for the coordination, interface, integration and compatibility of the ODP’s design of the non-delegated portion of the permanent project work design </a:t>
            </a:r>
            <a:r>
              <a:rPr lang="en-US" altLang="en-US" u="sng" dirty="0">
                <a:latin typeface="Arial Narrow" panose="020B0606020202030204" pitchFamily="34" charset="0"/>
              </a:rPr>
              <a:t>with</a:t>
            </a:r>
            <a:r>
              <a:rPr lang="en-US" altLang="en-US" dirty="0">
                <a:latin typeface="Arial Narrow" panose="020B0606020202030204" pitchFamily="34" charset="0"/>
              </a:rPr>
              <a:t> the delegated design portion?</a:t>
            </a:r>
          </a:p>
          <a:p>
            <a:pPr lvl="1">
              <a:lnSpc>
                <a:spcPct val="90000"/>
              </a:lnSpc>
            </a:pPr>
            <a:endParaRPr lang="en-US" altLang="en-US" sz="800" dirty="0">
              <a:latin typeface="Arial Narrow" panose="020B0606020202030204" pitchFamily="34" charset="0"/>
            </a:endParaRPr>
          </a:p>
          <a:p>
            <a:pPr lvl="1">
              <a:lnSpc>
                <a:spcPct val="90000"/>
              </a:lnSpc>
            </a:pPr>
            <a:r>
              <a:rPr lang="en-US" altLang="en-US" dirty="0">
                <a:latin typeface="Arial Narrow" panose="020B0606020202030204" pitchFamily="34" charset="0"/>
              </a:rPr>
              <a:t>Who should review shop drawings, and other related submittals, and respond to RFI regarding the delegated design? ODP, Delegated Designer or both? And for what purposes?</a:t>
            </a:r>
          </a:p>
          <a:p>
            <a:endParaRPr lang="en-US" dirty="0"/>
          </a:p>
        </p:txBody>
      </p:sp>
      <p:sp>
        <p:nvSpPr>
          <p:cNvPr id="4" name="Slide Number Placeholder 3">
            <a:extLst>
              <a:ext uri="{FF2B5EF4-FFF2-40B4-BE49-F238E27FC236}">
                <a16:creationId xmlns:a16="http://schemas.microsoft.com/office/drawing/2014/main" id="{512B242C-6D58-0055-8172-D5F6E73B4571}"/>
              </a:ext>
            </a:extLst>
          </p:cNvPr>
          <p:cNvSpPr>
            <a:spLocks noGrp="1"/>
          </p:cNvSpPr>
          <p:nvPr>
            <p:ph type="sldNum" sz="quarter" idx="12"/>
          </p:nvPr>
        </p:nvSpPr>
        <p:spPr/>
        <p:txBody>
          <a:bodyPr/>
          <a:lstStyle/>
          <a:p>
            <a:fld id="{C857CEEC-B959-4A37-A10B-AE2FE373736E}" type="slidenum">
              <a:rPr lang="en-US" smtClean="0"/>
              <a:pPr/>
              <a:t>30</a:t>
            </a:fld>
            <a:endParaRPr lang="en-US" dirty="0"/>
          </a:p>
        </p:txBody>
      </p:sp>
    </p:spTree>
    <p:extLst>
      <p:ext uri="{BB962C8B-B14F-4D97-AF65-F5344CB8AC3E}">
        <p14:creationId xmlns:p14="http://schemas.microsoft.com/office/powerpoint/2010/main" val="641064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EA5BF-7C07-4454-A728-7916674B1D7F}"/>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4E9D654A-6658-C4BA-C891-32365D17F7A1}"/>
              </a:ext>
            </a:extLst>
          </p:cNvPr>
          <p:cNvSpPr>
            <a:spLocks noGrp="1"/>
          </p:cNvSpPr>
          <p:nvPr>
            <p:ph idx="1"/>
          </p:nvPr>
        </p:nvSpPr>
        <p:spPr/>
        <p:txBody>
          <a:bodyPr>
            <a:normAutofit fontScale="62500" lnSpcReduction="20000"/>
          </a:bodyPr>
          <a:lstStyle/>
          <a:p>
            <a:pPr>
              <a:lnSpc>
                <a:spcPct val="90000"/>
              </a:lnSpc>
              <a:buFont typeface="Arial" panose="020B0604020202020204" pitchFamily="34" charset="0"/>
              <a:buChar char="•"/>
            </a:pPr>
            <a:r>
              <a:rPr lang="en-US" altLang="en-US" sz="3200" dirty="0"/>
              <a:t>Section 3.12.10 Design Delegation Issues:</a:t>
            </a:r>
          </a:p>
          <a:p>
            <a:pPr>
              <a:lnSpc>
                <a:spcPct val="90000"/>
              </a:lnSpc>
              <a:buFont typeface="Arial" panose="020B0604020202020204" pitchFamily="34" charset="0"/>
              <a:buChar char="•"/>
            </a:pPr>
            <a:endParaRPr lang="en-US" altLang="en-US" sz="3200" dirty="0"/>
          </a:p>
          <a:p>
            <a:pPr lvl="1">
              <a:lnSpc>
                <a:spcPct val="90000"/>
              </a:lnSpc>
            </a:pPr>
            <a:r>
              <a:rPr lang="en-US" altLang="en-US" sz="3200" dirty="0">
                <a:latin typeface="Arial Narrow" panose="020B0606020202030204" pitchFamily="34" charset="0"/>
              </a:rPr>
              <a:t>How does the </a:t>
            </a:r>
            <a:r>
              <a:rPr lang="en-US" altLang="en-US" sz="3200" i="1" dirty="0" err="1">
                <a:latin typeface="Arial Narrow" panose="020B0606020202030204" pitchFamily="34" charset="0"/>
              </a:rPr>
              <a:t>Spearin</a:t>
            </a:r>
            <a:r>
              <a:rPr lang="en-US" altLang="en-US" sz="3200" i="1" dirty="0">
                <a:latin typeface="Arial Narrow" panose="020B0606020202030204" pitchFamily="34" charset="0"/>
              </a:rPr>
              <a:t> </a:t>
            </a:r>
            <a:r>
              <a:rPr lang="en-US" altLang="en-US" sz="3200" dirty="0">
                <a:latin typeface="Arial Narrow" panose="020B0606020202030204" pitchFamily="34" charset="0"/>
              </a:rPr>
              <a:t>implied warranty doctrine apply in the context of delegated design responsibilities? </a:t>
            </a:r>
          </a:p>
          <a:p>
            <a:pPr lvl="1">
              <a:lnSpc>
                <a:spcPct val="90000"/>
              </a:lnSpc>
            </a:pPr>
            <a:endParaRPr lang="en-US" altLang="en-US" sz="3200" dirty="0">
              <a:latin typeface="Arial Narrow" panose="020B0606020202030204" pitchFamily="34" charset="0"/>
            </a:endParaRPr>
          </a:p>
          <a:p>
            <a:pPr lvl="1">
              <a:lnSpc>
                <a:spcPct val="90000"/>
              </a:lnSpc>
            </a:pPr>
            <a:r>
              <a:rPr lang="en-US" altLang="en-US" sz="3200" dirty="0">
                <a:latin typeface="Arial Narrow" panose="020B0606020202030204" pitchFamily="34" charset="0"/>
              </a:rPr>
              <a:t>How does design delegation reconcile (or not) with professional registration and licensure laws for Design Professionals?</a:t>
            </a:r>
          </a:p>
          <a:p>
            <a:pPr lvl="1">
              <a:lnSpc>
                <a:spcPct val="90000"/>
              </a:lnSpc>
            </a:pPr>
            <a:endParaRPr lang="en-US" altLang="en-US" sz="3200" dirty="0">
              <a:latin typeface="Arial Narrow" panose="020B0606020202030204" pitchFamily="34" charset="0"/>
            </a:endParaRPr>
          </a:p>
          <a:p>
            <a:pPr lvl="1">
              <a:lnSpc>
                <a:spcPct val="90000"/>
              </a:lnSpc>
            </a:pPr>
            <a:r>
              <a:rPr lang="en-US" altLang="en-US" sz="3200" dirty="0">
                <a:latin typeface="Arial Narrow" panose="020B0606020202030204" pitchFamily="34" charset="0"/>
              </a:rPr>
              <a:t>Do the Contractor </a:t>
            </a:r>
            <a:r>
              <a:rPr lang="en-US" altLang="en-US" sz="3200" dirty="0" err="1">
                <a:latin typeface="Arial Narrow" panose="020B0606020202030204" pitchFamily="34" charset="0"/>
              </a:rPr>
              <a:t>Delegatee</a:t>
            </a:r>
            <a:r>
              <a:rPr lang="en-US" altLang="en-US" sz="3200" dirty="0">
                <a:latin typeface="Arial Narrow" panose="020B0606020202030204" pitchFamily="34" charset="0"/>
              </a:rPr>
              <a:t> and Delegated Designer have adequate professional liability insurance to cover risk associated with defects or negligence in the delegated design?</a:t>
            </a:r>
          </a:p>
          <a:p>
            <a:pPr lvl="1">
              <a:lnSpc>
                <a:spcPct val="90000"/>
              </a:lnSpc>
            </a:pPr>
            <a:endParaRPr lang="en-US" altLang="en-US" sz="3200" dirty="0">
              <a:latin typeface="Arial Narrow" panose="020B0606020202030204" pitchFamily="34" charset="0"/>
            </a:endParaRPr>
          </a:p>
          <a:p>
            <a:pPr lvl="1">
              <a:lnSpc>
                <a:spcPct val="90000"/>
              </a:lnSpc>
            </a:pPr>
            <a:r>
              <a:rPr lang="en-US" altLang="en-US" sz="3200" dirty="0">
                <a:latin typeface="Arial Narrow" panose="020B0606020202030204" pitchFamily="34" charset="0"/>
              </a:rPr>
              <a:t>Does the distribution of design functions diffuse and blur lines of professional responsibility for final design, and increase the risk of compromise in public safety, health, or welfare?</a:t>
            </a:r>
          </a:p>
          <a:p>
            <a:pPr lvl="1">
              <a:lnSpc>
                <a:spcPct val="90000"/>
              </a:lnSpc>
            </a:pPr>
            <a:endParaRPr lang="en-US" altLang="en-US" sz="3200" dirty="0">
              <a:latin typeface="Arial Narrow" panose="020B0606020202030204" pitchFamily="34" charset="0"/>
            </a:endParaRPr>
          </a:p>
          <a:p>
            <a:pPr lvl="1">
              <a:lnSpc>
                <a:spcPct val="90000"/>
              </a:lnSpc>
            </a:pPr>
            <a:r>
              <a:rPr lang="en-US" altLang="en-US" sz="3200" dirty="0">
                <a:latin typeface="Arial Narrow" panose="020B0606020202030204" pitchFamily="34" charset="0"/>
              </a:rPr>
              <a:t>How does one reconcile contractual allocation of design adequacy risk and responsibility with public law requirements such as registration/licensure laws and regulations, and OSHA?</a:t>
            </a:r>
          </a:p>
          <a:p>
            <a:endParaRPr lang="en-US" dirty="0"/>
          </a:p>
        </p:txBody>
      </p:sp>
      <p:sp>
        <p:nvSpPr>
          <p:cNvPr id="4" name="Slide Number Placeholder 3">
            <a:extLst>
              <a:ext uri="{FF2B5EF4-FFF2-40B4-BE49-F238E27FC236}">
                <a16:creationId xmlns:a16="http://schemas.microsoft.com/office/drawing/2014/main" id="{06FA61C1-0401-208D-4DD5-4CF0BDD8204B}"/>
              </a:ext>
            </a:extLst>
          </p:cNvPr>
          <p:cNvSpPr>
            <a:spLocks noGrp="1"/>
          </p:cNvSpPr>
          <p:nvPr>
            <p:ph type="sldNum" sz="quarter" idx="12"/>
          </p:nvPr>
        </p:nvSpPr>
        <p:spPr/>
        <p:txBody>
          <a:bodyPr/>
          <a:lstStyle/>
          <a:p>
            <a:fld id="{C857CEEC-B959-4A37-A10B-AE2FE373736E}" type="slidenum">
              <a:rPr lang="en-US" smtClean="0"/>
              <a:pPr/>
              <a:t>31</a:t>
            </a:fld>
            <a:endParaRPr lang="en-US" dirty="0"/>
          </a:p>
        </p:txBody>
      </p:sp>
    </p:spTree>
    <p:extLst>
      <p:ext uri="{BB962C8B-B14F-4D97-AF65-F5344CB8AC3E}">
        <p14:creationId xmlns:p14="http://schemas.microsoft.com/office/powerpoint/2010/main" val="9129170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2C1A8-B6A7-BF06-683E-AD148D35FA62}"/>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2CDAECE3-F5B3-2F33-0535-FBB53F1F9046}"/>
              </a:ext>
            </a:extLst>
          </p:cNvPr>
          <p:cNvSpPr>
            <a:spLocks noGrp="1"/>
          </p:cNvSpPr>
          <p:nvPr>
            <p:ph idx="1"/>
          </p:nvPr>
        </p:nvSpPr>
        <p:spPr/>
        <p:txBody>
          <a:bodyPr/>
          <a:lstStyle/>
          <a:p>
            <a:pPr marL="0" indent="0">
              <a:buNone/>
            </a:pPr>
            <a:r>
              <a:rPr lang="en-US" b="1" dirty="0">
                <a:solidFill>
                  <a:srgbClr val="51312D"/>
                </a:solidFill>
                <a:latin typeface="+mj-lt"/>
                <a:cs typeface="Arial"/>
                <a:sym typeface="Arial"/>
              </a:rPr>
              <a:t>Delegated Designer Roles and Responsibilities</a:t>
            </a:r>
          </a:p>
          <a:p>
            <a:pPr marL="0" indent="0">
              <a:buNone/>
            </a:pPr>
            <a:endParaRPr lang="en-US" dirty="0"/>
          </a:p>
        </p:txBody>
      </p:sp>
      <p:sp>
        <p:nvSpPr>
          <p:cNvPr id="4" name="Slide Number Placeholder 3">
            <a:extLst>
              <a:ext uri="{FF2B5EF4-FFF2-40B4-BE49-F238E27FC236}">
                <a16:creationId xmlns:a16="http://schemas.microsoft.com/office/drawing/2014/main" id="{CED8C6AF-5280-6F10-D90C-014E4977A185}"/>
              </a:ext>
            </a:extLst>
          </p:cNvPr>
          <p:cNvSpPr>
            <a:spLocks noGrp="1"/>
          </p:cNvSpPr>
          <p:nvPr>
            <p:ph type="sldNum" sz="quarter" idx="12"/>
          </p:nvPr>
        </p:nvSpPr>
        <p:spPr/>
        <p:txBody>
          <a:bodyPr/>
          <a:lstStyle/>
          <a:p>
            <a:fld id="{C857CEEC-B959-4A37-A10B-AE2FE373736E}" type="slidenum">
              <a:rPr lang="en-US" smtClean="0"/>
              <a:pPr/>
              <a:t>32</a:t>
            </a:fld>
            <a:endParaRPr lang="en-US" dirty="0"/>
          </a:p>
        </p:txBody>
      </p:sp>
      <p:pic>
        <p:nvPicPr>
          <p:cNvPr id="5" name="Picture 2" descr="\\Dhbosfp01\Users\ndossantos\My Documents\My Pictures\Stock Photos\reviewing.jpeg">
            <a:extLst>
              <a:ext uri="{FF2B5EF4-FFF2-40B4-BE49-F238E27FC236}">
                <a16:creationId xmlns:a16="http://schemas.microsoft.com/office/drawing/2014/main" id="{713F05C9-1DC0-EC5A-EF05-ECBDA7E329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6403" y="2879411"/>
            <a:ext cx="2696714" cy="1791041"/>
          </a:xfrm>
          <a:prstGeom prst="rect">
            <a:avLst/>
          </a:prstGeom>
          <a:noFill/>
          <a:effectLst>
            <a:outerShdw blurRad="63500" sx="102000" sy="102000" algn="ctr"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F11752D-5405-DC2E-59FB-90730DFEFC01}"/>
              </a:ext>
            </a:extLst>
          </p:cNvPr>
          <p:cNvSpPr txBox="1"/>
          <p:nvPr/>
        </p:nvSpPr>
        <p:spPr>
          <a:xfrm>
            <a:off x="3871320" y="3013524"/>
            <a:ext cx="6096000" cy="1656928"/>
          </a:xfrm>
          <a:prstGeom prst="rect">
            <a:avLst/>
          </a:prstGeom>
          <a:noFill/>
        </p:spPr>
        <p:txBody>
          <a:bodyPr wrap="square">
            <a:spAutoFit/>
          </a:bodyPr>
          <a:lstStyle/>
          <a:p>
            <a:pPr marL="457200" lvl="1"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Responsible for stamping final delegated design</a:t>
            </a:r>
          </a:p>
          <a:p>
            <a:pPr marL="457200" lvl="1"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Reviews and responds to shop drawing and related submittals, and RFIs pertaining to delegated design</a:t>
            </a:r>
          </a:p>
          <a:p>
            <a:pPr marL="457200" lvl="1" indent="-342900">
              <a:lnSpc>
                <a:spcPct val="115000"/>
              </a:lnSpc>
              <a:buClr>
                <a:schemeClr val="dk2"/>
              </a:buClr>
              <a:buSzPts val="1800"/>
              <a:buFont typeface="Oswald"/>
              <a:buChar char="●"/>
            </a:pPr>
            <a:r>
              <a:rPr lang="en-US" sz="1800" dirty="0">
                <a:solidFill>
                  <a:schemeClr val="dk2"/>
                </a:solidFill>
                <a:latin typeface="Arial Narrow" panose="020B0606020202030204" pitchFamily="34" charset="0"/>
                <a:sym typeface="Oswald"/>
              </a:rPr>
              <a:t>Review and precedent approval of all revisions to delegated design</a:t>
            </a:r>
          </a:p>
        </p:txBody>
      </p:sp>
    </p:spTree>
    <p:extLst>
      <p:ext uri="{BB962C8B-B14F-4D97-AF65-F5344CB8AC3E}">
        <p14:creationId xmlns:p14="http://schemas.microsoft.com/office/powerpoint/2010/main" val="17486117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CA59C-9660-B78B-09FD-C235E80CAAE2}"/>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C13C2422-F583-56A6-C01F-2DE9215BB86A}"/>
              </a:ext>
            </a:extLst>
          </p:cNvPr>
          <p:cNvSpPr>
            <a:spLocks noGrp="1"/>
          </p:cNvSpPr>
          <p:nvPr>
            <p:ph idx="1"/>
          </p:nvPr>
        </p:nvSpPr>
        <p:spPr>
          <a:xfrm>
            <a:off x="1052208" y="1847850"/>
            <a:ext cx="10515600" cy="4351338"/>
          </a:xfrm>
        </p:spPr>
        <p:txBody>
          <a:bodyPr>
            <a:normAutofit fontScale="25000" lnSpcReduction="20000"/>
          </a:bodyPr>
          <a:lstStyle/>
          <a:p>
            <a:pPr marL="0" indent="0">
              <a:buNone/>
            </a:pPr>
            <a:r>
              <a:rPr lang="en-US" sz="7200" b="1" dirty="0">
                <a:solidFill>
                  <a:schemeClr val="tx1"/>
                </a:solidFill>
              </a:rPr>
              <a:t>Practice Implementation</a:t>
            </a:r>
          </a:p>
          <a:p>
            <a:pPr marL="0" indent="0">
              <a:buNone/>
            </a:pPr>
            <a:r>
              <a:rPr lang="en-US" sz="6400" dirty="0">
                <a:solidFill>
                  <a:schemeClr val="tx1"/>
                </a:solidFill>
              </a:rPr>
              <a:t>The effective delegation of final design responsibility to a Contractor/ Delegated Designer of portions of permanent project work depends upon the successful satisfaction and implementation of the following criteria and guidelines:</a:t>
            </a:r>
          </a:p>
          <a:p>
            <a:pPr marL="214313" indent="-214313">
              <a:buFont typeface="Arial" panose="020B0604020202020204" pitchFamily="34" charset="0"/>
              <a:buChar char="•"/>
            </a:pPr>
            <a:endParaRPr lang="en-US" sz="6400" u="sng" dirty="0">
              <a:solidFill>
                <a:schemeClr val="tx1"/>
              </a:solidFill>
            </a:endParaRPr>
          </a:p>
          <a:p>
            <a:pPr marL="0" indent="0">
              <a:buNone/>
            </a:pPr>
            <a:r>
              <a:rPr lang="en-US" sz="7200" u="sng" dirty="0">
                <a:solidFill>
                  <a:schemeClr val="tx1"/>
                </a:solidFill>
              </a:rPr>
              <a:t>Contract Document Provisions</a:t>
            </a:r>
          </a:p>
          <a:p>
            <a:pPr marL="214313" indent="-214313">
              <a:buFont typeface="Arial" panose="020B0604020202020204" pitchFamily="34" charset="0"/>
              <a:buChar char="•"/>
              <a:tabLst>
                <a:tab pos="346472" algn="l"/>
              </a:tabLst>
            </a:pPr>
            <a:endParaRPr lang="en-US" sz="3200" dirty="0">
              <a:solidFill>
                <a:schemeClr val="tx1"/>
              </a:solidFill>
            </a:endParaRPr>
          </a:p>
          <a:p>
            <a:pPr marL="0" indent="0">
              <a:buNone/>
              <a:tabLst>
                <a:tab pos="346472" algn="l"/>
              </a:tabLst>
            </a:pPr>
            <a:r>
              <a:rPr lang="en-US" sz="7200" dirty="0">
                <a:solidFill>
                  <a:schemeClr val="tx1"/>
                </a:solidFill>
              </a:rPr>
              <a:t>These provisions should:</a:t>
            </a:r>
          </a:p>
          <a:p>
            <a:pPr marL="128588" indent="-128588">
              <a:buFont typeface="Arial" panose="020B0604020202020204" pitchFamily="34" charset="0"/>
              <a:buChar char="•"/>
              <a:tabLst>
                <a:tab pos="346472" algn="l"/>
              </a:tabLst>
            </a:pPr>
            <a:endParaRPr lang="en-US" sz="6400" dirty="0">
              <a:solidFill>
                <a:schemeClr val="tx1"/>
              </a:solidFill>
            </a:endParaRPr>
          </a:p>
          <a:p>
            <a:pPr lvl="1"/>
            <a:r>
              <a:rPr lang="en-US" sz="6400" dirty="0">
                <a:solidFill>
                  <a:schemeClr val="tx1"/>
                </a:solidFill>
                <a:latin typeface="Arial Narrow" panose="020B0606020202030204" pitchFamily="34" charset="0"/>
              </a:rPr>
              <a:t>Specifically define the subject matter and scope of the delegated design</a:t>
            </a:r>
          </a:p>
          <a:p>
            <a:pPr lvl="1"/>
            <a:endParaRPr lang="en-US" sz="6400" dirty="0">
              <a:solidFill>
                <a:schemeClr val="tx1"/>
              </a:solidFill>
              <a:latin typeface="Arial Narrow" panose="020B0606020202030204" pitchFamily="34" charset="0"/>
            </a:endParaRPr>
          </a:p>
          <a:p>
            <a:pPr lvl="1"/>
            <a:r>
              <a:rPr lang="en-US" sz="6400" dirty="0">
                <a:solidFill>
                  <a:schemeClr val="tx1"/>
                </a:solidFill>
                <a:latin typeface="Arial Narrow" panose="020B0606020202030204" pitchFamily="34" charset="0"/>
              </a:rPr>
              <a:t>Clearly and unequivocally delegate or assign to the Delegated Designer responsibility for the delegated design</a:t>
            </a:r>
          </a:p>
          <a:p>
            <a:pPr lvl="1"/>
            <a:endParaRPr lang="en-US" sz="6400" dirty="0">
              <a:solidFill>
                <a:schemeClr val="tx1"/>
              </a:solidFill>
              <a:latin typeface="Arial Narrow" panose="020B0606020202030204" pitchFamily="34" charset="0"/>
            </a:endParaRPr>
          </a:p>
          <a:p>
            <a:pPr lvl="1"/>
            <a:r>
              <a:rPr lang="en-US" sz="6400" dirty="0">
                <a:solidFill>
                  <a:schemeClr val="tx1"/>
                </a:solidFill>
                <a:latin typeface="Arial Narrow" panose="020B0606020202030204" pitchFamily="34" charset="0"/>
              </a:rPr>
              <a:t>Describe and specify the minimum qualifications, experience and registration of the Delegated Designer who will be stamping or sealing the delegated design deliverables (including all submittal requirements, calculations, etc.)</a:t>
            </a:r>
          </a:p>
          <a:p>
            <a:pPr lvl="1"/>
            <a:endParaRPr lang="en-US" sz="6400" dirty="0">
              <a:solidFill>
                <a:schemeClr val="tx1"/>
              </a:solidFill>
              <a:latin typeface="Arial Narrow" panose="020B0606020202030204" pitchFamily="34" charset="0"/>
            </a:endParaRPr>
          </a:p>
          <a:p>
            <a:pPr lvl="1"/>
            <a:r>
              <a:rPr lang="en-US" sz="6400" dirty="0">
                <a:solidFill>
                  <a:schemeClr val="tx1"/>
                </a:solidFill>
                <a:latin typeface="Arial Narrow" panose="020B0606020202030204" pitchFamily="34" charset="0"/>
              </a:rPr>
              <a:t>Define and specify certifications required of the Delegated Designer stating that the submitted design satisfies contractually-required performance standards or design criteria, applicable codes and sound professional practice standards</a:t>
            </a:r>
          </a:p>
          <a:p>
            <a:endParaRPr lang="en-US" dirty="0"/>
          </a:p>
        </p:txBody>
      </p:sp>
      <p:sp>
        <p:nvSpPr>
          <p:cNvPr id="4" name="Slide Number Placeholder 3">
            <a:extLst>
              <a:ext uri="{FF2B5EF4-FFF2-40B4-BE49-F238E27FC236}">
                <a16:creationId xmlns:a16="http://schemas.microsoft.com/office/drawing/2014/main" id="{7C8888EE-E994-B2FC-DBA8-F38AE4DACA2B}"/>
              </a:ext>
            </a:extLst>
          </p:cNvPr>
          <p:cNvSpPr>
            <a:spLocks noGrp="1"/>
          </p:cNvSpPr>
          <p:nvPr>
            <p:ph type="sldNum" sz="quarter" idx="12"/>
          </p:nvPr>
        </p:nvSpPr>
        <p:spPr/>
        <p:txBody>
          <a:bodyPr/>
          <a:lstStyle/>
          <a:p>
            <a:fld id="{C857CEEC-B959-4A37-A10B-AE2FE373736E}" type="slidenum">
              <a:rPr lang="en-US" smtClean="0"/>
              <a:pPr/>
              <a:t>33</a:t>
            </a:fld>
            <a:endParaRPr lang="en-US" dirty="0"/>
          </a:p>
        </p:txBody>
      </p:sp>
    </p:spTree>
    <p:extLst>
      <p:ext uri="{BB962C8B-B14F-4D97-AF65-F5344CB8AC3E}">
        <p14:creationId xmlns:p14="http://schemas.microsoft.com/office/powerpoint/2010/main" val="3636839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95A14-CA8B-76A6-8A1F-ED0B1DC03BC7}"/>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0677944A-86A3-D778-F494-EA00E516F7F8}"/>
              </a:ext>
            </a:extLst>
          </p:cNvPr>
          <p:cNvSpPr>
            <a:spLocks noGrp="1"/>
          </p:cNvSpPr>
          <p:nvPr>
            <p:ph idx="1"/>
          </p:nvPr>
        </p:nvSpPr>
        <p:spPr/>
        <p:txBody>
          <a:bodyPr/>
          <a:lstStyle/>
          <a:p>
            <a:pPr marL="0" indent="0">
              <a:spcAft>
                <a:spcPts val="800"/>
              </a:spcAft>
              <a:buNone/>
            </a:pPr>
            <a:r>
              <a:rPr lang="en-US" sz="1800" dirty="0">
                <a:solidFill>
                  <a:schemeClr val="tx1"/>
                </a:solidFill>
              </a:rPr>
              <a:t>Practice Implementation</a:t>
            </a:r>
          </a:p>
          <a:p>
            <a:pPr>
              <a:spcAft>
                <a:spcPts val="800"/>
              </a:spcAft>
            </a:pPr>
            <a:r>
              <a:rPr lang="en-US" sz="1750" dirty="0">
                <a:solidFill>
                  <a:schemeClr val="tx1"/>
                </a:solidFill>
                <a:latin typeface="Arial Narrow" panose="020B0606020202030204" pitchFamily="34" charset="0"/>
              </a:rPr>
              <a:t>Contain clear statements of performance standards and/or design criteria according to which the delegated design must comply</a:t>
            </a:r>
            <a:endParaRPr lang="en-US" sz="1150" dirty="0">
              <a:solidFill>
                <a:schemeClr val="tx1"/>
              </a:solidFill>
              <a:latin typeface="Arial Narrow" panose="020B0606020202030204" pitchFamily="34" charset="0"/>
            </a:endParaRPr>
          </a:p>
          <a:p>
            <a:pPr>
              <a:spcAft>
                <a:spcPts val="800"/>
              </a:spcAft>
            </a:pPr>
            <a:r>
              <a:rPr lang="en-US" sz="1750" dirty="0">
                <a:solidFill>
                  <a:schemeClr val="tx1"/>
                </a:solidFill>
                <a:latin typeface="Arial Narrow" panose="020B0606020202030204" pitchFamily="34" charset="0"/>
              </a:rPr>
              <a:t>Contain clear statements as to extent of the Delegated Designer’s responsibility for the coordination and interface of the delegated design with other portions of permanent project work designed by others (including the ODP)</a:t>
            </a:r>
            <a:endParaRPr lang="en-US" sz="1150" dirty="0">
              <a:solidFill>
                <a:schemeClr val="tx1"/>
              </a:solidFill>
              <a:latin typeface="Arial Narrow" panose="020B0606020202030204" pitchFamily="34" charset="0"/>
            </a:endParaRPr>
          </a:p>
          <a:p>
            <a:pPr>
              <a:spcAft>
                <a:spcPts val="800"/>
              </a:spcAft>
            </a:pPr>
            <a:r>
              <a:rPr lang="en-US" sz="1750" dirty="0">
                <a:solidFill>
                  <a:schemeClr val="tx1"/>
                </a:solidFill>
                <a:latin typeface="Arial Narrow" panose="020B0606020202030204" pitchFamily="34" charset="0"/>
              </a:rPr>
              <a:t>Contain a clear statement of design submittal requirements, specifically: </a:t>
            </a:r>
            <a:endParaRPr lang="en-US" sz="600" dirty="0">
              <a:solidFill>
                <a:schemeClr val="tx1"/>
              </a:solidFill>
              <a:latin typeface="Arial Narrow" panose="020B0606020202030204" pitchFamily="34" charset="0"/>
            </a:endParaRPr>
          </a:p>
          <a:p>
            <a:pPr marL="942975" lvl="2" indent="-257175">
              <a:buAutoNum type="alphaLcParenBoth"/>
            </a:pPr>
            <a:r>
              <a:rPr lang="en-US" sz="1275" dirty="0">
                <a:solidFill>
                  <a:schemeClr val="tx1"/>
                </a:solidFill>
                <a:latin typeface="Arial Narrow" panose="020B0606020202030204" pitchFamily="34" charset="0"/>
              </a:rPr>
              <a:t>Qualifications of the preparer; </a:t>
            </a:r>
          </a:p>
          <a:p>
            <a:pPr marL="942975" lvl="2" indent="-257175">
              <a:buAutoNum type="alphaLcParenBoth"/>
            </a:pPr>
            <a:r>
              <a:rPr lang="en-US" sz="1275" dirty="0">
                <a:solidFill>
                  <a:schemeClr val="tx1"/>
                </a:solidFill>
                <a:latin typeface="Arial Narrow" panose="020B0606020202030204" pitchFamily="34" charset="0"/>
              </a:rPr>
              <a:t>Whether the submittal is to be stamped or sealed by a registered professional; </a:t>
            </a:r>
          </a:p>
          <a:p>
            <a:pPr marL="942975" lvl="2" indent="-257175">
              <a:buAutoNum type="alphaLcParenBoth"/>
            </a:pPr>
            <a:r>
              <a:rPr lang="en-US" sz="1275" dirty="0">
                <a:solidFill>
                  <a:schemeClr val="tx1"/>
                </a:solidFill>
                <a:latin typeface="Arial Narrow" panose="020B0606020202030204" pitchFamily="34" charset="0"/>
              </a:rPr>
              <a:t>The content of any certifications, including rights of reliance by the ODP and/or Owner to rely thereupon, (i.e., that the submitted design satisfies the contractually-mandated performance standards and design criteria, and other requirements of the Contract Documents)</a:t>
            </a:r>
          </a:p>
          <a:p>
            <a:endParaRPr lang="en-US" dirty="0"/>
          </a:p>
        </p:txBody>
      </p:sp>
      <p:sp>
        <p:nvSpPr>
          <p:cNvPr id="4" name="Slide Number Placeholder 3">
            <a:extLst>
              <a:ext uri="{FF2B5EF4-FFF2-40B4-BE49-F238E27FC236}">
                <a16:creationId xmlns:a16="http://schemas.microsoft.com/office/drawing/2014/main" id="{A86493A1-0EC9-A60E-B043-F9898B10D6B1}"/>
              </a:ext>
            </a:extLst>
          </p:cNvPr>
          <p:cNvSpPr>
            <a:spLocks noGrp="1"/>
          </p:cNvSpPr>
          <p:nvPr>
            <p:ph type="sldNum" sz="quarter" idx="12"/>
          </p:nvPr>
        </p:nvSpPr>
        <p:spPr/>
        <p:txBody>
          <a:bodyPr/>
          <a:lstStyle/>
          <a:p>
            <a:fld id="{C857CEEC-B959-4A37-A10B-AE2FE373736E}" type="slidenum">
              <a:rPr lang="en-US" smtClean="0"/>
              <a:pPr/>
              <a:t>34</a:t>
            </a:fld>
            <a:endParaRPr lang="en-US" dirty="0"/>
          </a:p>
        </p:txBody>
      </p:sp>
    </p:spTree>
    <p:extLst>
      <p:ext uri="{BB962C8B-B14F-4D97-AF65-F5344CB8AC3E}">
        <p14:creationId xmlns:p14="http://schemas.microsoft.com/office/powerpoint/2010/main" val="30502711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9E931-40F1-B43A-9928-2DC79406200E}"/>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5C89B968-0482-4502-4D52-23D6AE7D3B97}"/>
              </a:ext>
            </a:extLst>
          </p:cNvPr>
          <p:cNvSpPr>
            <a:spLocks noGrp="1"/>
          </p:cNvSpPr>
          <p:nvPr>
            <p:ph idx="1"/>
          </p:nvPr>
        </p:nvSpPr>
        <p:spPr/>
        <p:txBody>
          <a:bodyPr>
            <a:normAutofit fontScale="55000" lnSpcReduction="20000"/>
          </a:bodyPr>
          <a:lstStyle/>
          <a:p>
            <a:pPr marL="0" indent="0">
              <a:spcAft>
                <a:spcPts val="600"/>
              </a:spcAft>
              <a:buNone/>
            </a:pPr>
            <a:r>
              <a:rPr lang="en-US" sz="3300" dirty="0">
                <a:solidFill>
                  <a:schemeClr val="tx1"/>
                </a:solidFill>
              </a:rPr>
              <a:t>Practice Implementation</a:t>
            </a:r>
          </a:p>
          <a:p>
            <a:pPr>
              <a:spcAft>
                <a:spcPts val="600"/>
              </a:spcAft>
            </a:pPr>
            <a:r>
              <a:rPr lang="en-US" sz="3200" dirty="0">
                <a:solidFill>
                  <a:schemeClr val="tx1"/>
                </a:solidFill>
                <a:latin typeface="Arial Narrow" panose="020B0606020202030204" pitchFamily="34" charset="0"/>
              </a:rPr>
              <a:t>Contain clear statements: </a:t>
            </a:r>
          </a:p>
          <a:p>
            <a:pPr marL="942975" lvl="2" indent="-257175">
              <a:buFont typeface="+mj-lt"/>
              <a:buAutoNum type="alphaLcParenR"/>
            </a:pPr>
            <a:r>
              <a:rPr lang="en-US" sz="3200" dirty="0">
                <a:solidFill>
                  <a:schemeClr val="tx1"/>
                </a:solidFill>
                <a:latin typeface="Arial Narrow" panose="020B0606020202030204" pitchFamily="34" charset="0"/>
              </a:rPr>
              <a:t>As to who will be reviewing the Delegated Designer’s design submittals relating to the subject of delegated design</a:t>
            </a:r>
          </a:p>
          <a:p>
            <a:pPr marL="942975" lvl="2" indent="-257175">
              <a:buFont typeface="+mj-lt"/>
              <a:buAutoNum type="alphaLcParenR"/>
            </a:pPr>
            <a:endParaRPr lang="en-US" sz="3200" dirty="0">
              <a:solidFill>
                <a:schemeClr val="tx1"/>
              </a:solidFill>
              <a:latin typeface="Arial Narrow" panose="020B0606020202030204" pitchFamily="34" charset="0"/>
            </a:endParaRPr>
          </a:p>
          <a:p>
            <a:pPr marL="942975" lvl="2" indent="-257175">
              <a:buFont typeface="+mj-lt"/>
              <a:buAutoNum type="alphaLcParenR"/>
            </a:pPr>
            <a:r>
              <a:rPr lang="en-US" sz="3200" dirty="0">
                <a:solidFill>
                  <a:schemeClr val="tx1"/>
                </a:solidFill>
                <a:latin typeface="Arial Narrow" panose="020B0606020202030204" pitchFamily="34" charset="0"/>
              </a:rPr>
              <a:t>As to the limitations on scope of that review (e.g. for conformance of the design delegation submittal to the contractually-mandated performance standards and design criteria) making clear that the review shall not in any manner or respect relieve or diminish the Contractor and its Delegated Designer’s professional responsibility for the accuracy, suitability, reliability, constructability and completeness of the submitted design, including, without limitation, its conformance to contractually-required standards, criteria, codes and conformance to sound professional judgment, standards and professional practices</a:t>
            </a:r>
          </a:p>
          <a:p>
            <a:pPr marL="942975" lvl="2" indent="-257175">
              <a:buFont typeface="+mj-lt"/>
              <a:buAutoNum type="alphaLcParenR"/>
            </a:pPr>
            <a:endParaRPr lang="en-US" sz="3200" dirty="0">
              <a:solidFill>
                <a:schemeClr val="tx1"/>
              </a:solidFill>
              <a:latin typeface="Arial Narrow" panose="020B0606020202030204" pitchFamily="34" charset="0"/>
            </a:endParaRPr>
          </a:p>
          <a:p>
            <a:pPr marL="942975" lvl="2" indent="-257175">
              <a:buFont typeface="+mj-lt"/>
              <a:buAutoNum type="alphaLcParenR"/>
            </a:pPr>
            <a:r>
              <a:rPr lang="en-US" sz="3200" dirty="0">
                <a:solidFill>
                  <a:schemeClr val="tx1"/>
                </a:solidFill>
                <a:latin typeface="Arial Narrow" panose="020B0606020202030204" pitchFamily="34" charset="0"/>
              </a:rPr>
              <a:t>That the Contractor and its Delegated Designer shall be exclusively responsible for the delegated design and its coordination and integration with other aspects of the project design and construction</a:t>
            </a:r>
          </a:p>
          <a:p>
            <a:pPr marL="942975" lvl="2" indent="-257175">
              <a:buFont typeface="+mj-lt"/>
              <a:buAutoNum type="alphaLcParenR"/>
            </a:pPr>
            <a:endParaRPr lang="en-US" sz="3200" dirty="0">
              <a:solidFill>
                <a:schemeClr val="tx1"/>
              </a:solidFill>
              <a:latin typeface="Arial Narrow" panose="020B0606020202030204" pitchFamily="34" charset="0"/>
            </a:endParaRPr>
          </a:p>
          <a:p>
            <a:pPr marL="942975" lvl="2" indent="-257175">
              <a:buFont typeface="+mj-lt"/>
              <a:buAutoNum type="alphaLcParenR"/>
            </a:pPr>
            <a:r>
              <a:rPr lang="en-US" sz="3200" dirty="0">
                <a:solidFill>
                  <a:schemeClr val="tx1"/>
                </a:solidFill>
                <a:latin typeface="Arial Narrow" panose="020B0606020202030204" pitchFamily="34" charset="0"/>
              </a:rPr>
              <a:t>That neither (</a:t>
            </a:r>
            <a:r>
              <a:rPr lang="en-US" sz="3200" dirty="0" err="1">
                <a:solidFill>
                  <a:schemeClr val="tx1"/>
                </a:solidFill>
                <a:latin typeface="Arial Narrow" panose="020B0606020202030204" pitchFamily="34" charset="0"/>
              </a:rPr>
              <a:t>i</a:t>
            </a:r>
            <a:r>
              <a:rPr lang="en-US" sz="3200" dirty="0">
                <a:solidFill>
                  <a:schemeClr val="tx1"/>
                </a:solidFill>
                <a:latin typeface="Arial Narrow" panose="020B0606020202030204" pitchFamily="34" charset="0"/>
              </a:rPr>
              <a:t>) the ODP’s review of submittals regarding the delegated design nor (ii) the participation of the ODP in design reviews and design collaboration, relieves or diminishes the contractual and/or professional responsibility of the Contractor or its Delegated Designer for the delegated design</a:t>
            </a:r>
          </a:p>
          <a:p>
            <a:endParaRPr lang="en-US" dirty="0"/>
          </a:p>
        </p:txBody>
      </p:sp>
      <p:sp>
        <p:nvSpPr>
          <p:cNvPr id="4" name="Slide Number Placeholder 3">
            <a:extLst>
              <a:ext uri="{FF2B5EF4-FFF2-40B4-BE49-F238E27FC236}">
                <a16:creationId xmlns:a16="http://schemas.microsoft.com/office/drawing/2014/main" id="{5841DF62-3753-5405-6483-91FAE513DE34}"/>
              </a:ext>
            </a:extLst>
          </p:cNvPr>
          <p:cNvSpPr>
            <a:spLocks noGrp="1"/>
          </p:cNvSpPr>
          <p:nvPr>
            <p:ph type="sldNum" sz="quarter" idx="12"/>
          </p:nvPr>
        </p:nvSpPr>
        <p:spPr/>
        <p:txBody>
          <a:bodyPr/>
          <a:lstStyle/>
          <a:p>
            <a:fld id="{C857CEEC-B959-4A37-A10B-AE2FE373736E}" type="slidenum">
              <a:rPr lang="en-US" smtClean="0"/>
              <a:pPr/>
              <a:t>35</a:t>
            </a:fld>
            <a:endParaRPr lang="en-US" dirty="0"/>
          </a:p>
        </p:txBody>
      </p:sp>
    </p:spTree>
    <p:extLst>
      <p:ext uri="{BB962C8B-B14F-4D97-AF65-F5344CB8AC3E}">
        <p14:creationId xmlns:p14="http://schemas.microsoft.com/office/powerpoint/2010/main" val="17877684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F4FB5-3E7B-FE62-E483-4B915653E3D3}"/>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A085ADDB-893D-8047-EFBC-1D52F9BC99CD}"/>
              </a:ext>
            </a:extLst>
          </p:cNvPr>
          <p:cNvSpPr>
            <a:spLocks noGrp="1"/>
          </p:cNvSpPr>
          <p:nvPr>
            <p:ph idx="1"/>
          </p:nvPr>
        </p:nvSpPr>
        <p:spPr/>
        <p:txBody>
          <a:bodyPr>
            <a:normAutofit fontScale="85000" lnSpcReduction="10000"/>
          </a:bodyPr>
          <a:lstStyle/>
          <a:p>
            <a:pPr marL="0" indent="0">
              <a:lnSpc>
                <a:spcPct val="135000"/>
              </a:lnSpc>
              <a:spcAft>
                <a:spcPts val="600"/>
              </a:spcAft>
              <a:buNone/>
            </a:pPr>
            <a:r>
              <a:rPr lang="en-US" sz="1700" b="1" dirty="0">
                <a:solidFill>
                  <a:schemeClr val="tx1"/>
                </a:solidFill>
              </a:rPr>
              <a:t>Practice Implementation</a:t>
            </a:r>
          </a:p>
          <a:p>
            <a:pPr>
              <a:lnSpc>
                <a:spcPct val="135000"/>
              </a:lnSpc>
              <a:spcAft>
                <a:spcPts val="600"/>
              </a:spcAft>
            </a:pPr>
            <a:r>
              <a:rPr lang="en-US" sz="1700" dirty="0">
                <a:solidFill>
                  <a:schemeClr val="tx1"/>
                </a:solidFill>
              </a:rPr>
              <a:t>Performance standards and design criteria for delegated design</a:t>
            </a:r>
          </a:p>
          <a:p>
            <a:pPr lvl="1"/>
            <a:r>
              <a:rPr lang="en-US" sz="1900" dirty="0">
                <a:latin typeface="Arial Narrow" panose="020B0606020202030204" pitchFamily="34" charset="0"/>
              </a:rPr>
              <a:t>Degree of development and detail</a:t>
            </a:r>
          </a:p>
          <a:p>
            <a:pPr lvl="1"/>
            <a:r>
              <a:rPr lang="en-US" sz="1900" dirty="0">
                <a:latin typeface="Arial Narrow" panose="020B0606020202030204" pitchFamily="34" charset="0"/>
              </a:rPr>
              <a:t>Delegated Designer professional validation and verification as to suitability</a:t>
            </a:r>
          </a:p>
          <a:p>
            <a:pPr lvl="1"/>
            <a:endParaRPr lang="en-US" sz="375" dirty="0">
              <a:latin typeface="Arial Narrow" panose="020B0606020202030204" pitchFamily="34" charset="0"/>
            </a:endParaRPr>
          </a:p>
          <a:p>
            <a:pPr>
              <a:lnSpc>
                <a:spcPct val="135000"/>
              </a:lnSpc>
              <a:spcAft>
                <a:spcPts val="600"/>
              </a:spcAft>
            </a:pPr>
            <a:r>
              <a:rPr lang="en-US" sz="1700" dirty="0">
                <a:solidFill>
                  <a:schemeClr val="tx1"/>
                </a:solidFill>
              </a:rPr>
              <a:t>Integration and compatibility issues and responsibilities</a:t>
            </a:r>
          </a:p>
          <a:p>
            <a:pPr>
              <a:lnSpc>
                <a:spcPct val="135000"/>
              </a:lnSpc>
              <a:spcAft>
                <a:spcPts val="600"/>
              </a:spcAft>
            </a:pPr>
            <a:r>
              <a:rPr lang="en-US" sz="1700" dirty="0">
                <a:solidFill>
                  <a:schemeClr val="tx1"/>
                </a:solidFill>
              </a:rPr>
              <a:t>Qualifications, registration, experience of Delegated Designer</a:t>
            </a:r>
          </a:p>
          <a:p>
            <a:pPr>
              <a:lnSpc>
                <a:spcPct val="135000"/>
              </a:lnSpc>
              <a:spcAft>
                <a:spcPts val="600"/>
              </a:spcAft>
            </a:pPr>
            <a:r>
              <a:rPr lang="en-US" sz="1700" dirty="0">
                <a:solidFill>
                  <a:schemeClr val="tx1"/>
                </a:solidFill>
              </a:rPr>
              <a:t>Professional liability insurance requirements for Contractor/Trade Contractor and Delegated Designer</a:t>
            </a:r>
          </a:p>
          <a:p>
            <a:pPr>
              <a:lnSpc>
                <a:spcPct val="135000"/>
              </a:lnSpc>
              <a:spcAft>
                <a:spcPts val="600"/>
              </a:spcAft>
            </a:pPr>
            <a:r>
              <a:rPr lang="en-US" sz="1700" dirty="0">
                <a:solidFill>
                  <a:schemeClr val="tx1"/>
                </a:solidFill>
              </a:rPr>
              <a:t>Delegated Design Submittals</a:t>
            </a:r>
          </a:p>
          <a:p>
            <a:pPr lvl="1"/>
            <a:r>
              <a:rPr lang="en-US" sz="1700" dirty="0">
                <a:latin typeface="Arial Narrow" panose="020B0606020202030204" pitchFamily="34" charset="0"/>
              </a:rPr>
              <a:t>Delegated Designer’s stamp</a:t>
            </a:r>
          </a:p>
          <a:p>
            <a:pPr lvl="1"/>
            <a:r>
              <a:rPr lang="en-US" sz="1700" dirty="0">
                <a:latin typeface="Arial Narrow" panose="020B0606020202030204" pitchFamily="34" charset="0"/>
              </a:rPr>
              <a:t>ODP’s scope of review (as contractually defined and as actually performed)</a:t>
            </a:r>
          </a:p>
          <a:p>
            <a:pPr lvl="1"/>
            <a:r>
              <a:rPr lang="en-US" sz="1700" dirty="0">
                <a:latin typeface="Arial Narrow" panose="020B0606020202030204" pitchFamily="34" charset="0"/>
              </a:rPr>
              <a:t>Not “or equal” or product substitution review</a:t>
            </a:r>
          </a:p>
          <a:p>
            <a:pPr lvl="1"/>
            <a:r>
              <a:rPr lang="en-US" sz="1700" dirty="0">
                <a:latin typeface="Arial Narrow" panose="020B0606020202030204" pitchFamily="34" charset="0"/>
              </a:rPr>
              <a:t>Not shop drawing review</a:t>
            </a:r>
          </a:p>
          <a:p>
            <a:pPr marL="0" indent="0">
              <a:buNone/>
            </a:pPr>
            <a:endParaRPr lang="en-US" dirty="0"/>
          </a:p>
        </p:txBody>
      </p:sp>
      <p:sp>
        <p:nvSpPr>
          <p:cNvPr id="4" name="Slide Number Placeholder 3">
            <a:extLst>
              <a:ext uri="{FF2B5EF4-FFF2-40B4-BE49-F238E27FC236}">
                <a16:creationId xmlns:a16="http://schemas.microsoft.com/office/drawing/2014/main" id="{3AB4ACFA-9EF8-DE3C-7163-A3DCB85D71BC}"/>
              </a:ext>
            </a:extLst>
          </p:cNvPr>
          <p:cNvSpPr>
            <a:spLocks noGrp="1"/>
          </p:cNvSpPr>
          <p:nvPr>
            <p:ph type="sldNum" sz="quarter" idx="12"/>
          </p:nvPr>
        </p:nvSpPr>
        <p:spPr/>
        <p:txBody>
          <a:bodyPr/>
          <a:lstStyle/>
          <a:p>
            <a:fld id="{C857CEEC-B959-4A37-A10B-AE2FE373736E}" type="slidenum">
              <a:rPr lang="en-US" smtClean="0"/>
              <a:pPr/>
              <a:t>36</a:t>
            </a:fld>
            <a:endParaRPr lang="en-US" dirty="0"/>
          </a:p>
        </p:txBody>
      </p:sp>
    </p:spTree>
    <p:extLst>
      <p:ext uri="{BB962C8B-B14F-4D97-AF65-F5344CB8AC3E}">
        <p14:creationId xmlns:p14="http://schemas.microsoft.com/office/powerpoint/2010/main" val="2944367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43C37-1C50-9CEF-837C-9DF6805EEAB1}"/>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738C57FB-F4C0-5BE4-7B8D-9E1ED5F07879}"/>
              </a:ext>
            </a:extLst>
          </p:cNvPr>
          <p:cNvSpPr>
            <a:spLocks noGrp="1"/>
          </p:cNvSpPr>
          <p:nvPr>
            <p:ph idx="1"/>
          </p:nvPr>
        </p:nvSpPr>
        <p:spPr/>
        <p:txBody>
          <a:bodyPr>
            <a:normAutofit fontScale="85000" lnSpcReduction="20000"/>
          </a:bodyPr>
          <a:lstStyle/>
          <a:p>
            <a:pPr marL="0" indent="0">
              <a:buNone/>
            </a:pPr>
            <a:r>
              <a:rPr lang="en-US" sz="2800" dirty="0">
                <a:solidFill>
                  <a:schemeClr val="tx1"/>
                </a:solidFill>
              </a:rPr>
              <a:t>Practice Implementation</a:t>
            </a:r>
          </a:p>
          <a:p>
            <a:r>
              <a:rPr lang="en-US" sz="2800" dirty="0">
                <a:solidFill>
                  <a:schemeClr val="tx1"/>
                </a:solidFill>
              </a:rPr>
              <a:t>Develop a certification form (to be included with design submittals) required to be executed by the Contractor </a:t>
            </a:r>
            <a:r>
              <a:rPr lang="en-US" sz="2800" dirty="0" err="1">
                <a:solidFill>
                  <a:schemeClr val="tx1"/>
                </a:solidFill>
              </a:rPr>
              <a:t>Delegatee</a:t>
            </a:r>
            <a:r>
              <a:rPr lang="en-US" sz="2800" dirty="0">
                <a:solidFill>
                  <a:schemeClr val="tx1"/>
                </a:solidFill>
              </a:rPr>
              <a:t> and its Delegated Designer.  Consider the following certification: </a:t>
            </a:r>
          </a:p>
          <a:p>
            <a:pPr marL="0" indent="0">
              <a:buNone/>
              <a:tabLst>
                <a:tab pos="259556" algn="l"/>
              </a:tabLst>
            </a:pPr>
            <a:r>
              <a:rPr lang="en-US" sz="2800" dirty="0">
                <a:solidFill>
                  <a:schemeClr val="tx1"/>
                </a:solidFill>
                <a:latin typeface="Arial Narrow" panose="020B0606020202030204" pitchFamily="34" charset="0"/>
              </a:rPr>
              <a:t>“The submitted design satisfies contractually-required performance standards or design criteria, applicable codes and sound professional practice standards and the undersigned designer understands and acknowledges that he/she is exclusively and professionally responsible for design notwithstanding design review, collaboration, or other role or participation of the owner’s design professional  or others in the design development and review process; and that the owners  and such others are entitled to rely upon the accuracy, completeness, reliability, quality, suitability, and constructability of the design and further rely upon the terms of the certification and the undersigned designer’s representation that it has satisfied all contractual and professional practice, code and other public law requirements in the development of the design..”</a:t>
            </a:r>
          </a:p>
          <a:p>
            <a:pPr marL="0" indent="0">
              <a:buNone/>
              <a:tabLst>
                <a:tab pos="259556" algn="l"/>
              </a:tabLst>
            </a:pPr>
            <a:r>
              <a:rPr lang="en-US" sz="2800" dirty="0">
                <a:solidFill>
                  <a:schemeClr val="tx1"/>
                </a:solidFill>
              </a:rPr>
              <a:t>	</a:t>
            </a:r>
            <a:endParaRPr lang="en-US" dirty="0">
              <a:solidFill>
                <a:schemeClr val="tx1"/>
              </a:solidFill>
            </a:endParaRPr>
          </a:p>
          <a:p>
            <a:pPr marL="0" indent="0">
              <a:buNone/>
            </a:pPr>
            <a:endParaRPr lang="en-US" dirty="0"/>
          </a:p>
        </p:txBody>
      </p:sp>
      <p:sp>
        <p:nvSpPr>
          <p:cNvPr id="4" name="Slide Number Placeholder 3">
            <a:extLst>
              <a:ext uri="{FF2B5EF4-FFF2-40B4-BE49-F238E27FC236}">
                <a16:creationId xmlns:a16="http://schemas.microsoft.com/office/drawing/2014/main" id="{A14275E0-915B-5023-7F5A-B175D173DFC4}"/>
              </a:ext>
            </a:extLst>
          </p:cNvPr>
          <p:cNvSpPr>
            <a:spLocks noGrp="1"/>
          </p:cNvSpPr>
          <p:nvPr>
            <p:ph type="sldNum" sz="quarter" idx="12"/>
          </p:nvPr>
        </p:nvSpPr>
        <p:spPr/>
        <p:txBody>
          <a:bodyPr/>
          <a:lstStyle/>
          <a:p>
            <a:fld id="{C857CEEC-B959-4A37-A10B-AE2FE373736E}" type="slidenum">
              <a:rPr lang="en-US" smtClean="0"/>
              <a:pPr/>
              <a:t>37</a:t>
            </a:fld>
            <a:endParaRPr lang="en-US" dirty="0"/>
          </a:p>
        </p:txBody>
      </p:sp>
    </p:spTree>
    <p:extLst>
      <p:ext uri="{BB962C8B-B14F-4D97-AF65-F5344CB8AC3E}">
        <p14:creationId xmlns:p14="http://schemas.microsoft.com/office/powerpoint/2010/main" val="35046829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F181B-0DE6-8E9C-8C81-8428EEDF546A}"/>
              </a:ext>
            </a:extLst>
          </p:cNvPr>
          <p:cNvSpPr>
            <a:spLocks noGrp="1"/>
          </p:cNvSpPr>
          <p:nvPr>
            <p:ph type="title"/>
          </p:nvPr>
        </p:nvSpPr>
        <p:spPr/>
        <p:txBody>
          <a:bodyPr/>
          <a:lstStyle/>
          <a:p>
            <a:r>
              <a:rPr lang="en-US" dirty="0"/>
              <a:t>DESIGN-BID-BUILD</a:t>
            </a:r>
            <a:br>
              <a:rPr lang="en-US" dirty="0"/>
            </a:br>
            <a:r>
              <a:rPr lang="en-US" dirty="0"/>
              <a:t>DESIGN DELEGATION</a:t>
            </a:r>
          </a:p>
        </p:txBody>
      </p:sp>
      <p:sp>
        <p:nvSpPr>
          <p:cNvPr id="3" name="Content Placeholder 2">
            <a:extLst>
              <a:ext uri="{FF2B5EF4-FFF2-40B4-BE49-F238E27FC236}">
                <a16:creationId xmlns:a16="http://schemas.microsoft.com/office/drawing/2014/main" id="{BC40A5BB-9F78-F94A-1974-60923BE5C0F3}"/>
              </a:ext>
            </a:extLst>
          </p:cNvPr>
          <p:cNvSpPr>
            <a:spLocks noGrp="1"/>
          </p:cNvSpPr>
          <p:nvPr>
            <p:ph idx="1"/>
          </p:nvPr>
        </p:nvSpPr>
        <p:spPr/>
        <p:txBody>
          <a:bodyPr>
            <a:noAutofit/>
          </a:bodyPr>
          <a:lstStyle/>
          <a:p>
            <a:pPr marL="0" indent="0">
              <a:buNone/>
            </a:pPr>
            <a:r>
              <a:rPr lang="en-US" sz="1600" b="1" dirty="0">
                <a:solidFill>
                  <a:schemeClr val="tx1"/>
                </a:solidFill>
              </a:rPr>
              <a:t>Practice Implementation</a:t>
            </a:r>
          </a:p>
          <a:p>
            <a:pPr marL="0" indent="0">
              <a:buNone/>
            </a:pPr>
            <a:r>
              <a:rPr lang="en-US" sz="1600" dirty="0">
                <a:solidFill>
                  <a:schemeClr val="tx1"/>
                </a:solidFill>
              </a:rPr>
              <a:t>Develop Stamp to be affixed on design review performed by ODP</a:t>
            </a:r>
          </a:p>
          <a:p>
            <a:pPr marL="0" indent="0">
              <a:buNone/>
            </a:pPr>
            <a:r>
              <a:rPr lang="en-US" sz="1600" dirty="0">
                <a:solidFill>
                  <a:schemeClr val="tx1"/>
                </a:solidFill>
              </a:rPr>
              <a:t>Consider the following:  </a:t>
            </a:r>
          </a:p>
          <a:p>
            <a:pPr marL="457200" lvl="1" indent="0">
              <a:buNone/>
            </a:pPr>
            <a:r>
              <a:rPr lang="en-US" sz="1600" dirty="0">
                <a:solidFill>
                  <a:schemeClr val="tx1"/>
                </a:solidFill>
                <a:effectLst>
                  <a:outerShdw blurRad="38100" dist="38100" dir="2700000" algn="tl">
                    <a:srgbClr val="000000">
                      <a:alpha val="43137"/>
                    </a:srgbClr>
                  </a:outerShdw>
                </a:effectLst>
                <a:latin typeface="Arial Narrow" panose="020B0606020202030204" pitchFamily="34" charset="0"/>
              </a:rPr>
              <a:t>“This design submittal has been reviewed solely for the purpose of evaluating compliance of the subject design with the performance specifications [and/or design criteria] set forth in ¶­­­___ of the specifications.  Neither this submittal review by the owner’s design professional nor any participation in reviews or comments with respect to preliminary or iterative designs shall in any manner or respect diminish or otherwise affect the Contractor’s and its Designer’s exclusive responsibility for the adequacy, completeness, suitability, reliability, conformity and compliance of the design with requirements of the Contract Documents, applicable codes and standards, and applicable professional practice standards.”</a:t>
            </a:r>
          </a:p>
          <a:p>
            <a:pPr marL="171450" indent="-171450">
              <a:buSzPct val="100000"/>
            </a:pPr>
            <a:r>
              <a:rPr lang="en-US" sz="1600" dirty="0">
                <a:solidFill>
                  <a:schemeClr val="tx1"/>
                </a:solidFill>
              </a:rPr>
              <a:t>Submittal Reviews of the ODP should be conducted within the limitations set forth in the preceding paragraph, and review comments should similarly be so confined.</a:t>
            </a:r>
          </a:p>
          <a:p>
            <a:pPr marL="171450" indent="-171450">
              <a:buSzPct val="100000"/>
            </a:pPr>
            <a:r>
              <a:rPr lang="en-US" sz="1600" dirty="0">
                <a:solidFill>
                  <a:schemeClr val="tx1"/>
                </a:solidFill>
              </a:rPr>
              <a:t>Be sure that all design submittals (including any calculations or other underlying materials) are signed and sealed by the Delegated Designer and accompanied by the certification prior to the ODP undertaking any review or providing any comments</a:t>
            </a:r>
            <a:endParaRPr lang="en-US" sz="1600" dirty="0"/>
          </a:p>
        </p:txBody>
      </p:sp>
      <p:sp>
        <p:nvSpPr>
          <p:cNvPr id="4" name="Slide Number Placeholder 3">
            <a:extLst>
              <a:ext uri="{FF2B5EF4-FFF2-40B4-BE49-F238E27FC236}">
                <a16:creationId xmlns:a16="http://schemas.microsoft.com/office/drawing/2014/main" id="{68B1EE7C-4099-E4E6-0786-B355D1179FE1}"/>
              </a:ext>
            </a:extLst>
          </p:cNvPr>
          <p:cNvSpPr>
            <a:spLocks noGrp="1"/>
          </p:cNvSpPr>
          <p:nvPr>
            <p:ph type="sldNum" sz="quarter" idx="12"/>
          </p:nvPr>
        </p:nvSpPr>
        <p:spPr/>
        <p:txBody>
          <a:bodyPr/>
          <a:lstStyle/>
          <a:p>
            <a:fld id="{C857CEEC-B959-4A37-A10B-AE2FE373736E}" type="slidenum">
              <a:rPr lang="en-US" smtClean="0"/>
              <a:pPr/>
              <a:t>38</a:t>
            </a:fld>
            <a:endParaRPr lang="en-US" dirty="0"/>
          </a:p>
        </p:txBody>
      </p:sp>
    </p:spTree>
    <p:extLst>
      <p:ext uri="{BB962C8B-B14F-4D97-AF65-F5344CB8AC3E}">
        <p14:creationId xmlns:p14="http://schemas.microsoft.com/office/powerpoint/2010/main" val="20240317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E2C6D-5E1C-22DE-31BC-D6D7BB1835E0}"/>
              </a:ext>
            </a:extLst>
          </p:cNvPr>
          <p:cNvSpPr>
            <a:spLocks noGrp="1"/>
          </p:cNvSpPr>
          <p:nvPr>
            <p:ph type="title"/>
          </p:nvPr>
        </p:nvSpPr>
        <p:spPr/>
        <p:txBody>
          <a:bodyPr/>
          <a:lstStyle/>
          <a:p>
            <a:r>
              <a:rPr lang="en-US" dirty="0"/>
              <a:t>Design-Build	</a:t>
            </a:r>
          </a:p>
        </p:txBody>
      </p:sp>
      <p:sp>
        <p:nvSpPr>
          <p:cNvPr id="4" name="Slide Number Placeholder 3">
            <a:extLst>
              <a:ext uri="{FF2B5EF4-FFF2-40B4-BE49-F238E27FC236}">
                <a16:creationId xmlns:a16="http://schemas.microsoft.com/office/drawing/2014/main" id="{E2B55395-0945-4613-6107-678C4B1AF3AD}"/>
              </a:ext>
            </a:extLst>
          </p:cNvPr>
          <p:cNvSpPr>
            <a:spLocks noGrp="1"/>
          </p:cNvSpPr>
          <p:nvPr>
            <p:ph type="sldNum" sz="quarter" idx="12"/>
          </p:nvPr>
        </p:nvSpPr>
        <p:spPr/>
        <p:txBody>
          <a:bodyPr/>
          <a:lstStyle/>
          <a:p>
            <a:fld id="{C857CEEC-B959-4A37-A10B-AE2FE373736E}" type="slidenum">
              <a:rPr lang="en-US" smtClean="0"/>
              <a:pPr/>
              <a:t>39</a:t>
            </a:fld>
            <a:endParaRPr lang="en-US" dirty="0"/>
          </a:p>
        </p:txBody>
      </p:sp>
      <p:sp>
        <p:nvSpPr>
          <p:cNvPr id="8" name="Content Placeholder 7">
            <a:extLst>
              <a:ext uri="{FF2B5EF4-FFF2-40B4-BE49-F238E27FC236}">
                <a16:creationId xmlns:a16="http://schemas.microsoft.com/office/drawing/2014/main" id="{71697717-00CD-932B-F7AF-6B8F15CAE58A}"/>
              </a:ext>
            </a:extLst>
          </p:cNvPr>
          <p:cNvSpPr>
            <a:spLocks noGrp="1"/>
          </p:cNvSpPr>
          <p:nvPr>
            <p:ph idx="1"/>
          </p:nvPr>
        </p:nvSpPr>
        <p:spPr/>
        <p:txBody>
          <a:bodyPr/>
          <a:lstStyle/>
          <a:p>
            <a:r>
              <a:rPr lang="en-US" dirty="0"/>
              <a:t>Add </a:t>
            </a:r>
            <a:r>
              <a:rPr lang="en-US"/>
              <a:t>chart from page 37 of May 11 2023 power point</a:t>
            </a:r>
          </a:p>
        </p:txBody>
      </p:sp>
      <p:grpSp>
        <p:nvGrpSpPr>
          <p:cNvPr id="3" name="Group 2"/>
          <p:cNvGrpSpPr/>
          <p:nvPr/>
        </p:nvGrpSpPr>
        <p:grpSpPr>
          <a:xfrm>
            <a:off x="2233657" y="2897461"/>
            <a:ext cx="7527550" cy="2482903"/>
            <a:chOff x="2225492" y="2742340"/>
            <a:chExt cx="7527550" cy="2482903"/>
          </a:xfrm>
        </p:grpSpPr>
        <p:graphicFrame>
          <p:nvGraphicFramePr>
            <p:cNvPr id="15" name="Content Placeholder 4">
              <a:extLst>
                <a:ext uri="{FF2B5EF4-FFF2-40B4-BE49-F238E27FC236}">
                  <a16:creationId xmlns:a16="http://schemas.microsoft.com/office/drawing/2014/main" id="{7C2164BF-AE60-4EEE-BA4E-17FA079511D4}"/>
                </a:ext>
              </a:extLst>
            </p:cNvPr>
            <p:cNvGraphicFramePr>
              <a:graphicFrameLocks/>
            </p:cNvGraphicFramePr>
            <p:nvPr>
              <p:extLst>
                <p:ext uri="{D42A27DB-BD31-4B8C-83A1-F6EECF244321}">
                  <p14:modId xmlns:p14="http://schemas.microsoft.com/office/powerpoint/2010/main" val="2815528247"/>
                </p:ext>
              </p:extLst>
            </p:nvPr>
          </p:nvGraphicFramePr>
          <p:xfrm>
            <a:off x="2225492" y="2742340"/>
            <a:ext cx="7527550" cy="2482903"/>
          </p:xfrm>
          <a:graphic>
            <a:graphicData uri="http://schemas.openxmlformats.org/drawingml/2006/table">
              <a:tbl>
                <a:tblPr firstRow="1" bandRow="1">
                  <a:tableStyleId>{5C22544A-7EE6-4342-B048-85BDC9FD1C3A}</a:tableStyleId>
                </a:tblPr>
                <a:tblGrid>
                  <a:gridCol w="1190275">
                    <a:extLst>
                      <a:ext uri="{9D8B030D-6E8A-4147-A177-3AD203B41FA5}">
                        <a16:colId xmlns:a16="http://schemas.microsoft.com/office/drawing/2014/main" val="2087177136"/>
                      </a:ext>
                    </a:extLst>
                  </a:gridCol>
                  <a:gridCol w="1058022">
                    <a:extLst>
                      <a:ext uri="{9D8B030D-6E8A-4147-A177-3AD203B41FA5}">
                        <a16:colId xmlns:a16="http://schemas.microsoft.com/office/drawing/2014/main" val="3301006352"/>
                      </a:ext>
                    </a:extLst>
                  </a:gridCol>
                  <a:gridCol w="925769">
                    <a:extLst>
                      <a:ext uri="{9D8B030D-6E8A-4147-A177-3AD203B41FA5}">
                        <a16:colId xmlns:a16="http://schemas.microsoft.com/office/drawing/2014/main" val="1555187417"/>
                      </a:ext>
                    </a:extLst>
                  </a:gridCol>
                  <a:gridCol w="956384">
                    <a:extLst>
                      <a:ext uri="{9D8B030D-6E8A-4147-A177-3AD203B41FA5}">
                        <a16:colId xmlns:a16="http://schemas.microsoft.com/office/drawing/2014/main" val="69764844"/>
                      </a:ext>
                    </a:extLst>
                  </a:gridCol>
                  <a:gridCol w="1424165">
                    <a:extLst>
                      <a:ext uri="{9D8B030D-6E8A-4147-A177-3AD203B41FA5}">
                        <a16:colId xmlns:a16="http://schemas.microsoft.com/office/drawing/2014/main" val="3185084607"/>
                      </a:ext>
                    </a:extLst>
                  </a:gridCol>
                  <a:gridCol w="925769">
                    <a:extLst>
                      <a:ext uri="{9D8B030D-6E8A-4147-A177-3AD203B41FA5}">
                        <a16:colId xmlns:a16="http://schemas.microsoft.com/office/drawing/2014/main" val="2597337057"/>
                      </a:ext>
                    </a:extLst>
                  </a:gridCol>
                  <a:gridCol w="1047166">
                    <a:extLst>
                      <a:ext uri="{9D8B030D-6E8A-4147-A177-3AD203B41FA5}">
                        <a16:colId xmlns:a16="http://schemas.microsoft.com/office/drawing/2014/main" val="2593531666"/>
                      </a:ext>
                    </a:extLst>
                  </a:gridCol>
                </a:tblGrid>
                <a:tr h="476463">
                  <a:tc>
                    <a:txBody>
                      <a:bodyPr/>
                      <a:lstStyle/>
                      <a:p>
                        <a:endParaRPr lang="en-US" sz="18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r>
                          <a:rPr lang="en-US" sz="1200" u="sng" dirty="0">
                            <a:latin typeface="Arial Narrow" panose="020B0606020202030204" pitchFamily="34" charset="0"/>
                          </a:rPr>
                          <a:t>Conventional Design-Build</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200" u="sng"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r>
                          <a:rPr lang="en-US" sz="1200" u="sng" dirty="0">
                            <a:latin typeface="Arial Narrow" panose="020B0606020202030204" pitchFamily="34" charset="0"/>
                          </a:rPr>
                          <a:t>Progressive Design Build</a:t>
                        </a: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72174181"/>
                    </a:ext>
                  </a:extLst>
                </a:tr>
                <a:tr h="386465">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en-US" sz="1200" dirty="0">
                            <a:latin typeface="Arial Narrow" panose="020B0606020202030204" pitchFamily="34" charset="0"/>
                          </a:rPr>
                          <a:t>Owner</a:t>
                        </a: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endParaRPr lang="en-US" sz="1200" dirty="0">
                          <a:latin typeface="Arial Narrow" panose="020B0606020202030204" pitchFamily="34" charset="0"/>
                        </a:endParaRP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en-US" sz="1200" dirty="0">
                            <a:latin typeface="Arial Narrow" panose="020B0606020202030204" pitchFamily="34" charset="0"/>
                          </a:rPr>
                          <a:t>Owner</a:t>
                        </a: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8324145"/>
                    </a:ext>
                  </a:extLst>
                </a:tr>
                <a:tr h="476463">
                  <a:tc>
                    <a:txBody>
                      <a:bodyPr/>
                      <a:lstStyle/>
                      <a:p>
                        <a:r>
                          <a:rPr lang="en-US" sz="1200" dirty="0">
                            <a:latin typeface="Arial Narrow" panose="020B0606020202030204" pitchFamily="34" charset="0"/>
                          </a:rPr>
                          <a:t>1-Step Procurement</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2-Step Procurement</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dirty="0">
                            <a:latin typeface="Arial Narrow" panose="020B0606020202030204" pitchFamily="34" charset="0"/>
                          </a:rPr>
                          <a:t>	</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Design</a:t>
                        </a:r>
                      </a:p>
                      <a:p>
                        <a:r>
                          <a:rPr lang="en-US" sz="1200" dirty="0">
                            <a:latin typeface="Arial Narrow" panose="020B0606020202030204" pitchFamily="34" charset="0"/>
                          </a:rPr>
                          <a:t>Professional</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641530830"/>
                    </a:ext>
                  </a:extLst>
                </a:tr>
                <a:tr h="476463">
                  <a:tc>
                    <a:txBody>
                      <a:bodyPr/>
                      <a:lstStyle/>
                      <a:p>
                        <a:endParaRPr lang="en-US" sz="180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Design-Builder</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Design Professional</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200" dirty="0">
                            <a:latin typeface="Arial Narrow" panose="020B0606020202030204" pitchFamily="34" charset="0"/>
                          </a:rPr>
                          <a:t>Design-Builder</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869446126"/>
                    </a:ext>
                  </a:extLst>
                </a:tr>
                <a:tr h="667049">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200" dirty="0">
                          <a:latin typeface="Arial Narrow" panose="020B0606020202030204" pitchFamily="34" charset="0"/>
                        </a:endParaRPr>
                      </a:p>
                      <a:p>
                        <a:r>
                          <a:rPr lang="en-US" sz="1200" dirty="0">
                            <a:latin typeface="Arial Narrow" panose="020B0606020202030204" pitchFamily="34" charset="0"/>
                          </a:rPr>
                          <a:t>Design</a:t>
                        </a:r>
                      </a:p>
                      <a:p>
                        <a:r>
                          <a:rPr lang="en-US" sz="1200" dirty="0">
                            <a:latin typeface="Arial Narrow" panose="020B0606020202030204" pitchFamily="34" charset="0"/>
                          </a:rPr>
                          <a:t>Professional</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200" dirty="0">
                          <a:latin typeface="Arial Narrow" panose="020B0606020202030204" pitchFamily="34" charset="0"/>
                        </a:endParaRPr>
                      </a:p>
                      <a:p>
                        <a:r>
                          <a:rPr lang="en-US" sz="1200" dirty="0">
                            <a:latin typeface="Arial Narrow" panose="020B0606020202030204" pitchFamily="34" charset="0"/>
                          </a:rPr>
                          <a:t>Design Professional</a:t>
                        </a: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sz="1800" dirty="0">
                          <a:latin typeface="Arial Narrow" panose="020B0606020202030204" pitchFamily="34" charset="0"/>
                        </a:endParaRPr>
                      </a:p>
                    </a:txBody>
                    <a:tcPr marL="68580" marR="68580" marT="34290" marB="34290"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96494199"/>
                    </a:ext>
                  </a:extLst>
                </a:tr>
              </a:tbl>
            </a:graphicData>
          </a:graphic>
        </p:graphicFrame>
        <p:cxnSp>
          <p:nvCxnSpPr>
            <p:cNvPr id="16" name="Straight Arrow Connector 15">
              <a:extLst>
                <a:ext uri="{FF2B5EF4-FFF2-40B4-BE49-F238E27FC236}">
                  <a16:creationId xmlns:a16="http://schemas.microsoft.com/office/drawing/2014/main" id="{06E3B225-CFB7-43D4-A571-058C96AC64F6}"/>
                </a:ext>
              </a:extLst>
            </p:cNvPr>
            <p:cNvCxnSpPr>
              <a:cxnSpLocks/>
            </p:cNvCxnSpPr>
            <p:nvPr/>
          </p:nvCxnSpPr>
          <p:spPr>
            <a:xfrm>
              <a:off x="3180314" y="3860880"/>
              <a:ext cx="486975" cy="0"/>
            </a:xfrm>
            <a:prstGeom prst="straightConnector1">
              <a:avLst/>
            </a:prstGeom>
            <a:ln>
              <a:solidFill>
                <a:srgbClr val="51312D"/>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736072F-5558-457D-9222-40E8ED7FC277}"/>
                </a:ext>
              </a:extLst>
            </p:cNvPr>
            <p:cNvCxnSpPr>
              <a:cxnSpLocks/>
            </p:cNvCxnSpPr>
            <p:nvPr/>
          </p:nvCxnSpPr>
          <p:spPr>
            <a:xfrm>
              <a:off x="6315399" y="3874811"/>
              <a:ext cx="556132" cy="0"/>
            </a:xfrm>
            <a:prstGeom prst="straightConnector1">
              <a:avLst/>
            </a:prstGeom>
            <a:ln>
              <a:solidFill>
                <a:srgbClr val="51312D"/>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6D610E7-5818-45D1-9614-47E684E051D0}"/>
                </a:ext>
              </a:extLst>
            </p:cNvPr>
            <p:cNvCxnSpPr>
              <a:cxnSpLocks/>
            </p:cNvCxnSpPr>
            <p:nvPr/>
          </p:nvCxnSpPr>
          <p:spPr>
            <a:xfrm>
              <a:off x="3918622" y="3660855"/>
              <a:ext cx="0" cy="4000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E1AC9D-D157-4E2B-8727-2FF08181BA3E}"/>
                </a:ext>
              </a:extLst>
            </p:cNvPr>
            <p:cNvCxnSpPr>
              <a:cxnSpLocks/>
            </p:cNvCxnSpPr>
            <p:nvPr/>
          </p:nvCxnSpPr>
          <p:spPr>
            <a:xfrm>
              <a:off x="4142581" y="3688718"/>
              <a:ext cx="568055" cy="372187"/>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7FC1BBB-21E8-4765-9707-1EB9DBA1FDD8}"/>
                </a:ext>
              </a:extLst>
            </p:cNvPr>
            <p:cNvCxnSpPr>
              <a:cxnSpLocks/>
            </p:cNvCxnSpPr>
            <p:nvPr/>
          </p:nvCxnSpPr>
          <p:spPr>
            <a:xfrm flipV="1">
              <a:off x="3892848" y="4434269"/>
              <a:ext cx="0" cy="376037"/>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FB025F6-AD4F-444C-B32E-BD37DC4E7A30}"/>
                </a:ext>
              </a:extLst>
            </p:cNvPr>
            <p:cNvCxnSpPr>
              <a:cxnSpLocks/>
            </p:cNvCxnSpPr>
            <p:nvPr/>
          </p:nvCxnSpPr>
          <p:spPr>
            <a:xfrm>
              <a:off x="7026172" y="3623075"/>
              <a:ext cx="0" cy="4378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21953B2A-5E71-41BF-8790-9A71153AE7B4}"/>
                </a:ext>
              </a:extLst>
            </p:cNvPr>
            <p:cNvCxnSpPr>
              <a:cxnSpLocks/>
            </p:cNvCxnSpPr>
            <p:nvPr/>
          </p:nvCxnSpPr>
          <p:spPr>
            <a:xfrm>
              <a:off x="7253821" y="3623075"/>
              <a:ext cx="552358" cy="251736"/>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2F1545F-641C-4AD7-8E14-31DF55603E5D}"/>
                </a:ext>
              </a:extLst>
            </p:cNvPr>
            <p:cNvCxnSpPr>
              <a:cxnSpLocks/>
            </p:cNvCxnSpPr>
            <p:nvPr/>
          </p:nvCxnSpPr>
          <p:spPr>
            <a:xfrm>
              <a:off x="6806697" y="3781126"/>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4406BE4-CBE6-49C2-9611-B279C93807D2}"/>
                </a:ext>
              </a:extLst>
            </p:cNvPr>
            <p:cNvCxnSpPr>
              <a:cxnSpLocks/>
            </p:cNvCxnSpPr>
            <p:nvPr/>
          </p:nvCxnSpPr>
          <p:spPr>
            <a:xfrm>
              <a:off x="7014166" y="4461403"/>
              <a:ext cx="0" cy="376037"/>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095639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ABAAB-25F1-C08B-E480-02EFB989C5DB}"/>
              </a:ext>
            </a:extLst>
          </p:cNvPr>
          <p:cNvSpPr>
            <a:spLocks noGrp="1"/>
          </p:cNvSpPr>
          <p:nvPr>
            <p:ph type="title"/>
          </p:nvPr>
        </p:nvSpPr>
        <p:spPr/>
        <p:txBody>
          <a:bodyPr/>
          <a:lstStyle/>
          <a:p>
            <a:r>
              <a:rPr lang="en-US" dirty="0"/>
              <a:t>Conventional Design-Build</a:t>
            </a:r>
          </a:p>
        </p:txBody>
      </p:sp>
      <p:sp>
        <p:nvSpPr>
          <p:cNvPr id="3" name="Content Placeholder 2">
            <a:extLst>
              <a:ext uri="{FF2B5EF4-FFF2-40B4-BE49-F238E27FC236}">
                <a16:creationId xmlns:a16="http://schemas.microsoft.com/office/drawing/2014/main" id="{14A2A94A-9CFB-97EC-6532-1BBA61C7F1B3}"/>
              </a:ext>
            </a:extLst>
          </p:cNvPr>
          <p:cNvSpPr>
            <a:spLocks noGrp="1"/>
          </p:cNvSpPr>
          <p:nvPr>
            <p:ph idx="1"/>
          </p:nvPr>
        </p:nvSpPr>
        <p:spPr/>
        <p:txBody>
          <a:bodyPr/>
          <a:lstStyle/>
          <a:p>
            <a:pPr>
              <a:spcAft>
                <a:spcPts val="600"/>
              </a:spcAft>
              <a:buFont typeface="Arial" panose="020B0604020202020204" pitchFamily="34" charset="0"/>
              <a:buChar char="•"/>
            </a:pPr>
            <a:r>
              <a:rPr lang="en-US" sz="1350" dirty="0"/>
              <a:t>Owner’s Design Professional typically has responsibility for preparation of conceptual/preliminary design criteria or standards*</a:t>
            </a:r>
          </a:p>
          <a:p>
            <a:pPr>
              <a:spcAft>
                <a:spcPts val="600"/>
              </a:spcAft>
              <a:buFont typeface="Arial" panose="020B0604020202020204" pitchFamily="34" charset="0"/>
              <a:buChar char="•"/>
            </a:pPr>
            <a:r>
              <a:rPr lang="en-US" sz="1350" dirty="0"/>
              <a:t>Design-Builder and its Design Professional subconsultants have responsibility for the accuracy, suitability and constructability of final design of permanent project work consistent with contract requirements</a:t>
            </a:r>
          </a:p>
          <a:p>
            <a:pPr lvl="1">
              <a:spcAft>
                <a:spcPts val="600"/>
              </a:spcAft>
              <a:buFont typeface="Arial" panose="020B0604020202020204" pitchFamily="34" charset="0"/>
              <a:buChar char="•"/>
            </a:pPr>
            <a:r>
              <a:rPr lang="en-US" sz="1050" dirty="0">
                <a:latin typeface="Arial Narrow" panose="020B0606020202030204" pitchFamily="34" charset="0"/>
              </a:rPr>
              <a:t>Design-Builder’s contractual and warranty obligations to the Owner</a:t>
            </a:r>
          </a:p>
          <a:p>
            <a:pPr lvl="1">
              <a:spcAft>
                <a:spcPts val="600"/>
              </a:spcAft>
              <a:buFont typeface="Arial" panose="020B0604020202020204" pitchFamily="34" charset="0"/>
              <a:buChar char="•"/>
            </a:pPr>
            <a:r>
              <a:rPr lang="en-US" sz="1050" dirty="0">
                <a:latin typeface="Arial Narrow" panose="020B0606020202030204" pitchFamily="34" charset="0"/>
              </a:rPr>
              <a:t>Design Professional subconsultants professional standard of care obligation</a:t>
            </a:r>
          </a:p>
          <a:p>
            <a:pPr>
              <a:spcAft>
                <a:spcPts val="600"/>
              </a:spcAft>
              <a:buFont typeface="Arial" panose="020B0604020202020204" pitchFamily="34" charset="0"/>
              <a:buChar char="•"/>
            </a:pPr>
            <a:r>
              <a:rPr lang="en-US" sz="1350" dirty="0"/>
              <a:t>Owner typically disclaims final design responsibility </a:t>
            </a:r>
          </a:p>
          <a:p>
            <a:pPr lvl="1">
              <a:spcAft>
                <a:spcPts val="600"/>
              </a:spcAft>
              <a:buFont typeface="Arial" panose="020B0604020202020204" pitchFamily="34" charset="0"/>
              <a:buChar char="•"/>
            </a:pPr>
            <a:r>
              <a:rPr lang="en-US" sz="1050" dirty="0">
                <a:latin typeface="Arial Narrow" panose="020B0606020202030204" pitchFamily="34" charset="0"/>
              </a:rPr>
              <a:t>Effectiveness of disclaimers</a:t>
            </a:r>
          </a:p>
          <a:p>
            <a:pPr lvl="1">
              <a:spcAft>
                <a:spcPts val="600"/>
              </a:spcAft>
              <a:buFont typeface="Arial" panose="020B0604020202020204" pitchFamily="34" charset="0"/>
              <a:buChar char="•"/>
            </a:pPr>
            <a:r>
              <a:rPr lang="en-US" sz="1050" u="sng" dirty="0" err="1">
                <a:latin typeface="Arial Narrow" panose="020B0606020202030204" pitchFamily="34" charset="0"/>
              </a:rPr>
              <a:t>Spearin</a:t>
            </a:r>
            <a:r>
              <a:rPr lang="en-US" sz="1050" dirty="0">
                <a:latin typeface="Arial Narrow" panose="020B0606020202030204" pitchFamily="34" charset="0"/>
              </a:rPr>
              <a:t>, or implied warranty applicability?</a:t>
            </a:r>
          </a:p>
          <a:p>
            <a:pPr>
              <a:spcAft>
                <a:spcPts val="600"/>
              </a:spcAft>
              <a:buFont typeface="Arial" panose="020B0604020202020204" pitchFamily="34" charset="0"/>
              <a:buChar char="•"/>
            </a:pPr>
            <a:r>
              <a:rPr lang="en-US" sz="1350" dirty="0"/>
              <a:t>Displacement of contractual risk allocation</a:t>
            </a:r>
          </a:p>
          <a:p>
            <a:pPr lvl="1">
              <a:spcAft>
                <a:spcPts val="600"/>
              </a:spcAft>
              <a:buFont typeface="Arial" panose="020B0604020202020204" pitchFamily="34" charset="0"/>
              <a:buChar char="•"/>
            </a:pPr>
            <a:r>
              <a:rPr lang="en-US" sz="1050" dirty="0">
                <a:latin typeface="Arial Narrow" panose="020B0606020202030204" pitchFamily="34" charset="0"/>
              </a:rPr>
              <a:t>Scope and character of Owner review of Design-Builder’s design submittals</a:t>
            </a:r>
          </a:p>
          <a:p>
            <a:pPr lvl="1">
              <a:spcAft>
                <a:spcPts val="600"/>
              </a:spcAft>
              <a:buFont typeface="Arial" panose="020B0604020202020204" pitchFamily="34" charset="0"/>
              <a:buChar char="•"/>
            </a:pPr>
            <a:r>
              <a:rPr lang="en-US" sz="1050" dirty="0">
                <a:latin typeface="Arial Narrow" panose="020B0606020202030204" pitchFamily="34" charset="0"/>
              </a:rPr>
              <a:t>Overly prescriptive design details, constraints or requirements</a:t>
            </a:r>
          </a:p>
          <a:p>
            <a:pPr>
              <a:buFont typeface="Arial" panose="020B0604020202020204" pitchFamily="34" charset="0"/>
              <a:buChar char="•"/>
            </a:pPr>
            <a:endParaRPr lang="en-US" sz="900" dirty="0"/>
          </a:p>
          <a:p>
            <a:pPr marL="114300" indent="0">
              <a:buNone/>
            </a:pPr>
            <a:r>
              <a:rPr lang="en-US" sz="1100" dirty="0"/>
              <a:t>*D.J. Hatem &amp; P. Gary, ed., </a:t>
            </a:r>
            <a:r>
              <a:rPr lang="en-US" sz="1100" u="sng" dirty="0"/>
              <a:t>Public-Private Partnerships and Design-Build: Opportunities and Risks for Consulting Engineers</a:t>
            </a:r>
            <a:r>
              <a:rPr lang="en-US" sz="1100" dirty="0"/>
              <a:t>, Chapter 12, ¶ 12.4.4 Washington: American Council of Engineering Companies (3d ed., 2020).</a:t>
            </a:r>
          </a:p>
          <a:p>
            <a:pPr>
              <a:buFont typeface="Arial" panose="020B0604020202020204" pitchFamily="34" charset="0"/>
              <a:buChar char="•"/>
            </a:pPr>
            <a:endParaRPr lang="en-US" sz="1350" dirty="0"/>
          </a:p>
          <a:p>
            <a:endParaRPr lang="en-US" dirty="0"/>
          </a:p>
        </p:txBody>
      </p:sp>
      <p:sp>
        <p:nvSpPr>
          <p:cNvPr id="4" name="Slide Number Placeholder 3">
            <a:extLst>
              <a:ext uri="{FF2B5EF4-FFF2-40B4-BE49-F238E27FC236}">
                <a16:creationId xmlns:a16="http://schemas.microsoft.com/office/drawing/2014/main" id="{CEF0DD5C-566D-5BAD-D076-7DD9E77C6D24}"/>
              </a:ext>
            </a:extLst>
          </p:cNvPr>
          <p:cNvSpPr>
            <a:spLocks noGrp="1"/>
          </p:cNvSpPr>
          <p:nvPr>
            <p:ph type="sldNum" sz="quarter" idx="12"/>
          </p:nvPr>
        </p:nvSpPr>
        <p:spPr/>
        <p:txBody>
          <a:bodyPr/>
          <a:lstStyle/>
          <a:p>
            <a:fld id="{C857CEEC-B959-4A37-A10B-AE2FE373736E}" type="slidenum">
              <a:rPr lang="en-US" smtClean="0"/>
              <a:pPr/>
              <a:t>40</a:t>
            </a:fld>
            <a:endParaRPr lang="en-US" dirty="0"/>
          </a:p>
        </p:txBody>
      </p:sp>
    </p:spTree>
    <p:extLst>
      <p:ext uri="{BB962C8B-B14F-4D97-AF65-F5344CB8AC3E}">
        <p14:creationId xmlns:p14="http://schemas.microsoft.com/office/powerpoint/2010/main" val="23706823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44404-CB0B-9C80-A474-700FD461BEDA}"/>
              </a:ext>
            </a:extLst>
          </p:cNvPr>
          <p:cNvSpPr>
            <a:spLocks noGrp="1"/>
          </p:cNvSpPr>
          <p:nvPr>
            <p:ph type="title"/>
          </p:nvPr>
        </p:nvSpPr>
        <p:spPr/>
        <p:txBody>
          <a:bodyPr/>
          <a:lstStyle/>
          <a:p>
            <a:r>
              <a:rPr lang="en-US" dirty="0"/>
              <a:t>Conventional Design-Build: Procurement and Contractual Issues</a:t>
            </a:r>
          </a:p>
        </p:txBody>
      </p:sp>
      <p:sp>
        <p:nvSpPr>
          <p:cNvPr id="3" name="Content Placeholder 2">
            <a:extLst>
              <a:ext uri="{FF2B5EF4-FFF2-40B4-BE49-F238E27FC236}">
                <a16:creationId xmlns:a16="http://schemas.microsoft.com/office/drawing/2014/main" id="{E6222AED-93EB-1720-BAD6-3E4BFBADC5E0}"/>
              </a:ext>
            </a:extLst>
          </p:cNvPr>
          <p:cNvSpPr>
            <a:spLocks noGrp="1"/>
          </p:cNvSpPr>
          <p:nvPr>
            <p:ph idx="1"/>
          </p:nvPr>
        </p:nvSpPr>
        <p:spPr/>
        <p:txBody>
          <a:bodyPr/>
          <a:lstStyle/>
          <a:p>
            <a:pPr marL="0" indent="0">
              <a:buFontTx/>
              <a:buNone/>
              <a:defRPr/>
            </a:pPr>
            <a:r>
              <a:rPr lang="en-US" sz="2800" dirty="0"/>
              <a:t>Root Problems</a:t>
            </a:r>
          </a:p>
          <a:p>
            <a:pPr>
              <a:buFont typeface="Arial" panose="020B0604020202020204" pitchFamily="34" charset="0"/>
              <a:buChar char="•"/>
              <a:defRPr/>
            </a:pPr>
            <a:r>
              <a:rPr lang="en-US" sz="2800" dirty="0"/>
              <a:t>Fixed Price Contractual Commitment Based on Inadequately-Defined Scope:  Price Certainty, Scope Uncertainty</a:t>
            </a:r>
          </a:p>
          <a:p>
            <a:pPr>
              <a:buFont typeface="Arial" panose="020B0604020202020204" pitchFamily="34" charset="0"/>
              <a:buChar char="•"/>
              <a:defRPr/>
            </a:pPr>
            <a:r>
              <a:rPr lang="en-US" sz="2800" dirty="0"/>
              <a:t>Imbalanced Risk Allocation</a:t>
            </a:r>
          </a:p>
          <a:p>
            <a:endParaRPr lang="en-US" dirty="0"/>
          </a:p>
        </p:txBody>
      </p:sp>
      <p:sp>
        <p:nvSpPr>
          <p:cNvPr id="4" name="Slide Number Placeholder 3">
            <a:extLst>
              <a:ext uri="{FF2B5EF4-FFF2-40B4-BE49-F238E27FC236}">
                <a16:creationId xmlns:a16="http://schemas.microsoft.com/office/drawing/2014/main" id="{D24116EC-E0D7-8E95-9DB3-FFA118E7B1AA}"/>
              </a:ext>
            </a:extLst>
          </p:cNvPr>
          <p:cNvSpPr>
            <a:spLocks noGrp="1"/>
          </p:cNvSpPr>
          <p:nvPr>
            <p:ph type="sldNum" sz="quarter" idx="12"/>
          </p:nvPr>
        </p:nvSpPr>
        <p:spPr/>
        <p:txBody>
          <a:bodyPr/>
          <a:lstStyle/>
          <a:p>
            <a:fld id="{C857CEEC-B959-4A37-A10B-AE2FE373736E}" type="slidenum">
              <a:rPr lang="en-US" smtClean="0"/>
              <a:pPr/>
              <a:t>41</a:t>
            </a:fld>
            <a:endParaRPr lang="en-US" dirty="0"/>
          </a:p>
        </p:txBody>
      </p:sp>
    </p:spTree>
    <p:extLst>
      <p:ext uri="{BB962C8B-B14F-4D97-AF65-F5344CB8AC3E}">
        <p14:creationId xmlns:p14="http://schemas.microsoft.com/office/powerpoint/2010/main" val="2118413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F0DD1-3060-1F81-A1CD-E4DF9F89E32F}"/>
              </a:ext>
            </a:extLst>
          </p:cNvPr>
          <p:cNvSpPr>
            <a:spLocks noGrp="1"/>
          </p:cNvSpPr>
          <p:nvPr>
            <p:ph type="title"/>
          </p:nvPr>
        </p:nvSpPr>
        <p:spPr/>
        <p:txBody>
          <a:bodyPr/>
          <a:lstStyle/>
          <a:p>
            <a:r>
              <a:rPr lang="en-US" dirty="0"/>
              <a:t>Conventional Design-Build: Procurement and Contractual Issues</a:t>
            </a:r>
          </a:p>
        </p:txBody>
      </p:sp>
      <p:sp>
        <p:nvSpPr>
          <p:cNvPr id="3" name="Content Placeholder 2">
            <a:extLst>
              <a:ext uri="{FF2B5EF4-FFF2-40B4-BE49-F238E27FC236}">
                <a16:creationId xmlns:a16="http://schemas.microsoft.com/office/drawing/2014/main" id="{C9A4FD49-515F-A812-CFBA-DA596D39EBB7}"/>
              </a:ext>
            </a:extLst>
          </p:cNvPr>
          <p:cNvSpPr>
            <a:spLocks noGrp="1"/>
          </p:cNvSpPr>
          <p:nvPr>
            <p:ph idx="1"/>
          </p:nvPr>
        </p:nvSpPr>
        <p:spPr/>
        <p:txBody>
          <a:bodyPr/>
          <a:lstStyle/>
          <a:p>
            <a:pPr eaLnBrk="1" hangingPunct="1"/>
            <a:r>
              <a:rPr lang="en-US" altLang="en-US" sz="2800" b="1" dirty="0"/>
              <a:t>Statement of the Problem and the Challenges</a:t>
            </a:r>
          </a:p>
          <a:p>
            <a:pPr eaLnBrk="1" hangingPunct="1"/>
            <a:r>
              <a:rPr lang="en-US" altLang="en-US" sz="2800" dirty="0"/>
              <a:t>Substantial Increases In Final Design and Construction Cost </a:t>
            </a:r>
            <a:r>
              <a:rPr lang="en-US" altLang="en-US" sz="2800" b="1" dirty="0"/>
              <a:t>Compared</a:t>
            </a:r>
            <a:r>
              <a:rPr lang="en-US" altLang="en-US" sz="2800" dirty="0"/>
              <a:t> to DB  Pricing Proposal and Contract Fixed Price</a:t>
            </a:r>
          </a:p>
          <a:p>
            <a:pPr eaLnBrk="1" hangingPunct="1"/>
            <a:r>
              <a:rPr lang="en-US" altLang="en-US" sz="2800" dirty="0"/>
              <a:t>Increases Manifest During Post-Award Design Development Process</a:t>
            </a:r>
          </a:p>
          <a:p>
            <a:pPr eaLnBrk="1" hangingPunct="1"/>
            <a:r>
              <a:rPr lang="en-US" altLang="en-US" sz="2800" dirty="0"/>
              <a:t>Design-Builder Has No (or Limited) Contractual Cost Adjustment Remedy From Project Owner</a:t>
            </a:r>
          </a:p>
          <a:p>
            <a:pPr eaLnBrk="1" hangingPunct="1"/>
            <a:r>
              <a:rPr lang="en-US" altLang="en-US" sz="2800" dirty="0"/>
              <a:t>Design-Builder Seeks Alternative Source for Recovery of “Cost Overrun” – Genesis of Professional Liability Claim Against Design Professionals</a:t>
            </a:r>
          </a:p>
          <a:p>
            <a:endParaRPr lang="en-US" dirty="0"/>
          </a:p>
        </p:txBody>
      </p:sp>
      <p:sp>
        <p:nvSpPr>
          <p:cNvPr id="4" name="Slide Number Placeholder 3">
            <a:extLst>
              <a:ext uri="{FF2B5EF4-FFF2-40B4-BE49-F238E27FC236}">
                <a16:creationId xmlns:a16="http://schemas.microsoft.com/office/drawing/2014/main" id="{A3CF828C-B724-3273-DE58-E5F35D4EADA5}"/>
              </a:ext>
            </a:extLst>
          </p:cNvPr>
          <p:cNvSpPr>
            <a:spLocks noGrp="1"/>
          </p:cNvSpPr>
          <p:nvPr>
            <p:ph type="sldNum" sz="quarter" idx="12"/>
          </p:nvPr>
        </p:nvSpPr>
        <p:spPr/>
        <p:txBody>
          <a:bodyPr/>
          <a:lstStyle/>
          <a:p>
            <a:fld id="{C857CEEC-B959-4A37-A10B-AE2FE373736E}" type="slidenum">
              <a:rPr lang="en-US" smtClean="0"/>
              <a:pPr/>
              <a:t>42</a:t>
            </a:fld>
            <a:endParaRPr lang="en-US" dirty="0"/>
          </a:p>
        </p:txBody>
      </p:sp>
    </p:spTree>
    <p:extLst>
      <p:ext uri="{BB962C8B-B14F-4D97-AF65-F5344CB8AC3E}">
        <p14:creationId xmlns:p14="http://schemas.microsoft.com/office/powerpoint/2010/main" val="33547832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2F538-B965-873C-910F-2C5D2A9A9B60}"/>
              </a:ext>
            </a:extLst>
          </p:cNvPr>
          <p:cNvSpPr>
            <a:spLocks noGrp="1"/>
          </p:cNvSpPr>
          <p:nvPr>
            <p:ph type="title"/>
          </p:nvPr>
        </p:nvSpPr>
        <p:spPr/>
        <p:txBody>
          <a:bodyPr>
            <a:normAutofit/>
          </a:bodyPr>
          <a:lstStyle/>
          <a:p>
            <a:r>
              <a:rPr lang="en-US" sz="3200" dirty="0"/>
              <a:t>Design-Build Professional Liability Claims Experience for Design Professionals in North America</a:t>
            </a:r>
          </a:p>
        </p:txBody>
      </p:sp>
      <p:sp>
        <p:nvSpPr>
          <p:cNvPr id="3" name="Content Placeholder 2">
            <a:extLst>
              <a:ext uri="{FF2B5EF4-FFF2-40B4-BE49-F238E27FC236}">
                <a16:creationId xmlns:a16="http://schemas.microsoft.com/office/drawing/2014/main" id="{3635622F-5EEA-5442-2F82-588968A2F873}"/>
              </a:ext>
            </a:extLst>
          </p:cNvPr>
          <p:cNvSpPr>
            <a:spLocks noGrp="1"/>
          </p:cNvSpPr>
          <p:nvPr>
            <p:ph idx="1"/>
          </p:nvPr>
        </p:nvSpPr>
        <p:spPr/>
        <p:txBody>
          <a:bodyPr/>
          <a:lstStyle/>
          <a:p>
            <a:pPr marL="0" indent="0">
              <a:buFontTx/>
              <a:buNone/>
              <a:defRPr/>
            </a:pPr>
            <a:r>
              <a:rPr lang="en-US" altLang="en-US" sz="2000" b="1" dirty="0">
                <a:solidFill>
                  <a:schemeClr val="tx1"/>
                </a:solidFill>
              </a:rPr>
              <a:t>Proposal Phase </a:t>
            </a:r>
            <a:r>
              <a:rPr lang="en-US" altLang="en-US" sz="2000" dirty="0">
                <a:solidFill>
                  <a:schemeClr val="tx1"/>
                </a:solidFill>
              </a:rPr>
              <a:t>Services in DB:  “Cost Overrun” Professional Liability Claims</a:t>
            </a:r>
          </a:p>
          <a:p>
            <a:pPr lvl="1" algn="just">
              <a:defRPr/>
            </a:pPr>
            <a:r>
              <a:rPr lang="en-US" altLang="en-US" sz="2000" dirty="0">
                <a:solidFill>
                  <a:schemeClr val="tx1"/>
                </a:solidFill>
              </a:rPr>
              <a:t>Most </a:t>
            </a:r>
            <a:r>
              <a:rPr lang="en-US" altLang="en-US" sz="2000" b="1" dirty="0">
                <a:solidFill>
                  <a:schemeClr val="tx1"/>
                </a:solidFill>
              </a:rPr>
              <a:t>frequent</a:t>
            </a:r>
            <a:r>
              <a:rPr lang="en-US" altLang="en-US" sz="2000" dirty="0">
                <a:solidFill>
                  <a:schemeClr val="tx1"/>
                </a:solidFill>
              </a:rPr>
              <a:t> source of professional liability claims by Design-Builders against Design Professionals </a:t>
            </a:r>
          </a:p>
          <a:p>
            <a:pPr lvl="1" algn="just">
              <a:defRPr/>
            </a:pPr>
            <a:r>
              <a:rPr lang="en-US" altLang="en-US" sz="2000" dirty="0">
                <a:solidFill>
                  <a:schemeClr val="tx1"/>
                </a:solidFill>
              </a:rPr>
              <a:t>Source of most </a:t>
            </a:r>
            <a:r>
              <a:rPr lang="en-US" altLang="en-US" sz="2000" b="1" dirty="0">
                <a:solidFill>
                  <a:schemeClr val="tx1"/>
                </a:solidFill>
              </a:rPr>
              <a:t>severe</a:t>
            </a:r>
            <a:r>
              <a:rPr lang="en-US" altLang="en-US" sz="2000" dirty="0">
                <a:solidFill>
                  <a:schemeClr val="tx1"/>
                </a:solidFill>
              </a:rPr>
              <a:t> professional liability claims by Design-Builders against Design Professionals</a:t>
            </a:r>
          </a:p>
          <a:p>
            <a:pPr lvl="1" algn="just">
              <a:defRPr/>
            </a:pPr>
            <a:endParaRPr lang="en-US" altLang="en-US" sz="2000" dirty="0">
              <a:solidFill>
                <a:schemeClr val="tx1"/>
              </a:solidFill>
            </a:endParaRPr>
          </a:p>
          <a:p>
            <a:pPr marL="0" lvl="1" indent="0" algn="just">
              <a:buFontTx/>
              <a:buNone/>
              <a:defRPr/>
            </a:pPr>
            <a:r>
              <a:rPr lang="en-US" sz="2000" dirty="0">
                <a:solidFill>
                  <a:schemeClr val="tx1"/>
                </a:solidFill>
              </a:rPr>
              <a:t>Typical “Cost Overrun” Professional Liability Claim against Design Professionals in DB:</a:t>
            </a:r>
          </a:p>
          <a:p>
            <a:pPr marL="738188" lvl="1" indent="-341313" algn="just">
              <a:defRPr/>
            </a:pPr>
            <a:r>
              <a:rPr lang="en-US" sz="2000" dirty="0">
                <a:solidFill>
                  <a:schemeClr val="tx1"/>
                </a:solidFill>
              </a:rPr>
              <a:t>Design Professionals’ conceptual or preliminary Proposal Phase design or studies, investigations or recommendations did not meet the Standard of Care, resulting in “cost overruns” in final design and construction that Design-Builder cannot recover under the terms of the prime DB Contract with the Owner.</a:t>
            </a:r>
          </a:p>
          <a:p>
            <a:endParaRPr lang="en-US" dirty="0"/>
          </a:p>
        </p:txBody>
      </p:sp>
      <p:sp>
        <p:nvSpPr>
          <p:cNvPr id="4" name="Slide Number Placeholder 3">
            <a:extLst>
              <a:ext uri="{FF2B5EF4-FFF2-40B4-BE49-F238E27FC236}">
                <a16:creationId xmlns:a16="http://schemas.microsoft.com/office/drawing/2014/main" id="{148F8F61-6861-ACC9-34A3-A7A85AA44F16}"/>
              </a:ext>
            </a:extLst>
          </p:cNvPr>
          <p:cNvSpPr>
            <a:spLocks noGrp="1"/>
          </p:cNvSpPr>
          <p:nvPr>
            <p:ph type="sldNum" sz="quarter" idx="12"/>
          </p:nvPr>
        </p:nvSpPr>
        <p:spPr/>
        <p:txBody>
          <a:bodyPr/>
          <a:lstStyle/>
          <a:p>
            <a:fld id="{C857CEEC-B959-4A37-A10B-AE2FE373736E}" type="slidenum">
              <a:rPr lang="en-US" smtClean="0"/>
              <a:pPr/>
              <a:t>43</a:t>
            </a:fld>
            <a:endParaRPr lang="en-US" dirty="0"/>
          </a:p>
        </p:txBody>
      </p:sp>
    </p:spTree>
    <p:extLst>
      <p:ext uri="{BB962C8B-B14F-4D97-AF65-F5344CB8AC3E}">
        <p14:creationId xmlns:p14="http://schemas.microsoft.com/office/powerpoint/2010/main" val="17502692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215FE-FF94-C962-5EAD-3B702DA9B6DB}"/>
              </a:ext>
            </a:extLst>
          </p:cNvPr>
          <p:cNvSpPr>
            <a:spLocks noGrp="1"/>
          </p:cNvSpPr>
          <p:nvPr>
            <p:ph type="title"/>
          </p:nvPr>
        </p:nvSpPr>
        <p:spPr/>
        <p:txBody>
          <a:bodyPr>
            <a:normAutofit/>
          </a:bodyPr>
          <a:lstStyle/>
          <a:p>
            <a:r>
              <a:rPr lang="en-US" sz="3200" dirty="0"/>
              <a:t>Design-Build Professional Liability Claims Experience for Design Professionals in North America</a:t>
            </a:r>
          </a:p>
        </p:txBody>
      </p:sp>
      <p:sp>
        <p:nvSpPr>
          <p:cNvPr id="3" name="Content Placeholder 2">
            <a:extLst>
              <a:ext uri="{FF2B5EF4-FFF2-40B4-BE49-F238E27FC236}">
                <a16:creationId xmlns:a16="http://schemas.microsoft.com/office/drawing/2014/main" id="{CADC5497-003B-0EC3-858C-27C2A1A7D672}"/>
              </a:ext>
            </a:extLst>
          </p:cNvPr>
          <p:cNvSpPr>
            <a:spLocks noGrp="1"/>
          </p:cNvSpPr>
          <p:nvPr>
            <p:ph idx="1"/>
          </p:nvPr>
        </p:nvSpPr>
        <p:spPr/>
        <p:txBody>
          <a:bodyPr/>
          <a:lstStyle/>
          <a:p>
            <a:pPr marL="0" indent="0">
              <a:buFontTx/>
              <a:buNone/>
              <a:defRPr/>
            </a:pPr>
            <a:r>
              <a:rPr lang="en-US" sz="2400" b="1" dirty="0">
                <a:solidFill>
                  <a:schemeClr val="tx1"/>
                </a:solidFill>
              </a:rPr>
              <a:t>Context Relevant to Professional Liability Claims</a:t>
            </a:r>
          </a:p>
          <a:p>
            <a:pPr marL="0" indent="0">
              <a:buFontTx/>
              <a:buNone/>
              <a:defRPr/>
            </a:pPr>
            <a:endParaRPr lang="en-US" sz="2400" b="1" dirty="0">
              <a:solidFill>
                <a:schemeClr val="tx1"/>
              </a:solidFill>
            </a:endParaRPr>
          </a:p>
          <a:p>
            <a:pPr>
              <a:defRPr/>
            </a:pPr>
            <a:r>
              <a:rPr lang="en-US" sz="1800" dirty="0">
                <a:solidFill>
                  <a:schemeClr val="tx1"/>
                </a:solidFill>
              </a:rPr>
              <a:t>November 2019 Engineering News-Record (“ENR”) article:  “Fixing construction’s Fixed-Price Conundrum”</a:t>
            </a:r>
          </a:p>
          <a:p>
            <a:pPr lvl="1">
              <a:defRPr/>
            </a:pPr>
            <a:r>
              <a:rPr lang="en-US" sz="1400" dirty="0">
                <a:solidFill>
                  <a:schemeClr val="tx1"/>
                </a:solidFill>
              </a:rPr>
              <a:t>Article focused on problems for</a:t>
            </a:r>
            <a:r>
              <a:rPr lang="en-US" sz="1400" b="1" dirty="0">
                <a:solidFill>
                  <a:schemeClr val="tx1"/>
                </a:solidFill>
              </a:rPr>
              <a:t> Contractors </a:t>
            </a:r>
            <a:r>
              <a:rPr lang="en-US" sz="1400" dirty="0">
                <a:solidFill>
                  <a:schemeClr val="tx1"/>
                </a:solidFill>
              </a:rPr>
              <a:t>in Design Build</a:t>
            </a:r>
          </a:p>
          <a:p>
            <a:pPr lvl="1">
              <a:defRPr/>
            </a:pPr>
            <a:r>
              <a:rPr lang="en-US" sz="1400" dirty="0">
                <a:solidFill>
                  <a:schemeClr val="tx1"/>
                </a:solidFill>
              </a:rPr>
              <a:t>What do those problems represent for </a:t>
            </a:r>
            <a:r>
              <a:rPr lang="en-US" sz="1400" b="1" dirty="0">
                <a:solidFill>
                  <a:schemeClr val="tx1"/>
                </a:solidFill>
              </a:rPr>
              <a:t>Design Professionals</a:t>
            </a:r>
            <a:r>
              <a:rPr lang="en-US" sz="1400" dirty="0">
                <a:solidFill>
                  <a:schemeClr val="tx1"/>
                </a:solidFill>
              </a:rPr>
              <a:t>?</a:t>
            </a:r>
          </a:p>
          <a:p>
            <a:pPr lvl="1">
              <a:defRPr/>
            </a:pPr>
            <a:r>
              <a:rPr lang="en-US" sz="1400" u="sng" dirty="0">
                <a:solidFill>
                  <a:schemeClr val="tx1"/>
                </a:solidFill>
              </a:rPr>
              <a:t>See</a:t>
            </a:r>
            <a:r>
              <a:rPr lang="en-US" sz="1400" dirty="0">
                <a:solidFill>
                  <a:schemeClr val="tx1"/>
                </a:solidFill>
              </a:rPr>
              <a:t> D.J. Hatem Letter to ENR Editor, published December 16, 2019 </a:t>
            </a:r>
            <a:r>
              <a:rPr lang="en-US" sz="1400" u="sng" dirty="0">
                <a:solidFill>
                  <a:schemeClr val="tx1"/>
                </a:solidFill>
                <a:hlinkClick r:id="rId2">
                  <a:extLst>
                    <a:ext uri="{A12FA001-AC4F-418D-AE19-62706E023703}">
                      <ahyp:hlinkClr xmlns:ahyp="http://schemas.microsoft.com/office/drawing/2018/hyperlinkcolor" val="tx"/>
                    </a:ext>
                  </a:extLst>
                </a:hlinkClick>
              </a:rPr>
              <a:t>https://www.donovanhatem.com/wp/wp-content/uploads/2022/03/032122-Letter-to-the-Editor-ENR.pdf</a:t>
            </a:r>
            <a:endParaRPr lang="en-US" sz="1400" u="sng" dirty="0"/>
          </a:p>
          <a:p>
            <a:pPr lvl="1">
              <a:defRPr/>
            </a:pPr>
            <a:r>
              <a:rPr lang="en-US" sz="1400" dirty="0">
                <a:effectLst/>
                <a:latin typeface="Calibri" panose="020F0502020204030204" pitchFamily="34" charset="0"/>
                <a:ea typeface="Calibri" panose="020F0502020204030204" pitchFamily="34" charset="0"/>
              </a:rPr>
              <a:t>“Will Claims by Contractors Against Designers and Insurers on Big Design-Build Projects Ever End.” Special issue, </a:t>
            </a:r>
            <a:r>
              <a:rPr lang="en-US" sz="1400" i="1" dirty="0">
                <a:effectLst/>
                <a:latin typeface="Calibri" panose="020F0502020204030204" pitchFamily="34" charset="0"/>
                <a:ea typeface="Calibri" panose="020F0502020204030204" pitchFamily="34" charset="0"/>
              </a:rPr>
              <a:t>Engineering News Record</a:t>
            </a:r>
            <a:r>
              <a:rPr lang="en-US" sz="1400" dirty="0">
                <a:effectLst/>
                <a:latin typeface="Calibri" panose="020F0502020204030204" pitchFamily="34" charset="0"/>
                <a:ea typeface="Calibri" panose="020F0502020204030204" pitchFamily="34" charset="0"/>
              </a:rPr>
              <a:t> (Feb. 13, 2023).</a:t>
            </a:r>
          </a:p>
          <a:p>
            <a:pPr marL="457200" lvl="1" indent="0">
              <a:buNone/>
              <a:defRPr/>
            </a:pPr>
            <a:endParaRPr lang="en-US" sz="1400" u="sng" dirty="0">
              <a:solidFill>
                <a:schemeClr val="tx1"/>
              </a:solidFill>
            </a:endParaRPr>
          </a:p>
          <a:p>
            <a:pPr>
              <a:defRPr/>
            </a:pPr>
            <a:r>
              <a:rPr lang="en-US" sz="1800" dirty="0">
                <a:solidFill>
                  <a:schemeClr val="tx1"/>
                </a:solidFill>
              </a:rPr>
              <a:t>Travelers Infrastructure Study A 17-Year Deep Dive Into Heavy Civil Projects in North American (2021).</a:t>
            </a:r>
          </a:p>
          <a:p>
            <a:pPr lvl="1">
              <a:defRPr/>
            </a:pPr>
            <a:r>
              <a:rPr lang="en-US" sz="1400" dirty="0">
                <a:solidFill>
                  <a:schemeClr val="tx1"/>
                </a:solidFill>
              </a:rPr>
              <a:t>Key Findings</a:t>
            </a:r>
          </a:p>
          <a:p>
            <a:pPr>
              <a:defRPr/>
            </a:pPr>
            <a:r>
              <a:rPr lang="en-US" sz="1800" u="sng" dirty="0">
                <a:solidFill>
                  <a:schemeClr val="tx1"/>
                </a:solidFill>
              </a:rPr>
              <a:t>See</a:t>
            </a:r>
            <a:r>
              <a:rPr lang="en-US" sz="1800" dirty="0">
                <a:solidFill>
                  <a:schemeClr val="tx1"/>
                </a:solidFill>
              </a:rPr>
              <a:t> D.J. Hatem, Recalibrating and Improving Design-Build On Public Infrastructure Projects, </a:t>
            </a:r>
            <a:r>
              <a:rPr lang="en-US" sz="1800" dirty="0"/>
              <a:t>American Bar Association Forum on Construction Law</a:t>
            </a:r>
            <a:r>
              <a:rPr lang="en-US" sz="1800" dirty="0">
                <a:solidFill>
                  <a:schemeClr val="tx1"/>
                </a:solidFill>
              </a:rPr>
              <a:t> </a:t>
            </a:r>
            <a:r>
              <a:rPr lang="en-US" sz="1800" dirty="0"/>
              <a:t>2022 Fall Program, September, 2022</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7C4C62FE-BF12-DEAE-1BF9-E98007D5C783}"/>
              </a:ext>
            </a:extLst>
          </p:cNvPr>
          <p:cNvSpPr>
            <a:spLocks noGrp="1"/>
          </p:cNvSpPr>
          <p:nvPr>
            <p:ph type="sldNum" sz="quarter" idx="12"/>
          </p:nvPr>
        </p:nvSpPr>
        <p:spPr/>
        <p:txBody>
          <a:bodyPr/>
          <a:lstStyle/>
          <a:p>
            <a:fld id="{C857CEEC-B959-4A37-A10B-AE2FE373736E}" type="slidenum">
              <a:rPr lang="en-US" smtClean="0"/>
              <a:pPr/>
              <a:t>44</a:t>
            </a:fld>
            <a:endParaRPr lang="en-US" dirty="0"/>
          </a:p>
        </p:txBody>
      </p:sp>
    </p:spTree>
    <p:extLst>
      <p:ext uri="{BB962C8B-B14F-4D97-AF65-F5344CB8AC3E}">
        <p14:creationId xmlns:p14="http://schemas.microsoft.com/office/powerpoint/2010/main" val="30535379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338E4-F5FD-D20C-C345-AD9364DAE214}"/>
              </a:ext>
            </a:extLst>
          </p:cNvPr>
          <p:cNvSpPr>
            <a:spLocks noGrp="1"/>
          </p:cNvSpPr>
          <p:nvPr>
            <p:ph type="title"/>
          </p:nvPr>
        </p:nvSpPr>
        <p:spPr/>
        <p:txBody>
          <a:bodyPr/>
          <a:lstStyle/>
          <a:p>
            <a:r>
              <a:rPr lang="en-US" dirty="0"/>
              <a:t>Early Contractor Involvement</a:t>
            </a:r>
          </a:p>
        </p:txBody>
      </p:sp>
      <p:sp>
        <p:nvSpPr>
          <p:cNvPr id="3" name="Content Placeholder 2">
            <a:extLst>
              <a:ext uri="{FF2B5EF4-FFF2-40B4-BE49-F238E27FC236}">
                <a16:creationId xmlns:a16="http://schemas.microsoft.com/office/drawing/2014/main" id="{553A2AF2-F275-A0B2-6ACA-622382406C17}"/>
              </a:ext>
            </a:extLst>
          </p:cNvPr>
          <p:cNvSpPr>
            <a:spLocks noGrp="1"/>
          </p:cNvSpPr>
          <p:nvPr>
            <p:ph idx="1"/>
          </p:nvPr>
        </p:nvSpPr>
        <p:spPr/>
        <p:txBody>
          <a:bodyPr/>
          <a:lstStyle/>
          <a:p>
            <a:pPr>
              <a:defRPr/>
            </a:pPr>
            <a:r>
              <a:rPr lang="en-US" sz="2400" dirty="0"/>
              <a:t>Primary Implementation Approaches</a:t>
            </a:r>
          </a:p>
          <a:p>
            <a:pPr lvl="1">
              <a:defRPr/>
            </a:pPr>
            <a:r>
              <a:rPr lang="en-US" sz="2400" dirty="0"/>
              <a:t>Progressive Design-Build</a:t>
            </a:r>
          </a:p>
          <a:p>
            <a:pPr lvl="1">
              <a:defRPr/>
            </a:pPr>
            <a:r>
              <a:rPr lang="en-US" sz="2400" dirty="0"/>
              <a:t>Construction Manager/General Contractor</a:t>
            </a:r>
          </a:p>
          <a:p>
            <a:endParaRPr lang="en-US" dirty="0"/>
          </a:p>
        </p:txBody>
      </p:sp>
      <p:sp>
        <p:nvSpPr>
          <p:cNvPr id="4" name="Slide Number Placeholder 3">
            <a:extLst>
              <a:ext uri="{FF2B5EF4-FFF2-40B4-BE49-F238E27FC236}">
                <a16:creationId xmlns:a16="http://schemas.microsoft.com/office/drawing/2014/main" id="{FC77A771-2D79-1A38-8B71-3B1A4CFE5B08}"/>
              </a:ext>
            </a:extLst>
          </p:cNvPr>
          <p:cNvSpPr>
            <a:spLocks noGrp="1"/>
          </p:cNvSpPr>
          <p:nvPr>
            <p:ph type="sldNum" sz="quarter" idx="12"/>
          </p:nvPr>
        </p:nvSpPr>
        <p:spPr/>
        <p:txBody>
          <a:bodyPr/>
          <a:lstStyle/>
          <a:p>
            <a:fld id="{C857CEEC-B959-4A37-A10B-AE2FE373736E}" type="slidenum">
              <a:rPr lang="en-US" smtClean="0"/>
              <a:pPr/>
              <a:t>45</a:t>
            </a:fld>
            <a:endParaRPr lang="en-US" dirty="0"/>
          </a:p>
        </p:txBody>
      </p:sp>
    </p:spTree>
    <p:extLst>
      <p:ext uri="{BB962C8B-B14F-4D97-AF65-F5344CB8AC3E}">
        <p14:creationId xmlns:p14="http://schemas.microsoft.com/office/powerpoint/2010/main" val="867030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3302-DCB0-B676-3AD8-D735BCA2DD86}"/>
              </a:ext>
            </a:extLst>
          </p:cNvPr>
          <p:cNvSpPr>
            <a:spLocks noGrp="1"/>
          </p:cNvSpPr>
          <p:nvPr>
            <p:ph type="title"/>
          </p:nvPr>
        </p:nvSpPr>
        <p:spPr/>
        <p:txBody>
          <a:bodyPr/>
          <a:lstStyle/>
          <a:p>
            <a:r>
              <a:rPr lang="en-US" dirty="0"/>
              <a:t>Early Contractor Involvement</a:t>
            </a:r>
          </a:p>
        </p:txBody>
      </p:sp>
      <p:sp>
        <p:nvSpPr>
          <p:cNvPr id="3" name="Content Placeholder 2">
            <a:extLst>
              <a:ext uri="{FF2B5EF4-FFF2-40B4-BE49-F238E27FC236}">
                <a16:creationId xmlns:a16="http://schemas.microsoft.com/office/drawing/2014/main" id="{24676029-671C-9A7C-02D2-1B5DDFF24F7A}"/>
              </a:ext>
            </a:extLst>
          </p:cNvPr>
          <p:cNvSpPr>
            <a:spLocks noGrp="1"/>
          </p:cNvSpPr>
          <p:nvPr>
            <p:ph idx="1"/>
          </p:nvPr>
        </p:nvSpPr>
        <p:spPr/>
        <p:txBody>
          <a:bodyPr/>
          <a:lstStyle/>
          <a:p>
            <a:pPr marL="457200" lvl="1" indent="0">
              <a:lnSpc>
                <a:spcPct val="90000"/>
              </a:lnSpc>
              <a:buNone/>
            </a:pPr>
            <a:r>
              <a:rPr lang="en-US" sz="1800" b="1" dirty="0"/>
              <a:t>Progressive Design-Build</a:t>
            </a:r>
          </a:p>
          <a:p>
            <a:pPr lvl="1">
              <a:lnSpc>
                <a:spcPct val="90000"/>
              </a:lnSpc>
            </a:pPr>
            <a:r>
              <a:rPr lang="en-US" sz="1800" dirty="0"/>
              <a:t>Owner selects DB Team based on qualifications or best value.</a:t>
            </a:r>
          </a:p>
          <a:p>
            <a:pPr lvl="1">
              <a:lnSpc>
                <a:spcPct val="90000"/>
              </a:lnSpc>
            </a:pPr>
            <a:r>
              <a:rPr lang="en-US" sz="1800" dirty="0"/>
              <a:t>Owner and DB Team work collaboratively in subsurface investigation and subsurface conditions evaluations, and design development</a:t>
            </a:r>
          </a:p>
          <a:p>
            <a:pPr lvl="1">
              <a:lnSpc>
                <a:spcPct val="90000"/>
              </a:lnSpc>
            </a:pPr>
            <a:r>
              <a:rPr lang="en-US" sz="1800" dirty="0"/>
              <a:t>Joint Geotechnical Baseline Report preparation (optional)</a:t>
            </a:r>
          </a:p>
          <a:p>
            <a:pPr lvl="1">
              <a:lnSpc>
                <a:spcPct val="90000"/>
              </a:lnSpc>
            </a:pPr>
            <a:r>
              <a:rPr lang="en-US" sz="1800" dirty="0"/>
              <a:t>DB Team develops design to 60% +/- level</a:t>
            </a:r>
          </a:p>
          <a:p>
            <a:pPr lvl="1">
              <a:lnSpc>
                <a:spcPct val="90000"/>
              </a:lnSpc>
            </a:pPr>
            <a:r>
              <a:rPr lang="en-US" sz="1800" dirty="0"/>
              <a:t>Commercial and contractual terms negotiated/agreed</a:t>
            </a:r>
          </a:p>
          <a:p>
            <a:pPr lvl="1">
              <a:lnSpc>
                <a:spcPct val="90000"/>
              </a:lnSpc>
            </a:pPr>
            <a:r>
              <a:rPr lang="en-US" sz="1800" dirty="0"/>
              <a:t>DB Team responsible for adequacy, suitability, and constructability of final design </a:t>
            </a:r>
          </a:p>
          <a:p>
            <a:pPr marL="457200" lvl="1" indent="0">
              <a:lnSpc>
                <a:spcPct val="90000"/>
              </a:lnSpc>
              <a:buNone/>
            </a:pPr>
            <a:endParaRPr lang="en-US" sz="1800" dirty="0"/>
          </a:p>
          <a:p>
            <a:pPr>
              <a:lnSpc>
                <a:spcPct val="90000"/>
              </a:lnSpc>
            </a:pPr>
            <a:r>
              <a:rPr lang="en-US" sz="1800" b="1" dirty="0"/>
              <a:t>Aligning and synchronizing project scope definition and risk assessment opportunity so as to realistically and objectively inform contractual price and risk allocation commitments.</a:t>
            </a:r>
          </a:p>
          <a:p>
            <a:endParaRPr lang="en-US" dirty="0"/>
          </a:p>
        </p:txBody>
      </p:sp>
      <p:sp>
        <p:nvSpPr>
          <p:cNvPr id="4" name="Slide Number Placeholder 3">
            <a:extLst>
              <a:ext uri="{FF2B5EF4-FFF2-40B4-BE49-F238E27FC236}">
                <a16:creationId xmlns:a16="http://schemas.microsoft.com/office/drawing/2014/main" id="{2B483025-5BC1-DBB8-00A7-58324AB976B0}"/>
              </a:ext>
            </a:extLst>
          </p:cNvPr>
          <p:cNvSpPr>
            <a:spLocks noGrp="1"/>
          </p:cNvSpPr>
          <p:nvPr>
            <p:ph type="sldNum" sz="quarter" idx="12"/>
          </p:nvPr>
        </p:nvSpPr>
        <p:spPr/>
        <p:txBody>
          <a:bodyPr/>
          <a:lstStyle/>
          <a:p>
            <a:fld id="{C857CEEC-B959-4A37-A10B-AE2FE373736E}" type="slidenum">
              <a:rPr lang="en-US" smtClean="0"/>
              <a:pPr/>
              <a:t>46</a:t>
            </a:fld>
            <a:endParaRPr lang="en-US" dirty="0"/>
          </a:p>
        </p:txBody>
      </p:sp>
    </p:spTree>
    <p:extLst>
      <p:ext uri="{BB962C8B-B14F-4D97-AF65-F5344CB8AC3E}">
        <p14:creationId xmlns:p14="http://schemas.microsoft.com/office/powerpoint/2010/main" val="37917917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45754-2904-E68B-2281-C90DDEFA27B4}"/>
              </a:ext>
            </a:extLst>
          </p:cNvPr>
          <p:cNvSpPr>
            <a:spLocks noGrp="1"/>
          </p:cNvSpPr>
          <p:nvPr>
            <p:ph type="title"/>
          </p:nvPr>
        </p:nvSpPr>
        <p:spPr/>
        <p:txBody>
          <a:bodyPr/>
          <a:lstStyle/>
          <a:p>
            <a:r>
              <a:rPr lang="en-US" dirty="0"/>
              <a:t>Early Contractor Involvement</a:t>
            </a:r>
          </a:p>
        </p:txBody>
      </p:sp>
      <p:sp>
        <p:nvSpPr>
          <p:cNvPr id="3" name="Content Placeholder 2">
            <a:extLst>
              <a:ext uri="{FF2B5EF4-FFF2-40B4-BE49-F238E27FC236}">
                <a16:creationId xmlns:a16="http://schemas.microsoft.com/office/drawing/2014/main" id="{8F9326A7-FFF5-478C-4F1B-E5770C60BED3}"/>
              </a:ext>
            </a:extLst>
          </p:cNvPr>
          <p:cNvSpPr>
            <a:spLocks noGrp="1"/>
          </p:cNvSpPr>
          <p:nvPr>
            <p:ph idx="1"/>
          </p:nvPr>
        </p:nvSpPr>
        <p:spPr/>
        <p:txBody>
          <a:bodyPr>
            <a:normAutofit fontScale="92500" lnSpcReduction="10000"/>
          </a:bodyPr>
          <a:lstStyle/>
          <a:p>
            <a:pPr marL="0" indent="0">
              <a:buNone/>
            </a:pPr>
            <a:r>
              <a:rPr lang="en-US" sz="4000" b="1" dirty="0"/>
              <a:t>Progressive Design-Build</a:t>
            </a:r>
          </a:p>
          <a:p>
            <a:pPr marL="0" indent="0">
              <a:buNone/>
            </a:pPr>
            <a:r>
              <a:rPr lang="en-US" sz="2800" u="sng" dirty="0"/>
              <a:t>Contractual Issues</a:t>
            </a:r>
            <a:r>
              <a:rPr lang="en-US" sz="2800" dirty="0"/>
              <a:t>:  Failure to Reach Agreement on GMP at end of Phase 1</a:t>
            </a:r>
          </a:p>
          <a:p>
            <a:r>
              <a:rPr lang="en-US" sz="2800" dirty="0"/>
              <a:t>Ownership and Use of Design or Other Deliverables</a:t>
            </a:r>
          </a:p>
          <a:p>
            <a:r>
              <a:rPr lang="en-US" sz="2800" dirty="0"/>
              <a:t>Releases</a:t>
            </a:r>
          </a:p>
          <a:p>
            <a:r>
              <a:rPr lang="en-US" sz="2800" dirty="0"/>
              <a:t>Disclaimers</a:t>
            </a:r>
          </a:p>
          <a:p>
            <a:r>
              <a:rPr lang="en-US" sz="2800" dirty="0"/>
              <a:t>Defense and Indemnity</a:t>
            </a:r>
          </a:p>
          <a:p>
            <a:r>
              <a:rPr lang="en-US" sz="2800" dirty="0"/>
              <a:t>Assignments</a:t>
            </a:r>
          </a:p>
          <a:p>
            <a:r>
              <a:rPr lang="en-US" sz="2800" dirty="0"/>
              <a:t>Design Transfer Terms</a:t>
            </a:r>
          </a:p>
          <a:p>
            <a:r>
              <a:rPr lang="en-US" sz="2800" dirty="0"/>
              <a:t>Insurance Coverage</a:t>
            </a:r>
          </a:p>
          <a:p>
            <a:endParaRPr lang="en-US" dirty="0"/>
          </a:p>
        </p:txBody>
      </p:sp>
      <p:sp>
        <p:nvSpPr>
          <p:cNvPr id="4" name="Slide Number Placeholder 3">
            <a:extLst>
              <a:ext uri="{FF2B5EF4-FFF2-40B4-BE49-F238E27FC236}">
                <a16:creationId xmlns:a16="http://schemas.microsoft.com/office/drawing/2014/main" id="{EBB3677F-A95A-CE81-689B-FBA46C9668A5}"/>
              </a:ext>
            </a:extLst>
          </p:cNvPr>
          <p:cNvSpPr>
            <a:spLocks noGrp="1"/>
          </p:cNvSpPr>
          <p:nvPr>
            <p:ph type="sldNum" sz="quarter" idx="12"/>
          </p:nvPr>
        </p:nvSpPr>
        <p:spPr/>
        <p:txBody>
          <a:bodyPr/>
          <a:lstStyle/>
          <a:p>
            <a:fld id="{C857CEEC-B959-4A37-A10B-AE2FE373736E}" type="slidenum">
              <a:rPr lang="en-US" smtClean="0"/>
              <a:pPr/>
              <a:t>47</a:t>
            </a:fld>
            <a:endParaRPr lang="en-US" dirty="0"/>
          </a:p>
        </p:txBody>
      </p:sp>
    </p:spTree>
    <p:extLst>
      <p:ext uri="{BB962C8B-B14F-4D97-AF65-F5344CB8AC3E}">
        <p14:creationId xmlns:p14="http://schemas.microsoft.com/office/powerpoint/2010/main" val="21519296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9C8DF-246E-9912-9D5F-CB8D332D8BB1}"/>
              </a:ext>
            </a:extLst>
          </p:cNvPr>
          <p:cNvSpPr>
            <a:spLocks noGrp="1"/>
          </p:cNvSpPr>
          <p:nvPr>
            <p:ph type="title"/>
          </p:nvPr>
        </p:nvSpPr>
        <p:spPr/>
        <p:txBody>
          <a:bodyPr/>
          <a:lstStyle/>
          <a:p>
            <a:r>
              <a:rPr lang="en-US" dirty="0"/>
              <a:t>Early Contractor Involvement</a:t>
            </a:r>
          </a:p>
        </p:txBody>
      </p:sp>
      <p:sp>
        <p:nvSpPr>
          <p:cNvPr id="3" name="Content Placeholder 2">
            <a:extLst>
              <a:ext uri="{FF2B5EF4-FFF2-40B4-BE49-F238E27FC236}">
                <a16:creationId xmlns:a16="http://schemas.microsoft.com/office/drawing/2014/main" id="{78D2BC10-7E5E-1FAA-C5D1-F1A6DA51B2B9}"/>
              </a:ext>
            </a:extLst>
          </p:cNvPr>
          <p:cNvSpPr>
            <a:spLocks noGrp="1"/>
          </p:cNvSpPr>
          <p:nvPr>
            <p:ph idx="1"/>
          </p:nvPr>
        </p:nvSpPr>
        <p:spPr/>
        <p:txBody>
          <a:bodyPr>
            <a:normAutofit fontScale="92500" lnSpcReduction="20000"/>
          </a:bodyPr>
          <a:lstStyle/>
          <a:p>
            <a:pPr marL="0" indent="0">
              <a:buNone/>
            </a:pPr>
            <a:r>
              <a:rPr lang="en-US" sz="2800" b="1" dirty="0"/>
              <a:t>Construction Manager/General Contractor</a:t>
            </a:r>
          </a:p>
          <a:p>
            <a:r>
              <a:rPr lang="en-US" sz="2800" dirty="0"/>
              <a:t>Owner engages Design Professional to prepare and seal eventual final design</a:t>
            </a:r>
          </a:p>
          <a:p>
            <a:r>
              <a:rPr lang="en-US" sz="2800" dirty="0"/>
              <a:t>Initial award to CM with significant input of CM in subsurface investigation and design development</a:t>
            </a:r>
          </a:p>
          <a:p>
            <a:r>
              <a:rPr lang="en-US" sz="2800" dirty="0"/>
              <a:t>CM engages with Owner and Design Professional in subsurface investigation and design development processes</a:t>
            </a:r>
          </a:p>
          <a:p>
            <a:r>
              <a:rPr lang="en-US" sz="2800" dirty="0"/>
              <a:t>Collaborative Geotechnical Baseline Report preparation</a:t>
            </a:r>
          </a:p>
          <a:p>
            <a:r>
              <a:rPr lang="en-US" sz="2800" dirty="0"/>
              <a:t>Meaningful opportunity for particularized, negotiated and agreed contractual risk allocation for subsurface conditions and design risks.</a:t>
            </a:r>
          </a:p>
          <a:p>
            <a:r>
              <a:rPr lang="en-US" sz="2800" dirty="0"/>
              <a:t>Owner and CM agree to fixed, GMP price and risk allocation terms at approximately 50 – 75% design progression.</a:t>
            </a:r>
          </a:p>
          <a:p>
            <a:endParaRPr lang="en-US" dirty="0"/>
          </a:p>
        </p:txBody>
      </p:sp>
      <p:sp>
        <p:nvSpPr>
          <p:cNvPr id="4" name="Slide Number Placeholder 3">
            <a:extLst>
              <a:ext uri="{FF2B5EF4-FFF2-40B4-BE49-F238E27FC236}">
                <a16:creationId xmlns:a16="http://schemas.microsoft.com/office/drawing/2014/main" id="{D26062B8-FB23-1BCE-E343-EEEAA2A58F71}"/>
              </a:ext>
            </a:extLst>
          </p:cNvPr>
          <p:cNvSpPr>
            <a:spLocks noGrp="1"/>
          </p:cNvSpPr>
          <p:nvPr>
            <p:ph type="sldNum" sz="quarter" idx="12"/>
          </p:nvPr>
        </p:nvSpPr>
        <p:spPr/>
        <p:txBody>
          <a:bodyPr/>
          <a:lstStyle/>
          <a:p>
            <a:fld id="{C857CEEC-B959-4A37-A10B-AE2FE373736E}" type="slidenum">
              <a:rPr lang="en-US" smtClean="0"/>
              <a:pPr/>
              <a:t>48</a:t>
            </a:fld>
            <a:endParaRPr lang="en-US" dirty="0"/>
          </a:p>
        </p:txBody>
      </p:sp>
    </p:spTree>
    <p:extLst>
      <p:ext uri="{BB962C8B-B14F-4D97-AF65-F5344CB8AC3E}">
        <p14:creationId xmlns:p14="http://schemas.microsoft.com/office/powerpoint/2010/main" val="25931810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DE0DB-54F3-EDA8-87CD-2F24581D1CCE}"/>
              </a:ext>
            </a:extLst>
          </p:cNvPr>
          <p:cNvSpPr>
            <a:spLocks noGrp="1"/>
          </p:cNvSpPr>
          <p:nvPr>
            <p:ph type="title"/>
          </p:nvPr>
        </p:nvSpPr>
        <p:spPr/>
        <p:txBody>
          <a:bodyPr/>
          <a:lstStyle/>
          <a:p>
            <a:r>
              <a:rPr lang="en-US" dirty="0"/>
              <a:t>Early Contractor Involvement</a:t>
            </a:r>
          </a:p>
        </p:txBody>
      </p:sp>
      <p:sp>
        <p:nvSpPr>
          <p:cNvPr id="3" name="Content Placeholder 2">
            <a:extLst>
              <a:ext uri="{FF2B5EF4-FFF2-40B4-BE49-F238E27FC236}">
                <a16:creationId xmlns:a16="http://schemas.microsoft.com/office/drawing/2014/main" id="{E64B4F57-AE2F-8FB8-175C-37F9321E3D1B}"/>
              </a:ext>
            </a:extLst>
          </p:cNvPr>
          <p:cNvSpPr>
            <a:spLocks noGrp="1"/>
          </p:cNvSpPr>
          <p:nvPr>
            <p:ph idx="1"/>
          </p:nvPr>
        </p:nvSpPr>
        <p:spPr/>
        <p:txBody>
          <a:bodyPr/>
          <a:lstStyle/>
          <a:p>
            <a:pPr marL="0" indent="0">
              <a:buNone/>
            </a:pPr>
            <a:r>
              <a:rPr lang="en-US" sz="2800" b="1" dirty="0"/>
              <a:t>Construction Manager/General Contractor</a:t>
            </a:r>
          </a:p>
          <a:p>
            <a:r>
              <a:rPr lang="en-US" sz="2800" dirty="0"/>
              <a:t>Owner’s Design Professional prepares and seals final design</a:t>
            </a:r>
          </a:p>
          <a:p>
            <a:r>
              <a:rPr lang="en-US" sz="2800" dirty="0"/>
              <a:t>Owner is responsible for adequacy, suitability and constructability of final design given its dominant control in design development process</a:t>
            </a:r>
          </a:p>
          <a:p>
            <a:r>
              <a:rPr lang="en-US" sz="2800" dirty="0"/>
              <a:t>Risk allocation sharing for defective final design</a:t>
            </a:r>
          </a:p>
          <a:p>
            <a:endParaRPr lang="en-US" dirty="0"/>
          </a:p>
        </p:txBody>
      </p:sp>
      <p:sp>
        <p:nvSpPr>
          <p:cNvPr id="4" name="Slide Number Placeholder 3">
            <a:extLst>
              <a:ext uri="{FF2B5EF4-FFF2-40B4-BE49-F238E27FC236}">
                <a16:creationId xmlns:a16="http://schemas.microsoft.com/office/drawing/2014/main" id="{3FA3FE2E-75C2-4EC1-1D0B-E5D6D4CD61F2}"/>
              </a:ext>
            </a:extLst>
          </p:cNvPr>
          <p:cNvSpPr>
            <a:spLocks noGrp="1"/>
          </p:cNvSpPr>
          <p:nvPr>
            <p:ph type="sldNum" sz="quarter" idx="12"/>
          </p:nvPr>
        </p:nvSpPr>
        <p:spPr/>
        <p:txBody>
          <a:bodyPr/>
          <a:lstStyle/>
          <a:p>
            <a:fld id="{C857CEEC-B959-4A37-A10B-AE2FE373736E}" type="slidenum">
              <a:rPr lang="en-US" smtClean="0"/>
              <a:pPr/>
              <a:t>49</a:t>
            </a:fld>
            <a:endParaRPr lang="en-US" dirty="0"/>
          </a:p>
        </p:txBody>
      </p:sp>
    </p:spTree>
    <p:extLst>
      <p:ext uri="{BB962C8B-B14F-4D97-AF65-F5344CB8AC3E}">
        <p14:creationId xmlns:p14="http://schemas.microsoft.com/office/powerpoint/2010/main" val="16434700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28C75-D196-B207-37F0-690E6A60D68A}"/>
              </a:ext>
            </a:extLst>
          </p:cNvPr>
          <p:cNvSpPr>
            <a:spLocks noGrp="1"/>
          </p:cNvSpPr>
          <p:nvPr>
            <p:ph type="title"/>
          </p:nvPr>
        </p:nvSpPr>
        <p:spPr/>
        <p:txBody>
          <a:bodyPr/>
          <a:lstStyle/>
          <a:p>
            <a:r>
              <a:rPr lang="en-US" dirty="0"/>
              <a:t>Progressive Design Build and CM/GC</a:t>
            </a:r>
          </a:p>
        </p:txBody>
      </p:sp>
      <p:sp>
        <p:nvSpPr>
          <p:cNvPr id="3" name="Content Placeholder 2">
            <a:extLst>
              <a:ext uri="{FF2B5EF4-FFF2-40B4-BE49-F238E27FC236}">
                <a16:creationId xmlns:a16="http://schemas.microsoft.com/office/drawing/2014/main" id="{2B6D2DC9-8B07-EA06-61AD-8851427376DF}"/>
              </a:ext>
            </a:extLst>
          </p:cNvPr>
          <p:cNvSpPr>
            <a:spLocks noGrp="1"/>
          </p:cNvSpPr>
          <p:nvPr>
            <p:ph idx="1"/>
          </p:nvPr>
        </p:nvSpPr>
        <p:spPr/>
        <p:txBody>
          <a:bodyPr/>
          <a:lstStyle/>
          <a:p>
            <a:pPr>
              <a:buFont typeface="Arial" panose="020B0604020202020204" pitchFamily="34" charset="0"/>
              <a:buChar char="•"/>
            </a:pPr>
            <a:r>
              <a:rPr lang="en-US" dirty="0"/>
              <a:t>Both Progressive Design Build and CM/GC involve the Contractor relatively early in the Design Development Process</a:t>
            </a:r>
          </a:p>
          <a:p>
            <a:pPr>
              <a:buFont typeface="Arial" panose="020B0604020202020204" pitchFamily="34" charset="0"/>
              <a:buChar char="•"/>
            </a:pPr>
            <a:r>
              <a:rPr lang="en-US" dirty="0"/>
              <a:t>What are the relevant distinctions between PDB and CM/GC as to design risk allocation and design adequacy responsibility?</a:t>
            </a:r>
          </a:p>
          <a:p>
            <a:endParaRPr lang="en-US" dirty="0"/>
          </a:p>
        </p:txBody>
      </p:sp>
      <p:sp>
        <p:nvSpPr>
          <p:cNvPr id="4" name="Slide Number Placeholder 3">
            <a:extLst>
              <a:ext uri="{FF2B5EF4-FFF2-40B4-BE49-F238E27FC236}">
                <a16:creationId xmlns:a16="http://schemas.microsoft.com/office/drawing/2014/main" id="{C3EA7A6B-9965-EA4C-9D49-81621C8E957E}"/>
              </a:ext>
            </a:extLst>
          </p:cNvPr>
          <p:cNvSpPr>
            <a:spLocks noGrp="1"/>
          </p:cNvSpPr>
          <p:nvPr>
            <p:ph type="sldNum" sz="quarter" idx="12"/>
          </p:nvPr>
        </p:nvSpPr>
        <p:spPr/>
        <p:txBody>
          <a:bodyPr/>
          <a:lstStyle/>
          <a:p>
            <a:fld id="{C857CEEC-B959-4A37-A10B-AE2FE373736E}" type="slidenum">
              <a:rPr lang="en-US" smtClean="0"/>
              <a:pPr/>
              <a:t>50</a:t>
            </a:fld>
            <a:endParaRPr lang="en-US" dirty="0"/>
          </a:p>
        </p:txBody>
      </p:sp>
    </p:spTree>
    <p:extLst>
      <p:ext uri="{BB962C8B-B14F-4D97-AF65-F5344CB8AC3E}">
        <p14:creationId xmlns:p14="http://schemas.microsoft.com/office/powerpoint/2010/main" val="3957951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7089B-3423-1F4C-F6CA-0F35E9907B05}"/>
              </a:ext>
            </a:extLst>
          </p:cNvPr>
          <p:cNvSpPr>
            <a:spLocks noGrp="1"/>
          </p:cNvSpPr>
          <p:nvPr>
            <p:ph type="title"/>
          </p:nvPr>
        </p:nvSpPr>
        <p:spPr/>
        <p:txBody>
          <a:bodyPr/>
          <a:lstStyle/>
          <a:p>
            <a:r>
              <a:rPr lang="en-US" dirty="0"/>
              <a:t>Progressive Design Build and CM/GC</a:t>
            </a:r>
          </a:p>
        </p:txBody>
      </p:sp>
      <p:sp>
        <p:nvSpPr>
          <p:cNvPr id="3" name="Content Placeholder 2">
            <a:extLst>
              <a:ext uri="{FF2B5EF4-FFF2-40B4-BE49-F238E27FC236}">
                <a16:creationId xmlns:a16="http://schemas.microsoft.com/office/drawing/2014/main" id="{CF0CAD82-F00F-D9EF-EA6C-B93603B6494B}"/>
              </a:ext>
            </a:extLst>
          </p:cNvPr>
          <p:cNvSpPr>
            <a:spLocks noGrp="1"/>
          </p:cNvSpPr>
          <p:nvPr>
            <p:ph idx="1"/>
          </p:nvPr>
        </p:nvSpPr>
        <p:spPr/>
        <p:txBody>
          <a:bodyPr>
            <a:normAutofit fontScale="85000" lnSpcReduction="20000"/>
          </a:bodyPr>
          <a:lstStyle/>
          <a:p>
            <a:pPr marL="0" indent="0">
              <a:buNone/>
            </a:pPr>
            <a:r>
              <a:rPr lang="en-US" sz="2800" dirty="0"/>
              <a:t>“The risk allocation alignment objectives may be implemented through a progressive design-build (“PDB”), or a construction manager/general contractor (“CM/GC”) method.  These approaches share the element and attribute of </a:t>
            </a:r>
            <a:r>
              <a:rPr lang="en-US" sz="2800" i="1" dirty="0"/>
              <a:t>early contractor involvement</a:t>
            </a:r>
            <a:r>
              <a:rPr lang="en-US" sz="2800" dirty="0"/>
              <a:t> in the design development process.  Both PDB and CM/GC, conceptually, are intended to accomplish the risk allocation alignment objectives; however, PDB and CM/GC accomplish those objectives in different ways that impact roles, responsibilities and risk for final design as between the Design-Builder in PDB, or Construction Team in CM/GC, and the Owner, respectively.</a:t>
            </a:r>
          </a:p>
          <a:p>
            <a:pPr marL="0" indent="0">
              <a:buNone/>
            </a:pPr>
            <a:endParaRPr lang="en-US" sz="2800" dirty="0"/>
          </a:p>
          <a:p>
            <a:pPr marL="0" indent="0">
              <a:buNone/>
            </a:pPr>
            <a:r>
              <a:rPr lang="en-US" sz="2800" dirty="0"/>
              <a:t>In PDB it is generally expected that the Design-Builder will be responsible for the adequacy, suitability and constructability of the final design.  In CM/GC, the Owner contracts with an Engineer (the “EOR”) who is responsible for preparation of the final design; and the Owner retains control over the design development process; hence, the Owner generally has implied warranty responsibility to the Contractor for the adequacy and suitability of the final design.</a:t>
            </a:r>
          </a:p>
          <a:p>
            <a:endParaRPr lang="en-US" dirty="0"/>
          </a:p>
        </p:txBody>
      </p:sp>
      <p:sp>
        <p:nvSpPr>
          <p:cNvPr id="4" name="Slide Number Placeholder 3">
            <a:extLst>
              <a:ext uri="{FF2B5EF4-FFF2-40B4-BE49-F238E27FC236}">
                <a16:creationId xmlns:a16="http://schemas.microsoft.com/office/drawing/2014/main" id="{B4C04751-BA30-4A78-48B9-F669782E3434}"/>
              </a:ext>
            </a:extLst>
          </p:cNvPr>
          <p:cNvSpPr>
            <a:spLocks noGrp="1"/>
          </p:cNvSpPr>
          <p:nvPr>
            <p:ph type="sldNum" sz="quarter" idx="12"/>
          </p:nvPr>
        </p:nvSpPr>
        <p:spPr/>
        <p:txBody>
          <a:bodyPr/>
          <a:lstStyle/>
          <a:p>
            <a:fld id="{C857CEEC-B959-4A37-A10B-AE2FE373736E}" type="slidenum">
              <a:rPr lang="en-US" smtClean="0"/>
              <a:pPr/>
              <a:t>51</a:t>
            </a:fld>
            <a:endParaRPr lang="en-US" dirty="0"/>
          </a:p>
        </p:txBody>
      </p:sp>
    </p:spTree>
    <p:extLst>
      <p:ext uri="{BB962C8B-B14F-4D97-AF65-F5344CB8AC3E}">
        <p14:creationId xmlns:p14="http://schemas.microsoft.com/office/powerpoint/2010/main" val="26323847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4BD-5527-BE38-B482-B8920A5133C0}"/>
              </a:ext>
            </a:extLst>
          </p:cNvPr>
          <p:cNvSpPr>
            <a:spLocks noGrp="1"/>
          </p:cNvSpPr>
          <p:nvPr>
            <p:ph type="title"/>
          </p:nvPr>
        </p:nvSpPr>
        <p:spPr/>
        <p:txBody>
          <a:bodyPr/>
          <a:lstStyle/>
          <a:p>
            <a:r>
              <a:rPr lang="en-US" dirty="0"/>
              <a:t>Progressive Design Build and CM/GC</a:t>
            </a:r>
          </a:p>
        </p:txBody>
      </p:sp>
      <p:sp>
        <p:nvSpPr>
          <p:cNvPr id="3" name="Content Placeholder 2">
            <a:extLst>
              <a:ext uri="{FF2B5EF4-FFF2-40B4-BE49-F238E27FC236}">
                <a16:creationId xmlns:a16="http://schemas.microsoft.com/office/drawing/2014/main" id="{829AB954-D90E-2EA5-D27E-60F8E00BAB00}"/>
              </a:ext>
            </a:extLst>
          </p:cNvPr>
          <p:cNvSpPr>
            <a:spLocks noGrp="1"/>
          </p:cNvSpPr>
          <p:nvPr>
            <p:ph idx="1"/>
          </p:nvPr>
        </p:nvSpPr>
        <p:spPr/>
        <p:txBody>
          <a:bodyPr>
            <a:normAutofit fontScale="62500" lnSpcReduction="20000"/>
          </a:bodyPr>
          <a:lstStyle/>
          <a:p>
            <a:pPr marL="0" indent="0">
              <a:buNone/>
            </a:pPr>
            <a:r>
              <a:rPr lang="en-US" sz="2800" dirty="0"/>
              <a:t>These are important distinctions between PDB and CM/GC, with significant implications as to risk allocation for final design adequacy.  In PDB, it would generally be expected that the Design-Builder would have responsibility for the adequacy of the final design, consistent with the basic DB principle of single-point responsibility of the Design-Builder for both design and construction of the project.  In CM/GC, however, because the Owner retains the EOR and controls the design development process, it would generally be expected that the Owner will be responsible for the adequacy of the final design.  </a:t>
            </a:r>
          </a:p>
          <a:p>
            <a:pPr marL="114300" indent="0">
              <a:buNone/>
            </a:pPr>
            <a:endParaRPr lang="en-US" sz="2800" dirty="0"/>
          </a:p>
          <a:p>
            <a:pPr marL="0" indent="0">
              <a:buNone/>
            </a:pPr>
            <a:r>
              <a:rPr lang="en-US" sz="2800" dirty="0"/>
              <a:t>However, the nature and extent of the Construction Manager’s input and other involvement in the design development process in CM/GC will likely impact how the Owner’s design adequacy responsibility (or implied warranty obligation) applies, and the extent of any equitable adjustment remedy to the Construction Manager/General Contractor.  More specifically, courts and other dispute resolvers have struggled with the issue whether the involvement and input of the Construction Manager in CM/GC in the design development process (or related “design assist” input and involvement of contractors in the design development process) should result in some shared responsibility of the Construction Manager for final design adequacy to the extent that the latter is influenced by its participatory role in the design development process.  In addition, the inclusion and specificity of disclaimers purporting to negate or limit an Owner’s otherwise applicable implied warranty obligation are relevant factors in determining design adequacy risk allocation in CM/GC.</a:t>
            </a:r>
          </a:p>
          <a:p>
            <a:pPr marL="0" indent="0">
              <a:buNone/>
            </a:pPr>
            <a:endParaRPr lang="en-US" dirty="0"/>
          </a:p>
        </p:txBody>
      </p:sp>
      <p:sp>
        <p:nvSpPr>
          <p:cNvPr id="4" name="Slide Number Placeholder 3">
            <a:extLst>
              <a:ext uri="{FF2B5EF4-FFF2-40B4-BE49-F238E27FC236}">
                <a16:creationId xmlns:a16="http://schemas.microsoft.com/office/drawing/2014/main" id="{BE55F193-F76D-4585-1D1E-69BE4BBA4685}"/>
              </a:ext>
            </a:extLst>
          </p:cNvPr>
          <p:cNvSpPr>
            <a:spLocks noGrp="1"/>
          </p:cNvSpPr>
          <p:nvPr>
            <p:ph type="sldNum" sz="quarter" idx="12"/>
          </p:nvPr>
        </p:nvSpPr>
        <p:spPr/>
        <p:txBody>
          <a:bodyPr/>
          <a:lstStyle/>
          <a:p>
            <a:fld id="{C857CEEC-B959-4A37-A10B-AE2FE373736E}" type="slidenum">
              <a:rPr lang="en-US" smtClean="0"/>
              <a:pPr/>
              <a:t>52</a:t>
            </a:fld>
            <a:endParaRPr lang="en-US" dirty="0"/>
          </a:p>
        </p:txBody>
      </p:sp>
    </p:spTree>
    <p:extLst>
      <p:ext uri="{BB962C8B-B14F-4D97-AF65-F5344CB8AC3E}">
        <p14:creationId xmlns:p14="http://schemas.microsoft.com/office/powerpoint/2010/main" val="21710275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3C90-77A2-25B8-7026-9FCCBCAFA8B3}"/>
              </a:ext>
            </a:extLst>
          </p:cNvPr>
          <p:cNvSpPr>
            <a:spLocks noGrp="1"/>
          </p:cNvSpPr>
          <p:nvPr>
            <p:ph type="title"/>
          </p:nvPr>
        </p:nvSpPr>
        <p:spPr/>
        <p:txBody>
          <a:bodyPr/>
          <a:lstStyle/>
          <a:p>
            <a:r>
              <a:rPr lang="en-US" dirty="0"/>
              <a:t>Progressive Design Build and CM/GC</a:t>
            </a:r>
          </a:p>
        </p:txBody>
      </p:sp>
      <p:sp>
        <p:nvSpPr>
          <p:cNvPr id="3" name="Content Placeholder 2">
            <a:extLst>
              <a:ext uri="{FF2B5EF4-FFF2-40B4-BE49-F238E27FC236}">
                <a16:creationId xmlns:a16="http://schemas.microsoft.com/office/drawing/2014/main" id="{E668FFF1-069B-7BED-077B-01B86FF9A2D3}"/>
              </a:ext>
            </a:extLst>
          </p:cNvPr>
          <p:cNvSpPr>
            <a:spLocks noGrp="1"/>
          </p:cNvSpPr>
          <p:nvPr>
            <p:ph idx="1"/>
          </p:nvPr>
        </p:nvSpPr>
        <p:spPr/>
        <p:txBody>
          <a:bodyPr>
            <a:normAutofit fontScale="77500" lnSpcReduction="20000"/>
          </a:bodyPr>
          <a:lstStyle/>
          <a:p>
            <a:pPr marL="0" indent="0">
              <a:buNone/>
            </a:pPr>
            <a:r>
              <a:rPr lang="en-US" sz="2800" dirty="0"/>
              <a:t>The early contractor involvement in both PDB and CM/GC provides meaningful and significant opportunities to achieve the risk allocation alignment objectives.  Meaningful involvement, interaction and collaboration among the Design-Builder in PDB, or the Construction Manager in CM/GC, and the Owner, on major subsurface projects should serve to improve their mutual understandings and transparencies of risk perceptions and positively influence pricing and contingency realism.  Pricing, contingency and contractual risk allocation should also be better informed by that interaction and collaboration.”*</a:t>
            </a:r>
          </a:p>
          <a:p>
            <a:pPr marL="0" marR="0" indent="0">
              <a:spcBef>
                <a:spcPts val="0"/>
              </a:spcBef>
              <a:spcAft>
                <a:spcPts val="0"/>
              </a:spcAft>
              <a:buNone/>
            </a:pPr>
            <a:r>
              <a:rPr lang="en-US" sz="1800" dirty="0">
                <a:effectLst/>
                <a:latin typeface="Arial" panose="020B0604020202020204" pitchFamily="34" charset="0"/>
                <a:ea typeface="Calibri" panose="020F0502020204030204" pitchFamily="34" charset="0"/>
              </a:rPr>
              <a:t> </a:t>
            </a:r>
          </a:p>
          <a:p>
            <a:pPr marL="0" marR="0" indent="0">
              <a:spcBef>
                <a:spcPts val="0"/>
              </a:spcBef>
              <a:spcAft>
                <a:spcPts val="0"/>
              </a:spcAft>
              <a:buNone/>
            </a:pPr>
            <a:endParaRPr lang="en-US" sz="1800" dirty="0">
              <a:effectLst/>
              <a:latin typeface="Calibri" panose="020F0502020204030204" pitchFamily="34" charset="0"/>
              <a:ea typeface="Calibri" panose="020F0502020204030204" pitchFamily="34" charset="0"/>
            </a:endParaRPr>
          </a:p>
          <a:p>
            <a:pPr marL="0" marR="0" indent="0">
              <a:spcBef>
                <a:spcPts val="0"/>
              </a:spcBef>
              <a:spcAft>
                <a:spcPts val="0"/>
              </a:spcAft>
              <a:buNone/>
            </a:pPr>
            <a:r>
              <a:rPr lang="en-US" sz="1800" b="1" dirty="0">
                <a:effectLst/>
                <a:latin typeface="Arial" panose="020B0604020202020204" pitchFamily="34" charset="0"/>
                <a:ea typeface="Calibri" panose="020F0502020204030204" pitchFamily="34" charset="0"/>
              </a:rPr>
              <a:t>Early Contractor Involvement: Rethinking and Recalibrating Delivery Methods for Subsurface Projects</a:t>
            </a:r>
            <a:endParaRPr lang="en-US" sz="1800" dirty="0">
              <a:effectLst/>
              <a:latin typeface="Calibri" panose="020F0502020204030204" pitchFamily="34" charset="0"/>
              <a:ea typeface="Calibri" panose="020F0502020204030204" pitchFamily="34" charset="0"/>
            </a:endParaRPr>
          </a:p>
          <a:p>
            <a:pPr marL="0" marR="0" indent="0">
              <a:spcBef>
                <a:spcPts val="0"/>
              </a:spcBef>
              <a:spcAft>
                <a:spcPts val="0"/>
              </a:spcAft>
              <a:buNone/>
            </a:pPr>
            <a:r>
              <a:rPr lang="en-US" sz="1800" u="sng" dirty="0">
                <a:solidFill>
                  <a:srgbClr val="0563C1"/>
                </a:solidFill>
                <a:effectLst/>
                <a:latin typeface="Arial" panose="020B0604020202020204" pitchFamily="34" charset="0"/>
                <a:ea typeface="Calibri" panose="020F0502020204030204" pitchFamily="34" charset="0"/>
                <a:hlinkClick r:id="rId2"/>
              </a:rPr>
              <a:t>https://www.donovanhatem.com/early-contractor-involvement-rethinking-and-recalibratingdelivery-methods-for-subsurface-projects/</a:t>
            </a:r>
            <a:endParaRPr lang="en-US" sz="1800" dirty="0">
              <a:effectLst/>
              <a:latin typeface="Calibri" panose="020F0502020204030204" pitchFamily="34" charset="0"/>
              <a:ea typeface="Calibri" panose="020F0502020204030204" pitchFamily="34" charset="0"/>
            </a:endParaRPr>
          </a:p>
          <a:p>
            <a:pPr marL="0" marR="0" indent="0">
              <a:spcBef>
                <a:spcPts val="0"/>
              </a:spcBef>
              <a:spcAft>
                <a:spcPts val="0"/>
              </a:spcAft>
              <a:buNone/>
            </a:pPr>
            <a:r>
              <a:rPr lang="en-US" sz="1800" dirty="0">
                <a:effectLst/>
                <a:latin typeface="Arial" panose="020B0604020202020204" pitchFamily="34" charset="0"/>
                <a:ea typeface="Calibri" panose="020F0502020204030204" pitchFamily="34" charset="0"/>
              </a:rPr>
              <a:t> </a:t>
            </a:r>
            <a:endParaRPr lang="en-US" sz="1800" dirty="0">
              <a:effectLst/>
              <a:latin typeface="Calibri" panose="020F0502020204030204" pitchFamily="34" charset="0"/>
              <a:ea typeface="Calibri" panose="020F0502020204030204" pitchFamily="34" charset="0"/>
            </a:endParaRPr>
          </a:p>
          <a:p>
            <a:endParaRPr lang="en-US" sz="1800" dirty="0"/>
          </a:p>
          <a:p>
            <a:pPr marL="114300" indent="0">
              <a:buNone/>
            </a:pPr>
            <a:endParaRPr lang="en-US" sz="1800" dirty="0"/>
          </a:p>
          <a:p>
            <a:pPr marL="114300" indent="0">
              <a:buNone/>
            </a:pPr>
            <a:r>
              <a:rPr lang="en-US" sz="2400" dirty="0"/>
              <a:t>*D. J. Hatem, “Improving Risk Allocation on Design-Build Subsurface Projects” June 2020 </a:t>
            </a:r>
            <a:r>
              <a:rPr lang="en-US" sz="2400" u="sng" dirty="0"/>
              <a:t>Tunnel Business Magazine</a:t>
            </a:r>
            <a:r>
              <a:rPr lang="en-US" sz="2400" dirty="0"/>
              <a:t>.</a:t>
            </a:r>
          </a:p>
          <a:p>
            <a:pPr marL="114300" indent="0">
              <a:buNone/>
            </a:pPr>
            <a:r>
              <a:rPr lang="en-US" sz="2400" u="sng" dirty="0"/>
              <a:t>See also</a:t>
            </a:r>
            <a:r>
              <a:rPr lang="en-US" sz="2400" dirty="0"/>
              <a:t>, D. Gransberg &amp; K. </a:t>
            </a:r>
            <a:r>
              <a:rPr lang="en-US" sz="2400" dirty="0" err="1"/>
              <a:t>Molenaar</a:t>
            </a:r>
            <a:r>
              <a:rPr lang="en-US" sz="2400" dirty="0"/>
              <a:t>, Critical Comparison of Progressive Design-Build and Construction Manager/General Contractor Project 	Delivery Methods, in </a:t>
            </a:r>
            <a:r>
              <a:rPr lang="en-US" sz="2400" u="sng" dirty="0"/>
              <a:t>Transportation Research Record Journal of the Transportation Research Board</a:t>
            </a:r>
            <a:r>
              <a:rPr lang="en-US" sz="2400" dirty="0"/>
              <a:t> January 2019, pp. 8-9. </a:t>
            </a:r>
          </a:p>
          <a:p>
            <a:endParaRPr lang="en-US" sz="1400" dirty="0"/>
          </a:p>
          <a:p>
            <a:endParaRPr lang="en-US" dirty="0"/>
          </a:p>
        </p:txBody>
      </p:sp>
      <p:sp>
        <p:nvSpPr>
          <p:cNvPr id="4" name="Slide Number Placeholder 3">
            <a:extLst>
              <a:ext uri="{FF2B5EF4-FFF2-40B4-BE49-F238E27FC236}">
                <a16:creationId xmlns:a16="http://schemas.microsoft.com/office/drawing/2014/main" id="{1D7B54E7-50B5-AD86-B18B-123A994C4050}"/>
              </a:ext>
            </a:extLst>
          </p:cNvPr>
          <p:cNvSpPr>
            <a:spLocks noGrp="1"/>
          </p:cNvSpPr>
          <p:nvPr>
            <p:ph type="sldNum" sz="quarter" idx="12"/>
          </p:nvPr>
        </p:nvSpPr>
        <p:spPr/>
        <p:txBody>
          <a:bodyPr/>
          <a:lstStyle/>
          <a:p>
            <a:fld id="{C857CEEC-B959-4A37-A10B-AE2FE373736E}" type="slidenum">
              <a:rPr lang="en-US" smtClean="0"/>
              <a:pPr/>
              <a:t>53</a:t>
            </a:fld>
            <a:endParaRPr lang="en-US" dirty="0"/>
          </a:p>
        </p:txBody>
      </p:sp>
    </p:spTree>
    <p:extLst>
      <p:ext uri="{BB962C8B-B14F-4D97-AF65-F5344CB8AC3E}">
        <p14:creationId xmlns:p14="http://schemas.microsoft.com/office/powerpoint/2010/main" val="13953823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8AB61-8703-ECEB-B725-4BF379E7909D}"/>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505D942B-9CA7-D053-F9EC-38657BFC8E83}"/>
              </a:ext>
            </a:extLst>
          </p:cNvPr>
          <p:cNvSpPr>
            <a:spLocks noGrp="1"/>
          </p:cNvSpPr>
          <p:nvPr>
            <p:ph idx="1"/>
          </p:nvPr>
        </p:nvSpPr>
        <p:spPr/>
        <p:txBody>
          <a:bodyPr>
            <a:normAutofit fontScale="92500" lnSpcReduction="10000"/>
          </a:bodyPr>
          <a:lstStyle/>
          <a:p>
            <a:pPr>
              <a:buFont typeface="Arial" panose="020B0604020202020204" pitchFamily="34" charset="0"/>
              <a:buChar char="•"/>
            </a:pPr>
            <a:r>
              <a:rPr lang="en-US" dirty="0"/>
              <a:t>Contractor involvement in final design is increasing, and is effectuated in various approaches in Design-Bid-Build, Design-Build, and Early Contractor Involvement delivery methods</a:t>
            </a:r>
          </a:p>
          <a:p>
            <a:pPr>
              <a:buFont typeface="Arial" panose="020B0604020202020204" pitchFamily="34" charset="0"/>
              <a:buChar char="•"/>
            </a:pPr>
            <a:r>
              <a:rPr lang="en-US" dirty="0"/>
              <a:t>Clarity and consistency in the contractual articulation and in the implementation of relevant roles and responsibilities of each and all project participants are essential</a:t>
            </a:r>
          </a:p>
          <a:p>
            <a:pPr>
              <a:buFont typeface="Arial" panose="020B0604020202020204" pitchFamily="34" charset="0"/>
              <a:buChar char="•"/>
            </a:pPr>
            <a:r>
              <a:rPr lang="en-US" dirty="0"/>
              <a:t>Actual performance should conform to contractual terms, limitations and requirements</a:t>
            </a:r>
          </a:p>
          <a:p>
            <a:pPr>
              <a:buFont typeface="Arial" panose="020B0604020202020204" pitchFamily="34" charset="0"/>
              <a:buChar char="•"/>
            </a:pPr>
            <a:r>
              <a:rPr lang="en-US" dirty="0"/>
              <a:t>There is much confusion and uncertainty in the industry pertaining to these various approaches</a:t>
            </a:r>
          </a:p>
          <a:p>
            <a:pPr>
              <a:buFont typeface="Arial" panose="020B0604020202020204" pitchFamily="34" charset="0"/>
              <a:buChar char="•"/>
            </a:pPr>
            <a:r>
              <a:rPr lang="en-US" dirty="0"/>
              <a:t>Application of legal principles is developing, but certainly not definitive</a:t>
            </a:r>
          </a:p>
          <a:p>
            <a:endParaRPr lang="en-US" dirty="0"/>
          </a:p>
        </p:txBody>
      </p:sp>
      <p:sp>
        <p:nvSpPr>
          <p:cNvPr id="4" name="Slide Number Placeholder 3">
            <a:extLst>
              <a:ext uri="{FF2B5EF4-FFF2-40B4-BE49-F238E27FC236}">
                <a16:creationId xmlns:a16="http://schemas.microsoft.com/office/drawing/2014/main" id="{CB1CD824-DA7D-82FA-A001-0C571866282D}"/>
              </a:ext>
            </a:extLst>
          </p:cNvPr>
          <p:cNvSpPr>
            <a:spLocks noGrp="1"/>
          </p:cNvSpPr>
          <p:nvPr>
            <p:ph type="sldNum" sz="quarter" idx="12"/>
          </p:nvPr>
        </p:nvSpPr>
        <p:spPr/>
        <p:txBody>
          <a:bodyPr/>
          <a:lstStyle/>
          <a:p>
            <a:fld id="{C857CEEC-B959-4A37-A10B-AE2FE373736E}" type="slidenum">
              <a:rPr lang="en-US" smtClean="0"/>
              <a:pPr/>
              <a:t>54</a:t>
            </a:fld>
            <a:endParaRPr lang="en-US" dirty="0"/>
          </a:p>
        </p:txBody>
      </p:sp>
    </p:spTree>
    <p:extLst>
      <p:ext uri="{BB962C8B-B14F-4D97-AF65-F5344CB8AC3E}">
        <p14:creationId xmlns:p14="http://schemas.microsoft.com/office/powerpoint/2010/main" val="6339832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98A62-5A0C-121B-F342-06B26E4B928B}"/>
              </a:ext>
            </a:extLst>
          </p:cNvPr>
          <p:cNvSpPr>
            <a:spLocks noGrp="1"/>
          </p:cNvSpPr>
          <p:nvPr>
            <p:ph type="title"/>
          </p:nvPr>
        </p:nvSpPr>
        <p:spPr/>
        <p:txBody>
          <a:bodyPr/>
          <a:lstStyle/>
          <a:p>
            <a:endParaRPr lang="en-US"/>
          </a:p>
        </p:txBody>
      </p:sp>
      <p:sp>
        <p:nvSpPr>
          <p:cNvPr id="4" name="Slide Number Placeholder 3">
            <a:extLst>
              <a:ext uri="{FF2B5EF4-FFF2-40B4-BE49-F238E27FC236}">
                <a16:creationId xmlns:a16="http://schemas.microsoft.com/office/drawing/2014/main" id="{0D440C7D-9AE3-D9C7-C29C-374441AE0D50}"/>
              </a:ext>
            </a:extLst>
          </p:cNvPr>
          <p:cNvSpPr>
            <a:spLocks noGrp="1"/>
          </p:cNvSpPr>
          <p:nvPr>
            <p:ph type="sldNum" sz="quarter" idx="12"/>
          </p:nvPr>
        </p:nvSpPr>
        <p:spPr/>
        <p:txBody>
          <a:bodyPr/>
          <a:lstStyle/>
          <a:p>
            <a:fld id="{C857CEEC-B959-4A37-A10B-AE2FE373736E}" type="slidenum">
              <a:rPr lang="en-US" smtClean="0"/>
              <a:pPr/>
              <a:t>55</a:t>
            </a:fld>
            <a:endParaRPr lang="en-US" dirty="0"/>
          </a:p>
        </p:txBody>
      </p:sp>
      <p:sp>
        <p:nvSpPr>
          <p:cNvPr id="5" name="Title 1">
            <a:extLst>
              <a:ext uri="{FF2B5EF4-FFF2-40B4-BE49-F238E27FC236}">
                <a16:creationId xmlns:a16="http://schemas.microsoft.com/office/drawing/2014/main" id="{FF846ECD-8A18-C8DC-0E7D-BAD284238CF2}"/>
              </a:ext>
            </a:extLst>
          </p:cNvPr>
          <p:cNvSpPr>
            <a:spLocks noGrp="1"/>
          </p:cNvSpPr>
          <p:nvPr>
            <p:ph idx="1"/>
          </p:nvPr>
        </p:nvSpPr>
        <p:spPr>
          <a:xfrm>
            <a:off x="838200" y="1825625"/>
            <a:ext cx="10515600" cy="4351338"/>
          </a:xfrm>
        </p:spPr>
        <p:txBody>
          <a:bodyPr>
            <a:normAutofit/>
          </a:bodyPr>
          <a:lstStyle/>
          <a:p>
            <a:pPr algn="ctr"/>
            <a:r>
              <a:rPr lang="en-US" sz="7200" dirty="0"/>
              <a:t>Questions?</a:t>
            </a:r>
          </a:p>
        </p:txBody>
      </p:sp>
    </p:spTree>
    <p:extLst>
      <p:ext uri="{BB962C8B-B14F-4D97-AF65-F5344CB8AC3E}">
        <p14:creationId xmlns:p14="http://schemas.microsoft.com/office/powerpoint/2010/main" val="15457585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73B49-8871-2F52-5877-B7AF1EF9369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25AA000-BFA5-8D95-2DE1-5C27C4B3C3D2}"/>
              </a:ext>
            </a:extLst>
          </p:cNvPr>
          <p:cNvSpPr>
            <a:spLocks noGrp="1"/>
          </p:cNvSpPr>
          <p:nvPr>
            <p:ph idx="1"/>
          </p:nvPr>
        </p:nvSpPr>
        <p:spPr/>
        <p:txBody>
          <a:bodyPr/>
          <a:lstStyle/>
          <a:p>
            <a:pPr eaLnBrk="1" hangingPunct="1">
              <a:buFontTx/>
              <a:buNone/>
              <a:defRPr/>
            </a:pPr>
            <a:r>
              <a:rPr lang="en-US" sz="3200" dirty="0">
                <a:solidFill>
                  <a:schemeClr val="tx1"/>
                </a:solidFill>
              </a:rPr>
              <a:t>David J. Hatem, PC</a:t>
            </a:r>
          </a:p>
          <a:p>
            <a:pPr eaLnBrk="1" hangingPunct="1">
              <a:buFontTx/>
              <a:buNone/>
              <a:defRPr/>
            </a:pPr>
            <a:r>
              <a:rPr lang="en-US" sz="3200" dirty="0">
                <a:solidFill>
                  <a:schemeClr val="tx1"/>
                </a:solidFill>
              </a:rPr>
              <a:t>dhatem@donovanhatem.com </a:t>
            </a:r>
          </a:p>
          <a:p>
            <a:pPr eaLnBrk="1" hangingPunct="1">
              <a:buFontTx/>
              <a:buNone/>
              <a:defRPr/>
            </a:pPr>
            <a:r>
              <a:rPr lang="en-US" sz="3200" dirty="0">
                <a:solidFill>
                  <a:schemeClr val="tx1"/>
                </a:solidFill>
              </a:rPr>
              <a:t>Direct: 617-406-4800</a:t>
            </a:r>
          </a:p>
          <a:p>
            <a:pPr eaLnBrk="1" hangingPunct="1">
              <a:buFontTx/>
              <a:buNone/>
              <a:defRPr/>
            </a:pPr>
            <a:endParaRPr lang="en-US" altLang="en-US" sz="1400" kern="0" dirty="0">
              <a:solidFill>
                <a:schemeClr val="tx1"/>
              </a:solidFill>
            </a:endParaRPr>
          </a:p>
          <a:p>
            <a:pPr eaLnBrk="1" hangingPunct="1">
              <a:buFontTx/>
              <a:buNone/>
              <a:defRPr/>
            </a:pPr>
            <a:r>
              <a:rPr lang="en-US" altLang="en-US" sz="2800" b="1" kern="0" dirty="0">
                <a:solidFill>
                  <a:schemeClr val="tx1"/>
                </a:solidFill>
              </a:rPr>
              <a:t>Donovan Hatem LLP</a:t>
            </a:r>
          </a:p>
          <a:p>
            <a:pPr eaLnBrk="1" hangingPunct="1">
              <a:buFontTx/>
              <a:buNone/>
              <a:defRPr/>
            </a:pPr>
            <a:r>
              <a:rPr lang="en-US" altLang="en-US" sz="2800" kern="0" dirty="0">
                <a:solidFill>
                  <a:schemeClr val="tx1"/>
                </a:solidFill>
              </a:rPr>
              <a:t>Exchange Place</a:t>
            </a:r>
          </a:p>
          <a:p>
            <a:pPr eaLnBrk="1" hangingPunct="1">
              <a:buFontTx/>
              <a:buNone/>
              <a:defRPr/>
            </a:pPr>
            <a:r>
              <a:rPr lang="en-US" altLang="en-US" sz="2800" kern="0" dirty="0">
                <a:solidFill>
                  <a:schemeClr val="tx1"/>
                </a:solidFill>
              </a:rPr>
              <a:t>53 State Street</a:t>
            </a:r>
          </a:p>
          <a:p>
            <a:pPr eaLnBrk="1" hangingPunct="1">
              <a:buFontTx/>
              <a:buNone/>
              <a:defRPr/>
            </a:pPr>
            <a:r>
              <a:rPr lang="en-US" altLang="en-US" sz="2800" kern="0" dirty="0">
                <a:solidFill>
                  <a:schemeClr val="tx1"/>
                </a:solidFill>
              </a:rPr>
              <a:t>Boston, MA 02109</a:t>
            </a:r>
          </a:p>
          <a:p>
            <a:endParaRPr lang="en-US" dirty="0"/>
          </a:p>
        </p:txBody>
      </p:sp>
      <p:sp>
        <p:nvSpPr>
          <p:cNvPr id="4" name="Slide Number Placeholder 3">
            <a:extLst>
              <a:ext uri="{FF2B5EF4-FFF2-40B4-BE49-F238E27FC236}">
                <a16:creationId xmlns:a16="http://schemas.microsoft.com/office/drawing/2014/main" id="{5383B15B-7423-A1C1-9E04-3026453AFD1C}"/>
              </a:ext>
            </a:extLst>
          </p:cNvPr>
          <p:cNvSpPr>
            <a:spLocks noGrp="1"/>
          </p:cNvSpPr>
          <p:nvPr>
            <p:ph type="sldNum" sz="quarter" idx="12"/>
          </p:nvPr>
        </p:nvSpPr>
        <p:spPr/>
        <p:txBody>
          <a:bodyPr/>
          <a:lstStyle/>
          <a:p>
            <a:fld id="{C857CEEC-B959-4A37-A10B-AE2FE373736E}" type="slidenum">
              <a:rPr lang="en-US" smtClean="0"/>
              <a:pPr/>
              <a:t>56</a:t>
            </a:fld>
            <a:endParaRPr lang="en-US" dirty="0"/>
          </a:p>
        </p:txBody>
      </p:sp>
    </p:spTree>
    <p:extLst>
      <p:ext uri="{BB962C8B-B14F-4D97-AF65-F5344CB8AC3E}">
        <p14:creationId xmlns:p14="http://schemas.microsoft.com/office/powerpoint/2010/main" val="18301913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611</TotalTime>
  <Words>6039</Words>
  <Application>Microsoft Office PowerPoint</Application>
  <PresentationFormat>Widescreen</PresentationFormat>
  <Paragraphs>544</Paragraphs>
  <Slides>56</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56</vt:i4>
      </vt:variant>
    </vt:vector>
  </HeadingPairs>
  <TitlesOfParts>
    <vt:vector size="65" baseType="lpstr">
      <vt:lpstr>Arial</vt:lpstr>
      <vt:lpstr>Arial Narrow</vt:lpstr>
      <vt:lpstr>Calibri</vt:lpstr>
      <vt:lpstr>Calibri Light</vt:lpstr>
      <vt:lpstr>Courier New</vt:lpstr>
      <vt:lpstr>Oswald</vt:lpstr>
      <vt:lpstr>Symbol</vt:lpstr>
      <vt:lpstr>Wingdings</vt:lpstr>
      <vt:lpstr>Office Theme</vt:lpstr>
      <vt:lpstr>                                                                                    Contractor Involvement in Design of Permanent Project Work: Evolving and Diversified Roles, Responsibilities and Risk Allocation  BSCES/SEI Structural Fall Lecture Series  Shifting  Paradigms in Engineering November 4, 2023   David J. Hatem, PC Donovan Hatem LLP Boston, MA   </vt:lpstr>
      <vt:lpstr>Introduction</vt:lpstr>
      <vt:lpstr>Presentation Focus</vt:lpstr>
      <vt:lpstr>INTRODUCTION CONTRACTOR PERMANENT WORKS DESIGN INVOLVEMENT: DRIVERS AND FACTORS</vt:lpstr>
      <vt:lpstr>INTRODUCTION CONTRACTOR PERMANENT WORKS DESIGN INVOLVEMENT: DRIVERS AND FACTORS</vt:lpstr>
      <vt:lpstr>INTRODUCTION Roles, Responsibilities and Risks</vt:lpstr>
      <vt:lpstr>INTRODUCTION BASIC DISTINCTIONS AND DELINEATIONS AS TO CONTRACTOR DESIGN INVOLVEMENT</vt:lpstr>
      <vt:lpstr>INTRODUCTION LEGAL ISSUES PERTAINING TO CONTRACTOR DESIGN INVOLVEMENT</vt:lpstr>
      <vt:lpstr>INTRODUCTION DESIGN ADEQUACY RISK CONTINUUM</vt:lpstr>
      <vt:lpstr>DESIGN-BID-BUILD</vt:lpstr>
      <vt:lpstr>DESIGN-BID-BUILD</vt:lpstr>
      <vt:lpstr>DESIGN BID-BUILD</vt:lpstr>
      <vt:lpstr>DESIGN BID-BUILD DESIGN ASSIST</vt:lpstr>
      <vt:lpstr>DESIGN BID-BUILD DESIGN ASSIST</vt:lpstr>
      <vt:lpstr>DESIGN-BID-BUILD DESIGN ASSIST: CRITICAL ISSUES</vt:lpstr>
      <vt:lpstr>DESIGN-BID-BUILD DESIGN ASSIST: CRITICAL ISSUES</vt:lpstr>
      <vt:lpstr>DESIGN-BID-BUILD DESIGN ASSIST: CRITICAL ISSUES</vt:lpstr>
      <vt:lpstr>DESIGN-BID-BUILD DESIGN ASSIST: CRITICAL ISSUES</vt:lpstr>
      <vt:lpstr>PowerPoint Presentation</vt:lpstr>
      <vt:lpstr>DESIGN-BID-BUILD DESIGN ASSIST: CRITICAL ISSUES</vt:lpstr>
      <vt:lpstr>DESIGN-BID-BUILD DESIGN ASSIST: CRITICAL ISSUES</vt:lpstr>
      <vt:lpstr>DESIGN-BID-BUILD DESIGN ASSIST: CRITICAL ISSUES</vt:lpstr>
      <vt:lpstr>Design-Bid-Build</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DESIGN-BID-BUILD DESIGN DELEGATION</vt:lpstr>
      <vt:lpstr>Design-Build </vt:lpstr>
      <vt:lpstr>Conventional Design-Build</vt:lpstr>
      <vt:lpstr>Conventional Design-Build: Procurement and Contractual Issues</vt:lpstr>
      <vt:lpstr>Conventional Design-Build: Procurement and Contractual Issues</vt:lpstr>
      <vt:lpstr>Design-Build Professional Liability Claims Experience for Design Professionals in North America</vt:lpstr>
      <vt:lpstr>Design-Build Professional Liability Claims Experience for Design Professionals in North America</vt:lpstr>
      <vt:lpstr>Early Contractor Involvement</vt:lpstr>
      <vt:lpstr>Early Contractor Involvement</vt:lpstr>
      <vt:lpstr>Early Contractor Involvement</vt:lpstr>
      <vt:lpstr>Early Contractor Involvement</vt:lpstr>
      <vt:lpstr>Early Contractor Involvement</vt:lpstr>
      <vt:lpstr>Progressive Design Build and CM/GC</vt:lpstr>
      <vt:lpstr>Progressive Design Build and CM/GC</vt:lpstr>
      <vt:lpstr>Progressive Design Build and CM/GC</vt:lpstr>
      <vt:lpstr>Progressive Design Build and CM/GC</vt:lpstr>
      <vt:lpstr>Summary</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Contractor Involvement Recalibrating Procurement and Contractual Approaches on Major Subsurface Projects 2023 risk Management in Underground Construction Course February 27-28, 2023  David J. Hatem, PC Donovan Hatem LLP dhatem@donovanhatem.com</dc:title>
  <dc:creator>Kathleen Pelick</dc:creator>
  <cp:lastModifiedBy>David Hatem</cp:lastModifiedBy>
  <cp:revision>49</cp:revision>
  <cp:lastPrinted>2023-10-23T21:52:36Z</cp:lastPrinted>
  <dcterms:created xsi:type="dcterms:W3CDTF">2023-01-03T14:32:24Z</dcterms:created>
  <dcterms:modified xsi:type="dcterms:W3CDTF">2023-10-23T22:02:51Z</dcterms:modified>
</cp:coreProperties>
</file>