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
  </p:notesMasterIdLst>
  <p:sldIdLst>
    <p:sldId id="293" r:id="rId2"/>
    <p:sldId id="29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55667-BD48-4776-A2BC-0FB4CFFC57B5}" type="datetimeFigureOut">
              <a:rPr lang="en-US" smtClean="0"/>
              <a:t>10/5/2023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164FC-1C80-4B7D-89C8-2C271A3864D3}" type="slidenum">
              <a:rPr lang="en-US" smtClean="0"/>
              <a:t>‹#›</a:t>
            </a:fld>
            <a:endParaRPr lang="en-US"/>
          </a:p>
        </p:txBody>
      </p:sp>
    </p:spTree>
    <p:extLst>
      <p:ext uri="{BB962C8B-B14F-4D97-AF65-F5344CB8AC3E}">
        <p14:creationId xmlns:p14="http://schemas.microsoft.com/office/powerpoint/2010/main" val="160141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4B82D3-4C64-411D-81F8-6AF00843E2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7426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4B82D3-4C64-411D-81F8-6AF00843E24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1199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Blank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A9B388E-AAF1-0F45-AD60-1E5E06C5713B}"/>
              </a:ext>
            </a:extLst>
          </p:cNvPr>
          <p:cNvSpPr>
            <a:spLocks noGrp="1"/>
          </p:cNvSpPr>
          <p:nvPr>
            <p:ph type="body" sz="quarter" idx="10" hasCustomPrompt="1"/>
          </p:nvPr>
        </p:nvSpPr>
        <p:spPr>
          <a:xfrm>
            <a:off x="101598" y="913704"/>
            <a:ext cx="5791181" cy="304800"/>
          </a:xfrm>
          <a:prstGeom prst="rect">
            <a:avLst/>
          </a:prstGeom>
        </p:spPr>
        <p:txBody>
          <a:bodyPr/>
          <a:lstStyle>
            <a:lvl1pPr marL="0" indent="0">
              <a:buNone/>
              <a:defRPr lang="en-US" sz="1600" b="1" kern="1200" dirty="0">
                <a:solidFill>
                  <a:schemeClr val="tx2"/>
                </a:solidFill>
                <a:latin typeface="Century Gothic" panose="020B0502020202020204" pitchFamily="34" charset="0"/>
                <a:ea typeface="+mn-ea"/>
                <a:cs typeface="+mn-cs"/>
              </a:defRPr>
            </a:lvl1pPr>
          </a:lstStyle>
          <a:p>
            <a:pPr marL="0" lvl="0" algn="l" defTabSz="1219170" rtl="0" eaLnBrk="1" latinLnBrk="0" hangingPunct="1"/>
            <a:r>
              <a:rPr lang="en-US" dirty="0"/>
              <a:t>Section 1</a:t>
            </a:r>
          </a:p>
        </p:txBody>
      </p:sp>
      <p:sp>
        <p:nvSpPr>
          <p:cNvPr id="20" name="Text Placeholder 17">
            <a:extLst>
              <a:ext uri="{FF2B5EF4-FFF2-40B4-BE49-F238E27FC236}">
                <a16:creationId xmlns:a16="http://schemas.microsoft.com/office/drawing/2014/main" id="{BFAD1E61-C3E9-E44B-86DD-563DBEBD00FC}"/>
              </a:ext>
            </a:extLst>
          </p:cNvPr>
          <p:cNvSpPr>
            <a:spLocks noGrp="1"/>
          </p:cNvSpPr>
          <p:nvPr>
            <p:ph type="body" sz="quarter" idx="12" hasCustomPrompt="1"/>
          </p:nvPr>
        </p:nvSpPr>
        <p:spPr>
          <a:xfrm>
            <a:off x="6197585" y="913704"/>
            <a:ext cx="5892784" cy="304800"/>
          </a:xfrm>
          <a:prstGeom prst="rect">
            <a:avLst/>
          </a:prstGeom>
        </p:spPr>
        <p:txBody>
          <a:bodyPr/>
          <a:lstStyle>
            <a:lvl1pPr marL="0" indent="0">
              <a:buNone/>
              <a:defRPr lang="en-US" sz="1600" b="1" kern="1200" dirty="0">
                <a:solidFill>
                  <a:schemeClr val="tx2"/>
                </a:solidFill>
                <a:latin typeface="Century Gothic" panose="020B0502020202020204" pitchFamily="34" charset="0"/>
                <a:ea typeface="+mn-ea"/>
                <a:cs typeface="+mn-cs"/>
              </a:defRPr>
            </a:lvl1pPr>
          </a:lstStyle>
          <a:p>
            <a:pPr marL="0" lvl="0" algn="l" defTabSz="1219170" rtl="0" eaLnBrk="1" latinLnBrk="0" hangingPunct="1"/>
            <a:r>
              <a:rPr lang="en-US" dirty="0"/>
              <a:t>Section 2</a:t>
            </a:r>
          </a:p>
        </p:txBody>
      </p:sp>
      <p:sp>
        <p:nvSpPr>
          <p:cNvPr id="22" name="Text Placeholder 17">
            <a:extLst>
              <a:ext uri="{FF2B5EF4-FFF2-40B4-BE49-F238E27FC236}">
                <a16:creationId xmlns:a16="http://schemas.microsoft.com/office/drawing/2014/main" id="{3791C422-50B1-F64B-A302-7CD4AD800EC8}"/>
              </a:ext>
            </a:extLst>
          </p:cNvPr>
          <p:cNvSpPr>
            <a:spLocks noGrp="1"/>
          </p:cNvSpPr>
          <p:nvPr>
            <p:ph type="body" sz="quarter" idx="14"/>
          </p:nvPr>
        </p:nvSpPr>
        <p:spPr>
          <a:xfrm>
            <a:off x="-1" y="2922392"/>
            <a:ext cx="6095985" cy="405008"/>
          </a:xfrm>
          <a:prstGeom prst="rect">
            <a:avLst/>
          </a:prstGeom>
          <a:solidFill>
            <a:schemeClr val="tx2"/>
          </a:solidFill>
        </p:spPr>
        <p:txBody>
          <a:bodyPr lIns="182880" anchor="ctr"/>
          <a:lstStyle>
            <a:lvl1pPr marL="0" indent="0">
              <a:buNone/>
              <a:defRPr lang="en-US" sz="1600" b="1" kern="1200" dirty="0">
                <a:solidFill>
                  <a:schemeClr val="bg1"/>
                </a:solidFill>
                <a:latin typeface="Century Gothic" panose="020B0502020202020204" pitchFamily="34" charset="0"/>
                <a:ea typeface="+mn-ea"/>
                <a:cs typeface="+mn-cs"/>
              </a:defRPr>
            </a:lvl1pPr>
          </a:lstStyle>
          <a:p>
            <a:pPr marL="0" lvl="0" algn="l" defTabSz="1219170" rtl="0" eaLnBrk="1" latinLnBrk="0" hangingPunct="1"/>
            <a:endParaRPr lang="en-US" dirty="0"/>
          </a:p>
        </p:txBody>
      </p:sp>
      <p:sp>
        <p:nvSpPr>
          <p:cNvPr id="24" name="Text Placeholder 17">
            <a:extLst>
              <a:ext uri="{FF2B5EF4-FFF2-40B4-BE49-F238E27FC236}">
                <a16:creationId xmlns:a16="http://schemas.microsoft.com/office/drawing/2014/main" id="{F9431134-F27E-1743-B7A1-7109E17D2F91}"/>
              </a:ext>
            </a:extLst>
          </p:cNvPr>
          <p:cNvSpPr>
            <a:spLocks noGrp="1"/>
          </p:cNvSpPr>
          <p:nvPr>
            <p:ph type="body" sz="quarter" idx="15"/>
          </p:nvPr>
        </p:nvSpPr>
        <p:spPr>
          <a:xfrm>
            <a:off x="6096000" y="2922392"/>
            <a:ext cx="6095985" cy="405008"/>
          </a:xfrm>
          <a:prstGeom prst="rect">
            <a:avLst/>
          </a:prstGeom>
          <a:solidFill>
            <a:schemeClr val="tx2"/>
          </a:solidFill>
        </p:spPr>
        <p:txBody>
          <a:bodyPr lIns="182880" anchor="ctr"/>
          <a:lstStyle>
            <a:lvl1pPr marL="0" indent="0">
              <a:buNone/>
              <a:defRPr lang="en-US" sz="1600" b="1" kern="1200" dirty="0">
                <a:solidFill>
                  <a:schemeClr val="bg1"/>
                </a:solidFill>
                <a:latin typeface="Century Gothic" panose="020B0502020202020204" pitchFamily="34" charset="0"/>
                <a:ea typeface="+mn-ea"/>
                <a:cs typeface="+mn-cs"/>
              </a:defRPr>
            </a:lvl1pPr>
          </a:lstStyle>
          <a:p>
            <a:pPr marL="0" lvl="0" algn="l" defTabSz="1219170" rtl="0" eaLnBrk="1" latinLnBrk="0" hangingPunct="1"/>
            <a:endParaRPr lang="en-US" dirty="0"/>
          </a:p>
        </p:txBody>
      </p:sp>
      <p:sp>
        <p:nvSpPr>
          <p:cNvPr id="32" name="Text Placeholder 29">
            <a:extLst>
              <a:ext uri="{FF2B5EF4-FFF2-40B4-BE49-F238E27FC236}">
                <a16:creationId xmlns:a16="http://schemas.microsoft.com/office/drawing/2014/main" id="{D1E624BE-93CE-174B-BA17-FC2E5A40E2F5}"/>
              </a:ext>
            </a:extLst>
          </p:cNvPr>
          <p:cNvSpPr>
            <a:spLocks noGrp="1"/>
          </p:cNvSpPr>
          <p:nvPr>
            <p:ph type="body" sz="quarter" idx="20"/>
          </p:nvPr>
        </p:nvSpPr>
        <p:spPr>
          <a:xfrm>
            <a:off x="101604" y="1237989"/>
            <a:ext cx="5791181" cy="1581411"/>
          </a:xfrm>
          <a:prstGeom prst="rect">
            <a:avLst/>
          </a:prstGeom>
        </p:spPr>
        <p:txBody>
          <a:bodyPr>
            <a:normAutofit/>
          </a:bodyPr>
          <a:lstStyle>
            <a:lvl1pPr marL="0" indent="0">
              <a:buNone/>
              <a:tabLst/>
              <a:defRPr sz="1333">
                <a:solidFill>
                  <a:schemeClr val="tx1"/>
                </a:solidFill>
                <a:latin typeface="Arial" panose="020B0604020202020204" pitchFamily="34" charset="0"/>
                <a:cs typeface="Arial" panose="020B0604020202020204" pitchFamily="34" charset="0"/>
              </a:defRPr>
            </a:lvl1pPr>
            <a:lvl2pPr marL="306910" indent="-150280">
              <a:tabLst/>
              <a:defRPr sz="1067" i="1">
                <a:solidFill>
                  <a:schemeClr val="tx1"/>
                </a:solidFill>
                <a:latin typeface="Arial" panose="020B0604020202020204" pitchFamily="34" charset="0"/>
                <a:cs typeface="Arial" panose="020B0604020202020204" pitchFamily="34" charset="0"/>
              </a:defRPr>
            </a:lvl2pPr>
            <a:lvl3pPr marL="463539" indent="-156629">
              <a:tabLst/>
              <a:defRPr sz="1067" i="1">
                <a:solidFill>
                  <a:schemeClr val="tx1"/>
                </a:solidFill>
                <a:latin typeface="Arial" panose="020B0604020202020204" pitchFamily="34" charset="0"/>
                <a:cs typeface="Arial" panose="020B0604020202020204" pitchFamily="34" charset="0"/>
              </a:defRPr>
            </a:lvl3pPr>
            <a:lvl4pPr marL="613818" indent="-150280">
              <a:tabLst/>
              <a:defRPr sz="1067">
                <a:solidFill>
                  <a:schemeClr val="tx1"/>
                </a:solidFill>
                <a:latin typeface="Arial" panose="020B0604020202020204" pitchFamily="34" charset="0"/>
                <a:cs typeface="Arial" panose="020B0604020202020204" pitchFamily="34" charset="0"/>
              </a:defRPr>
            </a:lvl4pPr>
            <a:lvl5pPr marL="761981" indent="-148163">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Text Placeholder 29">
            <a:extLst>
              <a:ext uri="{FF2B5EF4-FFF2-40B4-BE49-F238E27FC236}">
                <a16:creationId xmlns:a16="http://schemas.microsoft.com/office/drawing/2014/main" id="{6686EEC8-4E48-D14F-96D9-DF9B3F169855}"/>
              </a:ext>
            </a:extLst>
          </p:cNvPr>
          <p:cNvSpPr>
            <a:spLocks noGrp="1"/>
          </p:cNvSpPr>
          <p:nvPr>
            <p:ph type="body" sz="quarter" idx="21"/>
          </p:nvPr>
        </p:nvSpPr>
        <p:spPr>
          <a:xfrm>
            <a:off x="6197599" y="1237989"/>
            <a:ext cx="5892784" cy="1581411"/>
          </a:xfrm>
          <a:prstGeom prst="rect">
            <a:avLst/>
          </a:prstGeom>
          <a:noFill/>
        </p:spPr>
        <p:txBody>
          <a:bodyPr numCol="2">
            <a:normAutofit/>
          </a:bodyPr>
          <a:lstStyle>
            <a:lvl1pPr marL="228594" indent="-228594">
              <a:spcBef>
                <a:spcPts val="0"/>
              </a:spcBef>
              <a:buFont typeface="Arial" panose="020B0604020202020204" pitchFamily="34" charset="0"/>
              <a:buChar char="•"/>
              <a:tabLst/>
              <a:defRPr sz="1333">
                <a:solidFill>
                  <a:schemeClr val="tx1"/>
                </a:solidFill>
                <a:latin typeface="Arial" panose="020B0604020202020204" pitchFamily="34" charset="0"/>
                <a:cs typeface="Arial" panose="020B0604020202020204" pitchFamily="34" charset="0"/>
              </a:defRPr>
            </a:lvl1pPr>
            <a:lvl2pPr marL="306910" indent="-150280">
              <a:tabLst/>
              <a:defRPr sz="1067" i="1">
                <a:solidFill>
                  <a:schemeClr val="tx1"/>
                </a:solidFill>
                <a:latin typeface="Arial" panose="020B0604020202020204" pitchFamily="34" charset="0"/>
                <a:cs typeface="Arial" panose="020B0604020202020204" pitchFamily="34" charset="0"/>
              </a:defRPr>
            </a:lvl2pPr>
            <a:lvl3pPr marL="463539" indent="-156629">
              <a:tabLst/>
              <a:defRPr sz="1067" i="1">
                <a:solidFill>
                  <a:schemeClr val="tx1"/>
                </a:solidFill>
                <a:latin typeface="Arial" panose="020B0604020202020204" pitchFamily="34" charset="0"/>
                <a:cs typeface="Arial" panose="020B0604020202020204" pitchFamily="34" charset="0"/>
              </a:defRPr>
            </a:lvl3pPr>
            <a:lvl4pPr marL="613818" indent="-150280">
              <a:tabLst/>
              <a:defRPr sz="1067">
                <a:solidFill>
                  <a:schemeClr val="tx1"/>
                </a:solidFill>
                <a:latin typeface="Arial" panose="020B0604020202020204" pitchFamily="34" charset="0"/>
                <a:cs typeface="Arial" panose="020B0604020202020204" pitchFamily="34" charset="0"/>
              </a:defRPr>
            </a:lvl4pPr>
            <a:lvl5pPr marL="761981" indent="-148163">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Text Placeholder 29">
            <a:extLst>
              <a:ext uri="{FF2B5EF4-FFF2-40B4-BE49-F238E27FC236}">
                <a16:creationId xmlns:a16="http://schemas.microsoft.com/office/drawing/2014/main" id="{487612FE-8F37-BF40-A580-913B48A92BC8}"/>
              </a:ext>
            </a:extLst>
          </p:cNvPr>
          <p:cNvSpPr>
            <a:spLocks noGrp="1"/>
          </p:cNvSpPr>
          <p:nvPr>
            <p:ph type="body" sz="quarter" idx="18"/>
          </p:nvPr>
        </p:nvSpPr>
        <p:spPr>
          <a:xfrm>
            <a:off x="101597" y="3442569"/>
            <a:ext cx="5791172" cy="3034431"/>
          </a:xfrm>
          <a:prstGeom prst="rect">
            <a:avLst/>
          </a:prstGeom>
          <a:noFill/>
        </p:spPr>
        <p:txBody>
          <a:bodyPr>
            <a:normAutofit/>
          </a:bodyPr>
          <a:lstStyle>
            <a:lvl1pPr marL="0" indent="-156629">
              <a:spcBef>
                <a:spcPts val="267"/>
              </a:spcBef>
              <a:tabLst/>
              <a:defRPr sz="1333">
                <a:solidFill>
                  <a:schemeClr val="tx1"/>
                </a:solidFill>
                <a:latin typeface="Arial" panose="020B0604020202020204" pitchFamily="34" charset="0"/>
                <a:cs typeface="Arial" panose="020B0604020202020204" pitchFamily="34" charset="0"/>
              </a:defRPr>
            </a:lvl1pPr>
            <a:lvl2pPr marL="306910" indent="-150280">
              <a:spcBef>
                <a:spcPts val="267"/>
              </a:spcBef>
              <a:tabLst/>
              <a:defRPr sz="1067" i="1">
                <a:solidFill>
                  <a:schemeClr val="tx1"/>
                </a:solidFill>
                <a:latin typeface="Arial" panose="020B0604020202020204" pitchFamily="34" charset="0"/>
                <a:cs typeface="Arial" panose="020B0604020202020204" pitchFamily="34" charset="0"/>
              </a:defRPr>
            </a:lvl2pPr>
            <a:lvl3pPr marL="463539" indent="-148163">
              <a:spcBef>
                <a:spcPts val="267"/>
              </a:spcBef>
              <a:tabLst/>
              <a:defRPr sz="1067" i="1">
                <a:solidFill>
                  <a:schemeClr val="tx1"/>
                </a:solidFill>
                <a:latin typeface="Arial" panose="020B0604020202020204" pitchFamily="34" charset="0"/>
                <a:cs typeface="Arial" panose="020B0604020202020204" pitchFamily="34" charset="0"/>
              </a:defRPr>
            </a:lvl3pPr>
            <a:lvl4pPr marL="613818" indent="-150280">
              <a:spcBef>
                <a:spcPts val="267"/>
              </a:spcBef>
              <a:tabLst/>
              <a:defRPr sz="1067">
                <a:solidFill>
                  <a:schemeClr val="tx1"/>
                </a:solidFill>
                <a:latin typeface="Arial" panose="020B0604020202020204" pitchFamily="34" charset="0"/>
                <a:cs typeface="Arial" panose="020B0604020202020204" pitchFamily="34" charset="0"/>
              </a:defRPr>
            </a:lvl4pPr>
            <a:lvl5pPr marL="761981" indent="-139697">
              <a:spcBef>
                <a:spcPts val="267"/>
              </a:spcBef>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 Placeholder 29">
            <a:extLst>
              <a:ext uri="{FF2B5EF4-FFF2-40B4-BE49-F238E27FC236}">
                <a16:creationId xmlns:a16="http://schemas.microsoft.com/office/drawing/2014/main" id="{445BB888-EF21-474B-B552-77BE6EE4CCEF}"/>
              </a:ext>
            </a:extLst>
          </p:cNvPr>
          <p:cNvSpPr>
            <a:spLocks noGrp="1"/>
          </p:cNvSpPr>
          <p:nvPr>
            <p:ph type="body" sz="quarter" idx="19"/>
          </p:nvPr>
        </p:nvSpPr>
        <p:spPr>
          <a:xfrm>
            <a:off x="6197599" y="3442569"/>
            <a:ext cx="5892764" cy="3034431"/>
          </a:xfrm>
          <a:prstGeom prst="rect">
            <a:avLst/>
          </a:prstGeom>
          <a:noFill/>
        </p:spPr>
        <p:txBody>
          <a:bodyPr>
            <a:normAutofit/>
          </a:bodyPr>
          <a:lstStyle>
            <a:lvl1pPr marL="0" indent="-156629">
              <a:spcBef>
                <a:spcPts val="267"/>
              </a:spcBef>
              <a:tabLst/>
              <a:defRPr sz="1333">
                <a:solidFill>
                  <a:schemeClr val="tx1"/>
                </a:solidFill>
                <a:latin typeface="Arial" panose="020B0604020202020204" pitchFamily="34" charset="0"/>
                <a:cs typeface="Arial" panose="020B0604020202020204" pitchFamily="34" charset="0"/>
              </a:defRPr>
            </a:lvl1pPr>
            <a:lvl2pPr marL="306910" indent="-150280">
              <a:spcBef>
                <a:spcPts val="267"/>
              </a:spcBef>
              <a:tabLst/>
              <a:defRPr sz="1067" i="1">
                <a:solidFill>
                  <a:schemeClr val="tx1"/>
                </a:solidFill>
                <a:latin typeface="Arial" panose="020B0604020202020204" pitchFamily="34" charset="0"/>
                <a:cs typeface="Arial" panose="020B0604020202020204" pitchFamily="34" charset="0"/>
              </a:defRPr>
            </a:lvl2pPr>
            <a:lvl3pPr marL="463539" indent="-148163">
              <a:spcBef>
                <a:spcPts val="267"/>
              </a:spcBef>
              <a:tabLst/>
              <a:defRPr sz="1067" i="1">
                <a:solidFill>
                  <a:schemeClr val="tx1"/>
                </a:solidFill>
                <a:latin typeface="Arial" panose="020B0604020202020204" pitchFamily="34" charset="0"/>
                <a:cs typeface="Arial" panose="020B0604020202020204" pitchFamily="34" charset="0"/>
              </a:defRPr>
            </a:lvl3pPr>
            <a:lvl4pPr marL="613818" indent="-150280">
              <a:spcBef>
                <a:spcPts val="267"/>
              </a:spcBef>
              <a:tabLst/>
              <a:defRPr sz="1067">
                <a:solidFill>
                  <a:schemeClr val="tx1"/>
                </a:solidFill>
                <a:latin typeface="Arial" panose="020B0604020202020204" pitchFamily="34" charset="0"/>
                <a:cs typeface="Arial" panose="020B0604020202020204" pitchFamily="34" charset="0"/>
              </a:defRPr>
            </a:lvl4pPr>
            <a:lvl5pPr marL="761981" indent="-139697">
              <a:spcBef>
                <a:spcPts val="267"/>
              </a:spcBef>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 name="Title 40">
            <a:extLst>
              <a:ext uri="{FF2B5EF4-FFF2-40B4-BE49-F238E27FC236}">
                <a16:creationId xmlns:a16="http://schemas.microsoft.com/office/drawing/2014/main" id="{FC202B82-CC00-FF44-BABF-6FFFF1095351}"/>
              </a:ext>
            </a:extLst>
          </p:cNvPr>
          <p:cNvSpPr>
            <a:spLocks noGrp="1"/>
          </p:cNvSpPr>
          <p:nvPr>
            <p:ph type="title"/>
          </p:nvPr>
        </p:nvSpPr>
        <p:spPr>
          <a:xfrm>
            <a:off x="101596" y="179192"/>
            <a:ext cx="9652000" cy="405008"/>
          </a:xfrm>
          <a:prstGeom prst="rect">
            <a:avLst/>
          </a:prstGeom>
        </p:spPr>
        <p:txBody>
          <a:bodyPr anchor="ctr"/>
          <a:lstStyle>
            <a:lvl1pPr>
              <a:defRPr sz="2400" b="1">
                <a:solidFill>
                  <a:schemeClr val="bg1"/>
                </a:solidFill>
                <a:latin typeface="Century Gothic" panose="020B0502020202020204" pitchFamily="34" charset="0"/>
              </a:defRPr>
            </a:lvl1pPr>
          </a:lstStyle>
          <a:p>
            <a:r>
              <a:rPr lang="en-US" dirty="0"/>
              <a:t>Click to edit Master title style</a:t>
            </a:r>
          </a:p>
        </p:txBody>
      </p:sp>
    </p:spTree>
    <p:extLst>
      <p:ext uri="{BB962C8B-B14F-4D97-AF65-F5344CB8AC3E}">
        <p14:creationId xmlns:p14="http://schemas.microsoft.com/office/powerpoint/2010/main" val="3748205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Blank Layou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A9B388E-AAF1-0F45-AD60-1E5E06C5713B}"/>
              </a:ext>
            </a:extLst>
          </p:cNvPr>
          <p:cNvSpPr>
            <a:spLocks noGrp="1"/>
          </p:cNvSpPr>
          <p:nvPr>
            <p:ph type="body" sz="quarter" idx="10" hasCustomPrompt="1"/>
          </p:nvPr>
        </p:nvSpPr>
        <p:spPr>
          <a:xfrm>
            <a:off x="101600" y="913704"/>
            <a:ext cx="5791161" cy="304800"/>
          </a:xfrm>
          <a:prstGeom prst="rect">
            <a:avLst/>
          </a:prstGeom>
        </p:spPr>
        <p:txBody>
          <a:bodyPr/>
          <a:lstStyle>
            <a:lvl1pPr marL="0" indent="0">
              <a:buNone/>
              <a:defRPr lang="en-US" sz="1600" b="1" kern="1200" dirty="0">
                <a:solidFill>
                  <a:schemeClr val="tx2"/>
                </a:solidFill>
                <a:latin typeface="Century Gothic" panose="020B0502020202020204" pitchFamily="34" charset="0"/>
                <a:ea typeface="+mn-ea"/>
                <a:cs typeface="+mn-cs"/>
              </a:defRPr>
            </a:lvl1pPr>
          </a:lstStyle>
          <a:p>
            <a:pPr marL="0" lvl="0" algn="l" defTabSz="1219170" rtl="0" eaLnBrk="1" latinLnBrk="0" hangingPunct="1"/>
            <a:r>
              <a:rPr lang="en-US" dirty="0"/>
              <a:t>Section 1</a:t>
            </a:r>
          </a:p>
        </p:txBody>
      </p:sp>
      <p:sp>
        <p:nvSpPr>
          <p:cNvPr id="20" name="Text Placeholder 17">
            <a:extLst>
              <a:ext uri="{FF2B5EF4-FFF2-40B4-BE49-F238E27FC236}">
                <a16:creationId xmlns:a16="http://schemas.microsoft.com/office/drawing/2014/main" id="{BFAD1E61-C3E9-E44B-86DD-563DBEBD00FC}"/>
              </a:ext>
            </a:extLst>
          </p:cNvPr>
          <p:cNvSpPr>
            <a:spLocks noGrp="1"/>
          </p:cNvSpPr>
          <p:nvPr>
            <p:ph type="body" sz="quarter" idx="12" hasCustomPrompt="1"/>
          </p:nvPr>
        </p:nvSpPr>
        <p:spPr>
          <a:xfrm>
            <a:off x="6197580" y="913704"/>
            <a:ext cx="5892800" cy="304800"/>
          </a:xfrm>
          <a:prstGeom prst="rect">
            <a:avLst/>
          </a:prstGeom>
        </p:spPr>
        <p:txBody>
          <a:bodyPr/>
          <a:lstStyle>
            <a:lvl1pPr marL="0" indent="0">
              <a:buNone/>
              <a:defRPr lang="en-US" sz="1600" b="1" kern="1200" dirty="0">
                <a:solidFill>
                  <a:schemeClr val="tx2"/>
                </a:solidFill>
                <a:latin typeface="Century Gothic" panose="020B0502020202020204" pitchFamily="34" charset="0"/>
                <a:ea typeface="+mn-ea"/>
                <a:cs typeface="+mn-cs"/>
              </a:defRPr>
            </a:lvl1pPr>
          </a:lstStyle>
          <a:p>
            <a:pPr marL="0" lvl="0" algn="l" defTabSz="1219170" rtl="0" eaLnBrk="1" latinLnBrk="0" hangingPunct="1"/>
            <a:r>
              <a:rPr lang="en-US" dirty="0"/>
              <a:t>Section 2</a:t>
            </a:r>
          </a:p>
        </p:txBody>
      </p:sp>
      <p:sp>
        <p:nvSpPr>
          <p:cNvPr id="32" name="Text Placeholder 29">
            <a:extLst>
              <a:ext uri="{FF2B5EF4-FFF2-40B4-BE49-F238E27FC236}">
                <a16:creationId xmlns:a16="http://schemas.microsoft.com/office/drawing/2014/main" id="{D1E624BE-93CE-174B-BA17-FC2E5A40E2F5}"/>
              </a:ext>
            </a:extLst>
          </p:cNvPr>
          <p:cNvSpPr>
            <a:spLocks noGrp="1"/>
          </p:cNvSpPr>
          <p:nvPr>
            <p:ph type="body" sz="quarter" idx="20"/>
          </p:nvPr>
        </p:nvSpPr>
        <p:spPr>
          <a:xfrm>
            <a:off x="101605" y="1237989"/>
            <a:ext cx="5791161" cy="3175660"/>
          </a:xfrm>
          <a:prstGeom prst="rect">
            <a:avLst/>
          </a:prstGeom>
        </p:spPr>
        <p:txBody>
          <a:bodyPr>
            <a:normAutofit/>
          </a:bodyPr>
          <a:lstStyle>
            <a:lvl1pPr marL="156629" indent="-156629">
              <a:spcBef>
                <a:spcPts val="200"/>
              </a:spcBef>
              <a:buFont typeface="Arial" panose="020B0604020202020204" pitchFamily="34" charset="0"/>
              <a:buChar char="•"/>
              <a:tabLst/>
              <a:defRPr sz="1333">
                <a:solidFill>
                  <a:schemeClr val="tx1"/>
                </a:solidFill>
                <a:latin typeface="Arial" panose="020B0604020202020204" pitchFamily="34" charset="0"/>
                <a:cs typeface="Arial" panose="020B0604020202020204" pitchFamily="34" charset="0"/>
              </a:defRPr>
            </a:lvl1pPr>
            <a:lvl2pPr marL="306910" indent="-150280">
              <a:lnSpc>
                <a:spcPct val="100000"/>
              </a:lnSpc>
              <a:spcBef>
                <a:spcPts val="0"/>
              </a:spcBef>
              <a:tabLst/>
              <a:defRPr sz="1067" i="1">
                <a:solidFill>
                  <a:schemeClr val="tx1"/>
                </a:solidFill>
                <a:latin typeface="Arial" panose="020B0604020202020204" pitchFamily="34" charset="0"/>
                <a:cs typeface="Arial" panose="020B0604020202020204" pitchFamily="34" charset="0"/>
              </a:defRPr>
            </a:lvl2pPr>
            <a:lvl3pPr marL="463539" indent="-156629">
              <a:lnSpc>
                <a:spcPct val="100000"/>
              </a:lnSpc>
              <a:spcBef>
                <a:spcPts val="0"/>
              </a:spcBef>
              <a:tabLst/>
              <a:defRPr sz="1067" i="1">
                <a:solidFill>
                  <a:schemeClr val="tx1"/>
                </a:solidFill>
                <a:latin typeface="Arial" panose="020B0604020202020204" pitchFamily="34" charset="0"/>
                <a:cs typeface="Arial" panose="020B0604020202020204" pitchFamily="34" charset="0"/>
              </a:defRPr>
            </a:lvl3pPr>
            <a:lvl4pPr marL="613818" indent="-150280">
              <a:lnSpc>
                <a:spcPct val="100000"/>
              </a:lnSpc>
              <a:spcBef>
                <a:spcPts val="0"/>
              </a:spcBef>
              <a:tabLst/>
              <a:defRPr sz="1067">
                <a:solidFill>
                  <a:schemeClr val="tx1"/>
                </a:solidFill>
                <a:latin typeface="Arial" panose="020B0604020202020204" pitchFamily="34" charset="0"/>
                <a:cs typeface="Arial" panose="020B0604020202020204" pitchFamily="34" charset="0"/>
              </a:defRPr>
            </a:lvl4pPr>
            <a:lvl5pPr marL="761981" indent="-148163">
              <a:lnSpc>
                <a:spcPct val="100000"/>
              </a:lnSpc>
              <a:spcBef>
                <a:spcPts val="0"/>
              </a:spcBef>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 name="Title 40">
            <a:extLst>
              <a:ext uri="{FF2B5EF4-FFF2-40B4-BE49-F238E27FC236}">
                <a16:creationId xmlns:a16="http://schemas.microsoft.com/office/drawing/2014/main" id="{FC202B82-CC00-FF44-BABF-6FFFF1095351}"/>
              </a:ext>
            </a:extLst>
          </p:cNvPr>
          <p:cNvSpPr>
            <a:spLocks noGrp="1"/>
          </p:cNvSpPr>
          <p:nvPr>
            <p:ph type="title"/>
          </p:nvPr>
        </p:nvSpPr>
        <p:spPr>
          <a:xfrm>
            <a:off x="121905" y="183541"/>
            <a:ext cx="9652000" cy="405008"/>
          </a:xfrm>
          <a:prstGeom prst="rect">
            <a:avLst/>
          </a:prstGeom>
        </p:spPr>
        <p:txBody>
          <a:bodyPr anchor="ctr"/>
          <a:lstStyle>
            <a:lvl1pPr>
              <a:defRPr sz="3200" b="1">
                <a:solidFill>
                  <a:schemeClr val="bg1"/>
                </a:solidFill>
                <a:latin typeface="Century Gothic" panose="020B0502020202020204" pitchFamily="34" charset="0"/>
              </a:defRPr>
            </a:lvl1pPr>
          </a:lstStyle>
          <a:p>
            <a:r>
              <a:rPr lang="en-US" dirty="0"/>
              <a:t>Click to edit Master title style</a:t>
            </a:r>
          </a:p>
        </p:txBody>
      </p:sp>
      <p:sp>
        <p:nvSpPr>
          <p:cNvPr id="12" name="Text Placeholder 42">
            <a:extLst>
              <a:ext uri="{FF2B5EF4-FFF2-40B4-BE49-F238E27FC236}">
                <a16:creationId xmlns:a16="http://schemas.microsoft.com/office/drawing/2014/main" id="{1BD052D3-27B1-CB4F-A191-05A7DA5E2419}"/>
              </a:ext>
            </a:extLst>
          </p:cNvPr>
          <p:cNvSpPr>
            <a:spLocks noGrp="1"/>
          </p:cNvSpPr>
          <p:nvPr>
            <p:ph type="body" sz="quarter" idx="22"/>
          </p:nvPr>
        </p:nvSpPr>
        <p:spPr>
          <a:xfrm>
            <a:off x="0" y="4565396"/>
            <a:ext cx="12192000" cy="404283"/>
          </a:xfrm>
          <a:prstGeom prst="rect">
            <a:avLst/>
          </a:prstGeom>
          <a:solidFill>
            <a:schemeClr val="tx2"/>
          </a:solidFill>
        </p:spPr>
        <p:txBody>
          <a:bodyPr anchor="ctr"/>
          <a:lstStyle>
            <a:lvl1pPr marL="0" indent="0" algn="ctr">
              <a:buNone/>
              <a:defRPr sz="1867" b="1">
                <a:solidFill>
                  <a:schemeClr val="bg1"/>
                </a:solidFill>
                <a:latin typeface="Century Gothic" panose="020B0502020202020204" pitchFamily="34" charset="0"/>
              </a:defRPr>
            </a:lvl1pPr>
          </a:lstStyle>
          <a:p>
            <a:pPr lvl="0"/>
            <a:endParaRPr lang="en-US" dirty="0"/>
          </a:p>
        </p:txBody>
      </p:sp>
      <p:sp>
        <p:nvSpPr>
          <p:cNvPr id="13" name="Text Placeholder 17">
            <a:extLst>
              <a:ext uri="{FF2B5EF4-FFF2-40B4-BE49-F238E27FC236}">
                <a16:creationId xmlns:a16="http://schemas.microsoft.com/office/drawing/2014/main" id="{E2F47DCE-2283-B841-9241-06A8E3125F22}"/>
              </a:ext>
            </a:extLst>
          </p:cNvPr>
          <p:cNvSpPr>
            <a:spLocks noGrp="1"/>
          </p:cNvSpPr>
          <p:nvPr>
            <p:ph type="body" sz="quarter" idx="23" hasCustomPrompt="1"/>
          </p:nvPr>
        </p:nvSpPr>
        <p:spPr>
          <a:xfrm>
            <a:off x="101599" y="5045552"/>
            <a:ext cx="5791151" cy="304800"/>
          </a:xfrm>
          <a:prstGeom prst="rect">
            <a:avLst/>
          </a:prstGeom>
        </p:spPr>
        <p:txBody>
          <a:bodyPr/>
          <a:lstStyle>
            <a:lvl1pPr marL="0" indent="0">
              <a:buNone/>
              <a:defRPr lang="en-US" sz="1600" b="1" kern="1200" dirty="0">
                <a:solidFill>
                  <a:schemeClr val="tx2"/>
                </a:solidFill>
                <a:latin typeface="Century Gothic" panose="020B0502020202020204" pitchFamily="34" charset="0"/>
                <a:ea typeface="+mn-ea"/>
                <a:cs typeface="+mn-cs"/>
              </a:defRPr>
            </a:lvl1pPr>
          </a:lstStyle>
          <a:p>
            <a:pPr marL="0" lvl="0" algn="l" defTabSz="1219170" rtl="0" eaLnBrk="1" latinLnBrk="0" hangingPunct="1"/>
            <a:r>
              <a:rPr lang="en-US" dirty="0"/>
              <a:t>Section 3</a:t>
            </a:r>
          </a:p>
        </p:txBody>
      </p:sp>
      <p:sp>
        <p:nvSpPr>
          <p:cNvPr id="14" name="Text Placeholder 17">
            <a:extLst>
              <a:ext uri="{FF2B5EF4-FFF2-40B4-BE49-F238E27FC236}">
                <a16:creationId xmlns:a16="http://schemas.microsoft.com/office/drawing/2014/main" id="{9B0AD3EF-A08C-D746-B533-4B50712B9ACC}"/>
              </a:ext>
            </a:extLst>
          </p:cNvPr>
          <p:cNvSpPr>
            <a:spLocks noGrp="1"/>
          </p:cNvSpPr>
          <p:nvPr>
            <p:ph type="body" sz="quarter" idx="24" hasCustomPrompt="1"/>
          </p:nvPr>
        </p:nvSpPr>
        <p:spPr>
          <a:xfrm>
            <a:off x="6197597" y="5045552"/>
            <a:ext cx="5892775" cy="304800"/>
          </a:xfrm>
          <a:prstGeom prst="rect">
            <a:avLst/>
          </a:prstGeom>
        </p:spPr>
        <p:txBody>
          <a:bodyPr/>
          <a:lstStyle>
            <a:lvl1pPr marL="0" indent="0">
              <a:buNone/>
              <a:defRPr lang="en-US" sz="1600" b="1" kern="1200" dirty="0">
                <a:solidFill>
                  <a:schemeClr val="tx2"/>
                </a:solidFill>
                <a:latin typeface="Century Gothic" panose="020B0502020202020204" pitchFamily="34" charset="0"/>
                <a:ea typeface="+mn-ea"/>
                <a:cs typeface="+mn-cs"/>
              </a:defRPr>
            </a:lvl1pPr>
          </a:lstStyle>
          <a:p>
            <a:pPr marL="0" lvl="0" algn="l" defTabSz="1219170" rtl="0" eaLnBrk="1" latinLnBrk="0" hangingPunct="1"/>
            <a:r>
              <a:rPr lang="en-US" dirty="0"/>
              <a:t>Section 4</a:t>
            </a:r>
          </a:p>
        </p:txBody>
      </p:sp>
      <p:sp>
        <p:nvSpPr>
          <p:cNvPr id="19" name="Text Placeholder 29">
            <a:extLst>
              <a:ext uri="{FF2B5EF4-FFF2-40B4-BE49-F238E27FC236}">
                <a16:creationId xmlns:a16="http://schemas.microsoft.com/office/drawing/2014/main" id="{A6E7C236-70F6-7144-A272-E0625F5344EE}"/>
              </a:ext>
            </a:extLst>
          </p:cNvPr>
          <p:cNvSpPr>
            <a:spLocks noGrp="1"/>
          </p:cNvSpPr>
          <p:nvPr>
            <p:ph type="body" sz="quarter" idx="27"/>
          </p:nvPr>
        </p:nvSpPr>
        <p:spPr>
          <a:xfrm>
            <a:off x="6197596" y="1237989"/>
            <a:ext cx="5892800" cy="3175660"/>
          </a:xfrm>
          <a:prstGeom prst="rect">
            <a:avLst/>
          </a:prstGeom>
        </p:spPr>
        <p:txBody>
          <a:bodyPr>
            <a:normAutofit/>
          </a:bodyPr>
          <a:lstStyle>
            <a:lvl1pPr marL="156629" indent="-156629">
              <a:spcBef>
                <a:spcPts val="200"/>
              </a:spcBef>
              <a:buFont typeface="Arial" panose="020B0604020202020204" pitchFamily="34" charset="0"/>
              <a:buChar char="•"/>
              <a:tabLst/>
              <a:defRPr sz="1333">
                <a:solidFill>
                  <a:schemeClr val="tx1"/>
                </a:solidFill>
                <a:latin typeface="Arial" panose="020B0604020202020204" pitchFamily="34" charset="0"/>
                <a:cs typeface="Arial" panose="020B0604020202020204" pitchFamily="34" charset="0"/>
              </a:defRPr>
            </a:lvl1pPr>
            <a:lvl2pPr marL="306910" indent="-150280">
              <a:lnSpc>
                <a:spcPct val="100000"/>
              </a:lnSpc>
              <a:spcBef>
                <a:spcPts val="0"/>
              </a:spcBef>
              <a:tabLst/>
              <a:defRPr sz="1067" i="1">
                <a:solidFill>
                  <a:schemeClr val="tx1"/>
                </a:solidFill>
                <a:latin typeface="Arial" panose="020B0604020202020204" pitchFamily="34" charset="0"/>
                <a:cs typeface="Arial" panose="020B0604020202020204" pitchFamily="34" charset="0"/>
              </a:defRPr>
            </a:lvl2pPr>
            <a:lvl3pPr marL="463539" indent="-156629">
              <a:lnSpc>
                <a:spcPct val="100000"/>
              </a:lnSpc>
              <a:spcBef>
                <a:spcPts val="0"/>
              </a:spcBef>
              <a:tabLst/>
              <a:defRPr sz="1067" i="1">
                <a:solidFill>
                  <a:schemeClr val="tx1"/>
                </a:solidFill>
                <a:latin typeface="Arial" panose="020B0604020202020204" pitchFamily="34" charset="0"/>
                <a:cs typeface="Arial" panose="020B0604020202020204" pitchFamily="34" charset="0"/>
              </a:defRPr>
            </a:lvl3pPr>
            <a:lvl4pPr marL="613818" indent="-150280">
              <a:lnSpc>
                <a:spcPct val="100000"/>
              </a:lnSpc>
              <a:spcBef>
                <a:spcPts val="0"/>
              </a:spcBef>
              <a:tabLst/>
              <a:defRPr sz="1067">
                <a:solidFill>
                  <a:schemeClr val="tx1"/>
                </a:solidFill>
                <a:latin typeface="Arial" panose="020B0604020202020204" pitchFamily="34" charset="0"/>
                <a:cs typeface="Arial" panose="020B0604020202020204" pitchFamily="34" charset="0"/>
              </a:defRPr>
            </a:lvl4pPr>
            <a:lvl5pPr marL="761981" indent="-148163">
              <a:lnSpc>
                <a:spcPct val="100000"/>
              </a:lnSpc>
              <a:spcBef>
                <a:spcPts val="0"/>
              </a:spcBef>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29">
            <a:extLst>
              <a:ext uri="{FF2B5EF4-FFF2-40B4-BE49-F238E27FC236}">
                <a16:creationId xmlns:a16="http://schemas.microsoft.com/office/drawing/2014/main" id="{488A0B02-5195-4642-A141-3C04962E5203}"/>
              </a:ext>
            </a:extLst>
          </p:cNvPr>
          <p:cNvSpPr>
            <a:spLocks noGrp="1"/>
          </p:cNvSpPr>
          <p:nvPr>
            <p:ph type="body" sz="quarter" idx="28"/>
          </p:nvPr>
        </p:nvSpPr>
        <p:spPr>
          <a:xfrm>
            <a:off x="101586" y="5359400"/>
            <a:ext cx="5791169" cy="1117600"/>
          </a:xfrm>
          <a:prstGeom prst="rect">
            <a:avLst/>
          </a:prstGeom>
        </p:spPr>
        <p:txBody>
          <a:bodyPr>
            <a:noAutofit/>
          </a:bodyPr>
          <a:lstStyle>
            <a:lvl1pPr marL="156629" indent="-156629">
              <a:spcBef>
                <a:spcPts val="200"/>
              </a:spcBef>
              <a:buFont typeface="Arial" panose="020B0604020202020204" pitchFamily="34" charset="0"/>
              <a:buChar char="•"/>
              <a:tabLst/>
              <a:defRPr sz="1333">
                <a:solidFill>
                  <a:schemeClr val="tx1"/>
                </a:solidFill>
                <a:latin typeface="Arial" panose="020B0604020202020204" pitchFamily="34" charset="0"/>
                <a:cs typeface="Arial" panose="020B0604020202020204" pitchFamily="34" charset="0"/>
              </a:defRPr>
            </a:lvl1pPr>
            <a:lvl2pPr marL="306910" indent="-150280">
              <a:lnSpc>
                <a:spcPct val="100000"/>
              </a:lnSpc>
              <a:spcBef>
                <a:spcPts val="0"/>
              </a:spcBef>
              <a:tabLst/>
              <a:defRPr sz="1067" i="1">
                <a:solidFill>
                  <a:schemeClr val="tx1"/>
                </a:solidFill>
                <a:latin typeface="Arial" panose="020B0604020202020204" pitchFamily="34" charset="0"/>
                <a:cs typeface="Arial" panose="020B0604020202020204" pitchFamily="34" charset="0"/>
              </a:defRPr>
            </a:lvl2pPr>
            <a:lvl3pPr marL="463539" indent="-156629">
              <a:lnSpc>
                <a:spcPct val="100000"/>
              </a:lnSpc>
              <a:spcBef>
                <a:spcPts val="0"/>
              </a:spcBef>
              <a:tabLst/>
              <a:defRPr sz="1067" i="1">
                <a:solidFill>
                  <a:schemeClr val="tx1"/>
                </a:solidFill>
                <a:latin typeface="Arial" panose="020B0604020202020204" pitchFamily="34" charset="0"/>
                <a:cs typeface="Arial" panose="020B0604020202020204" pitchFamily="34" charset="0"/>
              </a:defRPr>
            </a:lvl3pPr>
            <a:lvl4pPr marL="613818" indent="-150280">
              <a:lnSpc>
                <a:spcPct val="100000"/>
              </a:lnSpc>
              <a:spcBef>
                <a:spcPts val="0"/>
              </a:spcBef>
              <a:tabLst/>
              <a:defRPr sz="1067">
                <a:solidFill>
                  <a:schemeClr val="tx1"/>
                </a:solidFill>
                <a:latin typeface="Arial" panose="020B0604020202020204" pitchFamily="34" charset="0"/>
                <a:cs typeface="Arial" panose="020B0604020202020204" pitchFamily="34" charset="0"/>
              </a:defRPr>
            </a:lvl4pPr>
            <a:lvl5pPr marL="761981" indent="-148163">
              <a:lnSpc>
                <a:spcPct val="100000"/>
              </a:lnSpc>
              <a:spcBef>
                <a:spcPts val="0"/>
              </a:spcBef>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9">
            <a:extLst>
              <a:ext uri="{FF2B5EF4-FFF2-40B4-BE49-F238E27FC236}">
                <a16:creationId xmlns:a16="http://schemas.microsoft.com/office/drawing/2014/main" id="{275F1AF2-7691-4E44-9B91-CEFB90710FEE}"/>
              </a:ext>
            </a:extLst>
          </p:cNvPr>
          <p:cNvSpPr>
            <a:spLocks noGrp="1"/>
          </p:cNvSpPr>
          <p:nvPr>
            <p:ph type="body" sz="quarter" idx="29"/>
          </p:nvPr>
        </p:nvSpPr>
        <p:spPr>
          <a:xfrm>
            <a:off x="6197601" y="5359400"/>
            <a:ext cx="5892775" cy="1117600"/>
          </a:xfrm>
          <a:prstGeom prst="rect">
            <a:avLst/>
          </a:prstGeom>
        </p:spPr>
        <p:txBody>
          <a:bodyPr>
            <a:noAutofit/>
          </a:bodyPr>
          <a:lstStyle>
            <a:lvl1pPr marL="156629" indent="-156629">
              <a:spcBef>
                <a:spcPts val="200"/>
              </a:spcBef>
              <a:buFont typeface="Arial" panose="020B0604020202020204" pitchFamily="34" charset="0"/>
              <a:buChar char="•"/>
              <a:tabLst/>
              <a:defRPr sz="1333">
                <a:solidFill>
                  <a:schemeClr val="tx1"/>
                </a:solidFill>
                <a:latin typeface="Arial" panose="020B0604020202020204" pitchFamily="34" charset="0"/>
                <a:cs typeface="Arial" panose="020B0604020202020204" pitchFamily="34" charset="0"/>
              </a:defRPr>
            </a:lvl1pPr>
            <a:lvl2pPr marL="306910" indent="-150280">
              <a:lnSpc>
                <a:spcPct val="100000"/>
              </a:lnSpc>
              <a:spcBef>
                <a:spcPts val="0"/>
              </a:spcBef>
              <a:tabLst/>
              <a:defRPr sz="1067" i="1">
                <a:solidFill>
                  <a:schemeClr val="tx1"/>
                </a:solidFill>
                <a:latin typeface="Arial" panose="020B0604020202020204" pitchFamily="34" charset="0"/>
                <a:cs typeface="Arial" panose="020B0604020202020204" pitchFamily="34" charset="0"/>
              </a:defRPr>
            </a:lvl2pPr>
            <a:lvl3pPr marL="463539" indent="-156629">
              <a:lnSpc>
                <a:spcPct val="100000"/>
              </a:lnSpc>
              <a:spcBef>
                <a:spcPts val="0"/>
              </a:spcBef>
              <a:tabLst/>
              <a:defRPr sz="1067" i="1">
                <a:solidFill>
                  <a:schemeClr val="tx1"/>
                </a:solidFill>
                <a:latin typeface="Arial" panose="020B0604020202020204" pitchFamily="34" charset="0"/>
                <a:cs typeface="Arial" panose="020B0604020202020204" pitchFamily="34" charset="0"/>
              </a:defRPr>
            </a:lvl3pPr>
            <a:lvl4pPr marL="613818" indent="-150280">
              <a:lnSpc>
                <a:spcPct val="100000"/>
              </a:lnSpc>
              <a:spcBef>
                <a:spcPts val="0"/>
              </a:spcBef>
              <a:tabLst/>
              <a:defRPr sz="1067">
                <a:solidFill>
                  <a:schemeClr val="tx1"/>
                </a:solidFill>
                <a:latin typeface="Arial" panose="020B0604020202020204" pitchFamily="34" charset="0"/>
                <a:cs typeface="Arial" panose="020B0604020202020204" pitchFamily="34" charset="0"/>
              </a:defRPr>
            </a:lvl4pPr>
            <a:lvl5pPr marL="761981" indent="-148163">
              <a:lnSpc>
                <a:spcPct val="100000"/>
              </a:lnSpc>
              <a:spcBef>
                <a:spcPts val="0"/>
              </a:spcBef>
              <a:tabLst/>
              <a:defRPr sz="1067">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349545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7FBA3F-0222-B942-BACA-EE089C2C3395}"/>
              </a:ext>
            </a:extLst>
          </p:cNvPr>
          <p:cNvSpPr/>
          <p:nvPr userDrawn="1"/>
        </p:nvSpPr>
        <p:spPr>
          <a:xfrm>
            <a:off x="7852229" y="6535579"/>
            <a:ext cx="4267200" cy="215444"/>
          </a:xfrm>
          <a:prstGeom prst="rect">
            <a:avLst/>
          </a:prstGeom>
        </p:spPr>
        <p:txBody>
          <a:bodyPr wrap="square">
            <a:spAutoFit/>
          </a:bodyPr>
          <a:lstStyle/>
          <a:p>
            <a:pPr algn="r"/>
            <a:r>
              <a:rPr lang="en-US" sz="800" b="0" kern="1600" spc="27" dirty="0">
                <a:solidFill>
                  <a:schemeClr val="accent4"/>
                </a:solidFill>
                <a:latin typeface="Century Gothic" panose="020B0502020202020204" pitchFamily="34" charset="0"/>
              </a:rPr>
              <a:t>PROPRIETARY AND CONFIDENTIAL – </a:t>
            </a:r>
            <a:r>
              <a:rPr lang="en-US" sz="800" b="1" kern="1600" spc="27" dirty="0">
                <a:solidFill>
                  <a:schemeClr val="accent4"/>
                </a:solidFill>
                <a:latin typeface="Century Gothic" panose="020B0502020202020204" pitchFamily="34" charset="0"/>
              </a:rPr>
              <a:t>INTERNAL USE ONLY</a:t>
            </a:r>
          </a:p>
        </p:txBody>
      </p:sp>
      <p:sp>
        <p:nvSpPr>
          <p:cNvPr id="11" name="Rectangle 10">
            <a:extLst>
              <a:ext uri="{FF2B5EF4-FFF2-40B4-BE49-F238E27FC236}">
                <a16:creationId xmlns:a16="http://schemas.microsoft.com/office/drawing/2014/main" id="{C5AD138E-9D85-AD4E-A89D-29173BDE395B}"/>
              </a:ext>
            </a:extLst>
          </p:cNvPr>
          <p:cNvSpPr/>
          <p:nvPr userDrawn="1"/>
        </p:nvSpPr>
        <p:spPr>
          <a:xfrm>
            <a:off x="29027" y="6535579"/>
            <a:ext cx="4949372" cy="215444"/>
          </a:xfrm>
          <a:prstGeom prst="rect">
            <a:avLst/>
          </a:prstGeom>
        </p:spPr>
        <p:txBody>
          <a:bodyPr wrap="square">
            <a:spAutoFit/>
          </a:bodyPr>
          <a:lstStyle/>
          <a:p>
            <a:pPr marL="0" marR="0" indent="0" algn="l" defTabSz="1219170" rtl="0" eaLnBrk="1" fontAlgn="auto" latinLnBrk="0" hangingPunct="1">
              <a:lnSpc>
                <a:spcPct val="100000"/>
              </a:lnSpc>
              <a:spcBef>
                <a:spcPts val="0"/>
              </a:spcBef>
              <a:spcAft>
                <a:spcPts val="0"/>
              </a:spcAft>
              <a:buClrTx/>
              <a:buSzTx/>
              <a:buFontTx/>
              <a:buNone/>
              <a:tabLst/>
              <a:defRPr/>
            </a:pPr>
            <a:r>
              <a:rPr lang="en-US" sz="800" b="1" kern="1600" spc="36" dirty="0">
                <a:solidFill>
                  <a:schemeClr val="accent4"/>
                </a:solidFill>
                <a:latin typeface="Century Gothic" panose="020B0502020202020204" pitchFamily="34" charset="0"/>
              </a:rPr>
              <a:t>©2022 Edgewood Partners Insurance Center. All rights reserved. | CA License: 0B29370</a:t>
            </a:r>
            <a:endParaRPr lang="en-US" sz="800" kern="1600" spc="36" dirty="0">
              <a:solidFill>
                <a:schemeClr val="accent4"/>
              </a:solidFill>
              <a:latin typeface="Century Gothic" panose="020B0502020202020204" pitchFamily="34" charset="0"/>
            </a:endParaRPr>
          </a:p>
        </p:txBody>
      </p:sp>
      <p:sp>
        <p:nvSpPr>
          <p:cNvPr id="2" name="Rectangle 1">
            <a:extLst>
              <a:ext uri="{FF2B5EF4-FFF2-40B4-BE49-F238E27FC236}">
                <a16:creationId xmlns:a16="http://schemas.microsoft.com/office/drawing/2014/main" id="{7094B5D5-9702-BC46-9EC9-DF0AAD4AEE7C}"/>
              </a:ext>
            </a:extLst>
          </p:cNvPr>
          <p:cNvSpPr/>
          <p:nvPr userDrawn="1"/>
        </p:nvSpPr>
        <p:spPr>
          <a:xfrm>
            <a:off x="0" y="0"/>
            <a:ext cx="12192000" cy="685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918481537"/>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p15:clr>
            <a:srgbClr val="F26B43"/>
          </p15:clr>
        </p15:guide>
        <p15:guide id="2" pos="1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1.png"/><Relationship Id="rId2" Type="http://schemas.openxmlformats.org/officeDocument/2006/relationships/notesSlide" Target="../notesSlides/notesSlide2.xml"/><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8F18725E-2F96-9A4C-BBFB-9A10AD5F1CB0}"/>
              </a:ext>
            </a:extLst>
          </p:cNvPr>
          <p:cNvCxnSpPr>
            <a:cxnSpLocks/>
          </p:cNvCxnSpPr>
          <p:nvPr/>
        </p:nvCxnSpPr>
        <p:spPr>
          <a:xfrm>
            <a:off x="6095992" y="889000"/>
            <a:ext cx="0" cy="1490059"/>
          </a:xfrm>
          <a:prstGeom prst="line">
            <a:avLst/>
          </a:prstGeom>
          <a:ln>
            <a:solidFill>
              <a:schemeClr val="accent6"/>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E18C4873-D6F1-CB4A-9BA3-14EAE24706C6}"/>
              </a:ext>
            </a:extLst>
          </p:cNvPr>
          <p:cNvSpPr>
            <a:spLocks noGrp="1"/>
          </p:cNvSpPr>
          <p:nvPr>
            <p:ph type="body" sz="quarter" idx="10"/>
          </p:nvPr>
        </p:nvSpPr>
        <p:spPr>
          <a:xfrm>
            <a:off x="101598" y="787400"/>
            <a:ext cx="5791181" cy="304800"/>
          </a:xfrm>
        </p:spPr>
        <p:txBody>
          <a:bodyPr/>
          <a:lstStyle/>
          <a:p>
            <a:r>
              <a:rPr lang="en-US" dirty="0"/>
              <a:t>Value Proposition and Differentiators</a:t>
            </a:r>
          </a:p>
        </p:txBody>
      </p:sp>
      <p:sp>
        <p:nvSpPr>
          <p:cNvPr id="51" name="Text Placeholder 50">
            <a:extLst>
              <a:ext uri="{FF2B5EF4-FFF2-40B4-BE49-F238E27FC236}">
                <a16:creationId xmlns:a16="http://schemas.microsoft.com/office/drawing/2014/main" id="{48B24C17-BF08-464C-AFC7-E6A1D58F1C51}"/>
              </a:ext>
            </a:extLst>
          </p:cNvPr>
          <p:cNvSpPr>
            <a:spLocks noGrp="1"/>
          </p:cNvSpPr>
          <p:nvPr>
            <p:ph type="body" sz="quarter" idx="12"/>
          </p:nvPr>
        </p:nvSpPr>
        <p:spPr>
          <a:xfrm>
            <a:off x="6197585" y="787400"/>
            <a:ext cx="5892784" cy="304800"/>
          </a:xfrm>
        </p:spPr>
        <p:txBody>
          <a:bodyPr/>
          <a:lstStyle/>
          <a:p>
            <a:r>
              <a:rPr lang="en-US" dirty="0"/>
              <a:t>Target Audience</a:t>
            </a:r>
          </a:p>
        </p:txBody>
      </p:sp>
      <p:sp>
        <p:nvSpPr>
          <p:cNvPr id="33" name="Text Placeholder 32">
            <a:extLst>
              <a:ext uri="{FF2B5EF4-FFF2-40B4-BE49-F238E27FC236}">
                <a16:creationId xmlns:a16="http://schemas.microsoft.com/office/drawing/2014/main" id="{6D349846-E479-2440-A841-AE9510D3B188}"/>
              </a:ext>
            </a:extLst>
          </p:cNvPr>
          <p:cNvSpPr>
            <a:spLocks noGrp="1"/>
          </p:cNvSpPr>
          <p:nvPr>
            <p:ph type="body" sz="quarter" idx="14"/>
          </p:nvPr>
        </p:nvSpPr>
        <p:spPr>
          <a:xfrm>
            <a:off x="-1" y="2552985"/>
            <a:ext cx="6095985" cy="405008"/>
          </a:xfrm>
          <a:prstGeom prst="rect">
            <a:avLst/>
          </a:prstGeom>
          <a:noFill/>
        </p:spPr>
        <p:txBody>
          <a:bodyPr/>
          <a:lstStyle/>
          <a:p>
            <a:r>
              <a:rPr lang="en-US" dirty="0">
                <a:solidFill>
                  <a:srgbClr val="043F5F"/>
                </a:solidFill>
              </a:rPr>
              <a:t>Insurance &amp; Risk Management Solutions</a:t>
            </a:r>
          </a:p>
        </p:txBody>
      </p:sp>
      <p:sp>
        <p:nvSpPr>
          <p:cNvPr id="32" name="Text Placeholder 31">
            <a:extLst>
              <a:ext uri="{FF2B5EF4-FFF2-40B4-BE49-F238E27FC236}">
                <a16:creationId xmlns:a16="http://schemas.microsoft.com/office/drawing/2014/main" id="{5425D5F5-02BE-7540-83DD-B558F7A48F2D}"/>
              </a:ext>
            </a:extLst>
          </p:cNvPr>
          <p:cNvSpPr>
            <a:spLocks noGrp="1"/>
          </p:cNvSpPr>
          <p:nvPr>
            <p:ph type="body" sz="quarter" idx="15"/>
          </p:nvPr>
        </p:nvSpPr>
        <p:spPr>
          <a:xfrm>
            <a:off x="6095984" y="2552985"/>
            <a:ext cx="6096016" cy="405008"/>
          </a:xfrm>
          <a:prstGeom prst="rect">
            <a:avLst/>
          </a:prstGeom>
          <a:noFill/>
        </p:spPr>
        <p:txBody>
          <a:bodyPr/>
          <a:lstStyle/>
          <a:p>
            <a:pPr>
              <a:lnSpc>
                <a:spcPct val="100000"/>
              </a:lnSpc>
              <a:spcBef>
                <a:spcPts val="0"/>
              </a:spcBef>
            </a:pPr>
            <a:r>
              <a:rPr lang="en-US" dirty="0">
                <a:solidFill>
                  <a:srgbClr val="043F5F"/>
                </a:solidFill>
              </a:rPr>
              <a:t>Questions to Ask on Trending Topics in the A/E Industry</a:t>
            </a:r>
          </a:p>
        </p:txBody>
      </p:sp>
      <p:sp>
        <p:nvSpPr>
          <p:cNvPr id="41" name="Text Placeholder 40">
            <a:extLst>
              <a:ext uri="{FF2B5EF4-FFF2-40B4-BE49-F238E27FC236}">
                <a16:creationId xmlns:a16="http://schemas.microsoft.com/office/drawing/2014/main" id="{688655A1-1A09-AB43-AF1B-8E5A8833EE06}"/>
              </a:ext>
            </a:extLst>
          </p:cNvPr>
          <p:cNvSpPr>
            <a:spLocks noGrp="1"/>
          </p:cNvSpPr>
          <p:nvPr>
            <p:ph type="body" sz="quarter" idx="20"/>
          </p:nvPr>
        </p:nvSpPr>
        <p:spPr>
          <a:xfrm>
            <a:off x="101598" y="1046751"/>
            <a:ext cx="5791181" cy="1432303"/>
          </a:xfrm>
        </p:spPr>
        <p:txBody>
          <a:bodyPr>
            <a:normAutofit fontScale="92500" lnSpcReduction="20000"/>
          </a:bodyPr>
          <a:lstStyle/>
          <a:p>
            <a:pPr>
              <a:lnSpc>
                <a:spcPct val="107000"/>
              </a:lnSpc>
              <a:spcBef>
                <a:spcPts val="0"/>
              </a:spcBef>
              <a:spcAft>
                <a:spcPts val="1067"/>
              </a:spcAft>
            </a:pPr>
            <a:r>
              <a:rPr lang="en-US" sz="1200" dirty="0">
                <a:solidFill>
                  <a:srgbClr val="00000E"/>
                </a:solidFill>
                <a:latin typeface="Calibri" panose="020F0502020204030204" pitchFamily="34" charset="0"/>
                <a:cs typeface="Calibri" panose="020F0502020204030204" pitchFamily="34" charset="0"/>
              </a:rPr>
              <a:t>Greyling Insurance Brokerage &amp; Risk Consulting, a division of EPIC, is a specialty insurance brokerage and risk consulting firm focused almost exclusively on construction and design professionals. We represent over 1,500 A/E firms, including over 60 of the ENR Top 500 Design Firms.</a:t>
            </a:r>
          </a:p>
          <a:p>
            <a:pPr>
              <a:lnSpc>
                <a:spcPct val="107000"/>
              </a:lnSpc>
              <a:spcBef>
                <a:spcPts val="0"/>
              </a:spcBef>
              <a:spcAft>
                <a:spcPts val="1067"/>
              </a:spcAft>
            </a:pPr>
            <a:r>
              <a:rPr lang="en-US" sz="1200" dirty="0">
                <a:solidFill>
                  <a:srgbClr val="00000E"/>
                </a:solidFill>
                <a:latin typeface="Calibri" panose="020F0502020204030204" pitchFamily="34" charset="0"/>
                <a:cs typeface="Calibri" panose="020F0502020204030204" pitchFamily="34" charset="0"/>
              </a:rPr>
              <a:t>What differentiates us is our construction industry expertise. Our leaders have prior experience as practicing construction lawyers (in-house and outside), engineers, consultants, and underwriters – giving us unique and unmatched insight into how A/E firms operate, deliver projects, and manage risk. </a:t>
            </a:r>
            <a:endParaRPr lang="en-US" sz="1200" kern="100" dirty="0">
              <a:latin typeface="Calibri" panose="020F0502020204030204" pitchFamily="34" charset="0"/>
              <a:ea typeface="Calibri" panose="020F0502020204030204" pitchFamily="34" charset="0"/>
              <a:cs typeface="Calibri" panose="020F0502020204030204" pitchFamily="34" charset="0"/>
            </a:endParaRPr>
          </a:p>
        </p:txBody>
      </p:sp>
      <p:sp>
        <p:nvSpPr>
          <p:cNvPr id="43" name="Text Placeholder 42">
            <a:extLst>
              <a:ext uri="{FF2B5EF4-FFF2-40B4-BE49-F238E27FC236}">
                <a16:creationId xmlns:a16="http://schemas.microsoft.com/office/drawing/2014/main" id="{565FC2FE-9460-3C47-ABEE-A718FC15C0DD}"/>
              </a:ext>
            </a:extLst>
          </p:cNvPr>
          <p:cNvSpPr>
            <a:spLocks noGrp="1"/>
          </p:cNvSpPr>
          <p:nvPr>
            <p:ph type="body" sz="quarter" idx="21"/>
          </p:nvPr>
        </p:nvSpPr>
        <p:spPr>
          <a:xfrm>
            <a:off x="6197585" y="1046752"/>
            <a:ext cx="5892784" cy="1458257"/>
          </a:xfrm>
        </p:spPr>
        <p:txBody>
          <a:bodyPr numCol="1">
            <a:normAutofit lnSpcReduction="10000"/>
          </a:bodyPr>
          <a:lstStyle/>
          <a:p>
            <a:pPr>
              <a:lnSpc>
                <a:spcPct val="107000"/>
              </a:lnSpc>
            </a:pPr>
            <a:r>
              <a:rPr lang="en-US" sz="1067" kern="100" dirty="0">
                <a:latin typeface="Calibri" panose="020F0502020204030204" pitchFamily="34" charset="0"/>
                <a:ea typeface="Calibri" panose="020F0502020204030204" pitchFamily="34" charset="0"/>
                <a:cs typeface="Calibri" panose="020F0502020204030204" pitchFamily="34" charset="0"/>
              </a:rPr>
              <a:t>Professional services firms in the construction industry, including architects, engineers, environmental consultants, surveyors, construction managers, design/builders, and specialty trade contractors with professional services exposure</a:t>
            </a:r>
          </a:p>
          <a:p>
            <a:pPr>
              <a:lnSpc>
                <a:spcPct val="107000"/>
              </a:lnSpc>
            </a:pPr>
            <a:r>
              <a:rPr lang="en-US" sz="1067" kern="100" dirty="0">
                <a:latin typeface="Calibri" panose="020F0502020204030204" pitchFamily="34" charset="0"/>
                <a:ea typeface="Calibri" panose="020F0502020204030204" pitchFamily="34" charset="0"/>
                <a:cs typeface="Calibri" panose="020F0502020204030204" pitchFamily="34" charset="0"/>
              </a:rPr>
              <a:t>Law firms, particularly those with construction law practices</a:t>
            </a:r>
          </a:p>
          <a:p>
            <a:pPr>
              <a:lnSpc>
                <a:spcPct val="107000"/>
              </a:lnSpc>
            </a:pPr>
            <a:r>
              <a:rPr lang="en-US" sz="1067" kern="100" dirty="0">
                <a:latin typeface="Calibri" panose="020F0502020204030204" pitchFamily="34" charset="0"/>
                <a:ea typeface="Calibri" panose="020F0502020204030204" pitchFamily="34" charset="0"/>
                <a:cs typeface="Calibri" panose="020F0502020204030204" pitchFamily="34" charset="0"/>
              </a:rPr>
              <a:t>Construction industry related firms with group captive eligibility</a:t>
            </a:r>
          </a:p>
          <a:p>
            <a:pPr>
              <a:lnSpc>
                <a:spcPct val="107000"/>
              </a:lnSpc>
            </a:pPr>
            <a:r>
              <a:rPr lang="en-US" sz="1067" kern="100" dirty="0">
                <a:latin typeface="Calibri" panose="020F0502020204030204" pitchFamily="34" charset="0"/>
                <a:ea typeface="Calibri" panose="020F0502020204030204" pitchFamily="34" charset="0"/>
                <a:cs typeface="Calibri" panose="020F0502020204030204" pitchFamily="34" charset="0"/>
              </a:rPr>
              <a:t>All American Council of Engineering Companies (ACEC) member firms are eligible for our Business Insurance Trust (BIT) programs, including a preferential Hartford P&amp;C program, a panel of professional liability insurers, and other affinity benefits</a:t>
            </a:r>
          </a:p>
        </p:txBody>
      </p:sp>
      <p:sp>
        <p:nvSpPr>
          <p:cNvPr id="72" name="Text Placeholder 71">
            <a:extLst>
              <a:ext uri="{FF2B5EF4-FFF2-40B4-BE49-F238E27FC236}">
                <a16:creationId xmlns:a16="http://schemas.microsoft.com/office/drawing/2014/main" id="{6926AE5E-8912-714D-9829-5748F2946217}"/>
              </a:ext>
            </a:extLst>
          </p:cNvPr>
          <p:cNvSpPr>
            <a:spLocks noGrp="1"/>
          </p:cNvSpPr>
          <p:nvPr>
            <p:ph type="body" sz="quarter" idx="18"/>
          </p:nvPr>
        </p:nvSpPr>
        <p:spPr>
          <a:xfrm>
            <a:off x="101596" y="2957993"/>
            <a:ext cx="5845357" cy="3537939"/>
          </a:xfrm>
        </p:spPr>
        <p:txBody>
          <a:bodyPr>
            <a:noAutofit/>
          </a:bodyPr>
          <a:lstStyle/>
          <a:p>
            <a:pPr indent="0">
              <a:lnSpc>
                <a:spcPct val="107000"/>
              </a:lnSpc>
              <a:spcBef>
                <a:spcPts val="0"/>
              </a:spcBef>
              <a:buNone/>
            </a:pPr>
            <a:r>
              <a:rPr lang="en-US" sz="1067" b="1" kern="100" dirty="0">
                <a:latin typeface="Calibri" panose="020F0502020204030204" pitchFamily="34" charset="0"/>
                <a:ea typeface="Calibri" panose="020F0502020204030204" pitchFamily="34" charset="0"/>
                <a:cs typeface="Calibri" panose="020F0502020204030204" pitchFamily="34" charset="0"/>
              </a:rPr>
              <a:t>All Lines of Coverage for A/E – </a:t>
            </a:r>
            <a:r>
              <a:rPr lang="en-US" sz="1067" kern="100" dirty="0">
                <a:latin typeface="Calibri" panose="020F0502020204030204" pitchFamily="34" charset="0"/>
                <a:ea typeface="Calibri" panose="020F0502020204030204" pitchFamily="34" charset="0"/>
                <a:cs typeface="Calibri" panose="020F0502020204030204" pitchFamily="34" charset="0"/>
              </a:rPr>
              <a:t>Greyling is an independent broker working with:</a:t>
            </a:r>
          </a:p>
          <a:p>
            <a:pPr marL="535504" lvl="1" indent="-228594">
              <a:lnSpc>
                <a:spcPct val="107000"/>
              </a:lnSpc>
              <a:spcBef>
                <a:spcPts val="0"/>
              </a:spcBef>
            </a:pPr>
            <a:r>
              <a:rPr lang="en-US" i="0" kern="100" dirty="0">
                <a:latin typeface="Calibri" panose="020F0502020204030204" pitchFamily="34" charset="0"/>
                <a:ea typeface="Calibri" panose="020F0502020204030204" pitchFamily="34" charset="0"/>
                <a:cs typeface="Calibri" panose="020F0502020204030204" pitchFamily="34" charset="0"/>
              </a:rPr>
              <a:t>Dozens of professional liability insurers across London and the U.S. (see back)</a:t>
            </a:r>
          </a:p>
          <a:p>
            <a:pPr marL="535504" lvl="1" indent="-228594">
              <a:lnSpc>
                <a:spcPct val="107000"/>
              </a:lnSpc>
              <a:spcBef>
                <a:spcPts val="0"/>
              </a:spcBef>
            </a:pPr>
            <a:r>
              <a:rPr lang="en-US" i="0" kern="100" dirty="0">
                <a:effectLst/>
                <a:latin typeface="Calibri" panose="020F0502020204030204" pitchFamily="34" charset="0"/>
                <a:ea typeface="Calibri" panose="020F0502020204030204" pitchFamily="34" charset="0"/>
                <a:cs typeface="Calibri" panose="020F0502020204030204" pitchFamily="34" charset="0"/>
              </a:rPr>
              <a:t>Leading A/E Property &amp; Casualty insurers, including a preferred program with Hartford, plus A/E underwriters with CNA, Hanover, Liberty, Travelers, &amp; RLI</a:t>
            </a:r>
            <a:endParaRPr lang="en-US" i="0" kern="100" dirty="0">
              <a:latin typeface="Calibri" panose="020F0502020204030204" pitchFamily="34" charset="0"/>
              <a:ea typeface="Calibri" panose="020F0502020204030204" pitchFamily="34" charset="0"/>
              <a:cs typeface="Calibri" panose="020F0502020204030204" pitchFamily="34" charset="0"/>
            </a:endParaRPr>
          </a:p>
          <a:p>
            <a:pPr marL="535504" lvl="1" indent="-228594">
              <a:lnSpc>
                <a:spcPct val="107000"/>
              </a:lnSpc>
              <a:spcBef>
                <a:spcPts val="0"/>
              </a:spcBef>
            </a:pPr>
            <a:r>
              <a:rPr lang="en-US" i="0" kern="100" dirty="0">
                <a:effectLst/>
                <a:latin typeface="Calibri" panose="020F0502020204030204" pitchFamily="34" charset="0"/>
                <a:ea typeface="Calibri" panose="020F0502020204030204" pitchFamily="34" charset="0"/>
                <a:cs typeface="Calibri" panose="020F0502020204030204" pitchFamily="34" charset="0"/>
              </a:rPr>
              <a:t>International specialty brokers in London and specific countries</a:t>
            </a:r>
          </a:p>
          <a:p>
            <a:pPr indent="0">
              <a:lnSpc>
                <a:spcPct val="107000"/>
              </a:lnSpc>
              <a:spcBef>
                <a:spcPts val="0"/>
              </a:spcBef>
              <a:buNone/>
            </a:pPr>
            <a:r>
              <a:rPr lang="en-US" sz="1067" b="1" kern="100" dirty="0">
                <a:latin typeface="Calibri" panose="020F0502020204030204" pitchFamily="34" charset="0"/>
                <a:ea typeface="Calibri" panose="020F0502020204030204" pitchFamily="34" charset="0"/>
                <a:cs typeface="Calibri" panose="020F0502020204030204" pitchFamily="34" charset="0"/>
              </a:rPr>
              <a:t>Contract Review and Project Specific Risk Management</a:t>
            </a:r>
          </a:p>
          <a:p>
            <a:pPr marL="535504" lvl="1" indent="-228594">
              <a:lnSpc>
                <a:spcPct val="107000"/>
              </a:lnSpc>
              <a:spcBef>
                <a:spcPts val="0"/>
              </a:spcBef>
            </a:pPr>
            <a:r>
              <a:rPr lang="en-US" i="0" kern="100" dirty="0">
                <a:effectLst/>
                <a:latin typeface="Calibri" panose="020F0502020204030204" pitchFamily="34" charset="0"/>
                <a:ea typeface="Calibri" panose="020F0502020204030204" pitchFamily="34" charset="0"/>
                <a:cs typeface="Calibri" panose="020F0502020204030204" pitchFamily="34" charset="0"/>
              </a:rPr>
              <a:t>Greyling excels at proactive risk management before a project begins</a:t>
            </a:r>
            <a:r>
              <a:rPr lang="en-US" i="0" kern="100" dirty="0">
                <a:latin typeface="Calibri" panose="020F0502020204030204" pitchFamily="34" charset="0"/>
                <a:ea typeface="Calibri" panose="020F0502020204030204" pitchFamily="34" charset="0"/>
                <a:cs typeface="Calibri" panose="020F0502020204030204" pitchFamily="34" charset="0"/>
              </a:rPr>
              <a:t> – we </a:t>
            </a:r>
            <a:r>
              <a:rPr lang="en-US" i="0" kern="100" dirty="0">
                <a:effectLst/>
                <a:latin typeface="Calibri" panose="020F0502020204030204" pitchFamily="34" charset="0"/>
                <a:ea typeface="Calibri" panose="020F0502020204030204" pitchFamily="34" charset="0"/>
                <a:cs typeface="Calibri" panose="020F0502020204030204" pitchFamily="34" charset="0"/>
              </a:rPr>
              <a:t>have 7 attorneys, a paralegal, and dozens of insurance professionals who help review and negotiate contracts from an insurance compliance and insurability perspective</a:t>
            </a:r>
          </a:p>
          <a:p>
            <a:pPr indent="0">
              <a:lnSpc>
                <a:spcPct val="107000"/>
              </a:lnSpc>
              <a:spcBef>
                <a:spcPts val="0"/>
              </a:spcBef>
              <a:buNone/>
            </a:pPr>
            <a:r>
              <a:rPr lang="en-US" sz="1067" b="1" kern="100" dirty="0">
                <a:latin typeface="Calibri" panose="020F0502020204030204" pitchFamily="34" charset="0"/>
                <a:ea typeface="Calibri" panose="020F0502020204030204" pitchFamily="34" charset="0"/>
                <a:cs typeface="Calibri" panose="020F0502020204030204" pitchFamily="34" charset="0"/>
              </a:rPr>
              <a:t>Claims Consulting and Resolution</a:t>
            </a:r>
          </a:p>
          <a:p>
            <a:pPr marL="535504" lvl="1" indent="-228594">
              <a:lnSpc>
                <a:spcPct val="107000"/>
              </a:lnSpc>
              <a:spcBef>
                <a:spcPts val="0"/>
              </a:spcBef>
            </a:pPr>
            <a:r>
              <a:rPr lang="en-US" i="0" kern="100" dirty="0">
                <a:effectLst/>
                <a:latin typeface="Calibri" panose="020F0502020204030204" pitchFamily="34" charset="0"/>
                <a:ea typeface="Calibri" panose="020F0502020204030204" pitchFamily="34" charset="0"/>
                <a:cs typeface="Calibri" panose="020F0502020204030204" pitchFamily="34" charset="0"/>
              </a:rPr>
              <a:t>We see plenty of claims for A/E firms across all lines of coverage and use our legal expertise and industry experience to advise you on claims recognition and avoidance, when and how to report, and which attorneys and consultants to engage</a:t>
            </a:r>
          </a:p>
          <a:p>
            <a:pPr indent="0">
              <a:lnSpc>
                <a:spcPct val="107000"/>
              </a:lnSpc>
              <a:spcBef>
                <a:spcPts val="0"/>
              </a:spcBef>
              <a:buNone/>
            </a:pPr>
            <a:r>
              <a:rPr lang="en-US" sz="1067" b="1" kern="100" dirty="0">
                <a:latin typeface="Calibri" panose="020F0502020204030204" pitchFamily="34" charset="0"/>
                <a:ea typeface="Calibri" panose="020F0502020204030204" pitchFamily="34" charset="0"/>
                <a:cs typeface="Calibri" panose="020F0502020204030204" pitchFamily="34" charset="0"/>
              </a:rPr>
              <a:t>Group Captive Insurance for General Liability, Workers Comp, and Auto</a:t>
            </a:r>
            <a:endParaRPr lang="en-US" sz="1067"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7000"/>
              </a:lnSpc>
              <a:spcBef>
                <a:spcPts val="0"/>
              </a:spcBef>
            </a:pPr>
            <a:r>
              <a:rPr lang="en-US" sz="1067" kern="100" dirty="0">
                <a:latin typeface="Calibri" panose="020F0502020204030204" pitchFamily="34" charset="0"/>
                <a:ea typeface="Calibri" panose="020F0502020204030204" pitchFamily="34" charset="0"/>
                <a:cs typeface="Calibri" panose="020F0502020204030204" pitchFamily="34" charset="0"/>
              </a:rPr>
              <a:t>Many of our larger clients (&gt;$75 Million in revenue or with 50+ vehicles) qualify for group captive insurance based on loss ratios &gt;25%</a:t>
            </a:r>
          </a:p>
          <a:p>
            <a:pPr marL="531269" indent="-228594">
              <a:lnSpc>
                <a:spcPct val="107000"/>
              </a:lnSpc>
              <a:spcBef>
                <a:spcPts val="0"/>
              </a:spcBef>
            </a:pPr>
            <a:r>
              <a:rPr lang="en-US" sz="1067" kern="100" dirty="0">
                <a:latin typeface="Calibri" panose="020F0502020204030204" pitchFamily="34" charset="0"/>
                <a:ea typeface="Calibri" panose="020F0502020204030204" pitchFamily="34" charset="0"/>
                <a:cs typeface="Calibri" panose="020F0502020204030204" pitchFamily="34" charset="0"/>
              </a:rPr>
              <a:t>We have placed more A/E firms in group captives than all other brokers </a:t>
            </a:r>
            <a:r>
              <a:rPr lang="en-US" sz="1067" b="1" kern="100" dirty="0">
                <a:latin typeface="Calibri" panose="020F0502020204030204" pitchFamily="34" charset="0"/>
                <a:ea typeface="Calibri" panose="020F0502020204030204" pitchFamily="34" charset="0"/>
                <a:cs typeface="Calibri" panose="020F0502020204030204" pitchFamily="34" charset="0"/>
              </a:rPr>
              <a:t>combined</a:t>
            </a:r>
          </a:p>
          <a:p>
            <a:pPr indent="0">
              <a:lnSpc>
                <a:spcPct val="107000"/>
              </a:lnSpc>
              <a:spcBef>
                <a:spcPts val="0"/>
              </a:spcBef>
              <a:buNone/>
            </a:pPr>
            <a:r>
              <a:rPr lang="en-US" sz="1067" b="1" kern="100" dirty="0">
                <a:latin typeface="Calibri" panose="020F0502020204030204" pitchFamily="34" charset="0"/>
                <a:ea typeface="Calibri" panose="020F0502020204030204" pitchFamily="34" charset="0"/>
                <a:cs typeface="Calibri" panose="020F0502020204030204" pitchFamily="34" charset="0"/>
              </a:rPr>
              <a:t>Cyber Threats and Insurance</a:t>
            </a:r>
          </a:p>
          <a:p>
            <a:pPr marL="535504" lvl="1" indent="-228594">
              <a:lnSpc>
                <a:spcPct val="107000"/>
              </a:lnSpc>
              <a:spcBef>
                <a:spcPts val="0"/>
              </a:spcBef>
            </a:pPr>
            <a:r>
              <a:rPr lang="en-US" i="0" kern="100" dirty="0">
                <a:latin typeface="Calibri" panose="020F0502020204030204" pitchFamily="34" charset="0"/>
                <a:ea typeface="Calibri" panose="020F0502020204030204" pitchFamily="34" charset="0"/>
                <a:cs typeface="Calibri" panose="020F0502020204030204" pitchFamily="34" charset="0"/>
              </a:rPr>
              <a:t>Cyber remains a major risk for A/E firms and we have a panel of insurers available to provide broad resources and coverage</a:t>
            </a:r>
            <a:endParaRPr lang="en-US" i="0" kern="100" dirty="0">
              <a:effectLst/>
              <a:latin typeface="Calibri" panose="020F0502020204030204" pitchFamily="34" charset="0"/>
              <a:ea typeface="Calibri" panose="020F0502020204030204" pitchFamily="34" charset="0"/>
              <a:cs typeface="Calibri" panose="020F0502020204030204" pitchFamily="34" charset="0"/>
            </a:endParaRPr>
          </a:p>
          <a:p>
            <a:pPr marL="609585" lvl="1" indent="0">
              <a:lnSpc>
                <a:spcPct val="107000"/>
              </a:lnSpc>
              <a:spcBef>
                <a:spcPts val="0"/>
              </a:spcBef>
              <a:buNone/>
            </a:pPr>
            <a:endParaRPr lang="en-US" sz="800" i="0" kern="100" dirty="0">
              <a:latin typeface="Calibri" panose="020F0502020204030204" pitchFamily="34" charset="0"/>
              <a:ea typeface="Calibri" panose="020F0502020204030204" pitchFamily="34" charset="0"/>
              <a:cs typeface="Calibri" panose="020F0502020204030204" pitchFamily="34" charset="0"/>
            </a:endParaRPr>
          </a:p>
        </p:txBody>
      </p:sp>
      <p:sp>
        <p:nvSpPr>
          <p:cNvPr id="61" name="Text Placeholder 60">
            <a:extLst>
              <a:ext uri="{FF2B5EF4-FFF2-40B4-BE49-F238E27FC236}">
                <a16:creationId xmlns:a16="http://schemas.microsoft.com/office/drawing/2014/main" id="{60DB4F2A-6634-9342-9AD4-C45F7ECA1111}"/>
              </a:ext>
            </a:extLst>
          </p:cNvPr>
          <p:cNvSpPr>
            <a:spLocks noGrp="1"/>
          </p:cNvSpPr>
          <p:nvPr>
            <p:ph type="body" sz="quarter" idx="19"/>
          </p:nvPr>
        </p:nvSpPr>
        <p:spPr>
          <a:xfrm>
            <a:off x="6245029" y="2957994"/>
            <a:ext cx="5892784" cy="3568735"/>
          </a:xfrm>
        </p:spPr>
        <p:txBody>
          <a:bodyPr>
            <a:noAutofit/>
          </a:bodyPr>
          <a:lstStyle/>
          <a:p>
            <a:pPr indent="0">
              <a:lnSpc>
                <a:spcPct val="105000"/>
              </a:lnSpc>
              <a:spcBef>
                <a:spcPts val="0"/>
              </a:spcBef>
              <a:buNone/>
            </a:pPr>
            <a:r>
              <a:rPr lang="en-US" sz="1000" b="1" kern="100" dirty="0">
                <a:latin typeface="Calibri" panose="020F0502020204030204" pitchFamily="34" charset="0"/>
                <a:ea typeface="Times New Roman" panose="02020603050405020304" pitchFamily="18" charset="0"/>
                <a:cs typeface="Calibri" panose="020F0502020204030204" pitchFamily="34" charset="0"/>
              </a:rPr>
              <a:t>Professional Liability</a:t>
            </a:r>
            <a:endParaRPr lang="en-US" sz="1000" b="1"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r>
              <a:rPr lang="en-US" sz="1000" kern="100" dirty="0">
                <a:latin typeface="Calibri" panose="020F0502020204030204" pitchFamily="34" charset="0"/>
                <a:ea typeface="Times New Roman" panose="02020603050405020304" pitchFamily="18" charset="0"/>
                <a:cs typeface="Calibri" panose="020F0502020204030204" pitchFamily="34" charset="0"/>
              </a:rPr>
              <a:t>How long have you been with your current PL insurer? Have you seen customized benchmarking that confirms you are getting the right premium from your “partner” for the right limits and deductible or self-insured retention? If yes, how do you know the peer group is relevant?</a:t>
            </a:r>
            <a:endParaRPr lang="en-US" sz="1000" kern="100" dirty="0">
              <a:latin typeface="Calibri" panose="020F0502020204030204" pitchFamily="34" charset="0"/>
              <a:ea typeface="Calibri" panose="020F0502020204030204" pitchFamily="34" charset="0"/>
              <a:cs typeface="Calibri" panose="020F0502020204030204" pitchFamily="34" charset="0"/>
            </a:endParaRPr>
          </a:p>
          <a:p>
            <a:pPr indent="0">
              <a:lnSpc>
                <a:spcPct val="105000"/>
              </a:lnSpc>
              <a:spcBef>
                <a:spcPts val="0"/>
              </a:spcBef>
              <a:buNone/>
            </a:pPr>
            <a:r>
              <a:rPr lang="en-US" sz="1000" b="1" kern="100" dirty="0">
                <a:latin typeface="Calibri" panose="020F0502020204030204" pitchFamily="34" charset="0"/>
                <a:ea typeface="Times New Roman" panose="02020603050405020304" pitchFamily="18" charset="0"/>
                <a:cs typeface="Calibri" panose="020F0502020204030204" pitchFamily="34" charset="0"/>
              </a:rPr>
              <a:t>Professional Services &amp; Construction Contracts:</a:t>
            </a:r>
            <a:endParaRPr lang="en-US" sz="1000" b="1"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r>
              <a:rPr lang="en-US" sz="1000" kern="100" dirty="0">
                <a:latin typeface="Calibri" panose="020F0502020204030204" pitchFamily="34" charset="0"/>
                <a:ea typeface="Times New Roman" panose="02020603050405020304" pitchFamily="18" charset="0"/>
                <a:cs typeface="Calibri" panose="020F0502020204030204" pitchFamily="34" charset="0"/>
              </a:rPr>
              <a:t>Do you get timely and practical (i.e., negotiable) edits on insurance requirements, indemnity provisions, and other key contract clauses related to insurable risk (e.g., standard of care, schedule, IP ownership, prevailing party attorneys’ fees, warranties/guarantees) from your broker?</a:t>
            </a:r>
            <a:endParaRPr lang="en-US" sz="1000" kern="100" dirty="0">
              <a:latin typeface="Calibri" panose="020F0502020204030204" pitchFamily="34" charset="0"/>
              <a:ea typeface="Calibri" panose="020F0502020204030204" pitchFamily="34" charset="0"/>
              <a:cs typeface="Calibri" panose="020F0502020204030204" pitchFamily="34" charset="0"/>
            </a:endParaRPr>
          </a:p>
          <a:p>
            <a:pPr indent="0">
              <a:lnSpc>
                <a:spcPct val="105000"/>
              </a:lnSpc>
              <a:spcBef>
                <a:spcPts val="0"/>
              </a:spcBef>
              <a:buNone/>
            </a:pPr>
            <a:r>
              <a:rPr lang="en-US" sz="1000" b="1" kern="100" dirty="0">
                <a:latin typeface="Calibri" panose="020F0502020204030204" pitchFamily="34" charset="0"/>
                <a:ea typeface="Times New Roman" panose="02020603050405020304" pitchFamily="18" charset="0"/>
                <a:cs typeface="Calibri" panose="020F0502020204030204" pitchFamily="34" charset="0"/>
              </a:rPr>
              <a:t>Risk Management:</a:t>
            </a:r>
            <a:endParaRPr lang="en-US" sz="1000" b="1"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r>
              <a:rPr lang="en-US" sz="1000" kern="100" dirty="0">
                <a:latin typeface="Calibri" panose="020F0502020204030204" pitchFamily="34" charset="0"/>
                <a:ea typeface="Times New Roman" panose="02020603050405020304" pitchFamily="18" charset="0"/>
                <a:cs typeface="Calibri" panose="020F0502020204030204" pitchFamily="34" charset="0"/>
              </a:rPr>
              <a:t>What subjects are you providing company-wide training on related to professional liability, contract risk, project risk, worker safety, driver safety, cyber threat awareness, and claims?</a:t>
            </a:r>
          </a:p>
          <a:p>
            <a:pPr indent="0">
              <a:lnSpc>
                <a:spcPct val="105000"/>
              </a:lnSpc>
              <a:spcBef>
                <a:spcPts val="0"/>
              </a:spcBef>
              <a:buNone/>
            </a:pPr>
            <a:r>
              <a:rPr lang="en-US" sz="1000" b="1" kern="100" dirty="0">
                <a:latin typeface="Calibri" panose="020F0502020204030204" pitchFamily="34" charset="0"/>
                <a:ea typeface="Times New Roman" panose="02020603050405020304" pitchFamily="18" charset="0"/>
                <a:cs typeface="Calibri" panose="020F0502020204030204" pitchFamily="34" charset="0"/>
              </a:rPr>
              <a:t>Design/Build</a:t>
            </a:r>
            <a:endParaRPr lang="en-US" sz="1000" b="1"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r>
              <a:rPr lang="en-US" sz="1000" kern="100" dirty="0">
                <a:latin typeface="Calibri" panose="020F0502020204030204" pitchFamily="34" charset="0"/>
                <a:ea typeface="Times New Roman" panose="02020603050405020304" pitchFamily="18" charset="0"/>
                <a:cs typeface="Calibri" panose="020F0502020204030204" pitchFamily="34" charset="0"/>
              </a:rPr>
              <a:t>Design/Build project delivery is increasing but so are large claims. Are you prepared to work for and contract with a contractor rather than a public or private owner? Do you understand project specific professional liability insurance?</a:t>
            </a:r>
          </a:p>
          <a:p>
            <a:pPr indent="0">
              <a:lnSpc>
                <a:spcPct val="105000"/>
              </a:lnSpc>
              <a:spcBef>
                <a:spcPts val="0"/>
              </a:spcBef>
              <a:buNone/>
            </a:pPr>
            <a:r>
              <a:rPr lang="en-US" sz="1000" b="1" kern="100" dirty="0">
                <a:latin typeface="Calibri" panose="020F0502020204030204" pitchFamily="34" charset="0"/>
                <a:ea typeface="Times New Roman" panose="02020603050405020304" pitchFamily="18" charset="0"/>
                <a:cs typeface="Calibri" panose="020F0502020204030204" pitchFamily="34" charset="0"/>
              </a:rPr>
              <a:t>Certificates of Insurance</a:t>
            </a:r>
            <a:endParaRPr lang="en-US" sz="1000" b="1"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r>
              <a:rPr lang="en-US" sz="1000" kern="100" dirty="0">
                <a:latin typeface="Calibri" panose="020F0502020204030204" pitchFamily="34" charset="0"/>
                <a:ea typeface="Times New Roman" panose="02020603050405020304" pitchFamily="18" charset="0"/>
                <a:cs typeface="Calibri" panose="020F0502020204030204" pitchFamily="34" charset="0"/>
              </a:rPr>
              <a:t>How timely and accurate is your broker’s COI process?  We have a team of 7 dedicated COI specialist who only issue COIs and do so for hundreds of A/E firms – so we know how to properly and quickly issue COIs that are accepted by clients and allow invoicing and site access.</a:t>
            </a:r>
          </a:p>
          <a:p>
            <a:pPr indent="0">
              <a:lnSpc>
                <a:spcPct val="105000"/>
              </a:lnSpc>
              <a:spcBef>
                <a:spcPts val="0"/>
              </a:spcBef>
              <a:buNone/>
            </a:pPr>
            <a:r>
              <a:rPr lang="en-US" sz="1000" b="1" kern="100" dirty="0">
                <a:latin typeface="Calibri" panose="020F0502020204030204" pitchFamily="34" charset="0"/>
                <a:ea typeface="Times New Roman" panose="02020603050405020304" pitchFamily="18" charset="0"/>
                <a:cs typeface="Calibri" panose="020F0502020204030204" pitchFamily="34" charset="0"/>
              </a:rPr>
              <a:t>Mergers &amp; Acquisitions</a:t>
            </a:r>
            <a:endParaRPr lang="en-US" sz="1000" b="1"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r>
              <a:rPr lang="en-US" sz="1000" kern="100" dirty="0">
                <a:latin typeface="Calibri" panose="020F0502020204030204" pitchFamily="34" charset="0"/>
                <a:ea typeface="Times New Roman" panose="02020603050405020304" pitchFamily="18" charset="0"/>
                <a:cs typeface="Calibri" panose="020F0502020204030204" pitchFamily="34" charset="0"/>
              </a:rPr>
              <a:t>Private equity has infiltrated the A/E market, increasing deal frequency and multiples. Are you contemplating buying or selling? We can help with insuring future liability from past work.</a:t>
            </a:r>
            <a:endParaRPr lang="en-US" sz="1000" kern="100" dirty="0">
              <a:latin typeface="Calibri" panose="020F0502020204030204" pitchFamily="34" charset="0"/>
              <a:ea typeface="Calibri" panose="020F0502020204030204" pitchFamily="34" charset="0"/>
              <a:cs typeface="Calibri" panose="020F0502020204030204" pitchFamily="34" charset="0"/>
            </a:endParaRPr>
          </a:p>
          <a:p>
            <a:pPr marL="531269" indent="-228594">
              <a:lnSpc>
                <a:spcPct val="105000"/>
              </a:lnSpc>
              <a:spcBef>
                <a:spcPts val="0"/>
              </a:spcBef>
            </a:pPr>
            <a:endParaRPr lang="en-US" sz="1000" kern="100" dirty="0">
              <a:latin typeface="Calibri" panose="020F0502020204030204" pitchFamily="34" charset="0"/>
              <a:ea typeface="Calibri" panose="020F0502020204030204" pitchFamily="34" charset="0"/>
              <a:cs typeface="Calibri" panose="020F0502020204030204" pitchFamily="34" charset="0"/>
            </a:endParaRPr>
          </a:p>
        </p:txBody>
      </p:sp>
      <p:sp>
        <p:nvSpPr>
          <p:cNvPr id="44" name="Title 43">
            <a:extLst>
              <a:ext uri="{FF2B5EF4-FFF2-40B4-BE49-F238E27FC236}">
                <a16:creationId xmlns:a16="http://schemas.microsoft.com/office/drawing/2014/main" id="{E63734BE-5862-CC48-9AEF-A1A70A09CDEB}"/>
              </a:ext>
            </a:extLst>
          </p:cNvPr>
          <p:cNvSpPr>
            <a:spLocks noGrp="1"/>
          </p:cNvSpPr>
          <p:nvPr>
            <p:ph type="title"/>
          </p:nvPr>
        </p:nvSpPr>
        <p:spPr>
          <a:xfrm>
            <a:off x="101596" y="145251"/>
            <a:ext cx="9652000" cy="405008"/>
          </a:xfrm>
        </p:spPr>
        <p:txBody>
          <a:bodyPr/>
          <a:lstStyle/>
          <a:p>
            <a:r>
              <a:rPr lang="en-US" dirty="0"/>
              <a:t>Greyling Division Battlecard</a:t>
            </a:r>
          </a:p>
        </p:txBody>
      </p:sp>
      <p:cxnSp>
        <p:nvCxnSpPr>
          <p:cNvPr id="3" name="Straight Connector 2">
            <a:extLst>
              <a:ext uri="{FF2B5EF4-FFF2-40B4-BE49-F238E27FC236}">
                <a16:creationId xmlns:a16="http://schemas.microsoft.com/office/drawing/2014/main" id="{55B0EF3F-C2D4-B058-FDBE-E10E879EB39E}"/>
              </a:ext>
            </a:extLst>
          </p:cNvPr>
          <p:cNvCxnSpPr>
            <a:cxnSpLocks/>
          </p:cNvCxnSpPr>
          <p:nvPr/>
        </p:nvCxnSpPr>
        <p:spPr>
          <a:xfrm>
            <a:off x="254016" y="2525328"/>
            <a:ext cx="5638763"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FAE7CD9-3C04-7DA0-CDDF-A8EED238C35A}"/>
              </a:ext>
            </a:extLst>
          </p:cNvPr>
          <p:cNvCxnSpPr>
            <a:cxnSpLocks/>
          </p:cNvCxnSpPr>
          <p:nvPr/>
        </p:nvCxnSpPr>
        <p:spPr>
          <a:xfrm>
            <a:off x="6095992" y="2717801"/>
            <a:ext cx="0" cy="3823111"/>
          </a:xfrm>
          <a:prstGeom prst="line">
            <a:avLst/>
          </a:prstGeom>
          <a:ln>
            <a:solidFill>
              <a:schemeClr val="accent6"/>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E1A3A810-45A4-CE59-BB50-7EA8B030D8C8}"/>
              </a:ext>
            </a:extLst>
          </p:cNvPr>
          <p:cNvCxnSpPr>
            <a:cxnSpLocks/>
          </p:cNvCxnSpPr>
          <p:nvPr/>
        </p:nvCxnSpPr>
        <p:spPr>
          <a:xfrm>
            <a:off x="6245029" y="2525328"/>
            <a:ext cx="5638763"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6FF4B66-5AB4-BB81-0907-9CC56740932D}"/>
              </a:ext>
            </a:extLst>
          </p:cNvPr>
          <p:cNvPicPr>
            <a:picLocks noChangeAspect="1"/>
          </p:cNvPicPr>
          <p:nvPr/>
        </p:nvPicPr>
        <p:blipFill>
          <a:blip r:embed="rId3"/>
          <a:srcRect/>
          <a:stretch/>
        </p:blipFill>
        <p:spPr>
          <a:xfrm>
            <a:off x="10442510" y="122344"/>
            <a:ext cx="1343089" cy="487680"/>
          </a:xfrm>
          <a:prstGeom prst="rect">
            <a:avLst/>
          </a:prstGeom>
        </p:spPr>
      </p:pic>
    </p:spTree>
    <p:extLst>
      <p:ext uri="{BB962C8B-B14F-4D97-AF65-F5344CB8AC3E}">
        <p14:creationId xmlns:p14="http://schemas.microsoft.com/office/powerpoint/2010/main" val="83302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8B2F52AB-DCE6-E443-A45F-0CFE57AA4B50}"/>
              </a:ext>
            </a:extLst>
          </p:cNvPr>
          <p:cNvCxnSpPr>
            <a:cxnSpLocks/>
          </p:cNvCxnSpPr>
          <p:nvPr/>
        </p:nvCxnSpPr>
        <p:spPr>
          <a:xfrm>
            <a:off x="6096000" y="3966350"/>
            <a:ext cx="0" cy="2370741"/>
          </a:xfrm>
          <a:prstGeom prst="line">
            <a:avLst/>
          </a:prstGeom>
          <a:ln w="9525">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EA011305-9521-B64F-9565-91851525C434}"/>
              </a:ext>
            </a:extLst>
          </p:cNvPr>
          <p:cNvSpPr>
            <a:spLocks noGrp="1"/>
          </p:cNvSpPr>
          <p:nvPr>
            <p:ph type="body" sz="quarter" idx="10"/>
          </p:nvPr>
        </p:nvSpPr>
        <p:spPr>
          <a:xfrm>
            <a:off x="6282069" y="787400"/>
            <a:ext cx="5791161" cy="304800"/>
          </a:xfrm>
        </p:spPr>
        <p:txBody>
          <a:bodyPr/>
          <a:lstStyle/>
          <a:p>
            <a:r>
              <a:rPr lang="en-US" dirty="0"/>
              <a:t>ACEC Business Insurance Trust</a:t>
            </a:r>
          </a:p>
        </p:txBody>
      </p:sp>
      <p:sp>
        <p:nvSpPr>
          <p:cNvPr id="13" name="Text Placeholder 12">
            <a:extLst>
              <a:ext uri="{FF2B5EF4-FFF2-40B4-BE49-F238E27FC236}">
                <a16:creationId xmlns:a16="http://schemas.microsoft.com/office/drawing/2014/main" id="{38BCEF08-EDF3-FA44-80E9-30B00817AF5E}"/>
              </a:ext>
            </a:extLst>
          </p:cNvPr>
          <p:cNvSpPr>
            <a:spLocks noGrp="1"/>
          </p:cNvSpPr>
          <p:nvPr>
            <p:ph type="body" sz="quarter" idx="12"/>
          </p:nvPr>
        </p:nvSpPr>
        <p:spPr>
          <a:xfrm>
            <a:off x="118771" y="787400"/>
            <a:ext cx="5892800" cy="304800"/>
          </a:xfrm>
        </p:spPr>
        <p:txBody>
          <a:bodyPr/>
          <a:lstStyle/>
          <a:p>
            <a:r>
              <a:rPr lang="en-US" dirty="0"/>
              <a:t>Greyling Insurer Relationships – Professional Liability</a:t>
            </a:r>
          </a:p>
        </p:txBody>
      </p:sp>
      <p:sp>
        <p:nvSpPr>
          <p:cNvPr id="23" name="Text Placeholder 22">
            <a:extLst>
              <a:ext uri="{FF2B5EF4-FFF2-40B4-BE49-F238E27FC236}">
                <a16:creationId xmlns:a16="http://schemas.microsoft.com/office/drawing/2014/main" id="{C227F8BA-B11C-B44A-A574-D89652B7F405}"/>
              </a:ext>
            </a:extLst>
          </p:cNvPr>
          <p:cNvSpPr>
            <a:spLocks noGrp="1"/>
          </p:cNvSpPr>
          <p:nvPr>
            <p:ph type="body" sz="quarter" idx="20"/>
          </p:nvPr>
        </p:nvSpPr>
        <p:spPr>
          <a:xfrm>
            <a:off x="6168992" y="1193800"/>
            <a:ext cx="6023009" cy="2235200"/>
          </a:xfrm>
        </p:spPr>
        <p:txBody>
          <a:bodyPr>
            <a:normAutofit lnSpcReduction="10000"/>
          </a:bodyPr>
          <a:lstStyle/>
          <a:p>
            <a:r>
              <a:rPr lang="en-US" sz="1200" dirty="0">
                <a:latin typeface="Calibri" panose="020F0502020204030204" pitchFamily="34" charset="0"/>
                <a:cs typeface="Calibri" panose="020F0502020204030204" pitchFamily="34" charset="0"/>
              </a:rPr>
              <a:t>Greyling is Program Administrator for the ACEC Business Insurance Trust and thus endorsed broker for ACEC member firms of all sizes</a:t>
            </a:r>
          </a:p>
          <a:p>
            <a:r>
              <a:rPr lang="en-US" sz="1200" dirty="0">
                <a:latin typeface="Calibri" panose="020F0502020204030204" pitchFamily="34" charset="0"/>
                <a:cs typeface="Calibri" panose="020F0502020204030204" pitchFamily="34" charset="0"/>
              </a:rPr>
              <a:t>ACEC is the largest organization of engineering firms in the country, with 3,500+ members</a:t>
            </a:r>
          </a:p>
          <a:p>
            <a:r>
              <a:rPr lang="en-US" sz="1200" dirty="0">
                <a:latin typeface="Calibri" panose="020F0502020204030204" pitchFamily="34" charset="0"/>
                <a:cs typeface="Calibri" panose="020F0502020204030204" pitchFamily="34" charset="0"/>
              </a:rPr>
              <a:t>Firms who buy through Greyling and the BIT receive:</a:t>
            </a:r>
          </a:p>
          <a:p>
            <a:pPr lvl="1"/>
            <a:r>
              <a:rPr lang="en-US" dirty="0">
                <a:latin typeface="Calibri" panose="020F0502020204030204" pitchFamily="34" charset="0"/>
                <a:cs typeface="Calibri" panose="020F0502020204030204" pitchFamily="34" charset="0"/>
              </a:rPr>
              <a:t>Reimbursement of up to $1,000 for property or auto deductible, up to $10,000 annual maximum</a:t>
            </a:r>
          </a:p>
          <a:p>
            <a:pPr lvl="1"/>
            <a:r>
              <a:rPr lang="en-US" dirty="0">
                <a:latin typeface="Calibri" panose="020F0502020204030204" pitchFamily="34" charset="0"/>
                <a:cs typeface="Calibri" panose="020F0502020204030204" pitchFamily="34" charset="0"/>
              </a:rPr>
              <a:t>Reimbursement of up to $10,000 for professional liability deductible, per settled claim, per year (for firms under $2.5 Million in gross revenue on last year’s PL application)</a:t>
            </a:r>
          </a:p>
          <a:p>
            <a:pPr lvl="1"/>
            <a:r>
              <a:rPr lang="en-US" dirty="0">
                <a:latin typeface="Calibri" panose="020F0502020204030204" pitchFamily="34" charset="0"/>
                <a:cs typeface="Calibri" panose="020F0502020204030204" pitchFamily="34" charset="0"/>
              </a:rPr>
              <a:t>$250 per year towards ACEC Coalition dues (Small Firm Council, CASE, COPS, CAMEE, </a:t>
            </a:r>
            <a:r>
              <a:rPr lang="en-US" dirty="0" err="1">
                <a:latin typeface="Calibri" panose="020F0502020204030204" pitchFamily="34" charset="0"/>
                <a:cs typeface="Calibri" panose="020F0502020204030204" pitchFamily="34" charset="0"/>
              </a:rPr>
              <a:t>Geoprofessional</a:t>
            </a:r>
            <a:r>
              <a:rPr lang="en-US" dirty="0">
                <a:latin typeface="Calibri" panose="020F0502020204030204" pitchFamily="34" charset="0"/>
                <a:cs typeface="Calibri" panose="020F0502020204030204" pitchFamily="34" charset="0"/>
              </a:rPr>
              <a:t> or Land Development Coalition)</a:t>
            </a:r>
          </a:p>
          <a:p>
            <a:pPr lvl="1"/>
            <a:r>
              <a:rPr lang="en-US" dirty="0">
                <a:latin typeface="Calibri" panose="020F0502020204030204" pitchFamily="34" charset="0"/>
                <a:cs typeface="Calibri" panose="020F0502020204030204" pitchFamily="34" charset="0"/>
              </a:rPr>
              <a:t>Reimbursement of registration fee for one firm attendee at ACEC Fall Conference</a:t>
            </a:r>
          </a:p>
          <a:p>
            <a:pPr lvl="1"/>
            <a:r>
              <a:rPr lang="en-US" dirty="0">
                <a:latin typeface="Calibri" panose="020F0502020204030204" pitchFamily="34" charset="0"/>
                <a:cs typeface="Calibri" panose="020F0502020204030204" pitchFamily="34" charset="0"/>
              </a:rPr>
              <a:t>Royalty sharing resulting in direct payments to member firms</a:t>
            </a:r>
          </a:p>
          <a:p>
            <a:r>
              <a:rPr lang="en-US" sz="1200" dirty="0">
                <a:latin typeface="Calibri" panose="020F0502020204030204" pitchFamily="34" charset="0"/>
                <a:cs typeface="Calibri" panose="020F0502020204030204" pitchFamily="34" charset="0"/>
              </a:rPr>
              <a:t>Greyling personnel attend and often speak at all National and most State and Regional ACEC conferences; we also provide contract and advocacy support across the country</a:t>
            </a:r>
          </a:p>
        </p:txBody>
      </p:sp>
      <p:sp>
        <p:nvSpPr>
          <p:cNvPr id="11" name="Title 10">
            <a:extLst>
              <a:ext uri="{FF2B5EF4-FFF2-40B4-BE49-F238E27FC236}">
                <a16:creationId xmlns:a16="http://schemas.microsoft.com/office/drawing/2014/main" id="{7C108FF2-C855-3049-9FF4-CF64B5CAF15A}"/>
              </a:ext>
            </a:extLst>
          </p:cNvPr>
          <p:cNvSpPr>
            <a:spLocks noGrp="1"/>
          </p:cNvSpPr>
          <p:nvPr>
            <p:ph type="title"/>
          </p:nvPr>
        </p:nvSpPr>
        <p:spPr>
          <a:xfrm>
            <a:off x="121905" y="135701"/>
            <a:ext cx="9652000" cy="452848"/>
          </a:xfrm>
        </p:spPr>
        <p:txBody>
          <a:bodyPr/>
          <a:lstStyle/>
          <a:p>
            <a:r>
              <a:rPr lang="en-US" sz="2400" dirty="0"/>
              <a:t>Greyling Division Battlecard</a:t>
            </a:r>
          </a:p>
        </p:txBody>
      </p:sp>
      <p:sp>
        <p:nvSpPr>
          <p:cNvPr id="27" name="Text Placeholder 26">
            <a:extLst>
              <a:ext uri="{FF2B5EF4-FFF2-40B4-BE49-F238E27FC236}">
                <a16:creationId xmlns:a16="http://schemas.microsoft.com/office/drawing/2014/main" id="{C61CEC5C-B799-1C4B-95D2-F0F296196021}"/>
              </a:ext>
            </a:extLst>
          </p:cNvPr>
          <p:cNvSpPr>
            <a:spLocks noGrp="1"/>
          </p:cNvSpPr>
          <p:nvPr>
            <p:ph type="body" sz="quarter" idx="22"/>
          </p:nvPr>
        </p:nvSpPr>
        <p:spPr>
          <a:xfrm>
            <a:off x="0" y="3390615"/>
            <a:ext cx="12192000" cy="404283"/>
          </a:xfrm>
        </p:spPr>
        <p:txBody>
          <a:bodyPr/>
          <a:lstStyle/>
          <a:p>
            <a:r>
              <a:rPr lang="en-US" dirty="0"/>
              <a:t>Working Together &amp; Compensation (Between EPIC Offices)</a:t>
            </a:r>
          </a:p>
        </p:txBody>
      </p:sp>
      <p:sp>
        <p:nvSpPr>
          <p:cNvPr id="76" name="Text Placeholder 75">
            <a:extLst>
              <a:ext uri="{FF2B5EF4-FFF2-40B4-BE49-F238E27FC236}">
                <a16:creationId xmlns:a16="http://schemas.microsoft.com/office/drawing/2014/main" id="{5DB387C5-46F9-BB46-86BF-1025BFE47886}"/>
              </a:ext>
            </a:extLst>
          </p:cNvPr>
          <p:cNvSpPr>
            <a:spLocks noGrp="1"/>
          </p:cNvSpPr>
          <p:nvPr>
            <p:ph type="body" sz="quarter" idx="23"/>
          </p:nvPr>
        </p:nvSpPr>
        <p:spPr>
          <a:xfrm>
            <a:off x="101599" y="3870771"/>
            <a:ext cx="5791151" cy="304800"/>
          </a:xfrm>
        </p:spPr>
        <p:txBody>
          <a:bodyPr/>
          <a:lstStyle/>
          <a:p>
            <a:r>
              <a:rPr lang="en-US" dirty="0"/>
              <a:t>Working Together</a:t>
            </a:r>
          </a:p>
        </p:txBody>
      </p:sp>
      <p:sp>
        <p:nvSpPr>
          <p:cNvPr id="77" name="Text Placeholder 76">
            <a:extLst>
              <a:ext uri="{FF2B5EF4-FFF2-40B4-BE49-F238E27FC236}">
                <a16:creationId xmlns:a16="http://schemas.microsoft.com/office/drawing/2014/main" id="{8F5E4C23-47B8-8947-BA05-8E84D1E647D3}"/>
              </a:ext>
            </a:extLst>
          </p:cNvPr>
          <p:cNvSpPr>
            <a:spLocks noGrp="1"/>
          </p:cNvSpPr>
          <p:nvPr>
            <p:ph type="body" sz="quarter" idx="24"/>
          </p:nvPr>
        </p:nvSpPr>
        <p:spPr>
          <a:xfrm>
            <a:off x="6197597" y="3870771"/>
            <a:ext cx="5892775" cy="304800"/>
          </a:xfrm>
        </p:spPr>
        <p:txBody>
          <a:bodyPr/>
          <a:lstStyle/>
          <a:p>
            <a:r>
              <a:rPr lang="en-US" dirty="0"/>
              <a:t>Compensation</a:t>
            </a:r>
          </a:p>
        </p:txBody>
      </p:sp>
      <p:sp>
        <p:nvSpPr>
          <p:cNvPr id="88" name="Text Placeholder 87">
            <a:extLst>
              <a:ext uri="{FF2B5EF4-FFF2-40B4-BE49-F238E27FC236}">
                <a16:creationId xmlns:a16="http://schemas.microsoft.com/office/drawing/2014/main" id="{E6EF3EED-787D-5146-90E8-48BA9C758E5F}"/>
              </a:ext>
            </a:extLst>
          </p:cNvPr>
          <p:cNvSpPr>
            <a:spLocks noGrp="1"/>
          </p:cNvSpPr>
          <p:nvPr>
            <p:ph type="body" sz="quarter" idx="28"/>
          </p:nvPr>
        </p:nvSpPr>
        <p:spPr>
          <a:xfrm>
            <a:off x="101599" y="4223437"/>
            <a:ext cx="5892776" cy="2456763"/>
          </a:xfrm>
        </p:spPr>
        <p:txBody>
          <a:bodyPr/>
          <a:lstStyle/>
          <a:p>
            <a:pPr marL="0" indent="0">
              <a:spcBef>
                <a:spcPts val="0"/>
              </a:spcBef>
              <a:spcAft>
                <a:spcPts val="80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Our clients expect, and our service model provides:</a:t>
            </a:r>
          </a:p>
          <a:p>
            <a:pPr>
              <a:spcBef>
                <a:spcPts val="0"/>
              </a:spcBef>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High levels of day-to-day interaction including contract review, editing, and negotiations</a:t>
            </a:r>
          </a:p>
          <a:p>
            <a:pPr>
              <a:spcBef>
                <a:spcPts val="0"/>
              </a:spcBef>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Project specific risk management advice</a:t>
            </a:r>
          </a:p>
          <a:p>
            <a:pPr>
              <a:spcBef>
                <a:spcPts val="0"/>
              </a:spcBef>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Detailed insurance coverage questions that often involve immediate feedback and no underwriter interaction</a:t>
            </a:r>
          </a:p>
          <a:p>
            <a:pPr>
              <a:spcBef>
                <a:spcPts val="0"/>
              </a:spcBef>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Consultation on potential claims, reporting of claims, and counsel retention.</a:t>
            </a:r>
          </a:p>
          <a:p>
            <a:pPr marL="0" indent="0">
              <a:spcBef>
                <a:spcPts val="800"/>
              </a:spcBef>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These tasks and the relationship needed to fulfill these customer service expectations are often only effectively accomplished with the Greyling service team and our unrivaled expertise.  The majority of work falls to Greyling. Thus, most engagements with our core client base will dictate Greyling taking the leading, if not singular, role.  The opportunities for referral and partnering are described to the right.</a:t>
            </a:r>
          </a:p>
          <a:p>
            <a:pPr marL="0" indent="0">
              <a:spcBef>
                <a:spcPts val="0"/>
              </a:spcBef>
              <a:spcAft>
                <a:spcPts val="800"/>
              </a:spcAft>
              <a:buNone/>
            </a:pPr>
            <a:endParaRPr lang="en-US" sz="1200" dirty="0">
              <a:latin typeface="Calibri" panose="020F0502020204030204" pitchFamily="34" charset="0"/>
              <a:cs typeface="Calibri" panose="020F0502020204030204" pitchFamily="34" charset="0"/>
            </a:endParaRPr>
          </a:p>
        </p:txBody>
      </p:sp>
      <p:sp>
        <p:nvSpPr>
          <p:cNvPr id="89" name="Text Placeholder 88">
            <a:extLst>
              <a:ext uri="{FF2B5EF4-FFF2-40B4-BE49-F238E27FC236}">
                <a16:creationId xmlns:a16="http://schemas.microsoft.com/office/drawing/2014/main" id="{367BA7F5-D64B-2746-9853-775DA692B2A6}"/>
              </a:ext>
            </a:extLst>
          </p:cNvPr>
          <p:cNvSpPr>
            <a:spLocks noGrp="1"/>
          </p:cNvSpPr>
          <p:nvPr>
            <p:ph type="body" sz="quarter" idx="29"/>
          </p:nvPr>
        </p:nvSpPr>
        <p:spPr>
          <a:xfrm>
            <a:off x="6196967" y="4206397"/>
            <a:ext cx="5892775" cy="2270603"/>
          </a:xfrm>
        </p:spPr>
        <p:txBody>
          <a:bodyPr/>
          <a:lstStyle/>
          <a:p>
            <a:pPr marL="0" indent="0">
              <a:spcBef>
                <a:spcPts val="0"/>
              </a:spcBef>
              <a:spcAft>
                <a:spcPts val="800"/>
              </a:spcAft>
              <a:buNone/>
            </a:pPr>
            <a:r>
              <a:rPr lang="en-US" sz="1200" kern="100" dirty="0">
                <a:latin typeface="Calibri" panose="020F0502020204030204" pitchFamily="34" charset="0"/>
                <a:ea typeface="Calibri" panose="020F0502020204030204" pitchFamily="34" charset="0"/>
                <a:cs typeface="Calibri" panose="020F0502020204030204" pitchFamily="34" charset="0"/>
              </a:rPr>
              <a:t>Most engagements warrant referral where Greyling will close the deal and provide all services going forward. We routinely exercise EPIC </a:t>
            </a:r>
            <a:r>
              <a:rPr lang="en-US" sz="1200" i="1" kern="100" dirty="0">
                <a:latin typeface="Calibri" panose="020F0502020204030204" pitchFamily="34" charset="0"/>
                <a:ea typeface="Calibri" panose="020F0502020204030204" pitchFamily="34" charset="0"/>
                <a:cs typeface="Calibri" panose="020F0502020204030204" pitchFamily="34" charset="0"/>
              </a:rPr>
              <a:t>Rules of the Road Scenario C </a:t>
            </a:r>
            <a:r>
              <a:rPr lang="en-US" sz="1200" kern="100" dirty="0">
                <a:latin typeface="Calibri" panose="020F0502020204030204" pitchFamily="34" charset="0"/>
                <a:ea typeface="Calibri" panose="020F0502020204030204" pitchFamily="34" charset="0"/>
                <a:cs typeface="Calibri" panose="020F0502020204030204" pitchFamily="34" charset="0"/>
              </a:rPr>
              <a:t>on these opportunities – referring producer receives 30% revenue credit in Year 1, 20% in Year 2, and 10% in Year 3.</a:t>
            </a:r>
          </a:p>
          <a:p>
            <a:pPr marL="0" indent="0">
              <a:spcBef>
                <a:spcPts val="0"/>
              </a:spcBef>
              <a:spcAft>
                <a:spcPts val="800"/>
              </a:spcAft>
              <a:buNone/>
            </a:pPr>
            <a:r>
              <a:rPr lang="en-US" sz="1200" kern="100" dirty="0">
                <a:latin typeface="Calibri" panose="020F0502020204030204" pitchFamily="34" charset="0"/>
                <a:ea typeface="Calibri" panose="020F0502020204030204" pitchFamily="34" charset="0"/>
                <a:cs typeface="Calibri" panose="020F0502020204030204" pitchFamily="34" charset="0"/>
              </a:rPr>
              <a:t>We can engage using </a:t>
            </a:r>
            <a:r>
              <a:rPr lang="en-US" sz="1200" i="1" kern="100" dirty="0">
                <a:latin typeface="Calibri" panose="020F0502020204030204" pitchFamily="34" charset="0"/>
                <a:ea typeface="Calibri" panose="020F0502020204030204" pitchFamily="34" charset="0"/>
                <a:cs typeface="Calibri" panose="020F0502020204030204" pitchFamily="34" charset="0"/>
              </a:rPr>
              <a:t>Scenarios A </a:t>
            </a:r>
            <a:r>
              <a:rPr lang="en-US" sz="1200" kern="100" dirty="0">
                <a:latin typeface="Calibri" panose="020F0502020204030204" pitchFamily="34" charset="0"/>
                <a:ea typeface="Calibri" panose="020F0502020204030204" pitchFamily="34" charset="0"/>
                <a:cs typeface="Calibri" panose="020F0502020204030204" pitchFamily="34" charset="0"/>
              </a:rPr>
              <a:t>(50/50) or </a:t>
            </a:r>
            <a:r>
              <a:rPr lang="en-US" sz="1200" i="1" kern="100" dirty="0">
                <a:latin typeface="Calibri" panose="020F0502020204030204" pitchFamily="34" charset="0"/>
                <a:ea typeface="Calibri" panose="020F0502020204030204" pitchFamily="34" charset="0"/>
                <a:cs typeface="Calibri" panose="020F0502020204030204" pitchFamily="34" charset="0"/>
              </a:rPr>
              <a:t>B</a:t>
            </a:r>
            <a:r>
              <a:rPr lang="en-US" sz="1200" kern="100" dirty="0">
                <a:latin typeface="Calibri" panose="020F0502020204030204" pitchFamily="34" charset="0"/>
                <a:ea typeface="Calibri" panose="020F0502020204030204" pitchFamily="34" charset="0"/>
                <a:cs typeface="Calibri" panose="020F0502020204030204" pitchFamily="34" charset="0"/>
              </a:rPr>
              <a:t> (50/50 Year 1, then 70/30) where you will stay </a:t>
            </a:r>
            <a:r>
              <a:rPr lang="en-US" sz="1200" b="1" kern="100" dirty="0">
                <a:latin typeface="Calibri" panose="020F0502020204030204" pitchFamily="34" charset="0"/>
                <a:ea typeface="Calibri" panose="020F0502020204030204" pitchFamily="34" charset="0"/>
                <a:cs typeface="Calibri" panose="020F0502020204030204" pitchFamily="34" charset="0"/>
              </a:rPr>
              <a:t>meaningfully</a:t>
            </a:r>
            <a:r>
              <a:rPr lang="en-US" sz="1200" kern="100" dirty="0">
                <a:latin typeface="Calibri" panose="020F0502020204030204" pitchFamily="34" charset="0"/>
                <a:ea typeface="Calibri" panose="020F0502020204030204" pitchFamily="34" charset="0"/>
                <a:cs typeface="Calibri" panose="020F0502020204030204" pitchFamily="34" charset="0"/>
              </a:rPr>
              <a:t> involved in the sales and service process. We’re happy to discuss the options and split of roles.</a:t>
            </a:r>
          </a:p>
          <a:p>
            <a:pPr marL="0" indent="0">
              <a:spcBef>
                <a:spcPts val="0"/>
              </a:spcBef>
              <a:spcAft>
                <a:spcPts val="800"/>
              </a:spcAft>
              <a:buNone/>
            </a:pPr>
            <a:r>
              <a:rPr lang="en-US" sz="1200" kern="100" dirty="0">
                <a:latin typeface="Calibri" panose="020F0502020204030204" pitchFamily="34" charset="0"/>
                <a:ea typeface="Calibri" panose="020F0502020204030204" pitchFamily="34" charset="0"/>
                <a:cs typeface="Calibri" panose="020F0502020204030204" pitchFamily="34" charset="0"/>
              </a:rPr>
              <a:t>For ACEC Business Insurance Trust opportunities, most of which are under $10,000 in revenue, we will provide a one-time incentive of 20% of first year revenue, up to $1,500. No further client interaction would be anticipated.</a:t>
            </a:r>
          </a:p>
          <a:p>
            <a:pPr marL="0" indent="0">
              <a:spcBef>
                <a:spcPts val="0"/>
              </a:spcBef>
              <a:spcAft>
                <a:spcPts val="800"/>
              </a:spcAft>
              <a:buNone/>
            </a:pPr>
            <a:endParaRPr lang="en-US" sz="12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572EF465-3EE4-6469-2A17-01D0FE4A2CA3}"/>
              </a:ext>
            </a:extLst>
          </p:cNvPr>
          <p:cNvPicPr>
            <a:picLocks noChangeAspect="1"/>
          </p:cNvPicPr>
          <p:nvPr/>
        </p:nvPicPr>
        <p:blipFill>
          <a:blip r:embed="rId3"/>
          <a:stretch>
            <a:fillRect/>
          </a:stretch>
        </p:blipFill>
        <p:spPr>
          <a:xfrm>
            <a:off x="118791" y="1680345"/>
            <a:ext cx="817245" cy="566336"/>
          </a:xfrm>
          <a:prstGeom prst="rect">
            <a:avLst/>
          </a:prstGeom>
        </p:spPr>
      </p:pic>
      <p:pic>
        <p:nvPicPr>
          <p:cNvPr id="5" name="Picture 4">
            <a:extLst>
              <a:ext uri="{FF2B5EF4-FFF2-40B4-BE49-F238E27FC236}">
                <a16:creationId xmlns:a16="http://schemas.microsoft.com/office/drawing/2014/main" id="{86D93C1B-18B5-7E8C-BE1F-E1366502656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124742" y="1337724"/>
            <a:ext cx="951620" cy="246083"/>
          </a:xfrm>
          <a:prstGeom prst="rect">
            <a:avLst/>
          </a:prstGeom>
        </p:spPr>
      </p:pic>
      <p:pic>
        <p:nvPicPr>
          <p:cNvPr id="6" name="Picture 5">
            <a:extLst>
              <a:ext uri="{FF2B5EF4-FFF2-40B4-BE49-F238E27FC236}">
                <a16:creationId xmlns:a16="http://schemas.microsoft.com/office/drawing/2014/main" id="{5D137967-1A72-7F5A-171C-D90804B6E3C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2188248" y="1286927"/>
            <a:ext cx="966152" cy="361501"/>
          </a:xfrm>
          <a:prstGeom prst="rect">
            <a:avLst/>
          </a:prstGeom>
        </p:spPr>
      </p:pic>
      <p:pic>
        <p:nvPicPr>
          <p:cNvPr id="7" name="Picture 6">
            <a:extLst>
              <a:ext uri="{FF2B5EF4-FFF2-40B4-BE49-F238E27FC236}">
                <a16:creationId xmlns:a16="http://schemas.microsoft.com/office/drawing/2014/main" id="{B08E6BCB-F177-0577-9EBD-FA2787BEAF5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3260223" y="1365671"/>
            <a:ext cx="966152" cy="314675"/>
          </a:xfrm>
          <a:prstGeom prst="rect">
            <a:avLst/>
          </a:prstGeom>
        </p:spPr>
      </p:pic>
      <p:pic>
        <p:nvPicPr>
          <p:cNvPr id="8" name="Picture 7">
            <a:extLst>
              <a:ext uri="{FF2B5EF4-FFF2-40B4-BE49-F238E27FC236}">
                <a16:creationId xmlns:a16="http://schemas.microsoft.com/office/drawing/2014/main" id="{9314A4A4-9B82-26ED-58E7-6F59F106CA58}"/>
              </a:ext>
            </a:extLst>
          </p:cNvPr>
          <p:cNvPicPr>
            <a:picLocks noChangeAspect="1"/>
          </p:cNvPicPr>
          <p:nvPr/>
        </p:nvPicPr>
        <p:blipFill>
          <a:blip r:embed="rId7"/>
          <a:stretch>
            <a:fillRect/>
          </a:stretch>
        </p:blipFill>
        <p:spPr>
          <a:xfrm>
            <a:off x="4239647" y="1338179"/>
            <a:ext cx="1025140" cy="344103"/>
          </a:xfrm>
          <a:prstGeom prst="rect">
            <a:avLst/>
          </a:prstGeom>
        </p:spPr>
      </p:pic>
      <p:pic>
        <p:nvPicPr>
          <p:cNvPr id="9" name="Picture 8">
            <a:extLst>
              <a:ext uri="{FF2B5EF4-FFF2-40B4-BE49-F238E27FC236}">
                <a16:creationId xmlns:a16="http://schemas.microsoft.com/office/drawing/2014/main" id="{D9F353F7-F999-FF6E-91CE-F938F4B19139}"/>
              </a:ext>
            </a:extLst>
          </p:cNvPr>
          <p:cNvPicPr>
            <a:picLocks noChangeAspect="1"/>
          </p:cNvPicPr>
          <p:nvPr/>
        </p:nvPicPr>
        <p:blipFill>
          <a:blip r:embed="rId8"/>
          <a:stretch>
            <a:fillRect/>
          </a:stretch>
        </p:blipFill>
        <p:spPr>
          <a:xfrm>
            <a:off x="5370612" y="1256412"/>
            <a:ext cx="494648" cy="430128"/>
          </a:xfrm>
          <a:prstGeom prst="rect">
            <a:avLst/>
          </a:prstGeom>
        </p:spPr>
      </p:pic>
      <p:pic>
        <p:nvPicPr>
          <p:cNvPr id="10" name="Picture 9">
            <a:extLst>
              <a:ext uri="{FF2B5EF4-FFF2-40B4-BE49-F238E27FC236}">
                <a16:creationId xmlns:a16="http://schemas.microsoft.com/office/drawing/2014/main" id="{FF392593-5E18-95BD-D5D4-2068F3C187CE}"/>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1014676" y="1795638"/>
            <a:ext cx="966152" cy="295081"/>
          </a:xfrm>
          <a:prstGeom prst="rect">
            <a:avLst/>
          </a:prstGeom>
        </p:spPr>
      </p:pic>
      <p:pic>
        <p:nvPicPr>
          <p:cNvPr id="14" name="Picture 13">
            <a:extLst>
              <a:ext uri="{FF2B5EF4-FFF2-40B4-BE49-F238E27FC236}">
                <a16:creationId xmlns:a16="http://schemas.microsoft.com/office/drawing/2014/main" id="{D1BB1F01-C07A-7BC2-9009-867FEEE26366}"/>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2144695" y="1863995"/>
            <a:ext cx="919851" cy="271723"/>
          </a:xfrm>
          <a:prstGeom prst="rect">
            <a:avLst/>
          </a:prstGeom>
        </p:spPr>
      </p:pic>
      <p:pic>
        <p:nvPicPr>
          <p:cNvPr id="15" name="Picture 14">
            <a:extLst>
              <a:ext uri="{FF2B5EF4-FFF2-40B4-BE49-F238E27FC236}">
                <a16:creationId xmlns:a16="http://schemas.microsoft.com/office/drawing/2014/main" id="{74C0D508-5D86-4396-3168-69ABFF219149}"/>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3189487" y="1796304"/>
            <a:ext cx="1130848" cy="407105"/>
          </a:xfrm>
          <a:prstGeom prst="rect">
            <a:avLst/>
          </a:prstGeom>
        </p:spPr>
      </p:pic>
      <p:pic>
        <p:nvPicPr>
          <p:cNvPr id="16" name="Picture 15">
            <a:extLst>
              <a:ext uri="{FF2B5EF4-FFF2-40B4-BE49-F238E27FC236}">
                <a16:creationId xmlns:a16="http://schemas.microsoft.com/office/drawing/2014/main" id="{888D1FF0-61F8-B118-102C-9BC38B60A489}"/>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p:blipFill>
        <p:spPr>
          <a:xfrm>
            <a:off x="4445276" y="1852917"/>
            <a:ext cx="966152" cy="301923"/>
          </a:xfrm>
          <a:prstGeom prst="rect">
            <a:avLst/>
          </a:prstGeom>
        </p:spPr>
      </p:pic>
      <p:pic>
        <p:nvPicPr>
          <p:cNvPr id="17" name="Picture 16">
            <a:extLst>
              <a:ext uri="{FF2B5EF4-FFF2-40B4-BE49-F238E27FC236}">
                <a16:creationId xmlns:a16="http://schemas.microsoft.com/office/drawing/2014/main" id="{D92A978B-61E7-4ABE-D244-3AE59F9F2B91}"/>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137284" y="2380704"/>
            <a:ext cx="966152" cy="199472"/>
          </a:xfrm>
          <a:prstGeom prst="rect">
            <a:avLst/>
          </a:prstGeom>
        </p:spPr>
      </p:pic>
      <p:pic>
        <p:nvPicPr>
          <p:cNvPr id="18" name="Picture 17">
            <a:extLst>
              <a:ext uri="{FF2B5EF4-FFF2-40B4-BE49-F238E27FC236}">
                <a16:creationId xmlns:a16="http://schemas.microsoft.com/office/drawing/2014/main" id="{A2F97C35-FE4A-1D4F-341A-504022F948C1}"/>
              </a:ext>
            </a:extLst>
          </p:cNvPr>
          <p:cNvPicPr>
            <a:picLocks noChangeAspect="1"/>
          </p:cNvPicPr>
          <p:nvPr/>
        </p:nvPicPr>
        <p:blipFill>
          <a:blip r:embed="rId14" cstate="print">
            <a:extLst>
              <a:ext uri="{28A0092B-C50C-407E-A947-70E740481C1C}">
                <a14:useLocalDpi xmlns:a14="http://schemas.microsoft.com/office/drawing/2010/main" val="0"/>
              </a:ext>
            </a:extLst>
          </a:blip>
          <a:srcRect/>
          <a:stretch/>
        </p:blipFill>
        <p:spPr>
          <a:xfrm>
            <a:off x="1289420" y="2237427"/>
            <a:ext cx="940741" cy="522323"/>
          </a:xfrm>
          <a:prstGeom prst="rect">
            <a:avLst/>
          </a:prstGeom>
        </p:spPr>
      </p:pic>
      <p:pic>
        <p:nvPicPr>
          <p:cNvPr id="19" name="Picture 18">
            <a:extLst>
              <a:ext uri="{FF2B5EF4-FFF2-40B4-BE49-F238E27FC236}">
                <a16:creationId xmlns:a16="http://schemas.microsoft.com/office/drawing/2014/main" id="{23169033-F183-AEE3-C0EE-89CB51610111}"/>
              </a:ext>
            </a:extLst>
          </p:cNvPr>
          <p:cNvPicPr>
            <a:picLocks noChangeAspect="1"/>
          </p:cNvPicPr>
          <p:nvPr/>
        </p:nvPicPr>
        <p:blipFill>
          <a:blip r:embed="rId15" cstate="print">
            <a:extLst>
              <a:ext uri="{28A0092B-C50C-407E-A947-70E740481C1C}">
                <a14:useLocalDpi xmlns:a14="http://schemas.microsoft.com/office/drawing/2010/main" val="0"/>
              </a:ext>
            </a:extLst>
          </a:blip>
          <a:srcRect/>
          <a:stretch/>
        </p:blipFill>
        <p:spPr>
          <a:xfrm>
            <a:off x="3642826" y="2345006"/>
            <a:ext cx="934447" cy="378377"/>
          </a:xfrm>
          <a:prstGeom prst="rect">
            <a:avLst/>
          </a:prstGeom>
        </p:spPr>
      </p:pic>
      <p:pic>
        <p:nvPicPr>
          <p:cNvPr id="20" name="Picture 19">
            <a:extLst>
              <a:ext uri="{FF2B5EF4-FFF2-40B4-BE49-F238E27FC236}">
                <a16:creationId xmlns:a16="http://schemas.microsoft.com/office/drawing/2014/main" id="{E7AACDDA-7F3E-5320-BD0E-D0634E116D96}"/>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2443269" y="2283150"/>
            <a:ext cx="949039" cy="506153"/>
          </a:xfrm>
          <a:prstGeom prst="rect">
            <a:avLst/>
          </a:prstGeom>
        </p:spPr>
      </p:pic>
      <p:pic>
        <p:nvPicPr>
          <p:cNvPr id="21" name="Picture 20">
            <a:extLst>
              <a:ext uri="{FF2B5EF4-FFF2-40B4-BE49-F238E27FC236}">
                <a16:creationId xmlns:a16="http://schemas.microsoft.com/office/drawing/2014/main" id="{73A2B4FD-9F87-0574-988E-6D1E9B7BF2C3}"/>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p:blipFill>
        <p:spPr>
          <a:xfrm>
            <a:off x="4664601" y="2325477"/>
            <a:ext cx="767804" cy="573860"/>
          </a:xfrm>
          <a:prstGeom prst="rect">
            <a:avLst/>
          </a:prstGeom>
        </p:spPr>
      </p:pic>
      <p:pic>
        <p:nvPicPr>
          <p:cNvPr id="22" name="Picture 21">
            <a:extLst>
              <a:ext uri="{FF2B5EF4-FFF2-40B4-BE49-F238E27FC236}">
                <a16:creationId xmlns:a16="http://schemas.microsoft.com/office/drawing/2014/main" id="{4517743A-36AB-1DD5-7120-797ADB2CFA46}"/>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p:blipFill>
        <p:spPr>
          <a:xfrm>
            <a:off x="162344" y="2866783"/>
            <a:ext cx="964525" cy="304588"/>
          </a:xfrm>
          <a:prstGeom prst="rect">
            <a:avLst/>
          </a:prstGeom>
        </p:spPr>
      </p:pic>
      <p:pic>
        <p:nvPicPr>
          <p:cNvPr id="25" name="Picture 24">
            <a:extLst>
              <a:ext uri="{FF2B5EF4-FFF2-40B4-BE49-F238E27FC236}">
                <a16:creationId xmlns:a16="http://schemas.microsoft.com/office/drawing/2014/main" id="{86B6E786-17DC-A8D0-4C61-BBDCABA79D61}"/>
              </a:ext>
            </a:extLst>
          </p:cNvPr>
          <p:cNvPicPr>
            <a:picLocks noChangeAspect="1"/>
          </p:cNvPicPr>
          <p:nvPr/>
        </p:nvPicPr>
        <p:blipFill>
          <a:blip r:embed="rId19" cstate="print">
            <a:extLst>
              <a:ext uri="{28A0092B-C50C-407E-A947-70E740481C1C}">
                <a14:useLocalDpi xmlns:a14="http://schemas.microsoft.com/office/drawing/2010/main" val="0"/>
              </a:ext>
            </a:extLst>
          </a:blip>
          <a:srcRect/>
          <a:stretch/>
        </p:blipFill>
        <p:spPr>
          <a:xfrm>
            <a:off x="1282289" y="2889815"/>
            <a:ext cx="1074684" cy="268672"/>
          </a:xfrm>
          <a:prstGeom prst="rect">
            <a:avLst/>
          </a:prstGeom>
        </p:spPr>
      </p:pic>
      <p:pic>
        <p:nvPicPr>
          <p:cNvPr id="26" name="Picture 25">
            <a:extLst>
              <a:ext uri="{FF2B5EF4-FFF2-40B4-BE49-F238E27FC236}">
                <a16:creationId xmlns:a16="http://schemas.microsoft.com/office/drawing/2014/main" id="{19A4F2CC-C121-55E5-E79D-5D4F762591E8}"/>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p:blipFill>
        <p:spPr>
          <a:xfrm>
            <a:off x="2512391" y="2874167"/>
            <a:ext cx="899640" cy="374851"/>
          </a:xfrm>
          <a:prstGeom prst="rect">
            <a:avLst/>
          </a:prstGeom>
        </p:spPr>
      </p:pic>
      <p:pic>
        <p:nvPicPr>
          <p:cNvPr id="28" name="Picture 27">
            <a:extLst>
              <a:ext uri="{FF2B5EF4-FFF2-40B4-BE49-F238E27FC236}">
                <a16:creationId xmlns:a16="http://schemas.microsoft.com/office/drawing/2014/main" id="{E7B938D5-BDD0-16BB-CEA2-1055E87FB797}"/>
              </a:ext>
            </a:extLst>
          </p:cNvPr>
          <p:cNvPicPr>
            <a:picLocks noChangeAspect="1"/>
          </p:cNvPicPr>
          <p:nvPr/>
        </p:nvPicPr>
        <p:blipFill>
          <a:blip r:embed="rId21" cstate="print">
            <a:extLst>
              <a:ext uri="{28A0092B-C50C-407E-A947-70E740481C1C}">
                <a14:useLocalDpi xmlns:a14="http://schemas.microsoft.com/office/drawing/2010/main" val="0"/>
              </a:ext>
            </a:extLst>
          </a:blip>
          <a:srcRect/>
          <a:stretch/>
        </p:blipFill>
        <p:spPr>
          <a:xfrm>
            <a:off x="4865854" y="2966325"/>
            <a:ext cx="954772" cy="225260"/>
          </a:xfrm>
          <a:prstGeom prst="rect">
            <a:avLst/>
          </a:prstGeom>
        </p:spPr>
      </p:pic>
      <p:pic>
        <p:nvPicPr>
          <p:cNvPr id="29" name="Picture 28">
            <a:extLst>
              <a:ext uri="{FF2B5EF4-FFF2-40B4-BE49-F238E27FC236}">
                <a16:creationId xmlns:a16="http://schemas.microsoft.com/office/drawing/2014/main" id="{FF2A4235-5574-2054-D257-CAD86966B070}"/>
              </a:ext>
            </a:extLst>
          </p:cNvPr>
          <p:cNvPicPr>
            <a:picLocks noChangeAspect="1"/>
          </p:cNvPicPr>
          <p:nvPr/>
        </p:nvPicPr>
        <p:blipFill>
          <a:blip r:embed="rId22"/>
          <a:stretch>
            <a:fillRect/>
          </a:stretch>
        </p:blipFill>
        <p:spPr>
          <a:xfrm>
            <a:off x="3734915" y="2885441"/>
            <a:ext cx="853088" cy="322596"/>
          </a:xfrm>
          <a:prstGeom prst="rect">
            <a:avLst/>
          </a:prstGeom>
        </p:spPr>
      </p:pic>
      <p:pic>
        <p:nvPicPr>
          <p:cNvPr id="30" name="Picture 29">
            <a:extLst>
              <a:ext uri="{FF2B5EF4-FFF2-40B4-BE49-F238E27FC236}">
                <a16:creationId xmlns:a16="http://schemas.microsoft.com/office/drawing/2014/main" id="{49063B20-9829-9C36-E018-FE0FEE035572}"/>
              </a:ext>
            </a:extLst>
          </p:cNvPr>
          <p:cNvPicPr>
            <a:picLocks noChangeAspect="1"/>
          </p:cNvPicPr>
          <p:nvPr/>
        </p:nvPicPr>
        <p:blipFill>
          <a:blip r:embed="rId23"/>
          <a:stretch>
            <a:fillRect/>
          </a:stretch>
        </p:blipFill>
        <p:spPr>
          <a:xfrm>
            <a:off x="236720" y="1342557"/>
            <a:ext cx="759896" cy="250908"/>
          </a:xfrm>
          <a:prstGeom prst="rect">
            <a:avLst/>
          </a:prstGeom>
        </p:spPr>
      </p:pic>
      <p:sp>
        <p:nvSpPr>
          <p:cNvPr id="2" name="Text Placeholder 87">
            <a:extLst>
              <a:ext uri="{FF2B5EF4-FFF2-40B4-BE49-F238E27FC236}">
                <a16:creationId xmlns:a16="http://schemas.microsoft.com/office/drawing/2014/main" id="{7200516C-2FCC-D2B7-36EE-0745799CF578}"/>
              </a:ext>
            </a:extLst>
          </p:cNvPr>
          <p:cNvSpPr txBox="1">
            <a:spLocks/>
          </p:cNvSpPr>
          <p:nvPr/>
        </p:nvSpPr>
        <p:spPr>
          <a:xfrm>
            <a:off x="5411429" y="1706281"/>
            <a:ext cx="746775" cy="779161"/>
          </a:xfrm>
          <a:prstGeom prst="rect">
            <a:avLst/>
          </a:prstGeom>
        </p:spPr>
        <p:txBody>
          <a:bodyPr>
            <a:noAutofit/>
          </a:bodyPr>
          <a:lstStyle>
            <a:lvl1pPr marL="117475" indent="-117475" algn="l" defTabSz="685800" rtl="0" eaLnBrk="1" latinLnBrk="0" hangingPunct="1">
              <a:lnSpc>
                <a:spcPct val="90000"/>
              </a:lnSpc>
              <a:spcBef>
                <a:spcPts val="150"/>
              </a:spcBef>
              <a:buFont typeface="Arial" panose="020B0604020202020204" pitchFamily="34" charset="0"/>
              <a:buChar char="•"/>
              <a:tabLst/>
              <a:defRPr sz="1000" kern="1200">
                <a:solidFill>
                  <a:schemeClr val="tx1"/>
                </a:solidFill>
                <a:latin typeface="Arial" panose="020B0604020202020204" pitchFamily="34" charset="0"/>
                <a:ea typeface="+mn-ea"/>
                <a:cs typeface="Arial" panose="020B0604020202020204" pitchFamily="34" charset="0"/>
              </a:defRPr>
            </a:lvl1pPr>
            <a:lvl2pPr marL="230188" indent="-112713" algn="l" defTabSz="685800" rtl="0" eaLnBrk="1" latinLnBrk="0" hangingPunct="1">
              <a:lnSpc>
                <a:spcPct val="100000"/>
              </a:lnSpc>
              <a:spcBef>
                <a:spcPts val="0"/>
              </a:spcBef>
              <a:buFont typeface="Arial" panose="020B0604020202020204" pitchFamily="34" charset="0"/>
              <a:buChar char="•"/>
              <a:tabLst/>
              <a:defRPr sz="800" i="1" kern="1200">
                <a:solidFill>
                  <a:schemeClr val="tx1"/>
                </a:solidFill>
                <a:latin typeface="Arial" panose="020B0604020202020204" pitchFamily="34" charset="0"/>
                <a:ea typeface="+mn-ea"/>
                <a:cs typeface="Arial" panose="020B0604020202020204" pitchFamily="34" charset="0"/>
              </a:defRPr>
            </a:lvl2pPr>
            <a:lvl3pPr marL="347663" indent="-117475" algn="l" defTabSz="685800" rtl="0" eaLnBrk="1" latinLnBrk="0" hangingPunct="1">
              <a:lnSpc>
                <a:spcPct val="100000"/>
              </a:lnSpc>
              <a:spcBef>
                <a:spcPts val="0"/>
              </a:spcBef>
              <a:buFont typeface="Arial" panose="020B0604020202020204" pitchFamily="34" charset="0"/>
              <a:buChar char="•"/>
              <a:tabLst/>
              <a:defRPr sz="800" i="1" kern="1200">
                <a:solidFill>
                  <a:schemeClr val="tx1"/>
                </a:solidFill>
                <a:latin typeface="Arial" panose="020B0604020202020204" pitchFamily="34" charset="0"/>
                <a:ea typeface="+mn-ea"/>
                <a:cs typeface="Arial" panose="020B0604020202020204" pitchFamily="34" charset="0"/>
              </a:defRPr>
            </a:lvl3pPr>
            <a:lvl4pPr marL="460375" indent="-112713" algn="l" defTabSz="685800" rtl="0" eaLnBrk="1" latinLnBrk="0" hangingPunct="1">
              <a:lnSpc>
                <a:spcPct val="100000"/>
              </a:lnSpc>
              <a:spcBef>
                <a:spcPts val="0"/>
              </a:spcBef>
              <a:buFont typeface="Arial" panose="020B0604020202020204" pitchFamily="34" charset="0"/>
              <a:buChar char="•"/>
              <a:tabLst/>
              <a:defRPr sz="800" kern="1200">
                <a:solidFill>
                  <a:schemeClr val="tx1"/>
                </a:solidFill>
                <a:latin typeface="Arial" panose="020B0604020202020204" pitchFamily="34" charset="0"/>
                <a:ea typeface="+mn-ea"/>
                <a:cs typeface="Arial" panose="020B0604020202020204" pitchFamily="34" charset="0"/>
              </a:defRPr>
            </a:lvl4pPr>
            <a:lvl5pPr marL="571500" indent="-111125" algn="l" defTabSz="685800" rtl="0" eaLnBrk="1" latinLnBrk="0" hangingPunct="1">
              <a:lnSpc>
                <a:spcPct val="100000"/>
              </a:lnSpc>
              <a:spcBef>
                <a:spcPts val="0"/>
              </a:spcBef>
              <a:buFont typeface="Arial" panose="020B0604020202020204" pitchFamily="34" charset="0"/>
              <a:buChar char="•"/>
              <a:tabLst/>
              <a:defRPr sz="8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defTabSz="914377">
              <a:spcBef>
                <a:spcPts val="200"/>
              </a:spcBef>
              <a:buNone/>
            </a:pPr>
            <a:r>
              <a:rPr lang="en-US" sz="667" dirty="0">
                <a:solidFill>
                  <a:srgbClr val="000000"/>
                </a:solidFill>
                <a:latin typeface="Arial" panose="020B0604020202020204"/>
              </a:rPr>
              <a:t>*AXA is excess-only (&gt;$5M) outside of Indiana, New York City, and Chicago</a:t>
            </a:r>
            <a:endParaRPr lang="en-US" sz="667" dirty="0">
              <a:solidFill>
                <a:srgbClr val="101820"/>
              </a:solidFill>
            </a:endParaRPr>
          </a:p>
        </p:txBody>
      </p:sp>
      <p:cxnSp>
        <p:nvCxnSpPr>
          <p:cNvPr id="31" name="Straight Connector 30">
            <a:extLst>
              <a:ext uri="{FF2B5EF4-FFF2-40B4-BE49-F238E27FC236}">
                <a16:creationId xmlns:a16="http://schemas.microsoft.com/office/drawing/2014/main" id="{49B85B1D-D100-5670-621D-E9FB6CD64195}"/>
              </a:ext>
            </a:extLst>
          </p:cNvPr>
          <p:cNvCxnSpPr>
            <a:cxnSpLocks/>
          </p:cNvCxnSpPr>
          <p:nvPr/>
        </p:nvCxnSpPr>
        <p:spPr>
          <a:xfrm>
            <a:off x="6096000" y="889000"/>
            <a:ext cx="0" cy="2370741"/>
          </a:xfrm>
          <a:prstGeom prst="line">
            <a:avLst/>
          </a:prstGeom>
          <a:ln w="9525">
            <a:solidFill>
              <a:schemeClr val="accent6"/>
            </a:solidFill>
            <a:prstDash val="solid"/>
          </a:ln>
        </p:spPr>
        <p:style>
          <a:lnRef idx="1">
            <a:schemeClr val="accent1"/>
          </a:lnRef>
          <a:fillRef idx="0">
            <a:schemeClr val="accent1"/>
          </a:fillRef>
          <a:effectRef idx="0">
            <a:schemeClr val="accent1"/>
          </a:effectRef>
          <a:fontRef idx="minor">
            <a:schemeClr val="tx1"/>
          </a:fontRef>
        </p:style>
      </p:cxnSp>
      <p:pic>
        <p:nvPicPr>
          <p:cNvPr id="66" name="Picture 65">
            <a:extLst>
              <a:ext uri="{FF2B5EF4-FFF2-40B4-BE49-F238E27FC236}">
                <a16:creationId xmlns:a16="http://schemas.microsoft.com/office/drawing/2014/main" id="{11992121-62FB-7596-D510-522BC57F07A2}"/>
              </a:ext>
            </a:extLst>
          </p:cNvPr>
          <p:cNvPicPr>
            <a:picLocks noChangeAspect="1"/>
          </p:cNvPicPr>
          <p:nvPr/>
        </p:nvPicPr>
        <p:blipFill>
          <a:blip r:embed="rId24"/>
          <a:srcRect/>
          <a:stretch/>
        </p:blipFill>
        <p:spPr>
          <a:xfrm>
            <a:off x="10939454" y="742203"/>
            <a:ext cx="1181888" cy="413661"/>
          </a:xfrm>
          <a:prstGeom prst="rect">
            <a:avLst/>
          </a:prstGeom>
        </p:spPr>
      </p:pic>
      <p:pic>
        <p:nvPicPr>
          <p:cNvPr id="3" name="Picture 2">
            <a:extLst>
              <a:ext uri="{FF2B5EF4-FFF2-40B4-BE49-F238E27FC236}">
                <a16:creationId xmlns:a16="http://schemas.microsoft.com/office/drawing/2014/main" id="{43A89D77-6739-5FD9-09B7-C97923C01CC5}"/>
              </a:ext>
            </a:extLst>
          </p:cNvPr>
          <p:cNvPicPr>
            <a:picLocks noChangeAspect="1"/>
          </p:cNvPicPr>
          <p:nvPr/>
        </p:nvPicPr>
        <p:blipFill>
          <a:blip r:embed="rId25"/>
          <a:srcRect/>
          <a:stretch/>
        </p:blipFill>
        <p:spPr>
          <a:xfrm>
            <a:off x="10442510" y="122344"/>
            <a:ext cx="1343089" cy="487680"/>
          </a:xfrm>
          <a:prstGeom prst="rect">
            <a:avLst/>
          </a:prstGeom>
        </p:spPr>
      </p:pic>
    </p:spTree>
    <p:extLst>
      <p:ext uri="{BB962C8B-B14F-4D97-AF65-F5344CB8AC3E}">
        <p14:creationId xmlns:p14="http://schemas.microsoft.com/office/powerpoint/2010/main" val="3228386786"/>
      </p:ext>
    </p:extLst>
  </p:cSld>
  <p:clrMapOvr>
    <a:masterClrMapping/>
  </p:clrMapOvr>
</p:sld>
</file>

<file path=ppt/theme/theme1.xml><?xml version="1.0" encoding="utf-8"?>
<a:theme xmlns:a="http://schemas.openxmlformats.org/drawingml/2006/main" name="1_Office Theme">
  <a:themeElements>
    <a:clrScheme name="EPIC Refreshed Brand 2020 1">
      <a:dk1>
        <a:srgbClr val="101820"/>
      </a:dk1>
      <a:lt1>
        <a:srgbClr val="FFFFFF"/>
      </a:lt1>
      <a:dk2>
        <a:srgbClr val="003B5C"/>
      </a:dk2>
      <a:lt2>
        <a:srgbClr val="FFFFFF"/>
      </a:lt2>
      <a:accent1>
        <a:srgbClr val="004B87"/>
      </a:accent1>
      <a:accent2>
        <a:srgbClr val="FFBF3F"/>
      </a:accent2>
      <a:accent3>
        <a:srgbClr val="535659"/>
      </a:accent3>
      <a:accent4>
        <a:srgbClr val="888B8D"/>
      </a:accent4>
      <a:accent5>
        <a:srgbClr val="005EB8"/>
      </a:accent5>
      <a:accent6>
        <a:srgbClr val="C8C9C7"/>
      </a:accent6>
      <a:hlink>
        <a:srgbClr val="004B87"/>
      </a:hlink>
      <a:folHlink>
        <a:srgbClr val="004B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400" b="1" dirty="0" smtClean="0">
            <a:latin typeface="Century Gothic" panose="020B0502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1244</Words>
  <Application>Microsoft Office PowerPoint</Application>
  <PresentationFormat>Widescreen</PresentationFormat>
  <Paragraphs>63</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Century Gothic</vt:lpstr>
      <vt:lpstr>1_Office Theme</vt:lpstr>
      <vt:lpstr>Greyling Division Battlecard</vt:lpstr>
      <vt:lpstr>Greyling Division Battlecard</vt:lpstr>
    </vt:vector>
  </TitlesOfParts>
  <Company>EPIC Brokers &amp; Consultants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Greyling Division Battlecard</dc:title>
  <dc:creator>Jonathan Gardner</dc:creator>
  <cp:lastModifiedBy>Kent Collier</cp:lastModifiedBy>
  <cp:revision>2</cp:revision>
  <dcterms:created xsi:type="dcterms:W3CDTF">2023-10-05T14:30:28Z</dcterms:created>
  <dcterms:modified xsi:type="dcterms:W3CDTF">2023-10-05T15:51:47Z</dcterms:modified>
</cp:coreProperties>
</file>