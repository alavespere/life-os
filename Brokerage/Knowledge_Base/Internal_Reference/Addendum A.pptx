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5143500" cx="9144000"/>
  <p:notesSz cx="5143500" cy="9144000"/>
  <p:embeddedFontLst>
    <p:embeddedFont>
      <p:font typeface="Noto Sans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" roundtripDataSignature="AMtx7minD1OO1A+vpDNNrUOirYPpSoHr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customschemas.google.com/relationships/presentationmetadata" Target="metadata"/><Relationship Id="rId9" Type="http://schemas.openxmlformats.org/officeDocument/2006/relationships/font" Target="fonts/NotoSans-boldItalic.fntdata"/><Relationship Id="rId5" Type="http://schemas.openxmlformats.org/officeDocument/2006/relationships/slide" Target="slides/slide1.xml"/><Relationship Id="rId6" Type="http://schemas.openxmlformats.org/officeDocument/2006/relationships/font" Target="fonts/NotoSans-regular.fntdata"/><Relationship Id="rId7" Type="http://schemas.openxmlformats.org/officeDocument/2006/relationships/font" Target="fonts/NotoSans-bold.fntdata"/><Relationship Id="rId8" Type="http://schemas.openxmlformats.org/officeDocument/2006/relationships/font" Target="fonts/NotoSans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7"/>
          <p:cNvSpPr/>
          <p:nvPr/>
        </p:nvSpPr>
        <p:spPr>
          <a:xfrm>
            <a:off x="8103636" y="107156"/>
            <a:ext cx="933208" cy="242888"/>
          </a:xfrm>
          <a:prstGeom prst="roundRect">
            <a:avLst>
              <a:gd fmla="val 16667" name="adj"/>
            </a:avLst>
          </a:prstGeom>
          <a:solidFill>
            <a:srgbClr val="F18F0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10792" y="183952"/>
            <a:ext cx="96441" cy="8572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17"/>
          <p:cNvSpPr/>
          <p:nvPr/>
        </p:nvSpPr>
        <p:spPr>
          <a:xfrm>
            <a:off x="8307232" y="169664"/>
            <a:ext cx="622455" cy="11608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28"/>
              <a:buFont typeface="Noto Sans"/>
              <a:buNone/>
            </a:pPr>
            <a:r>
              <a:rPr b="1" i="0" lang="en-US" sz="628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 SECRET SAUCE </a:t>
            </a:r>
            <a:endParaRPr b="0" i="0" sz="62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7"/>
          <p:cNvSpPr/>
          <p:nvPr/>
        </p:nvSpPr>
        <p:spPr>
          <a:xfrm>
            <a:off x="428625" y="357188"/>
            <a:ext cx="8286750" cy="2743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1800"/>
              <a:buFont typeface="Noto Sans"/>
              <a:buNone/>
            </a:pPr>
            <a:r>
              <a:rPr b="1" lang="en-US" sz="1800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Addendum A: </a:t>
            </a:r>
            <a:r>
              <a:rPr b="1" i="0" lang="en-US" sz="1800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Our Onboarding Approach: The BuildSafe IQ Advantage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7"/>
          <p:cNvSpPr/>
          <p:nvPr/>
        </p:nvSpPr>
        <p:spPr>
          <a:xfrm>
            <a:off x="428625" y="738653"/>
            <a:ext cx="8286750" cy="19288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ECDC4"/>
              </a:buClr>
              <a:buSzPts val="942"/>
              <a:buFont typeface="Noto Sans"/>
              <a:buNone/>
            </a:pPr>
            <a:r>
              <a:rPr b="1" i="0" lang="en-US" sz="1442" u="none" cap="none" strike="noStrike">
                <a:solidFill>
                  <a:srgbClr val="4ECDC4"/>
                </a:solidFill>
                <a:latin typeface="Noto Sans"/>
                <a:ea typeface="Noto Sans"/>
                <a:cs typeface="Noto Sans"/>
                <a:sym typeface="Noto Sans"/>
              </a:rPr>
              <a:t>Tech-Enabled Service Excellence Through Systematic Team Training</a:t>
            </a:r>
            <a:endParaRPr b="0" i="0" sz="14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7"/>
          <p:cNvSpPr/>
          <p:nvPr/>
        </p:nvSpPr>
        <p:spPr>
          <a:xfrm>
            <a:off x="428625" y="1217284"/>
            <a:ext cx="3964781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05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1238"/>
              <a:buFont typeface="Noto Sans"/>
              <a:buNone/>
            </a:pPr>
            <a:r>
              <a:rPr b="1" lang="en-US" sz="1438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4 - </a:t>
            </a:r>
            <a:r>
              <a:rPr b="1" i="0" lang="en-US" sz="1438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Phase Onboarding Process</a:t>
            </a:r>
            <a:endParaRPr b="0" i="0" sz="14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7"/>
          <p:cNvSpPr/>
          <p:nvPr/>
        </p:nvSpPr>
        <p:spPr>
          <a:xfrm>
            <a:off x="428625" y="1674484"/>
            <a:ext cx="3964781" cy="701483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7"/>
          <p:cNvSpPr/>
          <p:nvPr/>
        </p:nvSpPr>
        <p:spPr>
          <a:xfrm>
            <a:off x="428625" y="1674484"/>
            <a:ext cx="28575" cy="701483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7"/>
          <p:cNvSpPr/>
          <p:nvPr/>
        </p:nvSpPr>
        <p:spPr>
          <a:xfrm>
            <a:off x="535781" y="1781640"/>
            <a:ext cx="250031" cy="250031"/>
          </a:xfrm>
          <a:prstGeom prst="ellipse">
            <a:avLst/>
          </a:prstGeom>
          <a:solidFill>
            <a:srgbClr val="F18F0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7"/>
          <p:cNvSpPr/>
          <p:nvPr/>
        </p:nvSpPr>
        <p:spPr>
          <a:xfrm>
            <a:off x="535781" y="1781640"/>
            <a:ext cx="250031" cy="2500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32"/>
              <a:buFont typeface="Noto Sans"/>
              <a:buNone/>
            </a:pPr>
            <a:r>
              <a:rPr b="1" i="0" lang="en-US" sz="732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endParaRPr b="0" i="0" sz="7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7"/>
          <p:cNvSpPr/>
          <p:nvPr/>
        </p:nvSpPr>
        <p:spPr>
          <a:xfrm>
            <a:off x="892975" y="1781650"/>
            <a:ext cx="3500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837"/>
              <a:buFont typeface="Noto Sans"/>
              <a:buNone/>
            </a:pPr>
            <a:r>
              <a:rPr b="1" i="0" lang="en-US" sz="1137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Construction Industry Immersion</a:t>
            </a:r>
            <a:endParaRPr b="0" i="0" sz="113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7"/>
          <p:cNvSpPr/>
          <p:nvPr/>
        </p:nvSpPr>
        <p:spPr>
          <a:xfrm>
            <a:off x="892975" y="1988819"/>
            <a:ext cx="35004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2"/>
              <a:buFont typeface="Noto Sans"/>
              <a:buNone/>
            </a:pPr>
            <a:r>
              <a:rPr b="0" i="0" lang="en-US" sz="1032" u="none" cap="none" strike="noStrike">
                <a:solidFill>
                  <a:srgbClr val="666666"/>
                </a:solidFill>
                <a:latin typeface="Noto Sans"/>
                <a:ea typeface="Noto Sans"/>
                <a:cs typeface="Noto Sans"/>
                <a:sym typeface="Noto Sans"/>
              </a:rPr>
              <a:t>40-hour intensive training on construction workflows, risk factors, and industry terminology</a:t>
            </a:r>
            <a:endParaRPr b="0" i="0" sz="10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7"/>
          <p:cNvSpPr/>
          <p:nvPr/>
        </p:nvSpPr>
        <p:spPr>
          <a:xfrm>
            <a:off x="428625" y="2554560"/>
            <a:ext cx="3964781" cy="701483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7"/>
          <p:cNvSpPr/>
          <p:nvPr/>
        </p:nvSpPr>
        <p:spPr>
          <a:xfrm>
            <a:off x="428625" y="2554560"/>
            <a:ext cx="28575" cy="701483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7"/>
          <p:cNvSpPr/>
          <p:nvPr/>
        </p:nvSpPr>
        <p:spPr>
          <a:xfrm>
            <a:off x="535781" y="2661717"/>
            <a:ext cx="250031" cy="250031"/>
          </a:xfrm>
          <a:prstGeom prst="ellipse">
            <a:avLst/>
          </a:prstGeom>
          <a:solidFill>
            <a:srgbClr val="F18F0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7"/>
          <p:cNvSpPr/>
          <p:nvPr/>
        </p:nvSpPr>
        <p:spPr>
          <a:xfrm>
            <a:off x="535781" y="2661717"/>
            <a:ext cx="250031" cy="2500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32"/>
              <a:buFont typeface="Noto Sans"/>
              <a:buNone/>
            </a:pPr>
            <a:r>
              <a:rPr b="1" i="0" lang="en-US" sz="732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endParaRPr b="0" i="0" sz="7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7"/>
          <p:cNvSpPr/>
          <p:nvPr/>
        </p:nvSpPr>
        <p:spPr>
          <a:xfrm>
            <a:off x="892975" y="2661727"/>
            <a:ext cx="3500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837"/>
              <a:buFont typeface="Noto Sans"/>
              <a:buNone/>
            </a:pPr>
            <a:r>
              <a:rPr b="1" i="0" lang="en-US" sz="1137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RiskSync Platform™ Mastery</a:t>
            </a:r>
            <a:endParaRPr b="0" i="0" sz="113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7"/>
          <p:cNvSpPr/>
          <p:nvPr/>
        </p:nvSpPr>
        <p:spPr>
          <a:xfrm>
            <a:off x="892975" y="2868895"/>
            <a:ext cx="35004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2"/>
              <a:buFont typeface="Noto Sans"/>
              <a:buNone/>
            </a:pPr>
            <a:r>
              <a:rPr b="0" i="0" lang="en-US" sz="1032" u="none" cap="none" strike="noStrike">
                <a:solidFill>
                  <a:srgbClr val="666666"/>
                </a:solidFill>
                <a:latin typeface="Noto Sans"/>
                <a:ea typeface="Noto Sans"/>
                <a:cs typeface="Noto Sans"/>
                <a:sym typeface="Noto Sans"/>
              </a:rPr>
              <a:t>Comprehensive platform training with hands-on data analysis and insight generation</a:t>
            </a:r>
            <a:endParaRPr b="0" i="0" sz="10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7"/>
          <p:cNvSpPr/>
          <p:nvPr/>
        </p:nvSpPr>
        <p:spPr>
          <a:xfrm>
            <a:off x="428625" y="3434637"/>
            <a:ext cx="3964781" cy="701483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7"/>
          <p:cNvSpPr/>
          <p:nvPr/>
        </p:nvSpPr>
        <p:spPr>
          <a:xfrm>
            <a:off x="428625" y="3434637"/>
            <a:ext cx="28575" cy="701483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7"/>
          <p:cNvSpPr/>
          <p:nvPr/>
        </p:nvSpPr>
        <p:spPr>
          <a:xfrm>
            <a:off x="535781" y="3541793"/>
            <a:ext cx="250031" cy="250031"/>
          </a:xfrm>
          <a:prstGeom prst="ellipse">
            <a:avLst/>
          </a:prstGeom>
          <a:solidFill>
            <a:srgbClr val="F18F0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7"/>
          <p:cNvSpPr/>
          <p:nvPr/>
        </p:nvSpPr>
        <p:spPr>
          <a:xfrm>
            <a:off x="535781" y="3541793"/>
            <a:ext cx="250031" cy="2500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32"/>
              <a:buFont typeface="Noto Sans"/>
              <a:buNone/>
            </a:pPr>
            <a:r>
              <a:rPr b="1" i="0" lang="en-US" sz="732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  <a:endParaRPr b="0" i="0" sz="7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7"/>
          <p:cNvSpPr/>
          <p:nvPr/>
        </p:nvSpPr>
        <p:spPr>
          <a:xfrm>
            <a:off x="428625" y="4314713"/>
            <a:ext cx="3964781" cy="701483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17"/>
          <p:cNvSpPr/>
          <p:nvPr/>
        </p:nvSpPr>
        <p:spPr>
          <a:xfrm>
            <a:off x="428625" y="4314713"/>
            <a:ext cx="28575" cy="701483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7"/>
          <p:cNvSpPr/>
          <p:nvPr/>
        </p:nvSpPr>
        <p:spPr>
          <a:xfrm>
            <a:off x="535781" y="4421870"/>
            <a:ext cx="250031" cy="250031"/>
          </a:xfrm>
          <a:prstGeom prst="ellipse">
            <a:avLst/>
          </a:prstGeom>
          <a:solidFill>
            <a:srgbClr val="F18F0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7"/>
          <p:cNvSpPr/>
          <p:nvPr/>
        </p:nvSpPr>
        <p:spPr>
          <a:xfrm>
            <a:off x="535781" y="4421870"/>
            <a:ext cx="250031" cy="2500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32"/>
              <a:buFont typeface="Noto Sans"/>
              <a:buNone/>
            </a:pPr>
            <a:r>
              <a:rPr b="1" i="0" lang="en-US" sz="732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4</a:t>
            </a:r>
            <a:endParaRPr b="0" i="0" sz="7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17"/>
          <p:cNvSpPr/>
          <p:nvPr/>
        </p:nvSpPr>
        <p:spPr>
          <a:xfrm>
            <a:off x="892975" y="3507480"/>
            <a:ext cx="3500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837"/>
              <a:buFont typeface="Noto Sans"/>
              <a:buNone/>
            </a:pPr>
            <a:r>
              <a:rPr b="1" i="0" lang="en-US" sz="1137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Shadow &amp; Mentorship Program</a:t>
            </a:r>
            <a:endParaRPr b="0" i="0" sz="113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17"/>
          <p:cNvSpPr/>
          <p:nvPr/>
        </p:nvSpPr>
        <p:spPr>
          <a:xfrm>
            <a:off x="892975" y="3714648"/>
            <a:ext cx="35004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2"/>
              <a:buFont typeface="Noto Sans"/>
              <a:buNone/>
            </a:pPr>
            <a:r>
              <a:rPr b="0" i="0" lang="en-US" sz="1032" u="none" cap="none" strike="noStrike">
                <a:solidFill>
                  <a:srgbClr val="666666"/>
                </a:solidFill>
                <a:latin typeface="Noto Sans"/>
                <a:ea typeface="Noto Sans"/>
                <a:cs typeface="Noto Sans"/>
                <a:sym typeface="Noto Sans"/>
              </a:rPr>
              <a:t>3-month guided experience with senior analysts before independent client management</a:t>
            </a:r>
            <a:endParaRPr b="0" i="0" sz="10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7"/>
          <p:cNvSpPr/>
          <p:nvPr/>
        </p:nvSpPr>
        <p:spPr>
          <a:xfrm>
            <a:off x="428625" y="5194790"/>
            <a:ext cx="3964781" cy="701483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7"/>
          <p:cNvSpPr/>
          <p:nvPr/>
        </p:nvSpPr>
        <p:spPr>
          <a:xfrm>
            <a:off x="892975" y="4387556"/>
            <a:ext cx="3500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837"/>
              <a:buFont typeface="Noto Sans"/>
              <a:buNone/>
            </a:pPr>
            <a:r>
              <a:rPr b="1" i="0" lang="en-US" sz="1137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Continuous Learning &amp; Certification</a:t>
            </a:r>
            <a:endParaRPr b="0" i="0" sz="113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7"/>
          <p:cNvSpPr/>
          <p:nvPr/>
        </p:nvSpPr>
        <p:spPr>
          <a:xfrm>
            <a:off x="892975" y="4594725"/>
            <a:ext cx="35004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2"/>
              <a:buFont typeface="Noto Sans"/>
              <a:buNone/>
            </a:pPr>
            <a:r>
              <a:rPr b="0" i="0" lang="en-US" sz="1032" u="none" cap="none" strike="noStrike">
                <a:solidFill>
                  <a:srgbClr val="666666"/>
                </a:solidFill>
                <a:latin typeface="Noto Sans"/>
                <a:ea typeface="Noto Sans"/>
                <a:cs typeface="Noto Sans"/>
                <a:sym typeface="Noto Sans"/>
              </a:rPr>
              <a:t>Ongoing education on emerging risks, technology updates, and industry best practices</a:t>
            </a:r>
            <a:endParaRPr b="0" i="0" sz="10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17"/>
          <p:cNvSpPr/>
          <p:nvPr/>
        </p:nvSpPr>
        <p:spPr>
          <a:xfrm>
            <a:off x="4750594" y="1217284"/>
            <a:ext cx="3964781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05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1238"/>
              <a:buFont typeface="Noto Sans"/>
              <a:buNone/>
            </a:pPr>
            <a:r>
              <a:rPr b="1" i="0" lang="en-US" sz="1438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Why This Creates Competitive Advantage</a:t>
            </a:r>
            <a:endParaRPr b="0" i="0" sz="14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17"/>
          <p:cNvSpPr/>
          <p:nvPr/>
        </p:nvSpPr>
        <p:spPr>
          <a:xfrm>
            <a:off x="4750600" y="1674475"/>
            <a:ext cx="3964800" cy="3341700"/>
          </a:xfrm>
          <a:prstGeom prst="rect">
            <a:avLst/>
          </a:prstGeom>
          <a:solidFill>
            <a:srgbClr val="E9ECEF"/>
          </a:solidFill>
          <a:ln cap="flat" cmpd="sng" w="9525">
            <a:solidFill>
              <a:srgbClr val="4ECD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7"/>
          <p:cNvSpPr/>
          <p:nvPr/>
        </p:nvSpPr>
        <p:spPr>
          <a:xfrm>
            <a:off x="4929188" y="1843553"/>
            <a:ext cx="36075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942"/>
              <a:buFont typeface="Noto Sans"/>
              <a:buNone/>
            </a:pPr>
            <a:r>
              <a:rPr b="1" i="0" lang="en-US" sz="1542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Differentiation from Competitors</a:t>
            </a:r>
            <a:endParaRPr b="0" i="0" sz="154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1" name="Google Shape;5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93490" y="2312639"/>
            <a:ext cx="250025" cy="250029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7"/>
          <p:cNvSpPr/>
          <p:nvPr/>
        </p:nvSpPr>
        <p:spPr>
          <a:xfrm>
            <a:off x="5114925" y="2143625"/>
            <a:ext cx="3607500" cy="68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732"/>
              <a:buFont typeface="Noto Sans"/>
              <a:buNone/>
            </a:pPr>
            <a:r>
              <a:rPr b="0" i="0" lang="en-US" sz="1432" u="none" cap="none" strike="noStrike">
                <a:solidFill>
                  <a:srgbClr val="333333"/>
                </a:solidFill>
                <a:latin typeface="Noto Sans"/>
                <a:ea typeface="Noto Sans"/>
                <a:cs typeface="Noto Sans"/>
                <a:sym typeface="Noto Sans"/>
              </a:rPr>
              <a:t>Most competitors provide self-service dashboards with minimal guidance</a:t>
            </a:r>
            <a:endParaRPr b="0" i="0" sz="14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3" name="Google Shape;53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93490" y="2884950"/>
            <a:ext cx="250025" cy="25002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7"/>
          <p:cNvSpPr/>
          <p:nvPr/>
        </p:nvSpPr>
        <p:spPr>
          <a:xfrm>
            <a:off x="5114925" y="2843362"/>
            <a:ext cx="30480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732"/>
              <a:buFont typeface="Noto Sans"/>
              <a:buNone/>
            </a:pPr>
            <a:r>
              <a:rPr b="0" i="0" lang="en-US" sz="1432" u="none" cap="none" strike="noStrike">
                <a:solidFill>
                  <a:srgbClr val="333333"/>
                </a:solidFill>
                <a:latin typeface="Noto Sans"/>
                <a:ea typeface="Noto Sans"/>
                <a:cs typeface="Noto Sans"/>
                <a:sym typeface="Noto Sans"/>
              </a:rPr>
              <a:t>Our analysts become trusted advisors, not just data providers</a:t>
            </a:r>
            <a:endParaRPr b="0" i="0" sz="14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" name="Google Shape;55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93490" y="3369382"/>
            <a:ext cx="250025" cy="25002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7"/>
          <p:cNvSpPr/>
          <p:nvPr/>
        </p:nvSpPr>
        <p:spPr>
          <a:xfrm>
            <a:off x="5114925" y="3351366"/>
            <a:ext cx="33396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732"/>
              <a:buFont typeface="Noto Sans"/>
              <a:buNone/>
            </a:pPr>
            <a:r>
              <a:rPr b="0" i="0" lang="en-US" sz="1432" u="none" cap="none" strike="noStrike">
                <a:solidFill>
                  <a:srgbClr val="333333"/>
                </a:solidFill>
                <a:latin typeface="Noto Sans"/>
                <a:ea typeface="Noto Sans"/>
                <a:cs typeface="Noto Sans"/>
                <a:sym typeface="Noto Sans"/>
              </a:rPr>
              <a:t>Systematic training ensures consistent, high-quality service delivery</a:t>
            </a:r>
            <a:endParaRPr b="0" i="0" sz="14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7" name="Google Shape;5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93490" y="4006212"/>
            <a:ext cx="250025" cy="250029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7"/>
          <p:cNvSpPr/>
          <p:nvPr/>
        </p:nvSpPr>
        <p:spPr>
          <a:xfrm>
            <a:off x="5114925" y="3935572"/>
            <a:ext cx="35934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732"/>
              <a:buFont typeface="Noto Sans"/>
              <a:buNone/>
            </a:pPr>
            <a:r>
              <a:rPr b="0" i="0" lang="en-US" sz="1432" u="none" cap="none" strike="noStrike">
                <a:solidFill>
                  <a:srgbClr val="333333"/>
                </a:solidFill>
                <a:latin typeface="Noto Sans"/>
                <a:ea typeface="Noto Sans"/>
                <a:cs typeface="Noto Sans"/>
                <a:sym typeface="Noto Sans"/>
              </a:rPr>
              <a:t>Deep industry knowledge creates credibility with construction executives</a:t>
            </a:r>
            <a:endParaRPr b="0" i="0" sz="14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9" name="Google Shape;59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93490" y="4490642"/>
            <a:ext cx="250025" cy="25002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7"/>
          <p:cNvSpPr/>
          <p:nvPr/>
        </p:nvSpPr>
        <p:spPr>
          <a:xfrm>
            <a:off x="5114925" y="4519776"/>
            <a:ext cx="3595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732"/>
              <a:buFont typeface="Noto Sans"/>
              <a:buNone/>
            </a:pPr>
            <a:r>
              <a:rPr b="0" i="0" lang="en-US" sz="1432" u="none" cap="none" strike="noStrike">
                <a:solidFill>
                  <a:srgbClr val="333333"/>
                </a:solidFill>
                <a:latin typeface="Noto Sans"/>
                <a:ea typeface="Noto Sans"/>
                <a:cs typeface="Noto Sans"/>
                <a:sym typeface="Noto Sans"/>
              </a:rPr>
              <a:t>Standardized processes enable rapid scaling without quality degradation</a:t>
            </a:r>
            <a:endParaRPr b="0" i="0" sz="14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7"/>
          <p:cNvSpPr/>
          <p:nvPr/>
        </p:nvSpPr>
        <p:spPr>
          <a:xfrm>
            <a:off x="4750594" y="5362054"/>
            <a:ext cx="3964781" cy="9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7"/>
          <p:cNvSpPr/>
          <p:nvPr/>
        </p:nvSpPr>
        <p:spPr>
          <a:xfrm>
            <a:off x="4750594" y="5362054"/>
            <a:ext cx="28575" cy="9486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3" name="Google Shape;63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93469" y="5533504"/>
            <a:ext cx="8572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7"/>
          <p:cNvSpPr/>
          <p:nvPr/>
        </p:nvSpPr>
        <p:spPr>
          <a:xfrm>
            <a:off x="5036344" y="5512073"/>
            <a:ext cx="2517697" cy="15537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65D"/>
              </a:buClr>
              <a:buSzPts val="837"/>
              <a:buFont typeface="Noto Sans"/>
              <a:buNone/>
            </a:pPr>
            <a:r>
              <a:rPr b="1" i="0" lang="en-US" sz="837" u="none" cap="none" strike="noStrike">
                <a:solidFill>
                  <a:srgbClr val="1B365D"/>
                </a:solidFill>
                <a:latin typeface="Noto Sans"/>
                <a:ea typeface="Noto Sans"/>
                <a:cs typeface="Noto Sans"/>
                <a:sym typeface="Noto Sans"/>
              </a:rPr>
              <a:t> The Result: Sticky, High-Value Relationships </a:t>
            </a:r>
            <a:endParaRPr b="0" i="0" sz="83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7"/>
          <p:cNvSpPr/>
          <p:nvPr/>
        </p:nvSpPr>
        <p:spPr>
          <a:xfrm>
            <a:off x="4893469" y="5747817"/>
            <a:ext cx="3679031" cy="420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32"/>
              <a:buFont typeface="Noto Sans"/>
              <a:buNone/>
            </a:pPr>
            <a:r>
              <a:rPr b="0" i="0" lang="en-US" sz="732" u="none" cap="none" strike="noStrike">
                <a:solidFill>
                  <a:srgbClr val="666666"/>
                </a:solidFill>
                <a:latin typeface="Noto Sans"/>
                <a:ea typeface="Noto Sans"/>
                <a:cs typeface="Noto Sans"/>
                <a:sym typeface="Noto Sans"/>
              </a:rPr>
              <a:t> Our trained analysts become embedded partners in our clients' risk management strategy, creating natural expansion opportunities into insurance brokerage and additional services. </a:t>
            </a:r>
            <a:endParaRPr b="0" i="0" sz="73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2025-08-14T20:39:59Z</dcterms:created>
  <dc:creator>PptxGenJS</dc:creator>
</cp:coreProperties>
</file>