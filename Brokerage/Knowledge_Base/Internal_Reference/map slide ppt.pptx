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No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nUoLWHy2fhuyQY1dw/u1HwwM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NotoSans-bold.fntdata"/><Relationship Id="rId21" Type="http://schemas.openxmlformats.org/officeDocument/2006/relationships/font" Target="fonts/NotoSans-regular.fntdata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9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3.png"/><Relationship Id="rId13" Type="http://schemas.openxmlformats.org/officeDocument/2006/relationships/image" Target="../media/image32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27.png"/><Relationship Id="rId15" Type="http://schemas.openxmlformats.org/officeDocument/2006/relationships/image" Target="../media/image30.png"/><Relationship Id="rId14" Type="http://schemas.openxmlformats.org/officeDocument/2006/relationships/image" Target="../media/image24.png"/><Relationship Id="rId17" Type="http://schemas.openxmlformats.org/officeDocument/2006/relationships/image" Target="../media/image28.png"/><Relationship Id="rId16" Type="http://schemas.openxmlformats.org/officeDocument/2006/relationships/image" Target="../media/image35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2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5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9" Type="http://schemas.openxmlformats.org/officeDocument/2006/relationships/image" Target="../media/image68.png"/><Relationship Id="rId5" Type="http://schemas.openxmlformats.org/officeDocument/2006/relationships/image" Target="../media/image61.png"/><Relationship Id="rId6" Type="http://schemas.openxmlformats.org/officeDocument/2006/relationships/image" Target="../media/image44.png"/><Relationship Id="rId7" Type="http://schemas.openxmlformats.org/officeDocument/2006/relationships/image" Target="../media/image57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64.png"/><Relationship Id="rId11" Type="http://schemas.openxmlformats.org/officeDocument/2006/relationships/image" Target="../media/image78.png"/><Relationship Id="rId22" Type="http://schemas.openxmlformats.org/officeDocument/2006/relationships/image" Target="../media/image100.png"/><Relationship Id="rId10" Type="http://schemas.openxmlformats.org/officeDocument/2006/relationships/image" Target="../media/image56.png"/><Relationship Id="rId21" Type="http://schemas.openxmlformats.org/officeDocument/2006/relationships/image" Target="../media/image65.png"/><Relationship Id="rId13" Type="http://schemas.openxmlformats.org/officeDocument/2006/relationships/image" Target="../media/image55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8.png"/><Relationship Id="rId9" Type="http://schemas.openxmlformats.org/officeDocument/2006/relationships/image" Target="../media/image54.png"/><Relationship Id="rId15" Type="http://schemas.openxmlformats.org/officeDocument/2006/relationships/image" Target="../media/image63.png"/><Relationship Id="rId14" Type="http://schemas.openxmlformats.org/officeDocument/2006/relationships/image" Target="../media/image59.png"/><Relationship Id="rId17" Type="http://schemas.openxmlformats.org/officeDocument/2006/relationships/image" Target="../media/image58.png"/><Relationship Id="rId16" Type="http://schemas.openxmlformats.org/officeDocument/2006/relationships/image" Target="../media/image103.png"/><Relationship Id="rId5" Type="http://schemas.openxmlformats.org/officeDocument/2006/relationships/image" Target="../media/image49.png"/><Relationship Id="rId19" Type="http://schemas.openxmlformats.org/officeDocument/2006/relationships/image" Target="../media/image71.png"/><Relationship Id="rId6" Type="http://schemas.openxmlformats.org/officeDocument/2006/relationships/image" Target="../media/image47.png"/><Relationship Id="rId18" Type="http://schemas.openxmlformats.org/officeDocument/2006/relationships/image" Target="../media/image53.png"/><Relationship Id="rId7" Type="http://schemas.openxmlformats.org/officeDocument/2006/relationships/image" Target="../media/image51.png"/><Relationship Id="rId8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0.png"/><Relationship Id="rId9" Type="http://schemas.openxmlformats.org/officeDocument/2006/relationships/image" Target="../media/image72.png"/><Relationship Id="rId5" Type="http://schemas.openxmlformats.org/officeDocument/2006/relationships/image" Target="../media/image67.png"/><Relationship Id="rId6" Type="http://schemas.openxmlformats.org/officeDocument/2006/relationships/image" Target="../media/image74.png"/><Relationship Id="rId7" Type="http://schemas.openxmlformats.org/officeDocument/2006/relationships/image" Target="../media/image66.png"/><Relationship Id="rId8" Type="http://schemas.openxmlformats.org/officeDocument/2006/relationships/image" Target="../media/image8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9.png"/><Relationship Id="rId4" Type="http://schemas.openxmlformats.org/officeDocument/2006/relationships/image" Target="../media/image73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4.png"/><Relationship Id="rId10" Type="http://schemas.openxmlformats.org/officeDocument/2006/relationships/image" Target="../media/image87.png"/><Relationship Id="rId13" Type="http://schemas.openxmlformats.org/officeDocument/2006/relationships/image" Target="../media/image91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9.png"/><Relationship Id="rId4" Type="http://schemas.openxmlformats.org/officeDocument/2006/relationships/image" Target="../media/image77.png"/><Relationship Id="rId9" Type="http://schemas.openxmlformats.org/officeDocument/2006/relationships/image" Target="../media/image83.png"/><Relationship Id="rId5" Type="http://schemas.openxmlformats.org/officeDocument/2006/relationships/image" Target="../media/image81.png"/><Relationship Id="rId6" Type="http://schemas.openxmlformats.org/officeDocument/2006/relationships/image" Target="../media/image86.png"/><Relationship Id="rId7" Type="http://schemas.openxmlformats.org/officeDocument/2006/relationships/image" Target="../media/image90.png"/><Relationship Id="rId8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9.png"/><Relationship Id="rId12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05.png"/><Relationship Id="rId9" Type="http://schemas.openxmlformats.org/officeDocument/2006/relationships/image" Target="../media/image96.png"/><Relationship Id="rId5" Type="http://schemas.openxmlformats.org/officeDocument/2006/relationships/image" Target="../media/image98.png"/><Relationship Id="rId6" Type="http://schemas.openxmlformats.org/officeDocument/2006/relationships/image" Target="../media/image92.png"/><Relationship Id="rId7" Type="http://schemas.openxmlformats.org/officeDocument/2006/relationships/image" Target="../media/image102.png"/><Relationship Id="rId8" Type="http://schemas.openxmlformats.org/officeDocument/2006/relationships/image" Target="../media/image9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06.png"/><Relationship Id="rId5" Type="http://schemas.openxmlformats.org/officeDocument/2006/relationships/image" Target="../media/image104.png"/><Relationship Id="rId6" Type="http://schemas.openxmlformats.org/officeDocument/2006/relationships/image" Target="../media/image108.png"/><Relationship Id="rId7" Type="http://schemas.openxmlformats.org/officeDocument/2006/relationships/image" Target="../media/image10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36219" y="662946"/>
            <a:ext cx="1071563" cy="107156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286125" y="2020258"/>
            <a:ext cx="2571722" cy="445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25"/>
              <a:buFont typeface="Noto Sans"/>
              <a:buNone/>
            </a:pPr>
            <a:r>
              <a:rPr b="1" i="0" lang="en-US" sz="29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BuildSafe IQ™</a:t>
            </a:r>
            <a:endParaRPr b="0" i="0" sz="29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677344" y="2680329"/>
            <a:ext cx="3789285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Noto Sans"/>
              <a:buNone/>
            </a:pPr>
            <a:r>
              <a:rPr b="0" i="0" lang="en-US" sz="157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Transforming Construction Risk into Profit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045861" y="3837617"/>
            <a:ext cx="305225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John Smith, CEO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045861" y="4051929"/>
            <a:ext cx="305225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john.smith@buildsafeiq.com | (555) 123-4567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045861" y="4266242"/>
            <a:ext cx="305225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July 2025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285750" y="28575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What is BuildSafe IQ?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714500" y="1050131"/>
            <a:ext cx="5715000" cy="75723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714500" y="1050131"/>
            <a:ext cx="42863" cy="75723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3826" y="13430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2273191" y="1228725"/>
            <a:ext cx="4941996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 Predictive analytics platform that identifies construction risks 60 days before they impact your projects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714500" y="2021681"/>
            <a:ext cx="5715000" cy="75723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714500" y="2021681"/>
            <a:ext cx="42863" cy="75723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8755" y="231457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2303050" y="2200275"/>
            <a:ext cx="4912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 Proactive intervention system that prevents costly delays, disputes, and budget overruns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714500" y="2993231"/>
            <a:ext cx="5715000" cy="75723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714500" y="2993231"/>
            <a:ext cx="42863" cy="75723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2448" y="328612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2290437" y="3171825"/>
            <a:ext cx="4924751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 Data-driven insights delivered by construction risk experts through quarterly business reviews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714500" y="3964781"/>
            <a:ext cx="5715000" cy="75723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714500" y="3964781"/>
            <a:ext cx="42863" cy="75723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79768" y="4257675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2280754" y="4143375"/>
            <a:ext cx="49344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 Profit enhancement tool that recovers 23% of potential profit lost to preventable construction risks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428625" y="357188"/>
            <a:ext cx="8286750" cy="274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Construction projects face $2.5 trillion in annual risk exposure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28625" y="1275187"/>
            <a:ext cx="3964781" cy="57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The construction industry struggles with unpredictable risks that devastate project profitability and threaten business sustainability.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28625" y="2068144"/>
            <a:ext cx="1910953" cy="1108677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71500" y="2246737"/>
            <a:ext cx="162520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23%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71500" y="2689650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Average profit loss due to preventable construction risks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482453" y="2068144"/>
            <a:ext cx="1910953" cy="1108677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625328" y="2261025"/>
            <a:ext cx="162520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36%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625328" y="2703937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Projects experience significant delays impacting cash flow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28625" y="3305408"/>
            <a:ext cx="1910953" cy="1108677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571500" y="3484001"/>
            <a:ext cx="162520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$2.5T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71500" y="3926914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Annual global construction risk exposure requiring management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482453" y="3305408"/>
            <a:ext cx="1910953" cy="1108677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2625328" y="3498289"/>
            <a:ext cx="162520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78%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625328" y="3941201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Contractors lack predictive risk management capabilities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7047" y="1423029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428625" y="357188"/>
            <a:ext cx="8286750" cy="274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A $2.5 billion market opportunity in construction risk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28625" y="1393059"/>
            <a:ext cx="3964781" cy="5000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571500" y="155736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TAM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250156" y="1500215"/>
            <a:ext cx="2178844" cy="2857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50156" y="1500215"/>
            <a:ext cx="217884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Total Addressable Market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536156" y="1546650"/>
            <a:ext cx="714375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$2.5B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28625" y="2000278"/>
            <a:ext cx="3964781" cy="5000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71500" y="2164584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SAM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250156" y="2107434"/>
            <a:ext cx="1307306" cy="28575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250156" y="2107434"/>
            <a:ext cx="130730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Serviceable Available Market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536156" y="2153869"/>
            <a:ext cx="714375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$1.5B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28625" y="2607497"/>
            <a:ext cx="3964781" cy="5000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71500" y="2771803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SOM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250156" y="2714653"/>
            <a:ext cx="653653" cy="28575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250156" y="2714653"/>
            <a:ext cx="65365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Serviceable Obtainable Market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536156" y="2761087"/>
            <a:ext cx="714375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$500M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28625" y="3321872"/>
            <a:ext cx="1226325" cy="98862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571500" y="3479034"/>
            <a:ext cx="940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7,500+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71500" y="3793359"/>
            <a:ext cx="940575" cy="359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Commercial contractors in target segment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797825" y="3336159"/>
            <a:ext cx="1226353" cy="960053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940700" y="3479034"/>
            <a:ext cx="9406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23%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940700" y="3793359"/>
            <a:ext cx="940603" cy="239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Average profit loss due to preventable risks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167053" y="3336159"/>
            <a:ext cx="1226353" cy="960053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309928" y="3479034"/>
            <a:ext cx="94060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12.3%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309928" y="3793359"/>
            <a:ext cx="940603" cy="239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Annual market growth rate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7047" y="1423029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428625" y="428625"/>
            <a:ext cx="8286750" cy="54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RiskSync Framework™: Predictive risk management for construction excellence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28625" y="1334430"/>
            <a:ext cx="8286750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42"/>
              <a:buFont typeface="Noto Sans"/>
              <a:buNone/>
            </a:pPr>
            <a:r>
              <a:rPr b="0" i="0" lang="en-US" sz="94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BuildSafe IQ transforms construction risk management through our proprietary RiskSync Framework™, delivering predictive insights that prevent costly project disruptions. 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28625" y="2005943"/>
            <a:ext cx="3929063" cy="307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Core Capabilities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28625" y="2527436"/>
            <a:ext cx="3929063" cy="77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28625" y="2527436"/>
            <a:ext cx="28575" cy="77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931" y="2734605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892969" y="2670311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Predictive Risk Analytics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92969" y="2877480"/>
            <a:ext cx="3321844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AI-powered algorithms predict potential project disruptions 30-90 days in advance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28625" y="3443232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28625" y="3443232"/>
            <a:ext cx="28575" cy="63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931" y="36504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892969" y="3586107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Real-time Risk Monitoring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92969" y="3793275"/>
            <a:ext cx="3321844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Continuous monitoring with instant alert notifications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28625" y="4219026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28625" y="4219026"/>
            <a:ext cx="28575" cy="63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363" y="4426195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892969" y="4361901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Expert-Delivered Insights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92969" y="4569070"/>
            <a:ext cx="3321844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Validated mitigation strategies with implementation timelines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786313" y="2005943"/>
            <a:ext cx="3929063" cy="307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Key Benefits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786313" y="2527436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786313" y="2527436"/>
            <a:ext cx="28575" cy="63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2766" y="2734605"/>
            <a:ext cx="1071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5250656" y="2670311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15-25% Profit Improvement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250656" y="2877480"/>
            <a:ext cx="3321844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Prevent costly overruns through proactive risk management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786313" y="3303231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4786313" y="3303231"/>
            <a:ext cx="28575" cy="63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0619" y="35104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5250656" y="3446106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30-90 Day Advance Warning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250656" y="3653275"/>
            <a:ext cx="3321844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Early detection provides time for effective mitigation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786313" y="4079025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786313" y="4079025"/>
            <a:ext cx="28575" cy="6329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50619" y="428619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5250656" y="4221900"/>
            <a:ext cx="332184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8:1 ROI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50656" y="4429069"/>
            <a:ext cx="3321844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Average return on investment within first year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285750" y="28575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Data-driven risk prediction from 50+ construction indices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285750" y="842963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285750" y="842963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906" y="95726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07219" y="939403"/>
            <a:ext cx="115145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Weather &amp; Climate Data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2411016" y="842963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2411016" y="842963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8172" y="957263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732484" y="939403"/>
            <a:ext cx="101385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Labor Market Indices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85750" y="1293019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85750" y="1293019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906" y="1407319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607219" y="1389459"/>
            <a:ext cx="101064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Material Price Trends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411016" y="1293019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2411016" y="1293019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8172" y="140731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2732484" y="1389459"/>
            <a:ext cx="964936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Regulatory Changes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85750" y="1743075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85750" y="1743075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2906" y="185737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607219" y="1839516"/>
            <a:ext cx="97082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Economic Indicators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411016" y="1743075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2411016" y="1743075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518172" y="1857375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2732484" y="1839516"/>
            <a:ext cx="874328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Supply Chain Data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85750" y="2193131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285750" y="2193131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2906" y="2307431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607219" y="2289572"/>
            <a:ext cx="1017929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Project Specifications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411016" y="2193131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2411016" y="2193131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18172" y="23074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2732484" y="2289572"/>
            <a:ext cx="1100556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Historical Performance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85750" y="2643188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285750" y="2643188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2906" y="2757488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/>
          <p:nvPr/>
        </p:nvSpPr>
        <p:spPr>
          <a:xfrm>
            <a:off x="607219" y="2739628"/>
            <a:ext cx="92732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Geographic Factors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411016" y="2643188"/>
            <a:ext cx="2018109" cy="342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2411016" y="2643188"/>
            <a:ext cx="21431" cy="3429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18172" y="275748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6"/>
          <p:cNvSpPr/>
          <p:nvPr/>
        </p:nvSpPr>
        <p:spPr>
          <a:xfrm>
            <a:off x="2732484" y="2739628"/>
            <a:ext cx="984247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Safety &amp; Compliance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85750" y="3200400"/>
            <a:ext cx="4143375" cy="1493044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285750" y="3200400"/>
            <a:ext cx="28575" cy="149304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64344" y="3378994"/>
            <a:ext cx="37861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AI-Powered Prediction Engine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4344" y="3725466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6"/>
          <p:cNvSpPr/>
          <p:nvPr/>
        </p:nvSpPr>
        <p:spPr>
          <a:xfrm>
            <a:off x="650081" y="3700463"/>
            <a:ext cx="3240221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Machine learning algorithms analyze patterns across all data sources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64344" y="3946922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650081" y="3921919"/>
            <a:ext cx="2925087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Real-time processing with 60-day forward prediction capability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50081" y="4143375"/>
            <a:ext cx="288967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Risk scoring with confidence intervals and impact assessment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64344" y="4389834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/>
          <p:nvPr/>
        </p:nvSpPr>
        <p:spPr>
          <a:xfrm>
            <a:off x="650081" y="4364831"/>
            <a:ext cx="271515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Continuous learning from project outcomes and feedback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714875" y="1425178"/>
            <a:ext cx="414337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4914649" y="3854053"/>
            <a:ext cx="528163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50+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914649" y="4146947"/>
            <a:ext cx="528163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Data Sources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842388" y="3854053"/>
            <a:ext cx="779338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60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842388" y="4146947"/>
            <a:ext cx="779338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Days Early Warning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021302" y="3854053"/>
            <a:ext cx="786789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87%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021302" y="4146947"/>
            <a:ext cx="786789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Prediction Accuracy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207666" y="3854053"/>
            <a:ext cx="4507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24/7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207666" y="4146947"/>
            <a:ext cx="450754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Monitoring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5" name="Google Shape;2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7"/>
          <p:cNvSpPr/>
          <p:nvPr/>
        </p:nvSpPr>
        <p:spPr>
          <a:xfrm>
            <a:off x="428625" y="357188"/>
            <a:ext cx="8286750" cy="54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Fully integrated tech-enabled service team delivers continuous partnership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28625" y="1638040"/>
            <a:ext cx="396478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Continuous Partnership Model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28625" y="1959508"/>
            <a:ext cx="3964781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Our tech-enabled service team works as a fully integrated extension of your organization, providing continuous monitoring, proactive alerts, and expert guidance throughout every project lifecycle.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28625" y="2616733"/>
            <a:ext cx="1910953" cy="980089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4089" y="2811400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571500" y="3145371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24/7 continuous monitoring with real-time risk alerts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482453" y="2616733"/>
            <a:ext cx="1910953" cy="980089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7917" y="2825688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2625328" y="3159658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Weekly check-ins and monthly deep-dive sessions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28625" y="3725410"/>
            <a:ext cx="1910953" cy="980089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4089" y="392007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"/>
          <p:cNvSpPr/>
          <p:nvPr/>
        </p:nvSpPr>
        <p:spPr>
          <a:xfrm>
            <a:off x="571500" y="4254047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Quarterly business reviews with strategic planning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482453" y="3725410"/>
            <a:ext cx="1910953" cy="980089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2E8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12914" y="3934365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2625328" y="4268335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Fully integrated partnership with your teams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750594" y="1191555"/>
            <a:ext cx="1910953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893469" y="1370149"/>
            <a:ext cx="162520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15-25%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893469" y="1727336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Profit improvement through proactive risk management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804422" y="1191555"/>
            <a:ext cx="1910953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947297" y="1370149"/>
            <a:ext cx="162520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30-90 Days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947297" y="1727336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Advance warning for critical risk factors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750594" y="2328807"/>
            <a:ext cx="1910953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893469" y="2507400"/>
            <a:ext cx="162520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48+ Years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4893469" y="2864588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Combined construction expertise on our team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804422" y="2328807"/>
            <a:ext cx="1910953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6947297" y="2507400"/>
            <a:ext cx="1625203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8:1 ROI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947297" y="2864588"/>
            <a:ext cx="1625203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Average return on investment within first year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750594" y="3537496"/>
            <a:ext cx="3964781" cy="178593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3469" y="3680371"/>
            <a:ext cx="3679031" cy="147161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1" name="Google Shape;2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/>
          <p:nvPr/>
        </p:nvSpPr>
        <p:spPr>
          <a:xfrm>
            <a:off x="285750" y="214313"/>
            <a:ext cx="8572500" cy="24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BuildSafe IQ delivers comprehensive risk coverage across all categories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285750" y="1132982"/>
            <a:ext cx="4179094" cy="314325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285750" y="1132982"/>
            <a:ext cx="28575" cy="314325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28625" y="1347295"/>
            <a:ext cx="1202522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Provider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1702584" y="1347295"/>
            <a:ext cx="6012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Safety Risk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375269" y="1347295"/>
            <a:ext cx="601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Financial Risk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3047981" y="1347295"/>
            <a:ext cx="601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Compliance Risk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720694" y="1347295"/>
            <a:ext cx="6012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Integrated Risk View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428625" y="1875932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BuildSafe IQ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702584" y="1854501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375269" y="1854501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3047981" y="1854501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720694" y="1854501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28625" y="2168826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Procore Risk Modules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702584" y="2147395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8F01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18F01"/>
                </a:solidFill>
                <a:latin typeface="Noto Sans"/>
                <a:ea typeface="Noto Sans"/>
                <a:cs typeface="Noto Sans"/>
                <a:sym typeface="Noto Sans"/>
              </a:rPr>
              <a:t>⚠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375269" y="2147395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047981" y="2147395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3720694" y="2147395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28625" y="2461720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Origami Risk / Riskconnect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702584" y="2440288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375269" y="2440288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047981" y="2440288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720694" y="2440288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28625" y="2754613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Billy Compliance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702584" y="2733182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2375269" y="2733182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047981" y="2733182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720694" y="2733182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28625" y="3047507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MyCOI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702584" y="3026076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375269" y="3026076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047981" y="3026076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720694" y="3026076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28625" y="3340401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Lockton (Broker Services)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1702584" y="3318970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8F01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18F01"/>
                </a:solidFill>
                <a:latin typeface="Noto Sans"/>
                <a:ea typeface="Noto Sans"/>
                <a:cs typeface="Noto Sans"/>
                <a:sym typeface="Noto Sans"/>
              </a:rPr>
              <a:t>⚠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2375269" y="3318970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047981" y="3318970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720694" y="3318970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28625" y="3633295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Alliant (Broker Services)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1702584" y="3611863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8F01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18F01"/>
                </a:solidFill>
                <a:latin typeface="Noto Sans"/>
                <a:ea typeface="Noto Sans"/>
                <a:cs typeface="Noto Sans"/>
                <a:sym typeface="Noto Sans"/>
              </a:rPr>
              <a:t>⚠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2375269" y="3611863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047981" y="3611863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720694" y="3611863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28625" y="3926188"/>
            <a:ext cx="1202522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Smartvid.io / Newmetrix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1702584" y="3904757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75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198754"/>
                </a:solidFill>
                <a:latin typeface="Noto Sans"/>
                <a:ea typeface="Noto Sans"/>
                <a:cs typeface="Noto Sans"/>
                <a:sym typeface="Noto Sans"/>
              </a:rPr>
              <a:t>✓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375269" y="3904757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047981" y="3904757"/>
            <a:ext cx="6012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720694" y="3904757"/>
            <a:ext cx="60124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3545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DC3545"/>
                </a:solidFill>
                <a:latin typeface="Noto Sans"/>
                <a:ea typeface="Noto Sans"/>
                <a:cs typeface="Noto Sans"/>
                <a:sym typeface="Noto Sans"/>
              </a:rPr>
              <a:t>✗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679156" y="106623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679156" y="106623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881" y="1180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4950619" y="1137670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Comprehensive Coverage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950619" y="1298404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Only solution covering safety, financial, compliance, and integrated risk management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679156" y="156699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4679156" y="156699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7" name="Google Shape;3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881" y="168129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8"/>
          <p:cNvSpPr/>
          <p:nvPr/>
        </p:nvSpPr>
        <p:spPr>
          <a:xfrm>
            <a:off x="4950619" y="1638430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Predictive Analytics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950619" y="1799165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AI-powered risk prediction 30-90 days in advance vs. reactive monitoring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679156" y="206775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4679156" y="206775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4881" y="2182053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/>
          <p:nvPr/>
        </p:nvSpPr>
        <p:spPr>
          <a:xfrm>
            <a:off x="4979194" y="2139190"/>
            <a:ext cx="3793331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Expert-Delivered Service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4979194" y="2299925"/>
            <a:ext cx="3793331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48+ years construction experience backing technology with human expertise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679156" y="256851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4679156" y="256851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7" name="Google Shape;31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4881" y="268281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/>
          <p:nvPr/>
        </p:nvSpPr>
        <p:spPr>
          <a:xfrm>
            <a:off x="4950619" y="2639950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Quantified Impact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950619" y="2800685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Precise financial modeling of risk impact on project profitability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4679156" y="306927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679156" y="306927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4881" y="318357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"/>
          <p:cNvSpPr/>
          <p:nvPr/>
        </p:nvSpPr>
        <p:spPr>
          <a:xfrm>
            <a:off x="4950619" y="3140711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Continuous Partnership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950619" y="3301445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24/7 monitoring with weekly check-ins vs. quarterly or annual reviews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679156" y="357003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4679156" y="357003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4881" y="3684333"/>
            <a:ext cx="8572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8"/>
          <p:cNvSpPr/>
          <p:nvPr/>
        </p:nvSpPr>
        <p:spPr>
          <a:xfrm>
            <a:off x="4922044" y="3641471"/>
            <a:ext cx="3850481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Seamless Integration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922044" y="3802205"/>
            <a:ext cx="3850481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Works with existing systems without requiring platform migration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679156" y="4070793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4679156" y="4070793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4881" y="4185093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8"/>
          <p:cNvSpPr/>
          <p:nvPr/>
        </p:nvSpPr>
        <p:spPr>
          <a:xfrm>
            <a:off x="4907756" y="4142231"/>
            <a:ext cx="38647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Proven ROI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907756" y="4302965"/>
            <a:ext cx="3864769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8:1 return on investment with 15-25% profit improvement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1" name="Google Shape;3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9"/>
          <p:cNvSpPr/>
          <p:nvPr/>
        </p:nvSpPr>
        <p:spPr>
          <a:xfrm>
            <a:off x="571500" y="571500"/>
            <a:ext cx="8001000" cy="617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Cash positive with just 19 clients, with 2.5x margin expansion through insurance brokerage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71500" y="1617334"/>
            <a:ext cx="3714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46"/>
              <a:buFont typeface="Noto Sans"/>
              <a:buNone/>
            </a:pPr>
            <a:r>
              <a:rPr b="0" i="0" lang="en-US" sz="1046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BuildSafe IQ operates as a tech-enabled service provider with annual fees based on contractor revenue, achieving cash positivity with minimal client base. 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71500" y="2588884"/>
            <a:ext cx="1143000" cy="110013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714375" y="2767478"/>
            <a:ext cx="8572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ACV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14375" y="2974646"/>
            <a:ext cx="8572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$100M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714375" y="3224678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$50K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1857375" y="2588884"/>
            <a:ext cx="1143000" cy="110013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2000250" y="2767478"/>
            <a:ext cx="8572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ACV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2000250" y="2974646"/>
            <a:ext cx="8572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$300M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2000250" y="3224678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$110K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143250" y="2588884"/>
            <a:ext cx="1143000" cy="110013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3286125" y="2767478"/>
            <a:ext cx="8572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ACV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3286125" y="2974646"/>
            <a:ext cx="857250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$600M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286125" y="3224678"/>
            <a:ext cx="857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$200K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71500" y="3946196"/>
            <a:ext cx="1785938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714375" y="4124790"/>
            <a:ext cx="15001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714375" y="4481978"/>
            <a:ext cx="1500188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Clients needed for cash positive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2500313" y="3946196"/>
            <a:ext cx="1785938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2643188" y="4124790"/>
            <a:ext cx="15001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2.5x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2643188" y="4481978"/>
            <a:ext cx="15001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Margin expansion through insurance brokerage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71500" y="5083448"/>
            <a:ext cx="1785938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714375" y="5262042"/>
            <a:ext cx="15001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$1.4M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714375" y="5619229"/>
            <a:ext cx="15001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Revenue at cash positive threshold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2500313" y="5083448"/>
            <a:ext cx="1785938" cy="1022952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1B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2643188" y="5262042"/>
            <a:ext cx="1500188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7,500+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643188" y="5619229"/>
            <a:ext cx="1500188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Target contractors in addressable market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8" name="Google Shape;3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188" y="2418829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9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75" name="Google Shape;3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0"/>
          <p:cNvSpPr/>
          <p:nvPr/>
        </p:nvSpPr>
        <p:spPr>
          <a:xfrm>
            <a:off x="357188" y="357188"/>
            <a:ext cx="8429625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Noto Sans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Strategic Exit Opportunities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357188" y="992981"/>
            <a:ext cx="1571625" cy="3793331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00063" y="1135856"/>
            <a:ext cx="1285875" cy="274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Construction Technology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9" name="Google Shape;3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387" y="2209735"/>
            <a:ext cx="645226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0" name="Google Shape;38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381" y="2586568"/>
            <a:ext cx="733239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129" y="2963401"/>
            <a:ext cx="575742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2" name="Google Shape;38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891" y="3340233"/>
            <a:ext cx="692218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7794" y="3717066"/>
            <a:ext cx="710385" cy="269677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0"/>
          <p:cNvSpPr/>
          <p:nvPr/>
        </p:nvSpPr>
        <p:spPr>
          <a:xfrm>
            <a:off x="2071688" y="992981"/>
            <a:ext cx="1571625" cy="3793331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2214563" y="1135856"/>
            <a:ext cx="1285875" cy="274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Risk Management &amp; Insurance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6" name="Google Shape;386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45699" y="2122224"/>
            <a:ext cx="423602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74066" y="2499057"/>
            <a:ext cx="566840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530199" y="2875890"/>
            <a:ext cx="654602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9" name="Google Shape;389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57438" y="3252722"/>
            <a:ext cx="1000125" cy="35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0" name="Google Shape;390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57438" y="3717066"/>
            <a:ext cx="1000125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0"/>
          <p:cNvSpPr/>
          <p:nvPr/>
        </p:nvSpPr>
        <p:spPr>
          <a:xfrm>
            <a:off x="3786188" y="992981"/>
            <a:ext cx="1571625" cy="3793331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4101824" y="1135856"/>
            <a:ext cx="940352" cy="137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Data &amp; Analytics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278855" y="2329560"/>
            <a:ext cx="586262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96045" y="2706393"/>
            <a:ext cx="551855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5" name="Google Shape;395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231584" y="3083226"/>
            <a:ext cx="680777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6" name="Google Shape;396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190451" y="3460059"/>
            <a:ext cx="763070" cy="26967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0"/>
          <p:cNvSpPr/>
          <p:nvPr/>
        </p:nvSpPr>
        <p:spPr>
          <a:xfrm>
            <a:off x="5500688" y="992981"/>
            <a:ext cx="1571625" cy="3793331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5720023" y="1135856"/>
            <a:ext cx="1132954" cy="137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Enterprise Software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898031" y="2141144"/>
            <a:ext cx="776911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1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918876" y="2517977"/>
            <a:ext cx="735192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1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069704" y="2894809"/>
            <a:ext cx="433564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1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859745" y="3271642"/>
            <a:ext cx="853483" cy="269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1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935117" y="3648475"/>
            <a:ext cx="702739" cy="26967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0"/>
          <p:cNvSpPr/>
          <p:nvPr/>
        </p:nvSpPr>
        <p:spPr>
          <a:xfrm>
            <a:off x="7215188" y="992981"/>
            <a:ext cx="1571625" cy="3793331"/>
          </a:xfrm>
          <a:prstGeom prst="rect">
            <a:avLst/>
          </a:prstGeom>
          <a:solidFill>
            <a:srgbClr val="FFFFFF">
              <a:alpha val="9803"/>
            </a:srgbClr>
          </a:solidFill>
          <a:ln cap="flat" cmpd="sng" w="9525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7496249" y="1135856"/>
            <a:ext cx="1009501" cy="1371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Financial Services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488520" y="1954513"/>
            <a:ext cx="1024933" cy="350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7488520" y="1954513"/>
            <a:ext cx="1024933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JPMorgan Chase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7513411" y="2554588"/>
            <a:ext cx="975122" cy="350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7513411" y="2554588"/>
            <a:ext cx="975122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Goldman Sachs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7637394" y="3154663"/>
            <a:ext cx="727184" cy="350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7637394" y="3154663"/>
            <a:ext cx="727184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BlackRock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709250" y="3754738"/>
            <a:ext cx="583471" cy="350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709250" y="3754738"/>
            <a:ext cx="583471" cy="3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127500" spcFirstLastPara="1" rIns="127500" wrap="square" tIns="127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Fidelity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0" y="4920258"/>
            <a:ext cx="9144000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CCCCCC"/>
                </a:solidFill>
                <a:latin typeface="Noto Sans"/>
                <a:ea typeface="Noto Sans"/>
                <a:cs typeface="Noto Sans"/>
                <a:sym typeface="Noto Sans"/>
              </a:rPr>
              <a:t> BuildSafe IQ™ - Confidential and Proprietary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20" name="Google Shape;4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1"/>
          <p:cNvSpPr/>
          <p:nvPr/>
        </p:nvSpPr>
        <p:spPr>
          <a:xfrm>
            <a:off x="285750" y="214313"/>
            <a:ext cx="8572500" cy="24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18-month roadmap with key development and market milestones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85750" y="888671"/>
            <a:ext cx="4179094" cy="320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BuildSafe IQ has a clear 18-month roadmap for product development, market expansion, and funding milestones to achieve Series A readiness.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285750" y="1376567"/>
            <a:ext cx="1143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Product Development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1514475" y="1351564"/>
            <a:ext cx="2950369" cy="178594"/>
          </a:xfrm>
          <a:prstGeom prst="roundRect">
            <a:avLst>
              <a:gd fmla="val 16667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1514475" y="1351564"/>
            <a:ext cx="1475184" cy="178594"/>
          </a:xfrm>
          <a:prstGeom prst="roundRect">
            <a:avLst>
              <a:gd fmla="val 16667" name="adj"/>
            </a:avLst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"/>
          <p:cNvSpPr/>
          <p:nvPr/>
        </p:nvSpPr>
        <p:spPr>
          <a:xfrm>
            <a:off x="1514475" y="1351564"/>
            <a:ext cx="1475184" cy="17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3"/>
              <a:buFont typeface="Noto Sans"/>
              <a:buNone/>
            </a:pPr>
            <a:r>
              <a:rPr b="1" i="0" lang="en-US" sz="523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Q3 2025 - Q1 2026</a:t>
            </a:r>
            <a:endParaRPr b="0" i="0" sz="5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285750" y="1662317"/>
            <a:ext cx="1143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Customer Acquisition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1514475" y="1637314"/>
            <a:ext cx="2950369" cy="178594"/>
          </a:xfrm>
          <a:prstGeom prst="roundRect">
            <a:avLst>
              <a:gd fmla="val 16667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1514475" y="1637314"/>
            <a:ext cx="2950369" cy="178594"/>
          </a:xfrm>
          <a:prstGeom prst="roundRect">
            <a:avLst>
              <a:gd fmla="val 16667" name="adj"/>
            </a:avLst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1514475" y="1637314"/>
            <a:ext cx="2950369" cy="17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3"/>
              <a:buFont typeface="Noto Sans"/>
              <a:buNone/>
            </a:pPr>
            <a:r>
              <a:rPr b="1" i="0" lang="en-US" sz="523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Q3 2025 - Q4 2026</a:t>
            </a:r>
            <a:endParaRPr b="0" i="0" sz="5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285750" y="1948067"/>
            <a:ext cx="1143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Market Expansion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514475" y="1923064"/>
            <a:ext cx="2950369" cy="178594"/>
          </a:xfrm>
          <a:prstGeom prst="roundRect">
            <a:avLst>
              <a:gd fmla="val 16667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1"/>
          <p:cNvSpPr/>
          <p:nvPr/>
        </p:nvSpPr>
        <p:spPr>
          <a:xfrm>
            <a:off x="2488090" y="1923064"/>
            <a:ext cx="1976726" cy="178594"/>
          </a:xfrm>
          <a:prstGeom prst="roundRect">
            <a:avLst>
              <a:gd fmla="val 16667" name="adj"/>
            </a:avLst>
          </a:prstGeom>
          <a:solidFill>
            <a:srgbClr val="5A9B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2488090" y="1923064"/>
            <a:ext cx="1976726" cy="17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3"/>
              <a:buFont typeface="Noto Sans"/>
              <a:buNone/>
            </a:pPr>
            <a:r>
              <a:rPr b="1" i="0" lang="en-US" sz="523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Q1 2026 - Q4 2026</a:t>
            </a:r>
            <a:endParaRPr b="0" i="0" sz="5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285750" y="2233817"/>
            <a:ext cx="1143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28"/>
              <a:buFont typeface="Noto Sans"/>
              <a:buNone/>
            </a:pPr>
            <a:r>
              <a:rPr b="1" i="0" lang="en-US" sz="628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Series A Preparation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1514475" y="2208814"/>
            <a:ext cx="2950369" cy="178594"/>
          </a:xfrm>
          <a:prstGeom prst="roundRect">
            <a:avLst>
              <a:gd fmla="val 16667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2989659" y="2208814"/>
            <a:ext cx="1475184" cy="178594"/>
          </a:xfrm>
          <a:prstGeom prst="roundRect">
            <a:avLst>
              <a:gd fmla="val 16667" name="adj"/>
            </a:avLst>
          </a:prstGeom>
          <a:solidFill>
            <a:srgbClr val="A3D6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2989659" y="2208814"/>
            <a:ext cx="1475184" cy="178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3"/>
              <a:buFont typeface="Noto Sans"/>
              <a:buNone/>
            </a:pPr>
            <a:r>
              <a:rPr b="1" i="0" lang="en-US" sz="523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Q2 2026 - Q4 2026</a:t>
            </a:r>
            <a:endParaRPr b="0" i="0" sz="5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285750" y="2530283"/>
            <a:ext cx="4179094" cy="200025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285750" y="2530283"/>
            <a:ext cx="28575" cy="200025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906" y="2637439"/>
            <a:ext cx="3936206" cy="1785938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1"/>
          <p:cNvSpPr/>
          <p:nvPr/>
        </p:nvSpPr>
        <p:spPr>
          <a:xfrm>
            <a:off x="4679156" y="1577373"/>
            <a:ext cx="4179094" cy="40574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679156" y="1577373"/>
            <a:ext cx="28575" cy="405743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4" name="Google Shape;4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4881" y="169167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1"/>
          <p:cNvSpPr/>
          <p:nvPr/>
        </p:nvSpPr>
        <p:spPr>
          <a:xfrm>
            <a:off x="4950619" y="1648811"/>
            <a:ext cx="3367357" cy="120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Q3 2025: MVP Launch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950619" y="1787389"/>
            <a:ext cx="3367357" cy="126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First 15 beta customers with core risk prediction functionality and QBR model 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4679156" y="2068841"/>
            <a:ext cx="4179094" cy="40574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4679156" y="2068841"/>
            <a:ext cx="28575" cy="405743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4881" y="2183141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1"/>
          <p:cNvSpPr/>
          <p:nvPr/>
        </p:nvSpPr>
        <p:spPr>
          <a:xfrm>
            <a:off x="4979194" y="2140279"/>
            <a:ext cx="3562834" cy="120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Q4 2025: Platform Enhancement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4979194" y="2278856"/>
            <a:ext cx="3562834" cy="126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Advanced analytics, expanded data sources, and automated reporting capabilities 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4679156" y="2560309"/>
            <a:ext cx="4179094" cy="40574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4679156" y="2560309"/>
            <a:ext cx="28575" cy="405743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4881" y="2674609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1"/>
          <p:cNvSpPr/>
          <p:nvPr/>
        </p:nvSpPr>
        <p:spPr>
          <a:xfrm>
            <a:off x="4979194" y="2631746"/>
            <a:ext cx="2970991" cy="120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Q2 2026: 50 Customer Milestone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4979194" y="2770324"/>
            <a:ext cx="2970991" cy="126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Expansion into 5 major metropolitan markets with proven scalability 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4679156" y="3051777"/>
            <a:ext cx="4179094" cy="40574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4679156" y="3051777"/>
            <a:ext cx="28575" cy="405743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4881" y="316607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1"/>
          <p:cNvSpPr/>
          <p:nvPr/>
        </p:nvSpPr>
        <p:spPr>
          <a:xfrm>
            <a:off x="4950619" y="3123214"/>
            <a:ext cx="3240500" cy="120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Q4 2026: Series A Ready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4950619" y="3261792"/>
            <a:ext cx="3240500" cy="126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$5M+ ARR, 95%+ retention, and proven unit economics for growth funding 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4679156" y="3543244"/>
            <a:ext cx="4179094" cy="40574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4679156" y="3543244"/>
            <a:ext cx="28575" cy="405743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4881" y="3657544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1"/>
          <p:cNvSpPr/>
          <p:nvPr/>
        </p:nvSpPr>
        <p:spPr>
          <a:xfrm>
            <a:off x="4907756" y="3614682"/>
            <a:ext cx="3567103" cy="1207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Key Metrics Target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907756" y="3753259"/>
            <a:ext cx="3567103" cy="126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Cash positive with 19 clients, 2.5x margin expansion through insurance brokerage 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3" name="Google Shape;4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329363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2"/>
          <p:cNvSpPr/>
          <p:nvPr/>
        </p:nvSpPr>
        <p:spPr>
          <a:xfrm>
            <a:off x="285750" y="28575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5-year financial projections with path to profitability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42963"/>
            <a:ext cx="4143375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6" name="Google Shape;47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" y="2986088"/>
            <a:ext cx="41433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2"/>
          <p:cNvSpPr/>
          <p:nvPr/>
        </p:nvSpPr>
        <p:spPr>
          <a:xfrm>
            <a:off x="285750" y="5200650"/>
            <a:ext cx="1309678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285750" y="5200650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392906" y="5307806"/>
            <a:ext cx="107633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CAGR (5-Year)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92906" y="5514975"/>
            <a:ext cx="107633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115%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392906" y="5807869"/>
            <a:ext cx="1076334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Revenue Growth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683553" y="5200650"/>
            <a:ext cx="1319222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2"/>
          <p:cNvSpPr/>
          <p:nvPr/>
        </p:nvSpPr>
        <p:spPr>
          <a:xfrm>
            <a:off x="1683553" y="5200650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1800225" y="5307806"/>
            <a:ext cx="10858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Gross Margin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1800225" y="5514975"/>
            <a:ext cx="1085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78%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1800225" y="5807869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Year 5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3100388" y="5200650"/>
            <a:ext cx="1328738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2"/>
          <p:cNvSpPr/>
          <p:nvPr/>
        </p:nvSpPr>
        <p:spPr>
          <a:xfrm>
            <a:off x="3100388" y="5200650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3226575" y="5307806"/>
            <a:ext cx="1095366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EBITDA Positive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3226575" y="5514975"/>
            <a:ext cx="10953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Year 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3226575" y="5807869"/>
            <a:ext cx="1095366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Q2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2" name="Google Shape;49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842963"/>
            <a:ext cx="41433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2"/>
          <p:cNvSpPr/>
          <p:nvPr/>
        </p:nvSpPr>
        <p:spPr>
          <a:xfrm>
            <a:off x="4714875" y="3057525"/>
            <a:ext cx="1309678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4714875" y="3057525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4822031" y="3164681"/>
            <a:ext cx="107633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CAC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822031" y="3371850"/>
            <a:ext cx="107633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$35K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822031" y="3664744"/>
            <a:ext cx="1076334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Year 1 → $28K Year 5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6112678" y="3057525"/>
            <a:ext cx="1319222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6112678" y="3057525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6229350" y="3164681"/>
            <a:ext cx="1085850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LTV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229350" y="3371850"/>
            <a:ext cx="1085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$210K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6229350" y="3664744"/>
            <a:ext cx="108585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Year 1 → $420K Year 5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7529513" y="3057525"/>
            <a:ext cx="1328738" cy="84296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7529513" y="3057525"/>
            <a:ext cx="28575" cy="8429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7655700" y="3164681"/>
            <a:ext cx="1095366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LTV:CAC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7655700" y="3371850"/>
            <a:ext cx="10953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6:1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7655700" y="3664744"/>
            <a:ext cx="1095366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Year 1 → 15:1 Year 5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714875" y="4043363"/>
            <a:ext cx="4143375" cy="1600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4822031" y="4150519"/>
            <a:ext cx="39290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Key Financial Assumptions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4822031" y="4393406"/>
            <a:ext cx="43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4922183" y="4395192"/>
            <a:ext cx="909126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Client Acquisition: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5831309" y="4395192"/>
            <a:ext cx="1926245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15 clients (Year 1) → 250+ clients (Year 5)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22031" y="4622006"/>
            <a:ext cx="43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922183" y="4623792"/>
            <a:ext cx="854627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Revenue Growth: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76810" y="4623792"/>
            <a:ext cx="1536018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$1.2M (Year 1) → $25M+ (Year 5)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4822031" y="4850606"/>
            <a:ext cx="43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4922183" y="4852392"/>
            <a:ext cx="7783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Retention Rate: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5700489" y="4852392"/>
            <a:ext cx="1322375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85% (Year 1) → 92% (Year 5)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4822031" y="5079206"/>
            <a:ext cx="43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4922183" y="5080992"/>
            <a:ext cx="995242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Expansion Revenue: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17425" y="5080992"/>
            <a:ext cx="1322375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15% (Year 2) → 35% (Year 5)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4822031" y="5307806"/>
            <a:ext cx="4300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CDC4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4ECDC4"/>
                </a:solidFill>
                <a:latin typeface="Noto Sans"/>
                <a:ea typeface="Noto Sans"/>
                <a:cs typeface="Noto Sans"/>
                <a:sym typeface="Noto Sans"/>
              </a:rPr>
              <a:t>•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922183" y="5309592"/>
            <a:ext cx="690293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Gross Margin: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612476" y="5309592"/>
            <a:ext cx="1322375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65% (Year 1) → 78% (Year 5)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0" y="6093619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1" name="Google Shape;5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3"/>
          <p:cNvSpPr/>
          <p:nvPr/>
        </p:nvSpPr>
        <p:spPr>
          <a:xfrm>
            <a:off x="285750" y="214313"/>
            <a:ext cx="8572500" cy="24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$2M funding to accelerate growth and achieve Series A readiness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285750" y="533995"/>
            <a:ext cx="4179094" cy="48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Strategic deployment of $2M funding to scale operations, enhance technology platform, and establish market leadership position for Series A fundraising in 18 months.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285750" y="1156897"/>
            <a:ext cx="4179094" cy="200025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285750" y="1156897"/>
            <a:ext cx="28575" cy="200025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906" y="1264053"/>
            <a:ext cx="3936206" cy="1785938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3"/>
          <p:cNvSpPr/>
          <p:nvPr/>
        </p:nvSpPr>
        <p:spPr>
          <a:xfrm>
            <a:off x="285750" y="3300022"/>
            <a:ext cx="4179094" cy="17180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285750" y="3300022"/>
            <a:ext cx="28575" cy="17180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3"/>
          <p:cNvSpPr/>
          <p:nvPr/>
        </p:nvSpPr>
        <p:spPr>
          <a:xfrm>
            <a:off x="392906" y="3464328"/>
            <a:ext cx="454158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Category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2355317" y="3464328"/>
            <a:ext cx="403957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Amount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267526" y="3464328"/>
            <a:ext cx="90134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%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392906" y="3800084"/>
            <a:ext cx="950900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Product Development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2618687" y="3800084"/>
            <a:ext cx="2741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$600K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4167736" y="3800084"/>
            <a:ext cx="189923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30%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392906" y="4032256"/>
            <a:ext cx="788854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Sales &amp; Marketing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2537678" y="4032256"/>
            <a:ext cx="2741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$500K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4167764" y="4032256"/>
            <a:ext cx="189923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25%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392906" y="4264428"/>
            <a:ext cx="8388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Operations &amp; Team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2562681" y="4264428"/>
            <a:ext cx="2741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$400K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4167736" y="4264428"/>
            <a:ext cx="189923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20%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392906" y="4496600"/>
            <a:ext cx="1129382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Technology Infrastructure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2707928" y="4496600"/>
            <a:ext cx="2741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$300K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4167736" y="4496600"/>
            <a:ext cx="189923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15%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/>
          <p:nvPr/>
        </p:nvSpPr>
        <p:spPr>
          <a:xfrm>
            <a:off x="392906" y="4728772"/>
            <a:ext cx="692721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80"/>
              <a:buFont typeface="Noto Sans"/>
              <a:buNone/>
            </a:pPr>
            <a:r>
              <a:rPr b="0" i="0" lang="en-US" sz="680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Working Capital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2489597" y="4728772"/>
            <a:ext cx="27416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$200K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4167736" y="4728772"/>
            <a:ext cx="189923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10%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4679156" y="2079529"/>
            <a:ext cx="41790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Strategic Exit Opportunities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4679156" y="2336704"/>
            <a:ext cx="1321594" cy="12787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4679156" y="2336704"/>
            <a:ext cx="28575" cy="12787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4786313" y="2443860"/>
            <a:ext cx="1107281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Construction Technology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1" name="Google Shape;5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4490" y="2851054"/>
            <a:ext cx="53092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2" name="Google Shape;5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0484" y="3093941"/>
            <a:ext cx="618939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3" name="Google Shape;5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09232" y="3336829"/>
            <a:ext cx="46144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3"/>
          <p:cNvSpPr/>
          <p:nvPr/>
        </p:nvSpPr>
        <p:spPr>
          <a:xfrm>
            <a:off x="6107906" y="2336704"/>
            <a:ext cx="1321594" cy="12787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6107906" y="2336704"/>
            <a:ext cx="28575" cy="12787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6215063" y="2443860"/>
            <a:ext cx="1107281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Risk Management &amp; Insurance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4052" y="2851054"/>
            <a:ext cx="30930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8" name="Google Shape;568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2419" y="3093941"/>
            <a:ext cx="45254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9" name="Google Shape;569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98552" y="3336829"/>
            <a:ext cx="54030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3"/>
          <p:cNvSpPr/>
          <p:nvPr/>
        </p:nvSpPr>
        <p:spPr>
          <a:xfrm>
            <a:off x="7536656" y="2336704"/>
            <a:ext cx="1321594" cy="12787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7536656" y="2336704"/>
            <a:ext cx="28575" cy="12787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7643813" y="2443860"/>
            <a:ext cx="1107281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Data &amp; Analytics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61458" y="2701035"/>
            <a:ext cx="471962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4" name="Google Shape;57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78676" y="2943923"/>
            <a:ext cx="43755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5" name="Google Shape;57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914215" y="3186810"/>
            <a:ext cx="56647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3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BuildSafe IQ™ - Confidential and Proprietary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2" name="Google Shape;5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4"/>
          <p:cNvSpPr/>
          <p:nvPr/>
        </p:nvSpPr>
        <p:spPr>
          <a:xfrm>
            <a:off x="285750" y="214313"/>
            <a:ext cx="8572500" cy="240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15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Clear path to strategic exit with multiple acquisition opportunities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285750" y="632920"/>
            <a:ext cx="4179094" cy="480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BuildSafe IQ is positioned for strategic acquisition by construction technology leaders, insurance companies, or data analytics firms seeking to expand their risk management capabilities. 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285750" y="1255821"/>
            <a:ext cx="417909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Exit Timeline &amp; Milestones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285750" y="1512996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285750" y="1512996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8" name="Google Shape;5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" y="162729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/>
          <p:nvPr/>
        </p:nvSpPr>
        <p:spPr>
          <a:xfrm>
            <a:off x="557213" y="1584434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Year 1-2: Foundation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557213" y="1745168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Establish market presence, achieve 50+ customers, prove unit economics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285750" y="2013756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285750" y="2013756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3" name="Google Shape;5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212805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14"/>
          <p:cNvSpPr/>
          <p:nvPr/>
        </p:nvSpPr>
        <p:spPr>
          <a:xfrm>
            <a:off x="557213" y="2085194"/>
            <a:ext cx="3821906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Year 3: Growth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557213" y="2245928"/>
            <a:ext cx="382190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Scale to 100+ customers, $8M+ ARR, 90% retention rate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285750" y="2514516"/>
            <a:ext cx="4179094" cy="41503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285750" y="2514516"/>
            <a:ext cx="28575" cy="41503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8" name="Google Shape;5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475" y="2628816"/>
            <a:ext cx="12858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4"/>
          <p:cNvSpPr/>
          <p:nvPr/>
        </p:nvSpPr>
        <p:spPr>
          <a:xfrm>
            <a:off x="571500" y="2585954"/>
            <a:ext cx="3807619" cy="139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680"/>
              <a:buFont typeface="Noto Sans"/>
              <a:buNone/>
            </a:pPr>
            <a:r>
              <a:rPr b="1" i="0" lang="en-US" sz="68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Year 4-5: Exit Ready</a:t>
            </a:r>
            <a:endParaRPr b="0" i="0" sz="6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571500" y="2746688"/>
            <a:ext cx="3807619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Market leadership position, 98% retention, strategic acquisition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285750" y="3072426"/>
            <a:ext cx="4179094" cy="173958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285750" y="3072426"/>
            <a:ext cx="28575" cy="1739587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3" name="Google Shape;6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906" y="3179583"/>
            <a:ext cx="3936206" cy="1525191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4"/>
          <p:cNvSpPr/>
          <p:nvPr/>
        </p:nvSpPr>
        <p:spPr>
          <a:xfrm>
            <a:off x="4679156" y="779450"/>
            <a:ext cx="4179094" cy="4971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4679156" y="779450"/>
            <a:ext cx="28575" cy="49718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6" name="Google Shape;6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86313" y="963737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4"/>
          <p:cNvSpPr/>
          <p:nvPr/>
        </p:nvSpPr>
        <p:spPr>
          <a:xfrm>
            <a:off x="5032772" y="865175"/>
            <a:ext cx="3718322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90%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5032772" y="1079488"/>
            <a:ext cx="3718322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Current retention rate target for Year 3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4679156" y="1362363"/>
            <a:ext cx="4179094" cy="4971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4"/>
          <p:cNvSpPr/>
          <p:nvPr/>
        </p:nvSpPr>
        <p:spPr>
          <a:xfrm>
            <a:off x="4679156" y="1362363"/>
            <a:ext cx="28575" cy="49718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1" name="Google Shape;6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86313" y="154665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4"/>
          <p:cNvSpPr/>
          <p:nvPr/>
        </p:nvSpPr>
        <p:spPr>
          <a:xfrm>
            <a:off x="5000625" y="1448088"/>
            <a:ext cx="3750469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98%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5000625" y="1662401"/>
            <a:ext cx="3750469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Retention rate target by Year 5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4679156" y="1945277"/>
            <a:ext cx="4179094" cy="4971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4679156" y="1945277"/>
            <a:ext cx="28575" cy="49718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6" name="Google Shape;6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86313" y="2129563"/>
            <a:ext cx="80367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14"/>
          <p:cNvSpPr/>
          <p:nvPr/>
        </p:nvSpPr>
        <p:spPr>
          <a:xfrm>
            <a:off x="4952405" y="2031002"/>
            <a:ext cx="3798689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$15M+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4952405" y="2245314"/>
            <a:ext cx="3798689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ARR target at exit readiness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4679156" y="2528190"/>
            <a:ext cx="4179094" cy="4971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4679156" y="2528190"/>
            <a:ext cx="28575" cy="49718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1" name="Google Shape;62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86313" y="2712476"/>
            <a:ext cx="96441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4"/>
          <p:cNvSpPr/>
          <p:nvPr/>
        </p:nvSpPr>
        <p:spPr>
          <a:xfrm>
            <a:off x="4968478" y="2613915"/>
            <a:ext cx="3782616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200+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4968478" y="2828227"/>
            <a:ext cx="3782616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Customer base at strategic exit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4679156" y="3111103"/>
            <a:ext cx="4179094" cy="49718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4679156" y="3111103"/>
            <a:ext cx="28575" cy="497188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6" name="Google Shape;62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86313" y="3295390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14"/>
          <p:cNvSpPr/>
          <p:nvPr/>
        </p:nvSpPr>
        <p:spPr>
          <a:xfrm>
            <a:off x="5032772" y="3196828"/>
            <a:ext cx="3718322" cy="192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942"/>
              <a:buFont typeface="Noto Sans"/>
              <a:buNone/>
            </a:pPr>
            <a:r>
              <a:rPr b="1" i="0" lang="en-US" sz="94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5-8x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5032772" y="3411141"/>
            <a:ext cx="3718322" cy="11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Expected revenue multiple at exit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4679156" y="3751166"/>
            <a:ext cx="4179094" cy="102144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4679156" y="3751166"/>
            <a:ext cx="28575" cy="1021445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4"/>
          <p:cNvSpPr/>
          <p:nvPr/>
        </p:nvSpPr>
        <p:spPr>
          <a:xfrm>
            <a:off x="4786313" y="3858323"/>
            <a:ext cx="3964781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7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Strategic Value Drivers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4786313" y="4067277"/>
            <a:ext cx="2350517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Proprietary RiskSync Framework™ with AI/ML capabilities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4786313" y="4187270"/>
            <a:ext cx="2260160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Deep construction industry relationships and expertise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4786313" y="4307263"/>
            <a:ext cx="2067446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Proven customer retention and expansion metrics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4786313" y="4427255"/>
            <a:ext cx="2366981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Scalable technology platform with integration capabilities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4786313" y="4547248"/>
            <a:ext cx="2212916" cy="1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Clear path to insurance brokerage revenue expansion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0" y="4907756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3" name="Google Shape;6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15"/>
          <p:cNvSpPr/>
          <p:nvPr/>
        </p:nvSpPr>
        <p:spPr>
          <a:xfrm>
            <a:off x="428625" y="428625"/>
            <a:ext cx="8286750" cy="274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Ready to transform construction risk management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428625" y="1060121"/>
            <a:ext cx="3929063" cy="307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85075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Next Steps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428625" y="1545896"/>
            <a:ext cx="3929063" cy="77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428625" y="1545896"/>
            <a:ext cx="28575" cy="77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571500" y="1688771"/>
            <a:ext cx="250031" cy="250031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571500" y="1688771"/>
            <a:ext cx="250031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928688" y="1688771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Initial Discussion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928688" y="1895940"/>
            <a:ext cx="32861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Schedule a 30-minute call to discuss investment opportunity and answer questions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428625" y="2461692"/>
            <a:ext cx="3929063" cy="77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428625" y="2461692"/>
            <a:ext cx="28575" cy="77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571500" y="2604567"/>
            <a:ext cx="250031" cy="250031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571500" y="2604567"/>
            <a:ext cx="250031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5"/>
          <p:cNvSpPr/>
          <p:nvPr/>
        </p:nvSpPr>
        <p:spPr>
          <a:xfrm>
            <a:off x="928688" y="2604567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Due Diligence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928688" y="2811735"/>
            <a:ext cx="32861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Review detailed financials, customer references, and technical documentation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5"/>
          <p:cNvSpPr/>
          <p:nvPr/>
        </p:nvSpPr>
        <p:spPr>
          <a:xfrm>
            <a:off x="428625" y="3377487"/>
            <a:ext cx="3929063" cy="77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428625" y="3377487"/>
            <a:ext cx="28575" cy="77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571500" y="3520362"/>
            <a:ext cx="250031" cy="250031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571500" y="3520362"/>
            <a:ext cx="250031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5"/>
          <p:cNvSpPr/>
          <p:nvPr/>
        </p:nvSpPr>
        <p:spPr>
          <a:xfrm>
            <a:off x="928688" y="3520362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Product Demo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928688" y="3727531"/>
            <a:ext cx="3286125" cy="280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Experience RiskSync Framework™ with live customer data and use cases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5"/>
          <p:cNvSpPr/>
          <p:nvPr/>
        </p:nvSpPr>
        <p:spPr>
          <a:xfrm>
            <a:off x="428625" y="4293282"/>
            <a:ext cx="3929063" cy="63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428625" y="4293282"/>
            <a:ext cx="28575" cy="63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571500" y="4436157"/>
            <a:ext cx="250031" cy="250031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571500" y="4436157"/>
            <a:ext cx="250031" cy="25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5"/>
          <p:cNvSpPr/>
          <p:nvPr/>
        </p:nvSpPr>
        <p:spPr>
          <a:xfrm>
            <a:off x="928688" y="4436157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Investment Decision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5"/>
          <p:cNvSpPr/>
          <p:nvPr/>
        </p:nvSpPr>
        <p:spPr>
          <a:xfrm>
            <a:off x="928688" y="4643326"/>
            <a:ext cx="3286125" cy="140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Finalize terms and join BuildSafe IQ's growth journey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428625" y="5140514"/>
            <a:ext cx="3929063" cy="1364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428625" y="5140514"/>
            <a:ext cx="28575" cy="13644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571500" y="5283389"/>
            <a:ext cx="364331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Investment Highlights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571500" y="5572711"/>
            <a:ext cx="2270206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$2M funding for 18-month growth acceleration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5"/>
          <p:cNvSpPr/>
          <p:nvPr/>
        </p:nvSpPr>
        <p:spPr>
          <a:xfrm>
            <a:off x="571500" y="5732720"/>
            <a:ext cx="239190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Clear path to Series A with proven unit economics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571500" y="5892729"/>
            <a:ext cx="2707342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Experienced team with 100+ years combined experience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571500" y="6052738"/>
            <a:ext cx="2210684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Multiple strategic exit opportunities identified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571500" y="6212746"/>
            <a:ext cx="2480221" cy="13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32"/>
              <a:buFont typeface="Noto Sans"/>
              <a:buNone/>
            </a:pPr>
            <a:r>
              <a:rPr b="0" i="0" lang="en-US" sz="732" u="none" cap="none" strike="noStrike">
                <a:solidFill>
                  <a:srgbClr val="333333"/>
                </a:solidFill>
                <a:latin typeface="Noto Sans"/>
                <a:ea typeface="Noto Sans"/>
                <a:cs typeface="Noto Sans"/>
                <a:sym typeface="Noto Sans"/>
              </a:rPr>
              <a:t> • First-mover advantage in construction risk analytics </a:t>
            </a:r>
            <a:endParaRPr b="0" i="0" sz="7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4786313" y="1060121"/>
            <a:ext cx="3929063" cy="234315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5000625" y="1274434"/>
            <a:ext cx="35004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6"/>
              <a:buFont typeface="Noto Sans"/>
              <a:buNone/>
            </a:pPr>
            <a:r>
              <a:rPr b="1" i="0" lang="en-US" sz="104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Contact Information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0" name="Google Shape;6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1123" y="1663768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15"/>
          <p:cNvSpPr/>
          <p:nvPr/>
        </p:nvSpPr>
        <p:spPr>
          <a:xfrm>
            <a:off x="5865075" y="1642337"/>
            <a:ext cx="19554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Aaron Lavespere, CEO &amp; Co-Founder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2" name="Google Shape;68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5875" y="1942374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5"/>
          <p:cNvSpPr/>
          <p:nvPr/>
        </p:nvSpPr>
        <p:spPr>
          <a:xfrm>
            <a:off x="6215900" y="1920943"/>
            <a:ext cx="126988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aaron@buildsafeiq.com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4" name="Google Shape;68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6362" y="222098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5"/>
          <p:cNvSpPr/>
          <p:nvPr/>
        </p:nvSpPr>
        <p:spPr>
          <a:xfrm>
            <a:off x="6456387" y="2199549"/>
            <a:ext cx="7889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(555) 123-4567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6" name="Google Shape;68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5955" y="2499587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15"/>
          <p:cNvSpPr/>
          <p:nvPr/>
        </p:nvSpPr>
        <p:spPr>
          <a:xfrm>
            <a:off x="6275980" y="2478156"/>
            <a:ext cx="1149753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7"/>
              <a:buFont typeface="Noto Sans"/>
              <a:buNone/>
            </a:pPr>
            <a:r>
              <a:rPr b="0" i="0" lang="en-US" sz="837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www.buildsafeiq.com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5977756" y="2803196"/>
            <a:ext cx="1546147" cy="385763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5977756" y="2803196"/>
            <a:ext cx="1546147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500" lIns="255125" spcFirstLastPara="1" rIns="255125" wrap="square" tIns="1275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837"/>
              <a:buFont typeface="Noto Sans"/>
              <a:buNone/>
            </a:pPr>
            <a:r>
              <a:rPr b="1" i="0" lang="en-US" sz="837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Schedule a Meeting</a:t>
            </a:r>
            <a:endParaRPr b="0" i="0" sz="8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6" name="Google Shape;6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6"/>
          <p:cNvSpPr/>
          <p:nvPr/>
        </p:nvSpPr>
        <p:spPr>
          <a:xfrm>
            <a:off x="428625" y="357188"/>
            <a:ext cx="8286750" cy="548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Target Markets &amp; Commercial Contractor Landscape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5111018" y="1191555"/>
            <a:ext cx="36043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Target Market Analysis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5111018" y="1591605"/>
            <a:ext cx="3604357" cy="3643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5111018" y="1591605"/>
            <a:ext cx="28575" cy="3643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5218175" y="1698761"/>
            <a:ext cx="10001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19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Florida</a:t>
            </a:r>
            <a:endParaRPr b="0" i="0" sz="19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7361300" y="1677325"/>
            <a:ext cx="1258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42"/>
              <a:buFont typeface="Noto Sans"/>
              <a:buNone/>
            </a:pPr>
            <a:r>
              <a:rPr b="1" i="0" lang="en-US" sz="2142" u="none" cap="none" strike="noStrike">
                <a:solidFill>
                  <a:srgbClr val="2E86AB"/>
                </a:solidFill>
                <a:latin typeface="Noto Sans"/>
                <a:ea typeface="Noto Sans"/>
                <a:cs typeface="Noto Sans"/>
                <a:sym typeface="Noto Sans"/>
              </a:rPr>
              <a:t>8,500+</a:t>
            </a:r>
            <a:endParaRPr b="0" i="0" sz="21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5111018" y="2063093"/>
            <a:ext cx="3604357" cy="3643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6"/>
          <p:cNvSpPr/>
          <p:nvPr/>
        </p:nvSpPr>
        <p:spPr>
          <a:xfrm>
            <a:off x="5111018" y="2063093"/>
            <a:ext cx="28575" cy="3643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5218175" y="2170249"/>
            <a:ext cx="1000125" cy="150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19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Texas</a:t>
            </a:r>
            <a:endParaRPr b="0" i="0" sz="19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7361300" y="2148825"/>
            <a:ext cx="1306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42"/>
              <a:buFont typeface="Noto Sans"/>
              <a:buNone/>
            </a:pPr>
            <a:r>
              <a:rPr b="1" i="0" lang="en-US" sz="2142" u="none" cap="none" strike="noStrike">
                <a:solidFill>
                  <a:srgbClr val="2E86AB"/>
                </a:solidFill>
                <a:latin typeface="Noto Sans"/>
                <a:ea typeface="Noto Sans"/>
                <a:cs typeface="Noto Sans"/>
                <a:sym typeface="Noto Sans"/>
              </a:rPr>
              <a:t>12,200+</a:t>
            </a:r>
            <a:endParaRPr b="0" i="0" sz="21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5111018" y="2534580"/>
            <a:ext cx="3604500" cy="364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5111018" y="2534580"/>
            <a:ext cx="28575" cy="3643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5218175" y="2641725"/>
            <a:ext cx="2046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lang="en-US" sz="1932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S.</a:t>
            </a:r>
            <a:r>
              <a:rPr b="1" i="0" lang="en-US" sz="19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California</a:t>
            </a:r>
            <a:endParaRPr b="0" i="0" sz="19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7361300" y="2620300"/>
            <a:ext cx="1306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42"/>
              <a:buFont typeface="Noto Sans"/>
              <a:buNone/>
            </a:pPr>
            <a:r>
              <a:rPr b="1" i="0" lang="en-US" sz="2142" u="none" cap="none" strike="noStrike">
                <a:solidFill>
                  <a:srgbClr val="2E86AB"/>
                </a:solidFill>
                <a:latin typeface="Noto Sans"/>
                <a:ea typeface="Noto Sans"/>
                <a:cs typeface="Noto Sans"/>
                <a:sym typeface="Noto Sans"/>
              </a:rPr>
              <a:t>6,800+</a:t>
            </a:r>
            <a:endParaRPr b="0" i="0" sz="21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6"/>
          <p:cNvSpPr/>
          <p:nvPr/>
        </p:nvSpPr>
        <p:spPr>
          <a:xfrm>
            <a:off x="5111018" y="3006068"/>
            <a:ext cx="3604357" cy="3643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5111018" y="3006068"/>
            <a:ext cx="28575" cy="3643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5218175" y="3113225"/>
            <a:ext cx="20463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19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Metro DC</a:t>
            </a:r>
            <a:endParaRPr b="0" i="0" sz="19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7361300" y="3091786"/>
            <a:ext cx="1306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42"/>
              <a:buFont typeface="Noto Sans"/>
              <a:buNone/>
            </a:pPr>
            <a:r>
              <a:rPr b="1" i="0" lang="en-US" sz="2142" u="none" cap="none" strike="noStrike">
                <a:solidFill>
                  <a:srgbClr val="2E86AB"/>
                </a:solidFill>
                <a:latin typeface="Noto Sans"/>
                <a:ea typeface="Noto Sans"/>
                <a:cs typeface="Noto Sans"/>
                <a:sym typeface="Noto Sans"/>
              </a:rPr>
              <a:t>3,200+</a:t>
            </a:r>
            <a:endParaRPr b="0" i="0" sz="21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6"/>
          <p:cNvSpPr/>
          <p:nvPr/>
        </p:nvSpPr>
        <p:spPr>
          <a:xfrm>
            <a:off x="5111018" y="3477555"/>
            <a:ext cx="3604357" cy="36433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5111018" y="3477555"/>
            <a:ext cx="28575" cy="364331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5218175" y="3584702"/>
            <a:ext cx="21432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732"/>
              <a:buFont typeface="Noto Sans"/>
              <a:buNone/>
            </a:pPr>
            <a:r>
              <a:rPr b="1" i="0" lang="en-US" sz="1932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Metro NY</a:t>
            </a:r>
            <a:endParaRPr b="0" i="0" sz="19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7361300" y="3563270"/>
            <a:ext cx="13062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6AB"/>
              </a:buClr>
              <a:buSzPts val="942"/>
              <a:buFont typeface="Noto Sans"/>
              <a:buNone/>
            </a:pPr>
            <a:r>
              <a:rPr b="1" i="0" lang="en-US" sz="2142" u="none" cap="none" strike="noStrike">
                <a:solidFill>
                  <a:srgbClr val="2E86AB"/>
                </a:solidFill>
                <a:latin typeface="Noto Sans"/>
                <a:ea typeface="Noto Sans"/>
                <a:cs typeface="Noto Sans"/>
                <a:sym typeface="Noto Sans"/>
              </a:rPr>
              <a:t>4,800+</a:t>
            </a:r>
            <a:endParaRPr b="0" i="0" sz="21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6"/>
          <p:cNvSpPr/>
          <p:nvPr/>
        </p:nvSpPr>
        <p:spPr>
          <a:xfrm>
            <a:off x="5111018" y="3984761"/>
            <a:ext cx="3604357" cy="91149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F18F0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5253893" y="4127636"/>
            <a:ext cx="3318607" cy="300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65D"/>
              </a:buClr>
              <a:buSzPts val="1575"/>
              <a:buFont typeface="Noto Sans"/>
              <a:buNone/>
            </a:pPr>
            <a:r>
              <a:rPr b="1" i="0" lang="en-US" sz="2375" u="none" cap="none" strike="noStrike">
                <a:solidFill>
                  <a:srgbClr val="1B365D"/>
                </a:solidFill>
                <a:latin typeface="Noto Sans"/>
                <a:ea typeface="Noto Sans"/>
                <a:cs typeface="Noto Sans"/>
                <a:sym typeface="Noto Sans"/>
              </a:rPr>
              <a:t>35,500+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5139598" y="4486600"/>
            <a:ext cx="34329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14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Total Commercial General Contractors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5139600" y="4594125"/>
            <a:ext cx="3528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14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in Target Markets</a:t>
            </a:r>
            <a:endParaRPr b="0" i="0" sz="14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0" y="4872038"/>
            <a:ext cx="9144000" cy="128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28"/>
              <a:buFont typeface="Noto Sans"/>
              <a:buNone/>
            </a:pPr>
            <a:r>
              <a:rPr b="0" i="0" lang="en-US" sz="628" u="none" cap="none" strike="noStrike">
                <a:solidFill>
                  <a:srgbClr val="666666"/>
                </a:solidFill>
                <a:latin typeface="Noto Sans"/>
                <a:ea typeface="Noto Sans"/>
                <a:cs typeface="Noto Sans"/>
                <a:sym typeface="Noto Sans"/>
              </a:rPr>
              <a:t> Confidential © 2025 BuildSafe IQ </a:t>
            </a:r>
            <a:endParaRPr b="0" i="0" sz="62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16"/>
          <p:cNvPicPr preferRelativeResize="0"/>
          <p:nvPr/>
        </p:nvPicPr>
        <p:blipFill rotWithShape="1">
          <a:blip r:embed="rId4">
            <a:alphaModFix/>
          </a:blip>
          <a:srcRect b="6881" l="0" r="0" t="0"/>
          <a:stretch/>
        </p:blipFill>
        <p:spPr>
          <a:xfrm>
            <a:off x="431125" y="1861274"/>
            <a:ext cx="4320100" cy="23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2025-08-14T20:25:14Z</dcterms:created>
  <dc:creator>PptxGenJS</dc:creator>
</cp:coreProperties>
</file>