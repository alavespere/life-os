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27"/>
  </p:notesMasterIdLst>
  <p:sldIdLst>
    <p:sldId id="256" r:id="rId2"/>
    <p:sldId id="258" r:id="rId3"/>
    <p:sldId id="259" r:id="rId4"/>
    <p:sldId id="320" r:id="rId5"/>
    <p:sldId id="311" r:id="rId6"/>
    <p:sldId id="260" r:id="rId7"/>
    <p:sldId id="321" r:id="rId8"/>
    <p:sldId id="278" r:id="rId9"/>
    <p:sldId id="298" r:id="rId10"/>
    <p:sldId id="322" r:id="rId11"/>
    <p:sldId id="316" r:id="rId12"/>
    <p:sldId id="287" r:id="rId13"/>
    <p:sldId id="285" r:id="rId14"/>
    <p:sldId id="309" r:id="rId15"/>
    <p:sldId id="300" r:id="rId16"/>
    <p:sldId id="292" r:id="rId17"/>
    <p:sldId id="314" r:id="rId18"/>
    <p:sldId id="302" r:id="rId19"/>
    <p:sldId id="303" r:id="rId20"/>
    <p:sldId id="304" r:id="rId21"/>
    <p:sldId id="305" r:id="rId22"/>
    <p:sldId id="306" r:id="rId23"/>
    <p:sldId id="307" r:id="rId24"/>
    <p:sldId id="308" r:id="rId25"/>
    <p:sldId id="313" r:id="rId26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7619F"/>
    <a:srgbClr val="FFFFFF"/>
    <a:srgbClr val="AD5366"/>
    <a:srgbClr val="FFD85B"/>
    <a:srgbClr val="FFCC66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50"/>
      <c:hPercent val="100"/>
      <c:rotY val="176"/>
      <c:depthPercent val="50"/>
      <c:rAngAx val="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Annual Premium Breakdown</c:v>
                </c:pt>
              </c:strCache>
            </c:strRef>
          </c:tx>
          <c:spPr>
            <a:scene3d>
              <a:camera prst="orthographicFront"/>
              <a:lightRig rig="threePt" dir="t"/>
            </a:scene3d>
            <a:sp3d prstMaterial="matte"/>
          </c:spPr>
          <c:dLbls>
            <c:dLbl>
              <c:idx val="0"/>
              <c:spPr/>
              <c:txPr>
                <a:bodyPr/>
                <a:lstStyle/>
                <a:p>
                  <a:pPr>
                    <a:defRPr sz="1200" baseline="0">
                      <a:solidFill>
                        <a:schemeClr val="bg1"/>
                      </a:solidFill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0-D090-4090-ABE4-7C6F74793628}"/>
                </c:ext>
              </c:extLst>
            </c:dLbl>
            <c:dLbl>
              <c:idx val="1"/>
              <c:layout>
                <c:manualLayout>
                  <c:x val="-0.10575642571705564"/>
                  <c:y val="7.714464402887139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090-4090-ABE4-7C6F74793628}"/>
                </c:ext>
              </c:extLst>
            </c:dLbl>
            <c:dLbl>
              <c:idx val="2"/>
              <c:layout>
                <c:manualLayout>
                  <c:x val="-0.12751105436144805"/>
                  <c:y val="-8.3718832020997377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090-4090-ABE4-7C6F74793628}"/>
                </c:ext>
              </c:extLst>
            </c:dLbl>
            <c:dLbl>
              <c:idx val="3"/>
              <c:layout>
                <c:manualLayout>
                  <c:x val="5.2273769832824953E-2"/>
                  <c:y val="-5.2310736548556433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090-4090-ABE4-7C6F7479362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Loss Funds</c:v>
                </c:pt>
                <c:pt idx="1">
                  <c:v>Reinsurance</c:v>
                </c:pt>
                <c:pt idx="2">
                  <c:v>Fronting Costs</c:v>
                </c:pt>
                <c:pt idx="3">
                  <c:v>Claims Admin</c:v>
                </c:pt>
                <c:pt idx="4">
                  <c:v>Risk Control</c:v>
                </c:pt>
                <c:pt idx="5">
                  <c:v>Off Shore Expense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0.65</c:v>
                </c:pt>
                <c:pt idx="1">
                  <c:v>0.13</c:v>
                </c:pt>
                <c:pt idx="2">
                  <c:v>0.11</c:v>
                </c:pt>
                <c:pt idx="3">
                  <c:v>0.04</c:v>
                </c:pt>
                <c:pt idx="4">
                  <c:v>0.01</c:v>
                </c:pt>
                <c:pt idx="5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090-4090-ABE4-7C6F747936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</c:plotArea>
    <c:plotVisOnly val="1"/>
    <c:dispBlanksAs val="gap"/>
    <c:showDLblsOverMax val="0"/>
  </c:chart>
  <c:spPr>
    <a:noFill/>
  </c:spPr>
  <c:txPr>
    <a:bodyPr/>
    <a:lstStyle/>
    <a:p>
      <a:pPr>
        <a:defRPr sz="1800"/>
      </a:pPr>
      <a:endParaRPr lang="en-US"/>
    </a:p>
  </c:txPr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0.02703</cdr:x>
      <cdr:y>0</cdr:y>
    </cdr:from>
    <cdr:to>
      <cdr:x>0.45946</cdr:x>
      <cdr:y>0.07341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01415983-362A-5A07-7798-B4DF6097A879}"/>
            </a:ext>
          </a:extLst>
        </cdr:cNvPr>
        <cdr:cNvSpPr txBox="1"/>
      </cdr:nvSpPr>
      <cdr:spPr>
        <a:xfrm xmlns:a="http://schemas.openxmlformats.org/drawingml/2006/main">
          <a:off x="228600" y="0"/>
          <a:ext cx="3657600" cy="35798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dirty="0"/>
            <a:t>Percents vary by captive.</a:t>
          </a:r>
          <a:endParaRPr lang="en-US" sz="11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07B48A4-2327-4BA0-AD45-3868B7BE30EF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44721B7-D38D-4693-A552-96C6CCA6D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886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4721B7-D38D-4693-A552-96C6CCA6D78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501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4721B7-D38D-4693-A552-96C6CCA6D78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65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4721B7-D38D-4693-A552-96C6CCA6D78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789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4721B7-D38D-4693-A552-96C6CCA6D78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877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A9A1A78-3A58-43CA-91F1-9FBC5616D6D9}" type="slidenum">
              <a:rPr lang="en-US" altLang="en-US" smtClean="0">
                <a:cs typeface="Arial" charset="0"/>
              </a:rPr>
              <a:pPr eaLnBrk="1" hangingPunct="1">
                <a:spcBef>
                  <a:spcPct val="0"/>
                </a:spcBef>
              </a:pPr>
              <a:t>7</a:t>
            </a:fld>
            <a:endParaRPr lang="en-US" altLang="en-US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6163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29895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45169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8200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14276EA-FDA3-47BB-AA94-4DBB72E842B2}" type="datetime1">
              <a:rPr lang="en-US" smtClean="0"/>
              <a:t>11/10/2023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r>
              <a:rPr lang="en-US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FF78752-CBAD-4919-9765-854D19DDF5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063E0-8C03-49A1-B067-B8112EF5FEFB}" type="datetime1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0D6DC-184E-4AC6-AD6E-78D6E636BE92}" type="datetime1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1C83-AECC-49B2-B91F-555D13E48256}" type="datetime1">
              <a:rPr lang="en-US" smtClean="0"/>
              <a:t>11/10/2023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90EB1-8943-43D4-8DC3-7FBEC94E5CB3}" type="datetime1">
              <a:rPr lang="en-US" smtClean="0"/>
              <a:t>11/10/2023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143EE-DDD5-423D-B42A-0A63CBC0CD37}" type="datetime1">
              <a:rPr lang="en-US" smtClean="0"/>
              <a:t>11/10/2023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B1FCA-24B4-47E0-BB3C-F9CB5D18BDDB}" type="datetime1">
              <a:rPr lang="en-US" smtClean="0"/>
              <a:t>11/10/2023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4851FF39-0F71-4DA3-81F2-9A7D3BC073AD}" type="datetime1">
              <a:rPr lang="en-US" smtClean="0"/>
              <a:t>11/10/2023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8D7E055-8CFA-4F86-AE7E-86B3AC667AAA}" type="datetime1">
              <a:rPr lang="en-US" smtClean="0"/>
              <a:t>11/10/2023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r>
              <a:rPr lang="en-US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FF78752-CBAD-4919-9765-854D19DDF57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6B49-AFAB-4CEE-876E-6F2C97D89477}" type="datetime1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55E5C-0FB9-4C84-A66A-7F74D36716A9}" type="datetime1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2A96354A-A543-4887-AE82-142E3B081393}" type="datetime1">
              <a:rPr lang="en-US" smtClean="0"/>
              <a:t>11/10/2023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r>
              <a:rPr lang="en-US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6FF78752-CBAD-4919-9765-854D19DDF5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wmf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1142999"/>
          </a:xfrm>
        </p:spPr>
        <p:txBody>
          <a:bodyPr/>
          <a:lstStyle/>
          <a:p>
            <a:pPr algn="l"/>
            <a:r>
              <a:rPr lang="en-US" sz="6000" dirty="0">
                <a:solidFill>
                  <a:schemeClr val="accent1">
                    <a:lumMod val="50000"/>
                  </a:schemeClr>
                </a:solidFill>
              </a:rPr>
              <a:t>Group Captives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1905000"/>
            <a:ext cx="6400800" cy="76200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An Introduction</a:t>
            </a:r>
          </a:p>
          <a:p>
            <a:pPr algn="l"/>
            <a:r>
              <a:rPr lang="en-US" sz="1700" dirty="0">
                <a:latin typeface="Aharoni" panose="02010803020104030203" pitchFamily="2" charset="-79"/>
                <a:cs typeface="Aharoni" panose="02010803020104030203" pitchFamily="2" charset="-79"/>
              </a:rPr>
              <a:t>November 10, 2023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762000" y="18288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0600" y="4191000"/>
            <a:ext cx="4800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by: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 descr="EPICLogo_3in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4572000"/>
            <a:ext cx="1924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124200" y="6172200"/>
            <a:ext cx="5206753" cy="616109"/>
          </a:xfrm>
        </p:spPr>
        <p:txBody>
          <a:bodyPr/>
          <a:lstStyle/>
          <a:p>
            <a:r>
              <a:rPr lang="en-US" sz="800" dirty="0"/>
              <a:t>Confidential &amp; Privileged Non-Public Information - 2022 EPIC Insurance Brokers &amp; Consultants, Inc.  Use, disclosure, dissemination, distribution or reproduction is not authorized</a:t>
            </a:r>
            <a:r>
              <a:rPr lang="en-US" sz="700" dirty="0"/>
              <a:t>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373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46307"/>
            <a:ext cx="7772400" cy="4525963"/>
          </a:xfrm>
        </p:spPr>
        <p:txBody>
          <a:bodyPr>
            <a:normAutofit/>
          </a:bodyPr>
          <a:lstStyle/>
          <a:p>
            <a:pPr marL="109728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 </a:t>
            </a:r>
            <a:r>
              <a:rPr lang="en-US" sz="60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insurance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</a:t>
            </a:r>
          </a:p>
          <a:p>
            <a:pPr marL="109728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that provides insurance  </a:t>
            </a:r>
            <a:r>
              <a:rPr lang="en-US" sz="60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is</a:t>
            </a:r>
          </a:p>
          <a:p>
            <a:pPr marL="109728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0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owners.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a Captive?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57600" y="6096000"/>
            <a:ext cx="5029200" cy="677069"/>
          </a:xfrm>
        </p:spPr>
        <p:txBody>
          <a:bodyPr/>
          <a:lstStyle/>
          <a:p>
            <a:r>
              <a:rPr lang="en-US" sz="800" dirty="0"/>
              <a:t>Confidential &amp; Privileged Non-Public Information - 2022 EPIC Insurance Brokers &amp; Consultants, Inc.  Use, disclosure, dissemination, distribution or reproduction is not authorized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83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1371600"/>
            <a:ext cx="8229600" cy="3657600"/>
          </a:xfrm>
        </p:spPr>
        <p:txBody>
          <a:bodyPr numCol="1">
            <a:normAutofit lnSpcReduction="10000"/>
          </a:bodyPr>
          <a:lstStyle/>
          <a:p>
            <a:r>
              <a:rPr lang="en-US" dirty="0"/>
              <a:t>The first “Captive” insurance originated in the 1950’s but there has been substantial growth of Captives in the last 30 years.</a:t>
            </a:r>
          </a:p>
          <a:p>
            <a:pPr marL="109728" indent="0">
              <a:buNone/>
            </a:pPr>
            <a:endParaRPr lang="en-US" dirty="0"/>
          </a:p>
          <a:p>
            <a:r>
              <a:rPr lang="en-US" u="sng" dirty="0"/>
              <a:t>Today </a:t>
            </a:r>
            <a:r>
              <a:rPr lang="en-US" dirty="0"/>
              <a:t>there are over 6,500 captives with over $100 billion in premiums worldwide</a:t>
            </a:r>
          </a:p>
          <a:p>
            <a:endParaRPr lang="en-US" dirty="0"/>
          </a:p>
          <a:p>
            <a:r>
              <a:rPr lang="en-US" dirty="0"/>
              <a:t>The EPIC team has been placing companies in group captives since 2001.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Group Captives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57600" y="6248401"/>
            <a:ext cx="4953000" cy="524668"/>
          </a:xfrm>
        </p:spPr>
        <p:txBody>
          <a:bodyPr/>
          <a:lstStyle/>
          <a:p>
            <a:r>
              <a:rPr lang="en-US" sz="800" dirty="0"/>
              <a:t>Confidential &amp; Privileged Non-Public Information - 2022 EPIC Insurance Brokers &amp; Consultants, Inc.  Use, disclosure, dissemination, distribution or reproduction is not authorized.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898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525963"/>
          </a:xfrm>
        </p:spPr>
        <p:txBody>
          <a:bodyPr>
            <a:normAutofit fontScale="70000" lnSpcReduction="20000"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i="1" dirty="0">
                <a:solidFill>
                  <a:srgbClr val="0070C0"/>
                </a:solidFill>
              </a:rPr>
              <a:t>Reduce costs </a:t>
            </a:r>
            <a:r>
              <a:rPr lang="en-US" dirty="0"/>
              <a:t>and improve </a:t>
            </a:r>
            <a:r>
              <a:rPr lang="en-US" i="1" dirty="0">
                <a:solidFill>
                  <a:srgbClr val="0070C0"/>
                </a:solidFill>
              </a:rPr>
              <a:t>cash flow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dirty="0"/>
              <a:t>Moves client away from and insulates them from the </a:t>
            </a:r>
            <a:r>
              <a:rPr lang="en-US" i="1" dirty="0">
                <a:solidFill>
                  <a:schemeClr val="accent4"/>
                </a:solidFill>
              </a:rPr>
              <a:t>swings of the insurance market</a:t>
            </a:r>
            <a:r>
              <a:rPr lang="en-US" dirty="0"/>
              <a:t> gaining control their insurance “Destiny”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dirty="0"/>
              <a:t>Clients self-elevate their </a:t>
            </a:r>
            <a:r>
              <a:rPr lang="en-US" i="1" dirty="0">
                <a:solidFill>
                  <a:schemeClr val="accent4"/>
                </a:solidFill>
              </a:rPr>
              <a:t>Risk Management</a:t>
            </a:r>
            <a:r>
              <a:rPr lang="en-US" dirty="0"/>
              <a:t>.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dirty="0"/>
              <a:t>Clients have more control over </a:t>
            </a:r>
            <a:r>
              <a:rPr lang="en-US" i="1" dirty="0">
                <a:solidFill>
                  <a:srgbClr val="37619F"/>
                </a:solidFill>
              </a:rPr>
              <a:t>Claim Management Decisions </a:t>
            </a:r>
            <a:r>
              <a:rPr lang="en-US" dirty="0"/>
              <a:t>and can be more actively involved in the entire claim process.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dirty="0"/>
              <a:t>Client becomes a member of a large group of </a:t>
            </a:r>
            <a:r>
              <a:rPr lang="en-US" i="1" dirty="0">
                <a:solidFill>
                  <a:schemeClr val="accent4"/>
                </a:solidFill>
              </a:rPr>
              <a:t>like minded companies </a:t>
            </a:r>
            <a:r>
              <a:rPr lang="en-US" dirty="0"/>
              <a:t>focused on and working together to reduce their insurance costs and improve their company’s safety culture. </a:t>
            </a:r>
          </a:p>
          <a:p>
            <a:pPr>
              <a:spcBef>
                <a:spcPts val="0"/>
              </a:spcBef>
              <a:spcAft>
                <a:spcPts val="1800"/>
              </a:spcAft>
              <a:buFont typeface="Wingdings 2" panose="05020102010507070707" pitchFamily="18" charset="2"/>
              <a:buChar char=""/>
            </a:pPr>
            <a:r>
              <a:rPr lang="en-US" dirty="0"/>
              <a:t>Insurance moves from being an </a:t>
            </a:r>
            <a:r>
              <a:rPr lang="en-US" i="1" dirty="0">
                <a:solidFill>
                  <a:schemeClr val="accent4"/>
                </a:solidFill>
              </a:rPr>
              <a:t>expense to an investment</a:t>
            </a:r>
            <a:r>
              <a:rPr lang="en-US" dirty="0"/>
              <a:t>, capturing underwriting profits and investment income.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Benefits of a Group Captive: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57600" y="6096000"/>
            <a:ext cx="5029200" cy="677069"/>
          </a:xfrm>
        </p:spPr>
        <p:txBody>
          <a:bodyPr/>
          <a:lstStyle/>
          <a:p>
            <a:r>
              <a:rPr lang="en-US" sz="800" dirty="0"/>
              <a:t>Confidential &amp; Privileged Non-Public Information - 2022 EPIC Insurance Brokers &amp; Consultants, Inc.  Use, disclosure, dissemination, distribution or reproduction is not authorized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901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Lower pay-in premium</a:t>
            </a:r>
          </a:p>
          <a:p>
            <a:r>
              <a:rPr lang="en-US" dirty="0"/>
              <a:t>Premium is still </a:t>
            </a:r>
            <a:r>
              <a:rPr lang="en-US" b="1" dirty="0">
                <a:solidFill>
                  <a:srgbClr val="0000FF"/>
                </a:solidFill>
              </a:rPr>
              <a:t>tax deductible</a:t>
            </a:r>
          </a:p>
          <a:p>
            <a:r>
              <a:rPr lang="en-US" b="1" dirty="0">
                <a:solidFill>
                  <a:srgbClr val="0000FF"/>
                </a:solidFill>
              </a:rPr>
              <a:t>Investment income </a:t>
            </a:r>
            <a:r>
              <a:rPr lang="en-US" dirty="0"/>
              <a:t>earned on loss funds and cash collateral.</a:t>
            </a:r>
          </a:p>
          <a:p>
            <a:r>
              <a:rPr lang="en-US" b="1" dirty="0">
                <a:solidFill>
                  <a:srgbClr val="0000FF"/>
                </a:solidFill>
              </a:rPr>
              <a:t>Dividends</a:t>
            </a:r>
            <a:r>
              <a:rPr lang="en-US" dirty="0"/>
              <a:t> can be returned to individuals, trusts or entities other than the corporation</a:t>
            </a:r>
          </a:p>
          <a:p>
            <a:r>
              <a:rPr lang="en-US" dirty="0"/>
              <a:t>Policy period is typically </a:t>
            </a:r>
            <a:r>
              <a:rPr lang="en-US" b="1" dirty="0">
                <a:solidFill>
                  <a:srgbClr val="0000FF"/>
                </a:solidFill>
              </a:rPr>
              <a:t>“closed” 5 years </a:t>
            </a:r>
            <a:r>
              <a:rPr lang="en-US" dirty="0"/>
              <a:t>post expiration</a:t>
            </a:r>
          </a:p>
          <a:p>
            <a:r>
              <a:rPr lang="en-US" dirty="0"/>
              <a:t>Premium calculation is </a:t>
            </a:r>
            <a:r>
              <a:rPr lang="en-US" b="1" dirty="0">
                <a:solidFill>
                  <a:srgbClr val="0000FF"/>
                </a:solidFill>
              </a:rPr>
              <a:t>transparent</a:t>
            </a:r>
            <a:r>
              <a:rPr lang="en-US" dirty="0"/>
              <a:t> for clear understanding and more predictability by client. </a:t>
            </a:r>
          </a:p>
          <a:p>
            <a:r>
              <a:rPr lang="en-US" b="1" dirty="0">
                <a:solidFill>
                  <a:srgbClr val="0000FF"/>
                </a:solidFill>
              </a:rPr>
              <a:t>Cash flow </a:t>
            </a:r>
            <a:r>
              <a:rPr lang="en-US" dirty="0"/>
              <a:t>that eliminates large spikes in any one period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Financial Advantages of a Group Captive: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29000" y="6407944"/>
            <a:ext cx="5029200" cy="365125"/>
          </a:xfrm>
        </p:spPr>
        <p:txBody>
          <a:bodyPr/>
          <a:lstStyle/>
          <a:p>
            <a:r>
              <a:rPr lang="en-US" sz="800" dirty="0"/>
              <a:t>Confidential &amp; Privileged Non-Public Information - 2022 EPIC Insurance Brokers &amp; Consultants, Inc.  Use, disclosure, dissemination, distribution or reproduction is not authorized.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996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109728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accent4"/>
                </a:solidFill>
              </a:rPr>
              <a:t>	Best in Class</a:t>
            </a:r>
            <a:r>
              <a:rPr lang="en-US" b="1" dirty="0"/>
              <a:t> – </a:t>
            </a:r>
            <a:r>
              <a:rPr lang="en-US" dirty="0"/>
              <a:t>Being in a tough classification does not </a:t>
            </a:r>
          </a:p>
          <a:p>
            <a:pPr marL="109728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dirty="0"/>
              <a:t>	mean they can’t get into a Group Captive.</a:t>
            </a:r>
            <a:endParaRPr lang="en-US" dirty="0">
              <a:solidFill>
                <a:schemeClr val="accent4"/>
              </a:solidFill>
            </a:endParaRPr>
          </a:p>
          <a:p>
            <a:pPr marL="109728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b="1" dirty="0">
                <a:solidFill>
                  <a:schemeClr val="accent4"/>
                </a:solidFill>
              </a:rPr>
              <a:t>	Financially</a:t>
            </a:r>
            <a:r>
              <a:rPr lang="en-US" dirty="0"/>
              <a:t> Strong</a:t>
            </a:r>
          </a:p>
          <a:p>
            <a:pPr marL="109728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dirty="0"/>
              <a:t>	Above average </a:t>
            </a:r>
            <a:r>
              <a:rPr lang="en-US" b="1" dirty="0">
                <a:solidFill>
                  <a:schemeClr val="accent4"/>
                </a:solidFill>
              </a:rPr>
              <a:t>loss ratios </a:t>
            </a:r>
            <a:r>
              <a:rPr lang="en-US" dirty="0"/>
              <a:t>– 5 years</a:t>
            </a:r>
          </a:p>
          <a:p>
            <a:pPr marL="109728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dirty="0"/>
              <a:t>	Strong </a:t>
            </a:r>
            <a:r>
              <a:rPr lang="en-US" b="1" dirty="0">
                <a:solidFill>
                  <a:schemeClr val="accent4"/>
                </a:solidFill>
              </a:rPr>
              <a:t>safety culture </a:t>
            </a:r>
            <a:r>
              <a:rPr lang="en-US" dirty="0"/>
              <a:t>supported by upper management</a:t>
            </a:r>
          </a:p>
          <a:p>
            <a:pPr marL="109728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dirty="0"/>
              <a:t>	Premiums of at least $200,000 for Workers 	Compensation, General Liability and/or Automobile</a:t>
            </a:r>
          </a:p>
          <a:p>
            <a:pPr marL="109728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accent4"/>
                </a:solidFill>
              </a:rPr>
              <a:t>	No CAT </a:t>
            </a:r>
            <a:r>
              <a:rPr lang="en-US" dirty="0"/>
              <a:t>exposures (</a:t>
            </a:r>
            <a:r>
              <a:rPr lang="en-US" sz="2200" i="1" dirty="0"/>
              <a:t>unless they can be insured separately </a:t>
            </a:r>
          </a:p>
          <a:p>
            <a:pPr marL="109728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200" i="1" dirty="0"/>
              <a:t>	outside of the captive</a:t>
            </a:r>
            <a:r>
              <a:rPr lang="en-US" dirty="0"/>
              <a:t>)</a:t>
            </a:r>
          </a:p>
          <a:p>
            <a:pPr marL="109728" indent="0">
              <a:spcBef>
                <a:spcPts val="0"/>
              </a:spcBef>
              <a:buNone/>
            </a:pPr>
            <a:r>
              <a:rPr lang="en-US" dirty="0"/>
              <a:t>	Strong desire to make their insurance program a </a:t>
            </a:r>
          </a:p>
          <a:p>
            <a:pPr marL="109728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dirty="0"/>
              <a:t>	profitable investment instead of an expense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Which companies should be considering a Group Captive</a:t>
            </a:r>
          </a:p>
        </p:txBody>
      </p:sp>
      <p:pic>
        <p:nvPicPr>
          <p:cNvPr id="9218" name="Picture 2" descr="C:\Users\jan.zewe\AppData\Local\Microsoft\Windows\Temporary Internet Files\Content.IE5\FMXCB5AC\financially-strong-e1409398989854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076451"/>
            <a:ext cx="643227" cy="514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599741" y="2535755"/>
            <a:ext cx="71846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A+</a:t>
            </a:r>
          </a:p>
        </p:txBody>
      </p:sp>
      <p:pic>
        <p:nvPicPr>
          <p:cNvPr id="9219" name="Picture 3" descr="C:\Users\jan.zewe\AppData\Local\Microsoft\Windows\Temporary Internet Files\Content.IE5\IZJOHW42\logo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329" y="2971800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C:\Users\jan.zewe\AppData\Local\Microsoft\Windows\Temporary Internet Files\Content.IE5\CZJWA3E3\danger-sign-illustration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236" y="4343400"/>
            <a:ext cx="593578" cy="743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3" name="Picture 7" descr="C:\Program Files (x86)\Microsoft Office\MEDIA\CAGCAT10\j0222015.wm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028" y="3688220"/>
            <a:ext cx="642901" cy="645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5" name="Picture 9" descr="C:\Users\jan.zewe\AppData\Local\Microsoft\Windows\Temporary Internet Files\Content.IE5\FMXCB5AC\trophy_painted_style_by_jimbox31-d3d1pqy[1]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113" y="1366856"/>
            <a:ext cx="651360" cy="709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7" name="Picture 11" descr="Image result for STRONG WILLED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762" y="5181600"/>
            <a:ext cx="547052" cy="708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505200" y="6407944"/>
            <a:ext cx="5029200" cy="365125"/>
          </a:xfrm>
        </p:spPr>
        <p:txBody>
          <a:bodyPr/>
          <a:lstStyle/>
          <a:p>
            <a:r>
              <a:rPr lang="en-US" sz="800" dirty="0"/>
              <a:t>Confidential &amp; Privileged Non-Public Information - 2022 EPIC Insurance Brokers &amp; Consultants, Inc.  Use, disclosure, dissemination, distribution or reproduction is not authorized.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598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Types of Captives</a:t>
            </a:r>
          </a:p>
        </p:txBody>
      </p:sp>
      <p:grpSp>
        <p:nvGrpSpPr>
          <p:cNvPr id="13315" name="Group 81"/>
          <p:cNvGrpSpPr>
            <a:grpSpLocks/>
          </p:cNvGrpSpPr>
          <p:nvPr/>
        </p:nvGrpSpPr>
        <p:grpSpPr bwMode="auto">
          <a:xfrm>
            <a:off x="1390650" y="1663700"/>
            <a:ext cx="4889500" cy="4235450"/>
            <a:chOff x="876" y="1048"/>
            <a:chExt cx="3080" cy="2668"/>
          </a:xfrm>
        </p:grpSpPr>
        <p:sp>
          <p:nvSpPr>
            <p:cNvPr id="13352" name="Oval 74"/>
            <p:cNvSpPr>
              <a:spLocks noChangeArrowheads="1"/>
            </p:cNvSpPr>
            <p:nvPr/>
          </p:nvSpPr>
          <p:spPr bwMode="hidden">
            <a:xfrm>
              <a:off x="1416" y="3546"/>
              <a:ext cx="2000" cy="17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rgbClr val="FFFFFF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 dirty="0"/>
            </a:p>
          </p:txBody>
        </p:sp>
        <p:sp>
          <p:nvSpPr>
            <p:cNvPr id="13353" name="Oval 30" descr="Group of people"/>
            <p:cNvSpPr>
              <a:spLocks noChangeArrowheads="1"/>
            </p:cNvSpPr>
            <p:nvPr/>
          </p:nvSpPr>
          <p:spPr bwMode="auto">
            <a:xfrm>
              <a:off x="876" y="1048"/>
              <a:ext cx="3080" cy="2552"/>
            </a:xfrm>
            <a:prstGeom prst="ellipse">
              <a:avLst/>
            </a:prstGeom>
            <a:blipFill dpi="0" rotWithShape="1">
              <a:blip r:embed="rId3">
                <a:alphaModFix amt="86000"/>
              </a:blip>
              <a:srcRect/>
              <a:stretch>
                <a:fillRect/>
              </a:stretch>
            </a:blip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 dirty="0"/>
            </a:p>
          </p:txBody>
        </p:sp>
      </p:grpSp>
      <p:grpSp>
        <p:nvGrpSpPr>
          <p:cNvPr id="13316" name="Group 78"/>
          <p:cNvGrpSpPr>
            <a:grpSpLocks/>
          </p:cNvGrpSpPr>
          <p:nvPr/>
        </p:nvGrpSpPr>
        <p:grpSpPr bwMode="auto">
          <a:xfrm>
            <a:off x="1054100" y="3227388"/>
            <a:ext cx="2671763" cy="635000"/>
            <a:chOff x="672" y="2032"/>
            <a:chExt cx="1683" cy="400"/>
          </a:xfrm>
        </p:grpSpPr>
        <p:sp>
          <p:nvSpPr>
            <p:cNvPr id="13348" name="Rectangle 25"/>
            <p:cNvSpPr>
              <a:spLocks noChangeArrowheads="1"/>
            </p:cNvSpPr>
            <p:nvPr/>
          </p:nvSpPr>
          <p:spPr bwMode="auto">
            <a:xfrm>
              <a:off x="1068" y="2057"/>
              <a:ext cx="1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 dirty="0"/>
                <a:t>Rent-a-Captive</a:t>
              </a:r>
            </a:p>
          </p:txBody>
        </p:sp>
        <p:grpSp>
          <p:nvGrpSpPr>
            <p:cNvPr id="13349" name="Group 43"/>
            <p:cNvGrpSpPr>
              <a:grpSpLocks/>
            </p:cNvGrpSpPr>
            <p:nvPr/>
          </p:nvGrpSpPr>
          <p:grpSpPr bwMode="auto">
            <a:xfrm>
              <a:off x="672" y="2032"/>
              <a:ext cx="376" cy="400"/>
              <a:chOff x="2080" y="720"/>
              <a:chExt cx="376" cy="400"/>
            </a:xfrm>
          </p:grpSpPr>
          <p:sp>
            <p:nvSpPr>
              <p:cNvPr id="13350" name="Oval 44"/>
              <p:cNvSpPr>
                <a:spLocks noChangeArrowheads="1"/>
              </p:cNvSpPr>
              <p:nvPr/>
            </p:nvSpPr>
            <p:spPr bwMode="hidden">
              <a:xfrm>
                <a:off x="2080" y="1038"/>
                <a:ext cx="376" cy="82"/>
              </a:xfrm>
              <a:prstGeom prst="ellipse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rgbClr val="FFFFFF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30000"/>
                  </a:spcBef>
                  <a:buClr>
                    <a:schemeClr val="hlink"/>
                  </a:buClr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spcBef>
                    <a:spcPct val="3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spcBef>
                    <a:spcPct val="30000"/>
                  </a:spcBef>
                  <a:buChar char="•"/>
                  <a:defRPr sz="22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 dirty="0"/>
              </a:p>
            </p:txBody>
          </p:sp>
          <p:sp>
            <p:nvSpPr>
              <p:cNvPr id="13351" name="Oval 45"/>
              <p:cNvSpPr>
                <a:spLocks noChangeArrowheads="1"/>
              </p:cNvSpPr>
              <p:nvPr/>
            </p:nvSpPr>
            <p:spPr bwMode="auto">
              <a:xfrm>
                <a:off x="2096" y="720"/>
                <a:ext cx="352" cy="352"/>
              </a:xfrm>
              <a:prstGeom prst="ellipse">
                <a:avLst/>
              </a:prstGeom>
              <a:gradFill rotWithShape="1">
                <a:gsLst>
                  <a:gs pos="0">
                    <a:srgbClr val="008CDA"/>
                  </a:gs>
                  <a:gs pos="100000">
                    <a:schemeClr val="accent1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30000"/>
                  </a:spcBef>
                  <a:buClr>
                    <a:schemeClr val="hlink"/>
                  </a:buClr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spcBef>
                    <a:spcPct val="3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spcBef>
                    <a:spcPct val="30000"/>
                  </a:spcBef>
                  <a:buChar char="•"/>
                  <a:defRPr sz="22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 dirty="0"/>
              </a:p>
            </p:txBody>
          </p:sp>
        </p:grpSp>
      </p:grpSp>
      <p:grpSp>
        <p:nvGrpSpPr>
          <p:cNvPr id="13317" name="Group 77"/>
          <p:cNvGrpSpPr>
            <a:grpSpLocks/>
          </p:cNvGrpSpPr>
          <p:nvPr/>
        </p:nvGrpSpPr>
        <p:grpSpPr bwMode="auto">
          <a:xfrm>
            <a:off x="5865813" y="3892550"/>
            <a:ext cx="2487612" cy="690563"/>
            <a:chOff x="1017" y="2821"/>
            <a:chExt cx="1567" cy="435"/>
          </a:xfrm>
        </p:grpSpPr>
        <p:sp>
          <p:nvSpPr>
            <p:cNvPr id="13344" name="Rectangle 26"/>
            <p:cNvSpPr>
              <a:spLocks noChangeArrowheads="1"/>
            </p:cNvSpPr>
            <p:nvPr/>
          </p:nvSpPr>
          <p:spPr bwMode="auto">
            <a:xfrm>
              <a:off x="1393" y="2821"/>
              <a:ext cx="1191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 dirty="0"/>
                <a:t>Group Captive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 i="1" dirty="0">
                  <a:solidFill>
                    <a:schemeClr val="hlink"/>
                  </a:solidFill>
                </a:rPr>
                <a:t>Medical Stop Loss</a:t>
              </a:r>
            </a:p>
          </p:txBody>
        </p:sp>
        <p:grpSp>
          <p:nvGrpSpPr>
            <p:cNvPr id="13345" name="Group 46"/>
            <p:cNvGrpSpPr>
              <a:grpSpLocks/>
            </p:cNvGrpSpPr>
            <p:nvPr/>
          </p:nvGrpSpPr>
          <p:grpSpPr bwMode="auto">
            <a:xfrm>
              <a:off x="1017" y="2856"/>
              <a:ext cx="376" cy="400"/>
              <a:chOff x="2080" y="720"/>
              <a:chExt cx="376" cy="400"/>
            </a:xfrm>
          </p:grpSpPr>
          <p:sp>
            <p:nvSpPr>
              <p:cNvPr id="13346" name="Oval 47"/>
              <p:cNvSpPr>
                <a:spLocks noChangeArrowheads="1"/>
              </p:cNvSpPr>
              <p:nvPr/>
            </p:nvSpPr>
            <p:spPr bwMode="hidden">
              <a:xfrm>
                <a:off x="2080" y="1038"/>
                <a:ext cx="376" cy="82"/>
              </a:xfrm>
              <a:prstGeom prst="ellipse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rgbClr val="FFFFFF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30000"/>
                  </a:spcBef>
                  <a:buClr>
                    <a:schemeClr val="hlink"/>
                  </a:buClr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spcBef>
                    <a:spcPct val="3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spcBef>
                    <a:spcPct val="30000"/>
                  </a:spcBef>
                  <a:buChar char="•"/>
                  <a:defRPr sz="22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 dirty="0"/>
              </a:p>
            </p:txBody>
          </p:sp>
          <p:sp>
            <p:nvSpPr>
              <p:cNvPr id="13347" name="Oval 48"/>
              <p:cNvSpPr>
                <a:spLocks noChangeArrowheads="1"/>
              </p:cNvSpPr>
              <p:nvPr/>
            </p:nvSpPr>
            <p:spPr bwMode="auto">
              <a:xfrm>
                <a:off x="2096" y="720"/>
                <a:ext cx="352" cy="352"/>
              </a:xfrm>
              <a:prstGeom prst="ellipse">
                <a:avLst/>
              </a:prstGeom>
              <a:gradFill rotWithShape="1">
                <a:gsLst>
                  <a:gs pos="0">
                    <a:srgbClr val="008CDA"/>
                  </a:gs>
                  <a:gs pos="100000">
                    <a:schemeClr val="accent1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30000"/>
                  </a:spcBef>
                  <a:buClr>
                    <a:schemeClr val="hlink"/>
                  </a:buClr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spcBef>
                    <a:spcPct val="3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spcBef>
                    <a:spcPct val="30000"/>
                  </a:spcBef>
                  <a:buChar char="•"/>
                  <a:defRPr sz="22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 dirty="0"/>
              </a:p>
            </p:txBody>
          </p:sp>
        </p:grpSp>
      </p:grpSp>
      <p:grpSp>
        <p:nvGrpSpPr>
          <p:cNvPr id="13318" name="Group 79"/>
          <p:cNvGrpSpPr>
            <a:grpSpLocks/>
          </p:cNvGrpSpPr>
          <p:nvPr/>
        </p:nvGrpSpPr>
        <p:grpSpPr bwMode="auto">
          <a:xfrm>
            <a:off x="1906588" y="1944688"/>
            <a:ext cx="2427287" cy="635000"/>
            <a:chOff x="1201" y="1225"/>
            <a:chExt cx="1529" cy="400"/>
          </a:xfrm>
        </p:grpSpPr>
        <p:sp>
          <p:nvSpPr>
            <p:cNvPr id="13340" name="Rectangle 24"/>
            <p:cNvSpPr>
              <a:spLocks noChangeArrowheads="1"/>
            </p:cNvSpPr>
            <p:nvPr/>
          </p:nvSpPr>
          <p:spPr bwMode="auto">
            <a:xfrm>
              <a:off x="1586" y="1250"/>
              <a:ext cx="11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 dirty="0"/>
                <a:t>Single Parent</a:t>
              </a:r>
            </a:p>
          </p:txBody>
        </p:sp>
        <p:grpSp>
          <p:nvGrpSpPr>
            <p:cNvPr id="13341" name="Group 52"/>
            <p:cNvGrpSpPr>
              <a:grpSpLocks/>
            </p:cNvGrpSpPr>
            <p:nvPr/>
          </p:nvGrpSpPr>
          <p:grpSpPr bwMode="auto">
            <a:xfrm>
              <a:off x="1201" y="1225"/>
              <a:ext cx="376" cy="400"/>
              <a:chOff x="2080" y="720"/>
              <a:chExt cx="376" cy="400"/>
            </a:xfrm>
          </p:grpSpPr>
          <p:sp>
            <p:nvSpPr>
              <p:cNvPr id="13342" name="Oval 53"/>
              <p:cNvSpPr>
                <a:spLocks noChangeArrowheads="1"/>
              </p:cNvSpPr>
              <p:nvPr/>
            </p:nvSpPr>
            <p:spPr bwMode="hidden">
              <a:xfrm>
                <a:off x="2080" y="1038"/>
                <a:ext cx="376" cy="82"/>
              </a:xfrm>
              <a:prstGeom prst="ellipse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rgbClr val="FFFFFF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30000"/>
                  </a:spcBef>
                  <a:buClr>
                    <a:schemeClr val="hlink"/>
                  </a:buClr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spcBef>
                    <a:spcPct val="3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spcBef>
                    <a:spcPct val="30000"/>
                  </a:spcBef>
                  <a:buChar char="•"/>
                  <a:defRPr sz="22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 dirty="0"/>
              </a:p>
            </p:txBody>
          </p:sp>
          <p:sp>
            <p:nvSpPr>
              <p:cNvPr id="13343" name="Oval 54"/>
              <p:cNvSpPr>
                <a:spLocks noChangeArrowheads="1"/>
              </p:cNvSpPr>
              <p:nvPr/>
            </p:nvSpPr>
            <p:spPr bwMode="auto">
              <a:xfrm>
                <a:off x="2096" y="720"/>
                <a:ext cx="352" cy="352"/>
              </a:xfrm>
              <a:prstGeom prst="ellipse">
                <a:avLst/>
              </a:prstGeom>
              <a:gradFill rotWithShape="1">
                <a:gsLst>
                  <a:gs pos="0">
                    <a:srgbClr val="008CDA"/>
                  </a:gs>
                  <a:gs pos="100000">
                    <a:schemeClr val="accent1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30000"/>
                  </a:spcBef>
                  <a:buClr>
                    <a:schemeClr val="hlink"/>
                  </a:buClr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spcBef>
                    <a:spcPct val="3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spcBef>
                    <a:spcPct val="30000"/>
                  </a:spcBef>
                  <a:buChar char="•"/>
                  <a:defRPr sz="22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 dirty="0"/>
              </a:p>
            </p:txBody>
          </p:sp>
        </p:grpSp>
      </p:grpSp>
      <p:grpSp>
        <p:nvGrpSpPr>
          <p:cNvPr id="13319" name="Group 71"/>
          <p:cNvGrpSpPr>
            <a:grpSpLocks/>
          </p:cNvGrpSpPr>
          <p:nvPr/>
        </p:nvGrpSpPr>
        <p:grpSpPr bwMode="auto">
          <a:xfrm>
            <a:off x="5156200" y="1789114"/>
            <a:ext cx="3367084" cy="1741488"/>
            <a:chOff x="3636" y="1488"/>
            <a:chExt cx="2122" cy="1097"/>
          </a:xfrm>
        </p:grpSpPr>
        <p:grpSp>
          <p:nvGrpSpPr>
            <p:cNvPr id="13330" name="Group 68"/>
            <p:cNvGrpSpPr>
              <a:grpSpLocks/>
            </p:cNvGrpSpPr>
            <p:nvPr/>
          </p:nvGrpSpPr>
          <p:grpSpPr bwMode="auto">
            <a:xfrm>
              <a:off x="3636" y="1488"/>
              <a:ext cx="1762" cy="523"/>
              <a:chOff x="3636" y="1488"/>
              <a:chExt cx="1762" cy="523"/>
            </a:xfrm>
          </p:grpSpPr>
          <p:sp>
            <p:nvSpPr>
              <p:cNvPr id="13336" name="Rectangle 28"/>
              <p:cNvSpPr>
                <a:spLocks noChangeArrowheads="1"/>
              </p:cNvSpPr>
              <p:nvPr/>
            </p:nvSpPr>
            <p:spPr bwMode="auto">
              <a:xfrm>
                <a:off x="4022" y="1488"/>
                <a:ext cx="1376" cy="5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30000"/>
                  </a:spcBef>
                  <a:buClr>
                    <a:schemeClr val="hlink"/>
                  </a:buClr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spcBef>
                    <a:spcPct val="3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spcBef>
                    <a:spcPct val="30000"/>
                  </a:spcBef>
                  <a:buChar char="•"/>
                  <a:defRPr sz="22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2400" dirty="0">
                    <a:solidFill>
                      <a:srgbClr val="0000FF"/>
                    </a:solidFill>
                  </a:rPr>
                  <a:t>Group Captive</a:t>
                </a:r>
                <a:br>
                  <a:rPr lang="en-US" altLang="en-US" sz="2400" dirty="0"/>
                </a:br>
                <a:r>
                  <a:rPr lang="en-US" altLang="en-US" sz="2400" i="1" dirty="0">
                    <a:solidFill>
                      <a:schemeClr val="hlink"/>
                    </a:solidFill>
                  </a:rPr>
                  <a:t>Homogeneous</a:t>
                </a:r>
              </a:p>
            </p:txBody>
          </p:sp>
          <p:grpSp>
            <p:nvGrpSpPr>
              <p:cNvPr id="13337" name="Group 62"/>
              <p:cNvGrpSpPr>
                <a:grpSpLocks/>
              </p:cNvGrpSpPr>
              <p:nvPr/>
            </p:nvGrpSpPr>
            <p:grpSpPr bwMode="auto">
              <a:xfrm>
                <a:off x="3636" y="1531"/>
                <a:ext cx="376" cy="398"/>
                <a:chOff x="2191" y="755"/>
                <a:chExt cx="376" cy="398"/>
              </a:xfrm>
            </p:grpSpPr>
            <p:sp>
              <p:nvSpPr>
                <p:cNvPr id="13338" name="Oval 63"/>
                <p:cNvSpPr>
                  <a:spLocks noChangeArrowheads="1"/>
                </p:cNvSpPr>
                <p:nvPr/>
              </p:nvSpPr>
              <p:spPr bwMode="hidden">
                <a:xfrm>
                  <a:off x="2191" y="1071"/>
                  <a:ext cx="376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2"/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30000"/>
                    </a:spcBef>
                    <a:buClr>
                      <a:schemeClr val="hlink"/>
                    </a:buClr>
                    <a:buFont typeface="Wingdings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spcBef>
                      <a:spcPct val="3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spcBef>
                      <a:spcPct val="3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 sz="2400" dirty="0"/>
                </a:p>
              </p:txBody>
            </p:sp>
            <p:sp>
              <p:nvSpPr>
                <p:cNvPr id="13339" name="Oval 64"/>
                <p:cNvSpPr>
                  <a:spLocks noChangeArrowheads="1"/>
                </p:cNvSpPr>
                <p:nvPr/>
              </p:nvSpPr>
              <p:spPr bwMode="auto">
                <a:xfrm>
                  <a:off x="2207" y="755"/>
                  <a:ext cx="352" cy="3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008CDA"/>
                    </a:gs>
                    <a:gs pos="100000">
                      <a:schemeClr val="accent1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30000"/>
                    </a:spcBef>
                    <a:buClr>
                      <a:schemeClr val="hlink"/>
                    </a:buClr>
                    <a:buFont typeface="Wingdings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spcBef>
                      <a:spcPct val="3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spcBef>
                      <a:spcPct val="3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 sz="2400" dirty="0"/>
                </a:p>
              </p:txBody>
            </p:sp>
          </p:grpSp>
        </p:grpSp>
        <p:grpSp>
          <p:nvGrpSpPr>
            <p:cNvPr id="13331" name="Group 69"/>
            <p:cNvGrpSpPr>
              <a:grpSpLocks/>
            </p:cNvGrpSpPr>
            <p:nvPr/>
          </p:nvGrpSpPr>
          <p:grpSpPr bwMode="auto">
            <a:xfrm>
              <a:off x="4096" y="2062"/>
              <a:ext cx="1662" cy="523"/>
              <a:chOff x="4096" y="2062"/>
              <a:chExt cx="1662" cy="523"/>
            </a:xfrm>
          </p:grpSpPr>
          <p:sp>
            <p:nvSpPr>
              <p:cNvPr id="13332" name="Rectangle 57"/>
              <p:cNvSpPr>
                <a:spLocks noChangeArrowheads="1"/>
              </p:cNvSpPr>
              <p:nvPr/>
            </p:nvSpPr>
            <p:spPr bwMode="auto">
              <a:xfrm>
                <a:off x="4475" y="2062"/>
                <a:ext cx="1283" cy="5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30000"/>
                  </a:spcBef>
                  <a:buClr>
                    <a:schemeClr val="hlink"/>
                  </a:buClr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spcBef>
                    <a:spcPct val="3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spcBef>
                    <a:spcPct val="30000"/>
                  </a:spcBef>
                  <a:buChar char="•"/>
                  <a:defRPr sz="22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2400" dirty="0">
                    <a:solidFill>
                      <a:srgbClr val="0000FF"/>
                    </a:solidFill>
                  </a:rPr>
                  <a:t>Group Captive</a:t>
                </a:r>
                <a:br>
                  <a:rPr lang="en-US" altLang="en-US" sz="2400" dirty="0">
                    <a:solidFill>
                      <a:srgbClr val="0000FF"/>
                    </a:solidFill>
                  </a:rPr>
                </a:br>
                <a:r>
                  <a:rPr lang="en-US" altLang="en-US" sz="2400" i="1" dirty="0">
                    <a:solidFill>
                      <a:schemeClr val="hlink"/>
                    </a:solidFill>
                  </a:rPr>
                  <a:t>Heterogeneous</a:t>
                </a:r>
              </a:p>
            </p:txBody>
          </p:sp>
          <p:grpSp>
            <p:nvGrpSpPr>
              <p:cNvPr id="13333" name="Group 65"/>
              <p:cNvGrpSpPr>
                <a:grpSpLocks/>
              </p:cNvGrpSpPr>
              <p:nvPr/>
            </p:nvGrpSpPr>
            <p:grpSpPr bwMode="auto">
              <a:xfrm>
                <a:off x="4096" y="2122"/>
                <a:ext cx="441" cy="393"/>
                <a:chOff x="2611" y="154"/>
                <a:chExt cx="441" cy="393"/>
              </a:xfrm>
            </p:grpSpPr>
            <p:sp>
              <p:nvSpPr>
                <p:cNvPr id="13334" name="Oval 66"/>
                <p:cNvSpPr>
                  <a:spLocks noChangeArrowheads="1"/>
                </p:cNvSpPr>
                <p:nvPr/>
              </p:nvSpPr>
              <p:spPr bwMode="hidden">
                <a:xfrm>
                  <a:off x="2676" y="465"/>
                  <a:ext cx="376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2"/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30000"/>
                    </a:spcBef>
                    <a:buClr>
                      <a:schemeClr val="hlink"/>
                    </a:buClr>
                    <a:buFont typeface="Wingdings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spcBef>
                      <a:spcPct val="3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spcBef>
                      <a:spcPct val="3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 sz="2400" dirty="0"/>
                </a:p>
              </p:txBody>
            </p:sp>
            <p:sp>
              <p:nvSpPr>
                <p:cNvPr id="13335" name="Oval 67"/>
                <p:cNvSpPr>
                  <a:spLocks noChangeArrowheads="1"/>
                </p:cNvSpPr>
                <p:nvPr/>
              </p:nvSpPr>
              <p:spPr bwMode="auto">
                <a:xfrm>
                  <a:off x="2611" y="154"/>
                  <a:ext cx="352" cy="3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008CDA"/>
                    </a:gs>
                    <a:gs pos="100000">
                      <a:schemeClr val="accent1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30000"/>
                    </a:spcBef>
                    <a:buClr>
                      <a:schemeClr val="hlink"/>
                    </a:buClr>
                    <a:buFont typeface="Wingdings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spcBef>
                      <a:spcPct val="3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spcBef>
                      <a:spcPct val="3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 sz="2400" dirty="0"/>
                </a:p>
              </p:txBody>
            </p:sp>
          </p:grpSp>
        </p:grpSp>
      </p:grpSp>
      <p:grpSp>
        <p:nvGrpSpPr>
          <p:cNvPr id="13320" name="Group 78"/>
          <p:cNvGrpSpPr>
            <a:grpSpLocks/>
          </p:cNvGrpSpPr>
          <p:nvPr/>
        </p:nvGrpSpPr>
        <p:grpSpPr bwMode="auto">
          <a:xfrm>
            <a:off x="1625600" y="4606925"/>
            <a:ext cx="2306638" cy="635000"/>
            <a:chOff x="672" y="2032"/>
            <a:chExt cx="1453" cy="400"/>
          </a:xfrm>
        </p:grpSpPr>
        <p:sp>
          <p:nvSpPr>
            <p:cNvPr id="13326" name="Rectangle 25"/>
            <p:cNvSpPr>
              <a:spLocks noChangeArrowheads="1"/>
            </p:cNvSpPr>
            <p:nvPr/>
          </p:nvSpPr>
          <p:spPr bwMode="auto">
            <a:xfrm>
              <a:off x="1068" y="2057"/>
              <a:ext cx="105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 dirty="0"/>
                <a:t>Agency Captive</a:t>
              </a:r>
            </a:p>
          </p:txBody>
        </p:sp>
        <p:grpSp>
          <p:nvGrpSpPr>
            <p:cNvPr id="13327" name="Group 43"/>
            <p:cNvGrpSpPr>
              <a:grpSpLocks/>
            </p:cNvGrpSpPr>
            <p:nvPr/>
          </p:nvGrpSpPr>
          <p:grpSpPr bwMode="auto">
            <a:xfrm>
              <a:off x="672" y="2032"/>
              <a:ext cx="376" cy="400"/>
              <a:chOff x="2080" y="720"/>
              <a:chExt cx="376" cy="400"/>
            </a:xfrm>
          </p:grpSpPr>
          <p:sp>
            <p:nvSpPr>
              <p:cNvPr id="13328" name="Oval 44"/>
              <p:cNvSpPr>
                <a:spLocks noChangeArrowheads="1"/>
              </p:cNvSpPr>
              <p:nvPr/>
            </p:nvSpPr>
            <p:spPr bwMode="hidden">
              <a:xfrm>
                <a:off x="2080" y="1038"/>
                <a:ext cx="376" cy="82"/>
              </a:xfrm>
              <a:prstGeom prst="ellipse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rgbClr val="FFFFFF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30000"/>
                  </a:spcBef>
                  <a:buClr>
                    <a:schemeClr val="hlink"/>
                  </a:buClr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spcBef>
                    <a:spcPct val="3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spcBef>
                    <a:spcPct val="30000"/>
                  </a:spcBef>
                  <a:buChar char="•"/>
                  <a:defRPr sz="22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 dirty="0"/>
              </a:p>
            </p:txBody>
          </p:sp>
          <p:sp>
            <p:nvSpPr>
              <p:cNvPr id="13329" name="Oval 45"/>
              <p:cNvSpPr>
                <a:spLocks noChangeArrowheads="1"/>
              </p:cNvSpPr>
              <p:nvPr/>
            </p:nvSpPr>
            <p:spPr bwMode="auto">
              <a:xfrm>
                <a:off x="2096" y="720"/>
                <a:ext cx="352" cy="352"/>
              </a:xfrm>
              <a:prstGeom prst="ellipse">
                <a:avLst/>
              </a:prstGeom>
              <a:gradFill rotWithShape="1">
                <a:gsLst>
                  <a:gs pos="0">
                    <a:srgbClr val="008CDA"/>
                  </a:gs>
                  <a:gs pos="100000">
                    <a:schemeClr val="accent1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30000"/>
                  </a:spcBef>
                  <a:buClr>
                    <a:schemeClr val="hlink"/>
                  </a:buClr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spcBef>
                    <a:spcPct val="3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spcBef>
                    <a:spcPct val="30000"/>
                  </a:spcBef>
                  <a:buChar char="•"/>
                  <a:defRPr sz="22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 dirty="0"/>
              </a:p>
            </p:txBody>
          </p:sp>
        </p:grpSp>
      </p:grpSp>
      <p:grpSp>
        <p:nvGrpSpPr>
          <p:cNvPr id="13321" name="Group 77"/>
          <p:cNvGrpSpPr>
            <a:grpSpLocks/>
          </p:cNvGrpSpPr>
          <p:nvPr/>
        </p:nvGrpSpPr>
        <p:grpSpPr bwMode="auto">
          <a:xfrm>
            <a:off x="5135563" y="4908550"/>
            <a:ext cx="2220912" cy="658813"/>
            <a:chOff x="1017" y="2841"/>
            <a:chExt cx="1399" cy="415"/>
          </a:xfrm>
        </p:grpSpPr>
        <p:sp>
          <p:nvSpPr>
            <p:cNvPr id="13322" name="Rectangle 26"/>
            <p:cNvSpPr>
              <a:spLocks noChangeArrowheads="1"/>
            </p:cNvSpPr>
            <p:nvPr/>
          </p:nvSpPr>
          <p:spPr bwMode="auto">
            <a:xfrm>
              <a:off x="1456" y="2841"/>
              <a:ext cx="960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 dirty="0"/>
                <a:t>Micro Captive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 i="1" dirty="0">
                  <a:solidFill>
                    <a:schemeClr val="hlink"/>
                  </a:solidFill>
                </a:rPr>
                <a:t>831 (b)</a:t>
              </a:r>
            </a:p>
          </p:txBody>
        </p:sp>
        <p:grpSp>
          <p:nvGrpSpPr>
            <p:cNvPr id="13323" name="Group 46"/>
            <p:cNvGrpSpPr>
              <a:grpSpLocks/>
            </p:cNvGrpSpPr>
            <p:nvPr/>
          </p:nvGrpSpPr>
          <p:grpSpPr bwMode="auto">
            <a:xfrm>
              <a:off x="1017" y="2856"/>
              <a:ext cx="376" cy="400"/>
              <a:chOff x="2080" y="720"/>
              <a:chExt cx="376" cy="400"/>
            </a:xfrm>
          </p:grpSpPr>
          <p:sp>
            <p:nvSpPr>
              <p:cNvPr id="13324" name="Oval 47"/>
              <p:cNvSpPr>
                <a:spLocks noChangeArrowheads="1"/>
              </p:cNvSpPr>
              <p:nvPr/>
            </p:nvSpPr>
            <p:spPr bwMode="hidden">
              <a:xfrm>
                <a:off x="2080" y="1038"/>
                <a:ext cx="376" cy="82"/>
              </a:xfrm>
              <a:prstGeom prst="ellipse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rgbClr val="FFFFFF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30000"/>
                  </a:spcBef>
                  <a:buClr>
                    <a:schemeClr val="hlink"/>
                  </a:buClr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spcBef>
                    <a:spcPct val="3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spcBef>
                    <a:spcPct val="30000"/>
                  </a:spcBef>
                  <a:buChar char="•"/>
                  <a:defRPr sz="22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 dirty="0"/>
              </a:p>
            </p:txBody>
          </p:sp>
          <p:sp>
            <p:nvSpPr>
              <p:cNvPr id="13325" name="Oval 48"/>
              <p:cNvSpPr>
                <a:spLocks noChangeArrowheads="1"/>
              </p:cNvSpPr>
              <p:nvPr/>
            </p:nvSpPr>
            <p:spPr bwMode="auto">
              <a:xfrm>
                <a:off x="2096" y="720"/>
                <a:ext cx="352" cy="352"/>
              </a:xfrm>
              <a:prstGeom prst="ellipse">
                <a:avLst/>
              </a:prstGeom>
              <a:gradFill rotWithShape="1">
                <a:gsLst>
                  <a:gs pos="0">
                    <a:srgbClr val="008CDA"/>
                  </a:gs>
                  <a:gs pos="100000">
                    <a:schemeClr val="accent1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30000"/>
                  </a:spcBef>
                  <a:buClr>
                    <a:schemeClr val="hlink"/>
                  </a:buClr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spcBef>
                    <a:spcPct val="3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spcBef>
                    <a:spcPct val="30000"/>
                  </a:spcBef>
                  <a:buChar char="•"/>
                  <a:defRPr sz="22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 dirty="0"/>
              </a:p>
            </p:txBody>
          </p:sp>
        </p:grp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657600" y="6392864"/>
            <a:ext cx="4989672" cy="380206"/>
          </a:xfrm>
        </p:spPr>
        <p:txBody>
          <a:bodyPr/>
          <a:lstStyle/>
          <a:p>
            <a:r>
              <a:rPr lang="en-US" sz="800" dirty="0"/>
              <a:t>Confidential &amp; Privileged Non-Public Information - 2022 EPIC Insurance Brokers &amp; Consultants, Inc.  Use, disclosure, dissemination, distribution or reproduction is not authorized.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2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dirty="0"/>
              <a:t>One WC rate – for all classifications / all states</a:t>
            </a:r>
          </a:p>
          <a:p>
            <a:pPr>
              <a:spcAft>
                <a:spcPts val="1800"/>
              </a:spcAft>
            </a:pPr>
            <a:r>
              <a:rPr lang="en-US" dirty="0"/>
              <a:t>One GL rate – for all exposures / all states</a:t>
            </a:r>
          </a:p>
          <a:p>
            <a:pPr>
              <a:spcAft>
                <a:spcPts val="1800"/>
              </a:spcAft>
            </a:pPr>
            <a:r>
              <a:rPr lang="en-US" dirty="0"/>
              <a:t>One Auto Liability rate and one Physical Damage rate for all vehicles.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Rating Structure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29000" y="6407944"/>
            <a:ext cx="5105400" cy="365125"/>
          </a:xfrm>
        </p:spPr>
        <p:txBody>
          <a:bodyPr/>
          <a:lstStyle/>
          <a:p>
            <a:r>
              <a:rPr lang="en-US" sz="800" dirty="0"/>
              <a:t>Confidential &amp; Privileged Non-Public Information - 2022 EPIC Insurance Brokers &amp; Consultants, Inc.  Use, disclosure, dissemination, distribution or reproduction is not authorized.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174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685800"/>
            <a:ext cx="7543800" cy="715617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/>
              <a:t>Captive Resources –</a:t>
            </a:r>
            <a:r>
              <a:rPr lang="en-US" sz="2700" dirty="0"/>
              <a:t> Captive Groups</a:t>
            </a:r>
            <a:endParaRPr lang="en-US" sz="4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733800" y="6407944"/>
            <a:ext cx="4913472" cy="365125"/>
          </a:xfrm>
        </p:spPr>
        <p:txBody>
          <a:bodyPr/>
          <a:lstStyle/>
          <a:p>
            <a:r>
              <a:rPr lang="en-US" sz="800" dirty="0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4AE2C8-83F5-8020-EC35-43C3B9F2449C}"/>
              </a:ext>
            </a:extLst>
          </p:cNvPr>
          <p:cNvSpPr txBox="1"/>
          <p:nvPr/>
        </p:nvSpPr>
        <p:spPr>
          <a:xfrm>
            <a:off x="685800" y="1600200"/>
            <a:ext cx="815340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Captives EPIC Pittsburgh – w/Active clients</a:t>
            </a:r>
            <a:endParaRPr lang="en-US" dirty="0"/>
          </a:p>
          <a:p>
            <a:r>
              <a:rPr lang="en-US" sz="1600" dirty="0"/>
              <a:t>Affinity		Heterogeneous		Minimum premium $500k</a:t>
            </a:r>
          </a:p>
          <a:p>
            <a:r>
              <a:rPr lang="en-US" sz="1600" dirty="0"/>
              <a:t>Evolution		Heterogeneous		Minimum premium $350k</a:t>
            </a:r>
          </a:p>
          <a:p>
            <a:r>
              <a:rPr lang="en-US" sz="1600" dirty="0"/>
              <a:t>REvolution	Heterogeneous		Minimum premium $150k</a:t>
            </a:r>
          </a:p>
          <a:p>
            <a:r>
              <a:rPr lang="en-US" sz="1600" dirty="0"/>
              <a:t>NCI		Homogeneous		Construction</a:t>
            </a:r>
          </a:p>
          <a:p>
            <a:r>
              <a:rPr lang="en-US" sz="1600" dirty="0"/>
              <a:t>EPIC		Heterogeneous		Property captive</a:t>
            </a:r>
          </a:p>
          <a:p>
            <a:endParaRPr lang="en-US" dirty="0"/>
          </a:p>
          <a:p>
            <a:r>
              <a:rPr lang="en-US" u="sng" dirty="0"/>
              <a:t>Other Captives:</a:t>
            </a:r>
          </a:p>
          <a:p>
            <a:r>
              <a:rPr lang="en-US" sz="1600" dirty="0"/>
              <a:t>GCI		Homogeneous		General Contractors</a:t>
            </a:r>
          </a:p>
          <a:p>
            <a:r>
              <a:rPr lang="en-US" sz="1600" dirty="0"/>
              <a:t>Roofers		Homogeneous		Roofing Contractors</a:t>
            </a:r>
          </a:p>
          <a:p>
            <a:r>
              <a:rPr lang="en-US" sz="1600" dirty="0"/>
              <a:t>Wheels		Homogeneous		Trucking</a:t>
            </a:r>
          </a:p>
          <a:p>
            <a:r>
              <a:rPr lang="en-US" sz="1600" dirty="0"/>
              <a:t>Titan		Heterogeneous		Tougher Construction</a:t>
            </a:r>
          </a:p>
          <a:p>
            <a:r>
              <a:rPr lang="en-US" sz="1600" dirty="0"/>
              <a:t>Wildcat		Homogeneous		Oil &amp; Gas Contractors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95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spcAft>
                <a:spcPts val="1800"/>
              </a:spcAft>
            </a:pPr>
            <a:r>
              <a:rPr lang="en-US" dirty="0"/>
              <a:t>$36,000 capitalization </a:t>
            </a:r>
          </a:p>
          <a:p>
            <a:pPr>
              <a:spcAft>
                <a:spcPts val="1800"/>
              </a:spcAft>
            </a:pPr>
            <a:r>
              <a:rPr lang="en-US" dirty="0"/>
              <a:t>Pay quarterly premiums and any assessments in a timely manner</a:t>
            </a:r>
          </a:p>
          <a:p>
            <a:pPr>
              <a:spcAft>
                <a:spcPts val="1800"/>
              </a:spcAft>
            </a:pPr>
            <a:r>
              <a:rPr lang="en-US" dirty="0"/>
              <a:t>Maintain strong financials</a:t>
            </a:r>
          </a:p>
          <a:p>
            <a:pPr>
              <a:spcAft>
                <a:spcPts val="1800"/>
              </a:spcAft>
            </a:pPr>
            <a:r>
              <a:rPr lang="en-US" dirty="0"/>
              <a:t>Constantly strive to improve corporate safety</a:t>
            </a:r>
          </a:p>
          <a:p>
            <a:pPr>
              <a:spcAft>
                <a:spcPts val="600"/>
              </a:spcAft>
            </a:pPr>
            <a:r>
              <a:rPr lang="en-US" dirty="0"/>
              <a:t>Actively participate by attending 1-2 captive board meetings (off-shore), 1 risk control workshop (domestic) and semi-annual claim reviews (telephonic)</a:t>
            </a:r>
          </a:p>
          <a:p>
            <a:pPr lvl="1">
              <a:spcAft>
                <a:spcPts val="1800"/>
              </a:spcAft>
            </a:pPr>
            <a:r>
              <a:rPr lang="en-US" i="1" dirty="0"/>
              <a:t>Some captives have members pre-fund travel expenses that they will be reimbursed for after they attend a meeting.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Member’s Obligations &amp; Responsibilities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29000" y="6407944"/>
            <a:ext cx="5105400" cy="365125"/>
          </a:xfrm>
        </p:spPr>
        <p:txBody>
          <a:bodyPr/>
          <a:lstStyle/>
          <a:p>
            <a:r>
              <a:rPr lang="en-US" sz="800" dirty="0"/>
              <a:t>Confidential &amp; Privileged Non-Public Information - 2022 EPIC Insurance Brokers &amp; Consultants, Inc.  Use, disclosure, dissemination, distribution or reproduction is not authorized.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932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4FBF11-D3C2-5ED2-1788-8E5ED2FD8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9561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Domestic Captive Manager</a:t>
            </a:r>
          </a:p>
          <a:p>
            <a:pPr marL="603504" lvl="2" indent="0">
              <a:buNone/>
            </a:pPr>
            <a:r>
              <a:rPr lang="en-US" dirty="0"/>
              <a:t>Captive Resources, Inc. </a:t>
            </a:r>
          </a:p>
          <a:p>
            <a:endParaRPr lang="en-US" dirty="0"/>
          </a:p>
          <a:p>
            <a:r>
              <a:rPr lang="en-US" dirty="0"/>
              <a:t>Cayman Islands Captive Manager </a:t>
            </a:r>
          </a:p>
          <a:p>
            <a:pPr marL="603504" lvl="2" indent="0">
              <a:buNone/>
            </a:pPr>
            <a:r>
              <a:rPr lang="en-US" dirty="0"/>
              <a:t>Kensington Management</a:t>
            </a:r>
          </a:p>
          <a:p>
            <a:endParaRPr lang="en-US" dirty="0"/>
          </a:p>
          <a:p>
            <a:r>
              <a:rPr lang="en-US" dirty="0"/>
              <a:t>Fronting Carrier </a:t>
            </a:r>
          </a:p>
          <a:p>
            <a:pPr marL="603504" lvl="2" indent="0">
              <a:buNone/>
            </a:pPr>
            <a:r>
              <a:rPr lang="en-US" sz="1900" dirty="0"/>
              <a:t>AIG, Zurich</a:t>
            </a:r>
          </a:p>
          <a:p>
            <a:endParaRPr lang="en-US" dirty="0"/>
          </a:p>
          <a:p>
            <a:r>
              <a:rPr lang="en-US" dirty="0"/>
              <a:t>Reinsurance</a:t>
            </a:r>
          </a:p>
          <a:p>
            <a:endParaRPr lang="en-US" dirty="0"/>
          </a:p>
          <a:p>
            <a:r>
              <a:rPr lang="en-US" dirty="0"/>
              <a:t>Third Party Administrator </a:t>
            </a:r>
          </a:p>
          <a:p>
            <a:pPr marL="603504" lvl="2" indent="0">
              <a:buNone/>
            </a:pPr>
            <a:r>
              <a:rPr lang="en-US" dirty="0"/>
              <a:t>Sedgwick, Gallagher Basset, Zurich</a:t>
            </a:r>
          </a:p>
          <a:p>
            <a:endParaRPr lang="en-US" dirty="0"/>
          </a:p>
          <a:p>
            <a:pPr marL="109728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5F38BF-4B39-9460-B526-290FFA138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0" y="6407944"/>
            <a:ext cx="5218272" cy="365125"/>
          </a:xfrm>
        </p:spPr>
        <p:txBody>
          <a:bodyPr/>
          <a:lstStyle/>
          <a:p>
            <a:r>
              <a:rPr lang="en-US" sz="800" dirty="0"/>
              <a:t>Confidential &amp; Privileged Non-Public Information - 2022 EPIC Insurance Brokers &amp; Consultants, Inc.  Use, disclosure, dissemination, distribution or reproduction is not authorized.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37232-6451-1940-D306-8DB89DEDE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11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1916E05-F0BC-D3A1-FEDF-5427C7991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Who’s Who</a:t>
            </a:r>
          </a:p>
        </p:txBody>
      </p:sp>
    </p:spTree>
    <p:extLst>
      <p:ext uri="{BB962C8B-B14F-4D97-AF65-F5344CB8AC3E}">
        <p14:creationId xmlns:p14="http://schemas.microsoft.com/office/powerpoint/2010/main" val="242954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5400"/>
            <a:ext cx="8686800" cy="898525"/>
          </a:xfrm>
        </p:spPr>
        <p:txBody>
          <a:bodyPr/>
          <a:lstStyle/>
          <a:p>
            <a:pPr eaLnBrk="1" hangingPunct="1"/>
            <a:r>
              <a:rPr lang="en-US" altLang="en-US" dirty="0"/>
              <a:t>Specific Excess Insurance</a:t>
            </a:r>
          </a:p>
        </p:txBody>
      </p:sp>
      <p:grpSp>
        <p:nvGrpSpPr>
          <p:cNvPr id="19459" name="Group 46"/>
          <p:cNvGrpSpPr>
            <a:grpSpLocks/>
          </p:cNvGrpSpPr>
          <p:nvPr/>
        </p:nvGrpSpPr>
        <p:grpSpPr bwMode="auto">
          <a:xfrm>
            <a:off x="3736975" y="3014663"/>
            <a:ext cx="1955800" cy="1203325"/>
            <a:chOff x="2354" y="1899"/>
            <a:chExt cx="1232" cy="758"/>
          </a:xfrm>
        </p:grpSpPr>
        <p:sp>
          <p:nvSpPr>
            <p:cNvPr id="19489" name="Rectangle 39"/>
            <p:cNvSpPr>
              <a:spLocks noChangeArrowheads="1"/>
            </p:cNvSpPr>
            <p:nvPr/>
          </p:nvSpPr>
          <p:spPr bwMode="auto">
            <a:xfrm>
              <a:off x="2354" y="1899"/>
              <a:ext cx="1232" cy="758"/>
            </a:xfrm>
            <a:prstGeom prst="rect">
              <a:avLst/>
            </a:prstGeom>
            <a:gradFill rotWithShape="1">
              <a:gsLst>
                <a:gs pos="0">
                  <a:srgbClr val="0079BC"/>
                </a:gs>
                <a:gs pos="100000">
                  <a:srgbClr val="003857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 dirty="0"/>
            </a:p>
          </p:txBody>
        </p:sp>
        <p:sp>
          <p:nvSpPr>
            <p:cNvPr id="19490" name="Rectangle 8"/>
            <p:cNvSpPr>
              <a:spLocks noChangeArrowheads="1"/>
            </p:cNvSpPr>
            <p:nvPr/>
          </p:nvSpPr>
          <p:spPr bwMode="auto">
            <a:xfrm>
              <a:off x="2598" y="2038"/>
              <a:ext cx="701" cy="442"/>
            </a:xfrm>
            <a:prstGeom prst="rect">
              <a:avLst/>
            </a:prstGeom>
            <a:noFill/>
            <a:ln>
              <a:noFill/>
            </a:ln>
            <a:effectLst>
              <a:outerShdw dist="12700" dir="5400000" algn="ctr" rotWithShape="0">
                <a:srgbClr val="00000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 dirty="0">
                  <a:solidFill>
                    <a:schemeClr val="bg1"/>
                  </a:solidFill>
                </a:rPr>
                <a:t>General</a:t>
              </a:r>
              <a:br>
                <a:rPr lang="en-US" altLang="en-US" sz="2000" dirty="0">
                  <a:solidFill>
                    <a:schemeClr val="bg1"/>
                  </a:solidFill>
                </a:rPr>
              </a:br>
              <a:r>
                <a:rPr lang="en-US" altLang="en-US" sz="2000" dirty="0">
                  <a:solidFill>
                    <a:schemeClr val="bg1"/>
                  </a:solidFill>
                </a:rPr>
                <a:t>Liability</a:t>
              </a:r>
            </a:p>
          </p:txBody>
        </p:sp>
      </p:grpSp>
      <p:grpSp>
        <p:nvGrpSpPr>
          <p:cNvPr id="19460" name="Group 45"/>
          <p:cNvGrpSpPr>
            <a:grpSpLocks/>
          </p:cNvGrpSpPr>
          <p:nvPr/>
        </p:nvGrpSpPr>
        <p:grpSpPr bwMode="auto">
          <a:xfrm>
            <a:off x="5737225" y="3014663"/>
            <a:ext cx="1955800" cy="1203325"/>
            <a:chOff x="3614" y="1899"/>
            <a:chExt cx="1232" cy="758"/>
          </a:xfrm>
        </p:grpSpPr>
        <p:sp>
          <p:nvSpPr>
            <p:cNvPr id="19487" name="Rectangle 40"/>
            <p:cNvSpPr>
              <a:spLocks noChangeArrowheads="1"/>
            </p:cNvSpPr>
            <p:nvPr/>
          </p:nvSpPr>
          <p:spPr bwMode="auto">
            <a:xfrm>
              <a:off x="3614" y="1899"/>
              <a:ext cx="1232" cy="758"/>
            </a:xfrm>
            <a:prstGeom prst="rect">
              <a:avLst/>
            </a:prstGeom>
            <a:gradFill rotWithShape="1">
              <a:gsLst>
                <a:gs pos="0">
                  <a:srgbClr val="0079BC"/>
                </a:gs>
                <a:gs pos="100000">
                  <a:srgbClr val="003857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 dirty="0"/>
            </a:p>
          </p:txBody>
        </p:sp>
        <p:sp>
          <p:nvSpPr>
            <p:cNvPr id="19488" name="Rectangle 9"/>
            <p:cNvSpPr>
              <a:spLocks noChangeArrowheads="1"/>
            </p:cNvSpPr>
            <p:nvPr/>
          </p:nvSpPr>
          <p:spPr bwMode="auto">
            <a:xfrm>
              <a:off x="4013" y="2114"/>
              <a:ext cx="522" cy="288"/>
            </a:xfrm>
            <a:prstGeom prst="rect">
              <a:avLst/>
            </a:prstGeom>
            <a:noFill/>
            <a:ln>
              <a:noFill/>
            </a:ln>
            <a:effectLst>
              <a:outerShdw dist="12700" dir="5400000" algn="ctr" rotWithShape="0">
                <a:srgbClr val="00000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 dirty="0">
                  <a:solidFill>
                    <a:schemeClr val="bg1"/>
                  </a:solidFill>
                </a:rPr>
                <a:t>Auto</a:t>
              </a:r>
            </a:p>
          </p:txBody>
        </p:sp>
      </p:grpSp>
      <p:grpSp>
        <p:nvGrpSpPr>
          <p:cNvPr id="19461" name="Group 12"/>
          <p:cNvGrpSpPr>
            <a:grpSpLocks/>
          </p:cNvGrpSpPr>
          <p:nvPr/>
        </p:nvGrpSpPr>
        <p:grpSpPr bwMode="auto">
          <a:xfrm>
            <a:off x="7683500" y="4267200"/>
            <a:ext cx="1346200" cy="1193800"/>
            <a:chOff x="4840" y="2688"/>
            <a:chExt cx="848" cy="752"/>
          </a:xfrm>
        </p:grpSpPr>
        <p:sp>
          <p:nvSpPr>
            <p:cNvPr id="19485" name="Rectangle 13"/>
            <p:cNvSpPr>
              <a:spLocks noChangeAspect="1" noChangeArrowheads="1"/>
            </p:cNvSpPr>
            <p:nvPr/>
          </p:nvSpPr>
          <p:spPr bwMode="auto">
            <a:xfrm>
              <a:off x="4892" y="2690"/>
              <a:ext cx="796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b="0" dirty="0"/>
                <a:t>Basket </a:t>
              </a:r>
              <a:br>
                <a:rPr lang="en-US" altLang="en-US" sz="1800" b="0" dirty="0"/>
              </a:br>
              <a:r>
                <a:rPr lang="en-US" altLang="en-US" sz="1800" b="0" dirty="0"/>
                <a:t>&amp; Clash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b="0" dirty="0"/>
                <a:t>Coverage Included</a:t>
              </a:r>
            </a:p>
          </p:txBody>
        </p:sp>
        <p:sp>
          <p:nvSpPr>
            <p:cNvPr id="19486" name="Freeform 14"/>
            <p:cNvSpPr>
              <a:spLocks/>
            </p:cNvSpPr>
            <p:nvPr/>
          </p:nvSpPr>
          <p:spPr bwMode="auto">
            <a:xfrm>
              <a:off x="4840" y="2688"/>
              <a:ext cx="784" cy="752"/>
            </a:xfrm>
            <a:custGeom>
              <a:avLst/>
              <a:gdLst>
                <a:gd name="T0" fmla="*/ 0 w 784"/>
                <a:gd name="T1" fmla="*/ 752 h 752"/>
                <a:gd name="T2" fmla="*/ 784 w 784"/>
                <a:gd name="T3" fmla="*/ 752 h 752"/>
                <a:gd name="T4" fmla="*/ 784 w 784"/>
                <a:gd name="T5" fmla="*/ 0 h 7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4" h="752">
                  <a:moveTo>
                    <a:pt x="0" y="752"/>
                  </a:moveTo>
                  <a:lnTo>
                    <a:pt x="784" y="752"/>
                  </a:lnTo>
                  <a:lnTo>
                    <a:pt x="784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9462" name="Group 43"/>
          <p:cNvGrpSpPr>
            <a:grpSpLocks/>
          </p:cNvGrpSpPr>
          <p:nvPr/>
        </p:nvGrpSpPr>
        <p:grpSpPr bwMode="auto">
          <a:xfrm>
            <a:off x="295275" y="2263775"/>
            <a:ext cx="992188" cy="1806575"/>
            <a:chOff x="186" y="1426"/>
            <a:chExt cx="625" cy="1138"/>
          </a:xfrm>
        </p:grpSpPr>
        <p:sp>
          <p:nvSpPr>
            <p:cNvPr id="19482" name="Text Box 10"/>
            <p:cNvSpPr txBox="1">
              <a:spLocks noChangeArrowheads="1"/>
            </p:cNvSpPr>
            <p:nvPr/>
          </p:nvSpPr>
          <p:spPr bwMode="auto">
            <a:xfrm>
              <a:off x="186" y="1870"/>
              <a:ext cx="625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400" b="0" dirty="0"/>
                <a:t>$1,000,000</a:t>
              </a:r>
            </a:p>
          </p:txBody>
        </p:sp>
        <p:sp>
          <p:nvSpPr>
            <p:cNvPr id="19483" name="Line 11"/>
            <p:cNvSpPr>
              <a:spLocks noChangeShapeType="1"/>
            </p:cNvSpPr>
            <p:nvPr/>
          </p:nvSpPr>
          <p:spPr bwMode="auto">
            <a:xfrm flipV="1">
              <a:off x="499" y="2132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484" name="Line 27"/>
            <p:cNvSpPr>
              <a:spLocks noChangeShapeType="1"/>
            </p:cNvSpPr>
            <p:nvPr/>
          </p:nvSpPr>
          <p:spPr bwMode="auto">
            <a:xfrm flipV="1">
              <a:off x="495" y="142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9463" name="Group 44"/>
          <p:cNvGrpSpPr>
            <a:grpSpLocks/>
          </p:cNvGrpSpPr>
          <p:nvPr/>
        </p:nvGrpSpPr>
        <p:grpSpPr bwMode="auto">
          <a:xfrm>
            <a:off x="1736725" y="1773238"/>
            <a:ext cx="1955800" cy="2444750"/>
            <a:chOff x="1094" y="1117"/>
            <a:chExt cx="1232" cy="1540"/>
          </a:xfrm>
        </p:grpSpPr>
        <p:grpSp>
          <p:nvGrpSpPr>
            <p:cNvPr id="19476" name="Group 42"/>
            <p:cNvGrpSpPr>
              <a:grpSpLocks/>
            </p:cNvGrpSpPr>
            <p:nvPr/>
          </p:nvGrpSpPr>
          <p:grpSpPr bwMode="auto">
            <a:xfrm>
              <a:off x="1094" y="1899"/>
              <a:ext cx="1232" cy="758"/>
              <a:chOff x="1094" y="1899"/>
              <a:chExt cx="1232" cy="758"/>
            </a:xfrm>
          </p:grpSpPr>
          <p:sp>
            <p:nvSpPr>
              <p:cNvPr id="19480" name="Rectangle 4"/>
              <p:cNvSpPr>
                <a:spLocks noChangeArrowheads="1"/>
              </p:cNvSpPr>
              <p:nvPr/>
            </p:nvSpPr>
            <p:spPr bwMode="auto">
              <a:xfrm>
                <a:off x="1094" y="1899"/>
                <a:ext cx="1232" cy="758"/>
              </a:xfrm>
              <a:prstGeom prst="rect">
                <a:avLst/>
              </a:prstGeom>
              <a:gradFill rotWithShape="1">
                <a:gsLst>
                  <a:gs pos="0">
                    <a:srgbClr val="0079BC"/>
                  </a:gs>
                  <a:gs pos="100000">
                    <a:srgbClr val="003857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30000"/>
                  </a:spcBef>
                  <a:buClr>
                    <a:schemeClr val="hlink"/>
                  </a:buClr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spcBef>
                    <a:spcPct val="3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spcBef>
                    <a:spcPct val="30000"/>
                  </a:spcBef>
                  <a:buChar char="•"/>
                  <a:defRPr sz="22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 dirty="0"/>
              </a:p>
            </p:txBody>
          </p:sp>
          <p:sp>
            <p:nvSpPr>
              <p:cNvPr id="19481" name="Text Box 7"/>
              <p:cNvSpPr txBox="1">
                <a:spLocks noChangeArrowheads="1"/>
              </p:cNvSpPr>
              <p:nvPr/>
            </p:nvSpPr>
            <p:spPr bwMode="auto">
              <a:xfrm>
                <a:off x="1308" y="1942"/>
                <a:ext cx="804" cy="634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12700" dir="5400000" algn="ctr" rotWithShape="0">
                  <a:srgbClr val="000000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30000"/>
                  </a:spcBef>
                  <a:buClr>
                    <a:schemeClr val="hlink"/>
                  </a:buClr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spcBef>
                    <a:spcPct val="3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spcBef>
                    <a:spcPct val="30000"/>
                  </a:spcBef>
                  <a:buChar char="•"/>
                  <a:defRPr sz="22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2000" dirty="0">
                    <a:solidFill>
                      <a:schemeClr val="bg1"/>
                    </a:solidFill>
                  </a:rPr>
                  <a:t>Statutory </a:t>
                </a:r>
                <a:br>
                  <a:rPr lang="en-US" altLang="en-US" sz="2000" dirty="0">
                    <a:solidFill>
                      <a:schemeClr val="bg1"/>
                    </a:solidFill>
                  </a:rPr>
                </a:br>
                <a:r>
                  <a:rPr lang="en-US" altLang="en-US" sz="2000" dirty="0">
                    <a:solidFill>
                      <a:schemeClr val="bg1"/>
                    </a:solidFill>
                  </a:rPr>
                  <a:t>Workers </a:t>
                </a:r>
                <a:br>
                  <a:rPr lang="en-US" altLang="en-US" sz="2000" dirty="0">
                    <a:solidFill>
                      <a:schemeClr val="bg1"/>
                    </a:solidFill>
                  </a:rPr>
                </a:br>
                <a:r>
                  <a:rPr lang="en-US" altLang="en-US" sz="2000" dirty="0">
                    <a:solidFill>
                      <a:schemeClr val="bg1"/>
                    </a:solidFill>
                  </a:rPr>
                  <a:t>Comp.</a:t>
                </a:r>
              </a:p>
            </p:txBody>
          </p:sp>
        </p:grpSp>
        <p:grpSp>
          <p:nvGrpSpPr>
            <p:cNvPr id="19477" name="Group 41"/>
            <p:cNvGrpSpPr>
              <a:grpSpLocks/>
            </p:cNvGrpSpPr>
            <p:nvPr/>
          </p:nvGrpSpPr>
          <p:grpSpPr bwMode="auto">
            <a:xfrm>
              <a:off x="1094" y="1117"/>
              <a:ext cx="1042" cy="758"/>
              <a:chOff x="1094" y="1117"/>
              <a:chExt cx="1042" cy="758"/>
            </a:xfrm>
          </p:grpSpPr>
          <p:sp>
            <p:nvSpPr>
              <p:cNvPr id="19478" name="Rectangle 25"/>
              <p:cNvSpPr>
                <a:spLocks noChangeArrowheads="1"/>
              </p:cNvSpPr>
              <p:nvPr/>
            </p:nvSpPr>
            <p:spPr bwMode="auto">
              <a:xfrm>
                <a:off x="1094" y="1117"/>
                <a:ext cx="1042" cy="758"/>
              </a:xfrm>
              <a:prstGeom prst="rect">
                <a:avLst/>
              </a:prstGeom>
              <a:gradFill rotWithShape="1">
                <a:gsLst>
                  <a:gs pos="0">
                    <a:srgbClr val="0079BC"/>
                  </a:gs>
                  <a:gs pos="100000">
                    <a:srgbClr val="003857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30000"/>
                  </a:spcBef>
                  <a:buClr>
                    <a:schemeClr val="hlink"/>
                  </a:buClr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spcBef>
                    <a:spcPct val="3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spcBef>
                    <a:spcPct val="30000"/>
                  </a:spcBef>
                  <a:buChar char="•"/>
                  <a:defRPr sz="22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 dirty="0"/>
              </a:p>
            </p:txBody>
          </p:sp>
          <p:sp>
            <p:nvSpPr>
              <p:cNvPr id="19479" name="Text Box 33"/>
              <p:cNvSpPr txBox="1">
                <a:spLocks noChangeArrowheads="1"/>
              </p:cNvSpPr>
              <p:nvPr/>
            </p:nvSpPr>
            <p:spPr bwMode="auto">
              <a:xfrm>
                <a:off x="1215" y="1370"/>
                <a:ext cx="804" cy="250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12700" dir="5400000" algn="ctr" rotWithShape="0">
                  <a:srgbClr val="000000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30000"/>
                  </a:spcBef>
                  <a:buClr>
                    <a:schemeClr val="hlink"/>
                  </a:buClr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spcBef>
                    <a:spcPct val="3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spcBef>
                    <a:spcPct val="30000"/>
                  </a:spcBef>
                  <a:buChar char="•"/>
                  <a:defRPr sz="22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2000" dirty="0">
                    <a:solidFill>
                      <a:schemeClr val="bg1"/>
                    </a:solidFill>
                  </a:rPr>
                  <a:t>Statutory </a:t>
                </a:r>
              </a:p>
            </p:txBody>
          </p:sp>
        </p:grpSp>
      </p:grpSp>
      <p:grpSp>
        <p:nvGrpSpPr>
          <p:cNvPr id="19464" name="Group 63"/>
          <p:cNvGrpSpPr>
            <a:grpSpLocks/>
          </p:cNvGrpSpPr>
          <p:nvPr/>
        </p:nvGrpSpPr>
        <p:grpSpPr bwMode="auto">
          <a:xfrm>
            <a:off x="-4" y="4217986"/>
            <a:ext cx="7693032" cy="1508125"/>
            <a:chOff x="0" y="2657"/>
            <a:chExt cx="4846" cy="950"/>
          </a:xfrm>
        </p:grpSpPr>
        <p:sp>
          <p:nvSpPr>
            <p:cNvPr id="19470" name="AutoShape 64"/>
            <p:cNvSpPr>
              <a:spLocks noChangeArrowheads="1"/>
            </p:cNvSpPr>
            <p:nvPr/>
          </p:nvSpPr>
          <p:spPr bwMode="auto">
            <a:xfrm>
              <a:off x="1166" y="3341"/>
              <a:ext cx="3666" cy="218"/>
            </a:xfrm>
            <a:prstGeom prst="roundRect">
              <a:avLst>
                <a:gd name="adj" fmla="val 13611"/>
              </a:avLst>
            </a:prstGeom>
            <a:gradFill rotWithShape="0">
              <a:gsLst>
                <a:gs pos="0">
                  <a:srgbClr val="4D4D4D"/>
                </a:gs>
                <a:gs pos="100000">
                  <a:srgbClr val="FFFFFF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 dirty="0"/>
            </a:p>
          </p:txBody>
        </p:sp>
        <p:sp>
          <p:nvSpPr>
            <p:cNvPr id="212033" name="Rectangle 65"/>
            <p:cNvSpPr>
              <a:spLocks noChangeArrowheads="1"/>
            </p:cNvSpPr>
            <p:nvPr/>
          </p:nvSpPr>
          <p:spPr bwMode="auto">
            <a:xfrm>
              <a:off x="1094" y="2690"/>
              <a:ext cx="3752" cy="758"/>
            </a:xfrm>
            <a:prstGeom prst="rect">
              <a:avLst/>
            </a:prstGeom>
            <a:gradFill rotWithShape="1">
              <a:gsLst>
                <a:gs pos="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19472" name="Text Box 66"/>
            <p:cNvSpPr txBox="1">
              <a:spLocks noChangeArrowheads="1"/>
            </p:cNvSpPr>
            <p:nvPr/>
          </p:nvSpPr>
          <p:spPr bwMode="auto">
            <a:xfrm>
              <a:off x="1607" y="2897"/>
              <a:ext cx="2654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2700" dir="54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600" dirty="0"/>
                <a:t>Captive Retention</a:t>
              </a:r>
            </a:p>
          </p:txBody>
        </p:sp>
        <p:sp>
          <p:nvSpPr>
            <p:cNvPr id="19473" name="Text Box 67"/>
            <p:cNvSpPr txBox="1">
              <a:spLocks noChangeArrowheads="1"/>
            </p:cNvSpPr>
            <p:nvPr/>
          </p:nvSpPr>
          <p:spPr bwMode="auto">
            <a:xfrm>
              <a:off x="0" y="2657"/>
              <a:ext cx="1094" cy="4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400" b="0" dirty="0"/>
                <a:t>Depends on the captive – 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400" b="0" dirty="0"/>
                <a:t>$300,000 - $500,000</a:t>
              </a:r>
            </a:p>
          </p:txBody>
        </p:sp>
        <p:sp>
          <p:nvSpPr>
            <p:cNvPr id="19474" name="Line 68"/>
            <p:cNvSpPr>
              <a:spLocks noChangeShapeType="1"/>
            </p:cNvSpPr>
            <p:nvPr/>
          </p:nvSpPr>
          <p:spPr bwMode="auto">
            <a:xfrm flipV="1">
              <a:off x="499" y="3086"/>
              <a:ext cx="0" cy="5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19475" name="Picture 69" descr="pileomoney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5" y="2777"/>
              <a:ext cx="774" cy="6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465" name="Group 70"/>
          <p:cNvGrpSpPr>
            <a:grpSpLocks/>
          </p:cNvGrpSpPr>
          <p:nvPr/>
        </p:nvGrpSpPr>
        <p:grpSpPr bwMode="auto">
          <a:xfrm>
            <a:off x="3448050" y="1746250"/>
            <a:ext cx="4241800" cy="1220788"/>
            <a:chOff x="2172" y="1100"/>
            <a:chExt cx="2672" cy="769"/>
          </a:xfrm>
        </p:grpSpPr>
        <p:sp>
          <p:nvSpPr>
            <p:cNvPr id="19466" name="Line 24"/>
            <p:cNvSpPr>
              <a:spLocks noChangeShapeType="1"/>
            </p:cNvSpPr>
            <p:nvPr/>
          </p:nvSpPr>
          <p:spPr bwMode="auto">
            <a:xfrm>
              <a:off x="3935" y="1100"/>
              <a:ext cx="0" cy="36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467" name="Rectangle 26"/>
            <p:cNvSpPr>
              <a:spLocks noChangeArrowheads="1"/>
            </p:cNvSpPr>
            <p:nvPr/>
          </p:nvSpPr>
          <p:spPr bwMode="auto">
            <a:xfrm>
              <a:off x="2172" y="1111"/>
              <a:ext cx="2672" cy="758"/>
            </a:xfrm>
            <a:prstGeom prst="rect">
              <a:avLst/>
            </a:prstGeom>
            <a:solidFill>
              <a:srgbClr val="79CFFF"/>
            </a:solidFill>
            <a:ln w="1905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 dirty="0"/>
            </a:p>
          </p:txBody>
        </p:sp>
        <p:sp>
          <p:nvSpPr>
            <p:cNvPr id="19468" name="Rectangle 28"/>
            <p:cNvSpPr>
              <a:spLocks noChangeArrowheads="1"/>
            </p:cNvSpPr>
            <p:nvPr/>
          </p:nvSpPr>
          <p:spPr bwMode="auto">
            <a:xfrm>
              <a:off x="2502" y="1378"/>
              <a:ext cx="188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2700" dir="108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 i="1" dirty="0"/>
                <a:t>Umbrella Excess</a:t>
              </a:r>
            </a:p>
          </p:txBody>
        </p:sp>
        <p:pic>
          <p:nvPicPr>
            <p:cNvPr id="19469" name="Picture 29" descr="umbrella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4" y="1439"/>
              <a:ext cx="416" cy="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79256" y="6418830"/>
            <a:ext cx="5168016" cy="365125"/>
          </a:xfrm>
        </p:spPr>
        <p:txBody>
          <a:bodyPr/>
          <a:lstStyle/>
          <a:p>
            <a:r>
              <a:rPr lang="en-US" sz="800" dirty="0"/>
              <a:t>Confidential &amp; Privileged Non-Public Information - 2022 EPIC Insurance Brokers &amp; Consultants, Inc.  Use, disclosure, dissemination, distribution or reproduction is not authorized</a:t>
            </a:r>
            <a:r>
              <a:rPr lang="en-US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12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387A03-70F4-F42E-68C3-5A77D33B20ED}"/>
              </a:ext>
            </a:extLst>
          </p:cNvPr>
          <p:cNvSpPr txBox="1"/>
          <p:nvPr/>
        </p:nvSpPr>
        <p:spPr>
          <a:xfrm>
            <a:off x="3418114" y="2960158"/>
            <a:ext cx="4522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rgbClr val="FFFF00"/>
                </a:solidFill>
              </a:rPr>
              <a:t>Some captives have increased their primary </a:t>
            </a:r>
          </a:p>
          <a:p>
            <a:pPr algn="ctr"/>
            <a:r>
              <a:rPr lang="en-US" sz="1200" i="1" dirty="0">
                <a:solidFill>
                  <a:srgbClr val="FFFF00"/>
                </a:solidFill>
              </a:rPr>
              <a:t>Auto and / or General Liability limits to $2M.</a:t>
            </a:r>
          </a:p>
        </p:txBody>
      </p:sp>
    </p:spTree>
    <p:extLst>
      <p:ext uri="{BB962C8B-B14F-4D97-AF65-F5344CB8AC3E}">
        <p14:creationId xmlns:p14="http://schemas.microsoft.com/office/powerpoint/2010/main" val="168634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6578360"/>
              </p:ext>
            </p:extLst>
          </p:nvPr>
        </p:nvGraphicFramePr>
        <p:xfrm>
          <a:off x="457200" y="1295400"/>
          <a:ext cx="8458200" cy="487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Group Captive Premium Breakdown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57600" y="6407944"/>
            <a:ext cx="4989672" cy="365125"/>
          </a:xfrm>
        </p:spPr>
        <p:txBody>
          <a:bodyPr/>
          <a:lstStyle/>
          <a:p>
            <a:r>
              <a:rPr lang="en-US" sz="800" dirty="0"/>
              <a:t>Confidential &amp; Privileged Non-Public Information - 2022 EPIC Insurance Brokers &amp; Consultants, Inc.  Use, disclosure, dissemination, distribution or reproduction is not authorized.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175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581" y="914400"/>
            <a:ext cx="7772400" cy="3506162"/>
          </a:xfrm>
        </p:spPr>
        <p:txBody>
          <a:bodyPr>
            <a:noAutofit/>
          </a:bodyPr>
          <a:lstStyle/>
          <a:p>
            <a:pPr algn="l"/>
            <a:r>
              <a:rPr lang="en-US" sz="2400" b="0" dirty="0"/>
              <a:t>Each captive member’s rates and premiums are based on </a:t>
            </a:r>
            <a:r>
              <a:rPr lang="en-US" sz="2400" b="0" i="1" u="sng" dirty="0"/>
              <a:t>their</a:t>
            </a:r>
            <a:r>
              <a:rPr lang="en-US" sz="2400" b="0" i="1" dirty="0"/>
              <a:t> </a:t>
            </a:r>
            <a:r>
              <a:rPr lang="en-US" sz="2400" b="0" dirty="0"/>
              <a:t>loss and exposure history.</a:t>
            </a:r>
            <a:br>
              <a:rPr lang="en-US" sz="2400" b="0" dirty="0"/>
            </a:br>
            <a:br>
              <a:rPr lang="en-US" sz="2400" b="0" dirty="0"/>
            </a:br>
            <a:br>
              <a:rPr lang="en-US" sz="2400" b="0" dirty="0"/>
            </a:br>
            <a:r>
              <a:rPr lang="en-US" sz="2400" b="0" dirty="0"/>
              <a:t>Rates/premiums are recalculated every year based on the 5 most recent years.</a:t>
            </a:r>
            <a:br>
              <a:rPr lang="en-US" sz="2400" b="0" dirty="0"/>
            </a:br>
            <a:br>
              <a:rPr lang="en-US" sz="2400" b="0" dirty="0"/>
            </a:br>
            <a:br>
              <a:rPr lang="en-US" sz="2400" b="0" dirty="0"/>
            </a:br>
            <a:r>
              <a:rPr lang="en-US" sz="2400" b="0" dirty="0"/>
              <a:t>Each policy period stands on its own.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76600" y="6251507"/>
            <a:ext cx="5155135" cy="365125"/>
          </a:xfrm>
        </p:spPr>
        <p:txBody>
          <a:bodyPr/>
          <a:lstStyle/>
          <a:p>
            <a:r>
              <a:rPr lang="en-US" sz="800" dirty="0"/>
              <a:t>Confidential &amp; Privileged Non-Public Information - 2022 EPIC Insurance Brokers &amp; Consultants, Inc.  Use, disclosure, dissemination, distribution or reproduction is not authorized.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064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116681" y="1818106"/>
            <a:ext cx="9144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 algn="ctr">
              <a:lnSpc>
                <a:spcPct val="30000"/>
              </a:lnSpc>
              <a:spcBef>
                <a:spcPct val="50000"/>
              </a:spcBef>
            </a:pPr>
            <a:r>
              <a:rPr lang="en-US" altLang="en-US" sz="4500" b="0" i="1" dirty="0">
                <a:solidFill>
                  <a:schemeClr val="tx1"/>
                </a:solidFill>
                <a:latin typeface="Times New Roman" panose="02020603050405020304" pitchFamily="18" charset="0"/>
              </a:rPr>
              <a:t>Sample Member</a:t>
            </a:r>
          </a:p>
        </p:txBody>
      </p:sp>
      <p:sp>
        <p:nvSpPr>
          <p:cNvPr id="15363" name="Line 3"/>
          <p:cNvSpPr>
            <a:spLocks noChangeShapeType="1"/>
          </p:cNvSpPr>
          <p:nvPr/>
        </p:nvSpPr>
        <p:spPr bwMode="auto">
          <a:xfrm>
            <a:off x="762000" y="990600"/>
            <a:ext cx="769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05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15364" name="Rectangle 7"/>
          <p:cNvSpPr>
            <a:spLocks noChangeArrowheads="1"/>
          </p:cNvSpPr>
          <p:nvPr/>
        </p:nvSpPr>
        <p:spPr bwMode="auto">
          <a:xfrm>
            <a:off x="1568977" y="2396090"/>
            <a:ext cx="6145212" cy="332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</a:rPr>
              <a:t>Loss Forecast:			$400,000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</a:rPr>
              <a:t>Fixed Costs:			</a:t>
            </a:r>
            <a:r>
              <a:rPr lang="en-US" altLang="en-US" sz="2800" u="sng" dirty="0">
                <a:latin typeface="Times New Roman" panose="02020603050405020304" pitchFamily="18" charset="0"/>
              </a:rPr>
              <a:t>$192,000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</a:rPr>
              <a:t>Premium:				$592,000</a:t>
            </a:r>
          </a:p>
          <a:p>
            <a:pPr>
              <a:lnSpc>
                <a:spcPct val="150000"/>
              </a:lnSpc>
            </a:pP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				</a:t>
            </a:r>
            <a:endParaRPr lang="en-US" altLang="en-US" sz="2800" u="sng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			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15</a:t>
            </a:fld>
            <a:endParaRPr lang="en-US"/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05200" y="6249942"/>
            <a:ext cx="5029200" cy="365125"/>
          </a:xfrm>
        </p:spPr>
        <p:txBody>
          <a:bodyPr/>
          <a:lstStyle/>
          <a:p>
            <a:r>
              <a:rPr lang="en-US" sz="800" dirty="0"/>
              <a:t>Confidential &amp; Privileged Non-Public Information - 2022 EPIC </a:t>
            </a:r>
            <a:r>
              <a:rPr lang="en-US" sz="600" dirty="0"/>
              <a:t>Insurance </a:t>
            </a:r>
            <a:r>
              <a:rPr lang="en-US" sz="800" dirty="0"/>
              <a:t>Brokers &amp; Consultants, Inc.  Use, disclosure, dissemination, distribution or reproduction is not authorized.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0181" y="4782388"/>
            <a:ext cx="631983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728" indent="0">
              <a:buNone/>
            </a:pPr>
            <a:r>
              <a:rPr lang="en-US" u="sng" dirty="0"/>
              <a:t>Loss Forecast </a:t>
            </a:r>
            <a:r>
              <a:rPr lang="en-US" dirty="0"/>
              <a:t>– Developed by independent actuary based on a member’s own 5 years of losses and exposures by line of coverage.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F10EF9-D6CA-7F4F-2B7C-F61A9B174D14}"/>
              </a:ext>
            </a:extLst>
          </p:cNvPr>
          <p:cNvSpPr txBox="1"/>
          <p:nvPr/>
        </p:nvSpPr>
        <p:spPr>
          <a:xfrm>
            <a:off x="1447800" y="304800"/>
            <a:ext cx="6226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HOW IT WORKS - Financially</a:t>
            </a:r>
          </a:p>
        </p:txBody>
      </p:sp>
    </p:spTree>
    <p:extLst>
      <p:ext uri="{BB962C8B-B14F-4D97-AF65-F5344CB8AC3E}">
        <p14:creationId xmlns:p14="http://schemas.microsoft.com/office/powerpoint/2010/main" val="2494225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Funding Structure</a:t>
            </a:r>
          </a:p>
        </p:txBody>
      </p:sp>
      <p:sp>
        <p:nvSpPr>
          <p:cNvPr id="32771" name="Rectangle 13"/>
          <p:cNvSpPr>
            <a:spLocks noChangeArrowheads="1"/>
          </p:cNvSpPr>
          <p:nvPr/>
        </p:nvSpPr>
        <p:spPr bwMode="auto">
          <a:xfrm>
            <a:off x="5334000" y="1289050"/>
            <a:ext cx="31115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Char char="–"/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Char char="•"/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 dirty="0">
              <a:solidFill>
                <a:schemeClr val="accent1"/>
              </a:solidFill>
            </a:endParaRPr>
          </a:p>
        </p:txBody>
      </p:sp>
      <p:sp>
        <p:nvSpPr>
          <p:cNvPr id="32772" name="Rectangle 14"/>
          <p:cNvSpPr>
            <a:spLocks noChangeArrowheads="1"/>
          </p:cNvSpPr>
          <p:nvPr/>
        </p:nvSpPr>
        <p:spPr bwMode="auto">
          <a:xfrm>
            <a:off x="492919" y="1157039"/>
            <a:ext cx="352266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Char char="–"/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Char char="•"/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600" b="0" dirty="0">
                <a:solidFill>
                  <a:schemeClr val="bg1"/>
                </a:solidFill>
              </a:rPr>
              <a:t>Loss forecast =</a:t>
            </a:r>
            <a:r>
              <a:rPr lang="en-US" altLang="en-US" sz="2600" dirty="0">
                <a:solidFill>
                  <a:schemeClr val="bg1"/>
                </a:solidFill>
              </a:rPr>
              <a:t> $400,000</a:t>
            </a:r>
          </a:p>
        </p:txBody>
      </p:sp>
      <p:sp>
        <p:nvSpPr>
          <p:cNvPr id="32773" name="Rectangle 25"/>
          <p:cNvSpPr>
            <a:spLocks noChangeArrowheads="1"/>
          </p:cNvSpPr>
          <p:nvPr/>
        </p:nvSpPr>
        <p:spPr bwMode="auto">
          <a:xfrm>
            <a:off x="910609" y="2667000"/>
            <a:ext cx="1048366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Char char="–"/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Char char="•"/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</a:rPr>
              <a:t>$400,001</a:t>
            </a:r>
          </a:p>
        </p:txBody>
      </p:sp>
      <p:sp>
        <p:nvSpPr>
          <p:cNvPr id="32774" name="Rectangle 26"/>
          <p:cNvSpPr>
            <a:spLocks noChangeArrowheads="1"/>
          </p:cNvSpPr>
          <p:nvPr/>
        </p:nvSpPr>
        <p:spPr bwMode="auto">
          <a:xfrm>
            <a:off x="910609" y="3138488"/>
            <a:ext cx="1048366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Char char="–"/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Char char="•"/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</a:rPr>
              <a:t>$400,000</a:t>
            </a:r>
          </a:p>
        </p:txBody>
      </p:sp>
      <p:sp>
        <p:nvSpPr>
          <p:cNvPr id="32775" name="Rectangle 27"/>
          <p:cNvSpPr>
            <a:spLocks noChangeArrowheads="1"/>
          </p:cNvSpPr>
          <p:nvPr/>
        </p:nvSpPr>
        <p:spPr bwMode="auto">
          <a:xfrm>
            <a:off x="943947" y="3952875"/>
            <a:ext cx="1048366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Char char="–"/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Char char="•"/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</a:rPr>
              <a:t>$100,001</a:t>
            </a:r>
          </a:p>
        </p:txBody>
      </p:sp>
      <p:sp>
        <p:nvSpPr>
          <p:cNvPr id="32776" name="Rectangle 28"/>
          <p:cNvSpPr>
            <a:spLocks noChangeArrowheads="1"/>
          </p:cNvSpPr>
          <p:nvPr/>
        </p:nvSpPr>
        <p:spPr bwMode="auto">
          <a:xfrm>
            <a:off x="916895" y="4352925"/>
            <a:ext cx="1048430" cy="951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Char char="–"/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Char char="•"/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</a:rPr>
              <a:t>$100,000</a:t>
            </a:r>
          </a:p>
          <a:p>
            <a:pPr algn="r">
              <a:spcBef>
                <a:spcPct val="0"/>
              </a:spcBef>
              <a:buClrTx/>
              <a:buFontTx/>
              <a:buNone/>
            </a:pPr>
            <a:endParaRPr lang="en-US" altLang="en-US" sz="2000" dirty="0">
              <a:solidFill>
                <a:schemeClr val="bg1"/>
              </a:solidFill>
            </a:endParaRPr>
          </a:p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</a:rPr>
              <a:t>$0</a:t>
            </a:r>
          </a:p>
        </p:txBody>
      </p:sp>
      <p:sp>
        <p:nvSpPr>
          <p:cNvPr id="32777" name="Rectangle 29"/>
          <p:cNvSpPr>
            <a:spLocks noChangeArrowheads="1"/>
          </p:cNvSpPr>
          <p:nvPr/>
        </p:nvSpPr>
        <p:spPr bwMode="auto">
          <a:xfrm>
            <a:off x="1493838" y="5697538"/>
            <a:ext cx="1809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Char char="–"/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Char char="•"/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endParaRPr lang="en-US" altLang="en-US" sz="2000" dirty="0"/>
          </a:p>
        </p:txBody>
      </p:sp>
      <p:sp>
        <p:nvSpPr>
          <p:cNvPr id="32778" name="Line 30"/>
          <p:cNvSpPr>
            <a:spLocks noChangeShapeType="1"/>
          </p:cNvSpPr>
          <p:nvPr/>
        </p:nvSpPr>
        <p:spPr bwMode="auto">
          <a:xfrm>
            <a:off x="937904" y="3105150"/>
            <a:ext cx="99377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32779" name="Line 31"/>
          <p:cNvSpPr>
            <a:spLocks noChangeShapeType="1"/>
          </p:cNvSpPr>
          <p:nvPr/>
        </p:nvSpPr>
        <p:spPr bwMode="auto">
          <a:xfrm>
            <a:off x="942975" y="4303713"/>
            <a:ext cx="99377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32780" name="Line 41"/>
          <p:cNvSpPr>
            <a:spLocks noChangeShapeType="1"/>
          </p:cNvSpPr>
          <p:nvPr/>
        </p:nvSpPr>
        <p:spPr bwMode="auto">
          <a:xfrm>
            <a:off x="6756400" y="5537200"/>
            <a:ext cx="1333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32781" name="Group 42"/>
          <p:cNvGrpSpPr>
            <a:grpSpLocks/>
          </p:cNvGrpSpPr>
          <p:nvPr/>
        </p:nvGrpSpPr>
        <p:grpSpPr bwMode="auto">
          <a:xfrm>
            <a:off x="2233613" y="2035175"/>
            <a:ext cx="3438525" cy="1019175"/>
            <a:chOff x="1521" y="1626"/>
            <a:chExt cx="2731" cy="659"/>
          </a:xfrm>
          <a:gradFill>
            <a:gsLst>
              <a:gs pos="0">
                <a:srgbClr val="FFD85B"/>
              </a:gs>
              <a:gs pos="100000">
                <a:srgbClr val="9CB86E"/>
              </a:gs>
              <a:gs pos="100000">
                <a:srgbClr val="156B13"/>
              </a:gs>
            </a:gsLst>
            <a:lin ang="5400000" scaled="0"/>
          </a:gradFill>
        </p:grpSpPr>
        <p:sp>
          <p:nvSpPr>
            <p:cNvPr id="629803" name="Rectangle 43"/>
            <p:cNvSpPr>
              <a:spLocks noChangeArrowheads="1"/>
            </p:cNvSpPr>
            <p:nvPr/>
          </p:nvSpPr>
          <p:spPr bwMode="auto">
            <a:xfrm>
              <a:off x="1524" y="1626"/>
              <a:ext cx="2728" cy="659"/>
            </a:xfrm>
            <a:prstGeom prst="rect">
              <a:avLst/>
            </a:prstGeom>
            <a:solidFill>
              <a:srgbClr val="FFD85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799" name="Text Box 44"/>
            <p:cNvSpPr txBox="1">
              <a:spLocks noChangeArrowheads="1"/>
            </p:cNvSpPr>
            <p:nvPr/>
          </p:nvSpPr>
          <p:spPr bwMode="auto">
            <a:xfrm>
              <a:off x="1521" y="1801"/>
              <a:ext cx="2719" cy="316"/>
            </a:xfrm>
            <a:prstGeom prst="rect">
              <a:avLst/>
            </a:prstGeom>
            <a:solidFill>
              <a:srgbClr val="FFD85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2700" dir="54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600" dirty="0">
                  <a:solidFill>
                    <a:schemeClr val="bg1"/>
                  </a:solidFill>
                </a:rPr>
                <a:t>Reinsurance</a:t>
              </a:r>
            </a:p>
          </p:txBody>
        </p:sp>
      </p:grpSp>
      <p:grpSp>
        <p:nvGrpSpPr>
          <p:cNvPr id="32782" name="Group 45"/>
          <p:cNvGrpSpPr>
            <a:grpSpLocks/>
          </p:cNvGrpSpPr>
          <p:nvPr/>
        </p:nvGrpSpPr>
        <p:grpSpPr bwMode="auto">
          <a:xfrm>
            <a:off x="2254250" y="3228975"/>
            <a:ext cx="3432175" cy="1019175"/>
            <a:chOff x="1516" y="2362"/>
            <a:chExt cx="2728" cy="659"/>
          </a:xfr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0"/>
          </a:gradFill>
        </p:grpSpPr>
        <p:sp>
          <p:nvSpPr>
            <p:cNvPr id="629806" name="Rectangle 46"/>
            <p:cNvSpPr>
              <a:spLocks noChangeArrowheads="1"/>
            </p:cNvSpPr>
            <p:nvPr/>
          </p:nvSpPr>
          <p:spPr bwMode="auto">
            <a:xfrm>
              <a:off x="1516" y="2362"/>
              <a:ext cx="2728" cy="659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797" name="Text Box 47"/>
            <p:cNvSpPr txBox="1">
              <a:spLocks noChangeArrowheads="1"/>
            </p:cNvSpPr>
            <p:nvPr/>
          </p:nvSpPr>
          <p:spPr bwMode="auto">
            <a:xfrm>
              <a:off x="1521" y="2398"/>
              <a:ext cx="2718" cy="49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2700" dir="54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600" dirty="0">
                  <a:solidFill>
                    <a:schemeClr val="bg1"/>
                  </a:solidFill>
                </a:rPr>
                <a:t>B Fund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dirty="0"/>
                <a:t>(Captive Shock Loss Layer)</a:t>
              </a:r>
            </a:p>
          </p:txBody>
        </p:sp>
      </p:grpSp>
      <p:grpSp>
        <p:nvGrpSpPr>
          <p:cNvPr id="32783" name="Group 32"/>
          <p:cNvGrpSpPr>
            <a:grpSpLocks/>
          </p:cNvGrpSpPr>
          <p:nvPr/>
        </p:nvGrpSpPr>
        <p:grpSpPr bwMode="auto">
          <a:xfrm>
            <a:off x="5524502" y="3365500"/>
            <a:ext cx="2449514" cy="492125"/>
            <a:chOff x="3400" y="2536"/>
            <a:chExt cx="1543" cy="310"/>
          </a:xfrm>
        </p:grpSpPr>
        <p:sp>
          <p:nvSpPr>
            <p:cNvPr id="32793" name="Rectangle 33"/>
            <p:cNvSpPr>
              <a:spLocks noChangeArrowheads="1"/>
            </p:cNvSpPr>
            <p:nvPr/>
          </p:nvSpPr>
          <p:spPr bwMode="auto">
            <a:xfrm>
              <a:off x="4144" y="2536"/>
              <a:ext cx="799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600" dirty="0">
                  <a:solidFill>
                    <a:schemeClr val="bg1"/>
                  </a:solidFill>
                </a:rPr>
                <a:t>$70,000</a:t>
              </a:r>
            </a:p>
          </p:txBody>
        </p:sp>
        <p:sp>
          <p:nvSpPr>
            <p:cNvPr id="32794" name="Oval 34"/>
            <p:cNvSpPr>
              <a:spLocks noChangeArrowheads="1"/>
            </p:cNvSpPr>
            <p:nvPr/>
          </p:nvSpPr>
          <p:spPr bwMode="auto">
            <a:xfrm>
              <a:off x="3400" y="2616"/>
              <a:ext cx="160" cy="16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32795" name="Line 35"/>
            <p:cNvSpPr>
              <a:spLocks noChangeShapeType="1"/>
            </p:cNvSpPr>
            <p:nvPr/>
          </p:nvSpPr>
          <p:spPr bwMode="auto">
            <a:xfrm>
              <a:off x="3472" y="2688"/>
              <a:ext cx="65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2784" name="Group 48"/>
          <p:cNvGrpSpPr>
            <a:grpSpLocks/>
          </p:cNvGrpSpPr>
          <p:nvPr/>
        </p:nvGrpSpPr>
        <p:grpSpPr bwMode="auto">
          <a:xfrm>
            <a:off x="2279650" y="4411663"/>
            <a:ext cx="3432175" cy="1184275"/>
            <a:chOff x="1508" y="3098"/>
            <a:chExt cx="2728" cy="765"/>
          </a:xfr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0"/>
          </a:gradFill>
        </p:grpSpPr>
        <p:sp>
          <p:nvSpPr>
            <p:cNvPr id="32790" name="AutoShape 49"/>
            <p:cNvSpPr>
              <a:spLocks noChangeArrowheads="1"/>
            </p:cNvSpPr>
            <p:nvPr/>
          </p:nvSpPr>
          <p:spPr bwMode="auto">
            <a:xfrm>
              <a:off x="1603" y="3701"/>
              <a:ext cx="2536" cy="162"/>
            </a:xfrm>
            <a:prstGeom prst="roundRect">
              <a:avLst>
                <a:gd name="adj" fmla="val 13611"/>
              </a:avLst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 dirty="0"/>
            </a:p>
          </p:txBody>
        </p:sp>
        <p:sp>
          <p:nvSpPr>
            <p:cNvPr id="629810" name="Rectangle 50"/>
            <p:cNvSpPr>
              <a:spLocks noChangeArrowheads="1"/>
            </p:cNvSpPr>
            <p:nvPr/>
          </p:nvSpPr>
          <p:spPr bwMode="auto">
            <a:xfrm>
              <a:off x="1508" y="3098"/>
              <a:ext cx="2728" cy="659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792" name="Text Box 51"/>
            <p:cNvSpPr txBox="1">
              <a:spLocks noChangeArrowheads="1"/>
            </p:cNvSpPr>
            <p:nvPr/>
          </p:nvSpPr>
          <p:spPr bwMode="auto">
            <a:xfrm>
              <a:off x="1513" y="3137"/>
              <a:ext cx="2718" cy="493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2700" dir="54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600" dirty="0">
                  <a:solidFill>
                    <a:schemeClr val="bg1"/>
                  </a:solidFill>
                </a:rPr>
                <a:t>A Fund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dirty="0"/>
                <a:t>(Captive Frequency Loss Layer)</a:t>
              </a:r>
            </a:p>
          </p:txBody>
        </p:sp>
      </p:grpSp>
      <p:grpSp>
        <p:nvGrpSpPr>
          <p:cNvPr id="32785" name="Group 36"/>
          <p:cNvGrpSpPr>
            <a:grpSpLocks/>
          </p:cNvGrpSpPr>
          <p:nvPr/>
        </p:nvGrpSpPr>
        <p:grpSpPr bwMode="auto">
          <a:xfrm>
            <a:off x="5575304" y="4597400"/>
            <a:ext cx="2533652" cy="492125"/>
            <a:chOff x="3400" y="3272"/>
            <a:chExt cx="1596" cy="310"/>
          </a:xfrm>
        </p:grpSpPr>
        <p:grpSp>
          <p:nvGrpSpPr>
            <p:cNvPr id="32786" name="Group 37"/>
            <p:cNvGrpSpPr>
              <a:grpSpLocks/>
            </p:cNvGrpSpPr>
            <p:nvPr/>
          </p:nvGrpSpPr>
          <p:grpSpPr bwMode="auto">
            <a:xfrm>
              <a:off x="3400" y="3352"/>
              <a:ext cx="640" cy="160"/>
              <a:chOff x="3400" y="3352"/>
              <a:chExt cx="640" cy="160"/>
            </a:xfrm>
          </p:grpSpPr>
          <p:sp>
            <p:nvSpPr>
              <p:cNvPr id="32788" name="Oval 38"/>
              <p:cNvSpPr>
                <a:spLocks noChangeArrowheads="1"/>
              </p:cNvSpPr>
              <p:nvPr/>
            </p:nvSpPr>
            <p:spPr bwMode="auto">
              <a:xfrm>
                <a:off x="3400" y="3352"/>
                <a:ext cx="160" cy="160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30000"/>
                  </a:spcBef>
                  <a:buClr>
                    <a:schemeClr val="hlink"/>
                  </a:buClr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spcBef>
                    <a:spcPct val="3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spcBef>
                    <a:spcPct val="30000"/>
                  </a:spcBef>
                  <a:buChar char="•"/>
                  <a:defRPr sz="22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789" name="Line 39"/>
              <p:cNvSpPr>
                <a:spLocks noChangeShapeType="1"/>
              </p:cNvSpPr>
              <p:nvPr/>
            </p:nvSpPr>
            <p:spPr bwMode="auto">
              <a:xfrm>
                <a:off x="3472" y="3424"/>
                <a:ext cx="568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2787" name="Rectangle 40"/>
            <p:cNvSpPr>
              <a:spLocks noChangeArrowheads="1"/>
            </p:cNvSpPr>
            <p:nvPr/>
          </p:nvSpPr>
          <p:spPr bwMode="auto">
            <a:xfrm>
              <a:off x="4040" y="3272"/>
              <a:ext cx="956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600" dirty="0">
                  <a:solidFill>
                    <a:schemeClr val="bg1"/>
                  </a:solidFill>
                </a:rPr>
                <a:t> $330,000</a:t>
              </a: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05200" y="6407944"/>
            <a:ext cx="5029200" cy="365125"/>
          </a:xfrm>
        </p:spPr>
        <p:txBody>
          <a:bodyPr/>
          <a:lstStyle/>
          <a:p>
            <a:r>
              <a:rPr lang="en-US" sz="800" dirty="0">
                <a:solidFill>
                  <a:schemeClr val="bg1"/>
                </a:solidFill>
              </a:rPr>
              <a:t>Confidential &amp; Privileged Non-Public Information – 2022 EPIC Insurance Brokers &amp; Consultants, Inc.  Use, disclosure, dissemination, distribution or reproduction is not authorized.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>
                <a:solidFill>
                  <a:schemeClr val="bg1"/>
                </a:solidFill>
              </a:rPr>
              <a:t>16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506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Yearly Maximum Premium </a:t>
            </a:r>
          </a:p>
        </p:txBody>
      </p:sp>
      <p:sp>
        <p:nvSpPr>
          <p:cNvPr id="32771" name="Rectangle 13"/>
          <p:cNvSpPr>
            <a:spLocks noChangeArrowheads="1"/>
          </p:cNvSpPr>
          <p:nvPr/>
        </p:nvSpPr>
        <p:spPr bwMode="auto">
          <a:xfrm>
            <a:off x="5334000" y="1289050"/>
            <a:ext cx="31115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Char char="–"/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Char char="•"/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 dirty="0">
              <a:solidFill>
                <a:schemeClr val="accent1"/>
              </a:solidFill>
            </a:endParaRPr>
          </a:p>
        </p:txBody>
      </p:sp>
      <p:sp>
        <p:nvSpPr>
          <p:cNvPr id="32777" name="Rectangle 29"/>
          <p:cNvSpPr>
            <a:spLocks noChangeArrowheads="1"/>
          </p:cNvSpPr>
          <p:nvPr/>
        </p:nvSpPr>
        <p:spPr bwMode="auto">
          <a:xfrm>
            <a:off x="1493838" y="5697538"/>
            <a:ext cx="1809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Char char="–"/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Char char="•"/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endParaRPr lang="en-US" altLang="en-US" sz="2000" dirty="0"/>
          </a:p>
        </p:txBody>
      </p:sp>
      <p:sp>
        <p:nvSpPr>
          <p:cNvPr id="32780" name="Line 41"/>
          <p:cNvSpPr>
            <a:spLocks noChangeShapeType="1"/>
          </p:cNvSpPr>
          <p:nvPr/>
        </p:nvSpPr>
        <p:spPr bwMode="auto">
          <a:xfrm>
            <a:off x="6756400" y="5537200"/>
            <a:ext cx="1333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05200" y="6407944"/>
            <a:ext cx="5029200" cy="365125"/>
          </a:xfrm>
        </p:spPr>
        <p:txBody>
          <a:bodyPr/>
          <a:lstStyle/>
          <a:p>
            <a:r>
              <a:rPr lang="en-US" sz="800" dirty="0">
                <a:solidFill>
                  <a:schemeClr val="bg1"/>
                </a:solidFill>
              </a:rPr>
              <a:t>Confidential &amp; Privileged Non-Public Information - 2022 EPIC </a:t>
            </a:r>
            <a:r>
              <a:rPr lang="en-US" sz="600" dirty="0">
                <a:solidFill>
                  <a:schemeClr val="bg1"/>
                </a:solidFill>
              </a:rPr>
              <a:t>Insurance </a:t>
            </a:r>
            <a:r>
              <a:rPr lang="en-US" sz="800" dirty="0">
                <a:solidFill>
                  <a:schemeClr val="bg1"/>
                </a:solidFill>
              </a:rPr>
              <a:t>Brokers &amp; Consultants, Inc.  Use, disclosure, dissemination, distribution or reproduction is not authorized.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>
                <a:solidFill>
                  <a:schemeClr val="bg1"/>
                </a:solidFill>
              </a:rPr>
              <a:t>17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57200" y="1417638"/>
            <a:ext cx="8382000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sz="2800" b="1" u="sng" dirty="0">
                <a:solidFill>
                  <a:schemeClr val="bg1"/>
                </a:solidFill>
              </a:rPr>
              <a:t>Pay-In Premium</a:t>
            </a:r>
          </a:p>
          <a:p>
            <a:pPr algn="ctr"/>
            <a:endParaRPr lang="en-US" sz="2800" b="1" u="sng" dirty="0">
              <a:solidFill>
                <a:schemeClr val="bg1"/>
              </a:solidFill>
            </a:endParaRPr>
          </a:p>
          <a:p>
            <a:pPr algn="ctr"/>
            <a:r>
              <a:rPr lang="en-US" sz="2800" dirty="0">
                <a:solidFill>
                  <a:schemeClr val="bg1"/>
                </a:solidFill>
              </a:rPr>
              <a:t>A Fund+ B Fund + Fixed Costs</a:t>
            </a:r>
          </a:p>
          <a:p>
            <a:pPr algn="ctr"/>
            <a:endParaRPr lang="en-US" sz="2800" dirty="0">
              <a:solidFill>
                <a:schemeClr val="bg1"/>
              </a:solidFill>
            </a:endParaRPr>
          </a:p>
          <a:p>
            <a:pPr algn="ctr"/>
            <a:endParaRPr lang="en-US" sz="2800" dirty="0">
              <a:solidFill>
                <a:schemeClr val="bg1"/>
              </a:solidFill>
            </a:endParaRPr>
          </a:p>
          <a:p>
            <a:pPr algn="ctr"/>
            <a:r>
              <a:rPr lang="en-US" sz="2800" b="1" u="sng" dirty="0">
                <a:solidFill>
                  <a:srgbClr val="0000FF"/>
                </a:solidFill>
              </a:rPr>
              <a:t>Maximum</a:t>
            </a:r>
            <a:r>
              <a:rPr lang="en-US" sz="2800" b="1" u="sng" dirty="0">
                <a:solidFill>
                  <a:schemeClr val="bg1"/>
                </a:solidFill>
              </a:rPr>
              <a:t> Premium</a:t>
            </a:r>
            <a:endParaRPr lang="en-US" sz="2800" dirty="0">
              <a:solidFill>
                <a:schemeClr val="bg1"/>
              </a:solidFill>
            </a:endParaRPr>
          </a:p>
          <a:p>
            <a:pPr algn="ctr"/>
            <a:endParaRPr lang="en-US" sz="2800" dirty="0">
              <a:solidFill>
                <a:schemeClr val="bg1"/>
              </a:solidFill>
            </a:endParaRPr>
          </a:p>
          <a:p>
            <a:pPr algn="ctr"/>
            <a:r>
              <a:rPr lang="en-US" sz="2800" dirty="0">
                <a:solidFill>
                  <a:schemeClr val="bg1"/>
                </a:solidFill>
              </a:rPr>
              <a:t>A Fund + B Fund + Fixed Costs </a:t>
            </a:r>
          </a:p>
          <a:p>
            <a:pPr algn="ctr"/>
            <a:r>
              <a:rPr lang="en-US" sz="2800" b="1" dirty="0">
                <a:solidFill>
                  <a:srgbClr val="0000FF"/>
                </a:solidFill>
              </a:rPr>
              <a:t>+ one additional A Fund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</a:p>
          <a:p>
            <a:endParaRPr lang="en-US" sz="1600" dirty="0">
              <a:solidFill>
                <a:srgbClr val="0000FF"/>
              </a:solidFill>
            </a:endParaRPr>
          </a:p>
          <a:p>
            <a:endParaRPr lang="en-US" sz="16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968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4594225" y="2209800"/>
            <a:ext cx="3503613" cy="237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endParaRPr lang="en-US" altLang="en-US" sz="2000">
              <a:latin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</a:rPr>
              <a:t>LOSS FORECAST = $400,000</a:t>
            </a:r>
          </a:p>
          <a:p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000" b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A Fund	$330,000</a:t>
            </a:r>
          </a:p>
          <a:p>
            <a:pPr>
              <a:lnSpc>
                <a:spcPct val="15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  B Fund	</a:t>
            </a:r>
            <a:r>
              <a:rPr lang="en-US" altLang="en-US" sz="2000" u="sng">
                <a:solidFill>
                  <a:schemeClr val="tx1"/>
                </a:solidFill>
                <a:latin typeface="Times New Roman" panose="02020603050405020304" pitchFamily="18" charset="0"/>
              </a:rPr>
              <a:t>$  70,000</a:t>
            </a:r>
          </a:p>
          <a:p>
            <a:pPr>
              <a:lnSpc>
                <a:spcPct val="15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  Total		$400,000</a:t>
            </a:r>
            <a:endParaRPr lang="en-US" altLang="en-US" sz="20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1" name="Rectangle 4"/>
          <p:cNvSpPr>
            <a:spLocks noChangeArrowheads="1"/>
          </p:cNvSpPr>
          <p:nvPr/>
        </p:nvSpPr>
        <p:spPr bwMode="auto">
          <a:xfrm>
            <a:off x="0" y="304800"/>
            <a:ext cx="9144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 algn="ctr">
              <a:lnSpc>
                <a:spcPct val="30000"/>
              </a:lnSpc>
              <a:spcBef>
                <a:spcPct val="50000"/>
              </a:spcBef>
            </a:pPr>
            <a:r>
              <a:rPr lang="en-US" altLang="en-US" sz="4500" b="0" i="1">
                <a:solidFill>
                  <a:schemeClr val="tx1"/>
                </a:solidFill>
                <a:latin typeface="Times New Roman" panose="02020603050405020304" pitchFamily="18" charset="0"/>
              </a:rPr>
              <a:t>Sample Member</a:t>
            </a:r>
          </a:p>
        </p:txBody>
      </p:sp>
      <p:sp>
        <p:nvSpPr>
          <p:cNvPr id="17412" name="Line 5"/>
          <p:cNvSpPr>
            <a:spLocks noChangeShapeType="1"/>
          </p:cNvSpPr>
          <p:nvPr/>
        </p:nvSpPr>
        <p:spPr bwMode="auto">
          <a:xfrm>
            <a:off x="762000" y="990600"/>
            <a:ext cx="769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05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grpSp>
        <p:nvGrpSpPr>
          <p:cNvPr id="73751" name="Group 23"/>
          <p:cNvGrpSpPr>
            <a:grpSpLocks/>
          </p:cNvGrpSpPr>
          <p:nvPr/>
        </p:nvGrpSpPr>
        <p:grpSpPr bwMode="auto">
          <a:xfrm>
            <a:off x="1206500" y="2819400"/>
            <a:ext cx="1146175" cy="2679700"/>
            <a:chOff x="748" y="1796"/>
            <a:chExt cx="722" cy="1688"/>
          </a:xfrm>
        </p:grpSpPr>
        <p:sp>
          <p:nvSpPr>
            <p:cNvPr id="17423" name="Rectangle 7"/>
            <p:cNvSpPr>
              <a:spLocks noChangeArrowheads="1"/>
            </p:cNvSpPr>
            <p:nvPr/>
          </p:nvSpPr>
          <p:spPr bwMode="auto">
            <a:xfrm>
              <a:off x="749" y="1796"/>
              <a:ext cx="7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$400,001</a:t>
              </a:r>
            </a:p>
          </p:txBody>
        </p:sp>
        <p:sp>
          <p:nvSpPr>
            <p:cNvPr id="17424" name="Rectangle 8"/>
            <p:cNvSpPr>
              <a:spLocks noChangeArrowheads="1"/>
            </p:cNvSpPr>
            <p:nvPr/>
          </p:nvSpPr>
          <p:spPr bwMode="auto">
            <a:xfrm>
              <a:off x="749" y="2082"/>
              <a:ext cx="7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$400,000</a:t>
              </a:r>
            </a:p>
          </p:txBody>
        </p:sp>
        <p:sp>
          <p:nvSpPr>
            <p:cNvPr id="17425" name="Rectangle 9"/>
            <p:cNvSpPr>
              <a:spLocks noChangeArrowheads="1"/>
            </p:cNvSpPr>
            <p:nvPr/>
          </p:nvSpPr>
          <p:spPr bwMode="auto">
            <a:xfrm>
              <a:off x="754" y="2468"/>
              <a:ext cx="71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$100,001</a:t>
              </a:r>
            </a:p>
          </p:txBody>
        </p:sp>
        <p:sp>
          <p:nvSpPr>
            <p:cNvPr id="17426" name="Rectangle 10"/>
            <p:cNvSpPr>
              <a:spLocks noChangeArrowheads="1"/>
            </p:cNvSpPr>
            <p:nvPr/>
          </p:nvSpPr>
          <p:spPr bwMode="auto">
            <a:xfrm>
              <a:off x="748" y="2756"/>
              <a:ext cx="71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$100,000</a:t>
              </a:r>
            </a:p>
          </p:txBody>
        </p:sp>
        <p:sp>
          <p:nvSpPr>
            <p:cNvPr id="17427" name="Rectangle 11"/>
            <p:cNvSpPr>
              <a:spLocks noChangeArrowheads="1"/>
            </p:cNvSpPr>
            <p:nvPr/>
          </p:nvSpPr>
          <p:spPr bwMode="auto">
            <a:xfrm>
              <a:off x="1056" y="3236"/>
              <a:ext cx="27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$0</a:t>
              </a:r>
            </a:p>
          </p:txBody>
        </p:sp>
        <p:sp>
          <p:nvSpPr>
            <p:cNvPr id="17428" name="Line 12"/>
            <p:cNvSpPr>
              <a:spLocks noChangeShapeType="1"/>
            </p:cNvSpPr>
            <p:nvPr/>
          </p:nvSpPr>
          <p:spPr bwMode="auto">
            <a:xfrm>
              <a:off x="984" y="2039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9" name="Line 13"/>
            <p:cNvSpPr>
              <a:spLocks noChangeShapeType="1"/>
            </p:cNvSpPr>
            <p:nvPr/>
          </p:nvSpPr>
          <p:spPr bwMode="auto">
            <a:xfrm>
              <a:off x="984" y="2706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3742" name="Group 14"/>
          <p:cNvGrpSpPr>
            <a:grpSpLocks/>
          </p:cNvGrpSpPr>
          <p:nvPr/>
        </p:nvGrpSpPr>
        <p:grpSpPr bwMode="auto">
          <a:xfrm>
            <a:off x="2503488" y="4175125"/>
            <a:ext cx="1763712" cy="1462088"/>
            <a:chOff x="1577" y="2630"/>
            <a:chExt cx="1111" cy="921"/>
          </a:xfrm>
        </p:grpSpPr>
        <p:pic>
          <p:nvPicPr>
            <p:cNvPr id="17421" name="Picture 1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7" y="2630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22" name="Text Box 16"/>
            <p:cNvSpPr txBox="1">
              <a:spLocks noChangeAspect="1" noChangeArrowheads="1"/>
            </p:cNvSpPr>
            <p:nvPr/>
          </p:nvSpPr>
          <p:spPr bwMode="auto">
            <a:xfrm>
              <a:off x="1633" y="3072"/>
              <a:ext cx="77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E844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A FUND</a:t>
              </a:r>
            </a:p>
          </p:txBody>
        </p:sp>
      </p:grpSp>
      <p:grpSp>
        <p:nvGrpSpPr>
          <p:cNvPr id="73745" name="Group 17"/>
          <p:cNvGrpSpPr>
            <a:grpSpLocks/>
          </p:cNvGrpSpPr>
          <p:nvPr/>
        </p:nvGrpSpPr>
        <p:grpSpPr bwMode="auto">
          <a:xfrm>
            <a:off x="2503488" y="2940050"/>
            <a:ext cx="1763712" cy="1462088"/>
            <a:chOff x="1577" y="1852"/>
            <a:chExt cx="1111" cy="921"/>
          </a:xfrm>
        </p:grpSpPr>
        <p:pic>
          <p:nvPicPr>
            <p:cNvPr id="17419" name="Picture 1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7" y="1852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20" name="Text Box 19"/>
            <p:cNvSpPr txBox="1">
              <a:spLocks noChangeAspect="1" noChangeArrowheads="1"/>
            </p:cNvSpPr>
            <p:nvPr/>
          </p:nvSpPr>
          <p:spPr bwMode="auto">
            <a:xfrm>
              <a:off x="1633" y="2294"/>
              <a:ext cx="7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E844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B FUND</a:t>
              </a:r>
            </a:p>
          </p:txBody>
        </p:sp>
      </p:grpSp>
      <p:grpSp>
        <p:nvGrpSpPr>
          <p:cNvPr id="73748" name="Group 20"/>
          <p:cNvGrpSpPr>
            <a:grpSpLocks/>
          </p:cNvGrpSpPr>
          <p:nvPr/>
        </p:nvGrpSpPr>
        <p:grpSpPr bwMode="auto">
          <a:xfrm>
            <a:off x="2503488" y="1704975"/>
            <a:ext cx="1763712" cy="1462088"/>
            <a:chOff x="1577" y="1074"/>
            <a:chExt cx="1111" cy="921"/>
          </a:xfrm>
        </p:grpSpPr>
        <p:pic>
          <p:nvPicPr>
            <p:cNvPr id="17417" name="Picture 2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7" y="1074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18" name="Text Box 22"/>
            <p:cNvSpPr txBox="1">
              <a:spLocks noChangeAspect="1" noChangeArrowheads="1"/>
            </p:cNvSpPr>
            <p:nvPr/>
          </p:nvSpPr>
          <p:spPr bwMode="auto">
            <a:xfrm>
              <a:off x="1633" y="1515"/>
              <a:ext cx="77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E844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Reins.</a:t>
              </a: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67891" y="6278585"/>
            <a:ext cx="5181600" cy="365125"/>
          </a:xfrm>
        </p:spPr>
        <p:txBody>
          <a:bodyPr/>
          <a:lstStyle/>
          <a:p>
            <a:r>
              <a:rPr lang="en-US" sz="800" dirty="0"/>
              <a:t>Confidential &amp; Privileged Non-Public Information - 2022 EPIC Insurance Brokers &amp; Consultants, Inc.  Use, disclosure, dissemination, distribution or reproduction is not authorized.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024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7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3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3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3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0" y="304800"/>
            <a:ext cx="9144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 algn="ctr">
              <a:lnSpc>
                <a:spcPct val="30000"/>
              </a:lnSpc>
              <a:spcBef>
                <a:spcPct val="50000"/>
              </a:spcBef>
            </a:pPr>
            <a:r>
              <a:rPr lang="en-US" altLang="en-US" sz="4500" b="0" i="1">
                <a:solidFill>
                  <a:schemeClr val="tx1"/>
                </a:solidFill>
                <a:latin typeface="Times New Roman" panose="02020603050405020304" pitchFamily="18" charset="0"/>
              </a:rPr>
              <a:t>Loss Example #1</a:t>
            </a:r>
          </a:p>
        </p:txBody>
      </p:sp>
      <p:sp>
        <p:nvSpPr>
          <p:cNvPr id="18435" name="Line 4"/>
          <p:cNvSpPr>
            <a:spLocks noChangeShapeType="1"/>
          </p:cNvSpPr>
          <p:nvPr/>
        </p:nvSpPr>
        <p:spPr bwMode="auto">
          <a:xfrm>
            <a:off x="762000" y="990600"/>
            <a:ext cx="769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05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75781" name="Rectangle 5"/>
          <p:cNvSpPr>
            <a:spLocks noChangeArrowheads="1"/>
          </p:cNvSpPr>
          <p:nvPr/>
        </p:nvSpPr>
        <p:spPr bwMode="auto">
          <a:xfrm>
            <a:off x="3962400" y="1600200"/>
            <a:ext cx="494665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$215,000 of Total Claims less than $100,000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75782" name="Rectangle 6"/>
          <p:cNvSpPr>
            <a:spLocks noChangeArrowheads="1"/>
          </p:cNvSpPr>
          <p:nvPr/>
        </p:nvSpPr>
        <p:spPr bwMode="auto">
          <a:xfrm>
            <a:off x="4043363" y="2403475"/>
            <a:ext cx="3759200" cy="292100"/>
          </a:xfrm>
          <a:prstGeom prst="rect">
            <a:avLst/>
          </a:prstGeom>
          <a:solidFill>
            <a:schemeClr val="bg1"/>
          </a:solidFill>
          <a:ln w="12700">
            <a:solidFill>
              <a:srgbClr val="8C613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2000">
                <a:latin typeface="Times New Roman" panose="02020603050405020304" pitchFamily="18" charset="0"/>
              </a:rPr>
              <a:t>B Fund Accounting</a:t>
            </a:r>
          </a:p>
        </p:txBody>
      </p:sp>
      <p:sp>
        <p:nvSpPr>
          <p:cNvPr id="75783" name="Rectangle 7"/>
          <p:cNvSpPr>
            <a:spLocks noChangeArrowheads="1"/>
          </p:cNvSpPr>
          <p:nvPr/>
        </p:nvSpPr>
        <p:spPr bwMode="auto">
          <a:xfrm>
            <a:off x="4038600" y="3962400"/>
            <a:ext cx="3759200" cy="292100"/>
          </a:xfrm>
          <a:prstGeom prst="rect">
            <a:avLst/>
          </a:prstGeom>
          <a:solidFill>
            <a:schemeClr val="bg1"/>
          </a:solidFill>
          <a:ln w="12700">
            <a:solidFill>
              <a:srgbClr val="8C613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2000">
                <a:latin typeface="Times New Roman" panose="02020603050405020304" pitchFamily="18" charset="0"/>
              </a:rPr>
              <a:t>A Fund Accounting</a:t>
            </a:r>
          </a:p>
        </p:txBody>
      </p:sp>
      <p:sp>
        <p:nvSpPr>
          <p:cNvPr id="75784" name="Rectangle 8"/>
          <p:cNvSpPr>
            <a:spLocks noChangeArrowheads="1"/>
          </p:cNvSpPr>
          <p:nvPr/>
        </p:nvSpPr>
        <p:spPr bwMode="auto">
          <a:xfrm>
            <a:off x="3962400" y="2844800"/>
            <a:ext cx="3221038" cy="423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  70,000 Beginning Balance</a:t>
            </a:r>
          </a:p>
        </p:txBody>
      </p:sp>
      <p:sp>
        <p:nvSpPr>
          <p:cNvPr id="75785" name="Rectangle 9"/>
          <p:cNvSpPr>
            <a:spLocks noChangeArrowheads="1"/>
          </p:cNvSpPr>
          <p:nvPr/>
        </p:nvSpPr>
        <p:spPr bwMode="auto">
          <a:xfrm>
            <a:off x="3962400" y="4448175"/>
            <a:ext cx="4635500" cy="142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$330,000 Beginning Balance</a:t>
            </a:r>
          </a:p>
          <a:p>
            <a:pPr>
              <a:lnSpc>
                <a:spcPct val="110000"/>
              </a:lnSpc>
            </a:pPr>
            <a:r>
              <a:rPr lang="en-US" altLang="en-US" sz="2000" u="sng">
                <a:latin typeface="Times New Roman" panose="02020603050405020304" pitchFamily="18" charset="0"/>
              </a:rPr>
              <a:t>- 215,000</a:t>
            </a:r>
            <a:r>
              <a:rPr lang="en-US" altLang="en-US" sz="2000">
                <a:latin typeface="Times New Roman" panose="02020603050405020304" pitchFamily="18" charset="0"/>
              </a:rPr>
              <a:t> Total Claims less than $100,000</a:t>
            </a:r>
          </a:p>
          <a:p>
            <a:pPr>
              <a:lnSpc>
                <a:spcPct val="11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$115,000 Remaining Balance</a:t>
            </a:r>
          </a:p>
          <a:p>
            <a:pPr eaLnBrk="1">
              <a:lnSpc>
                <a:spcPct val="110000"/>
              </a:lnSpc>
            </a:pPr>
            <a:endParaRPr lang="en-US" altLang="en-US" sz="20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5803" name="Group 27"/>
          <p:cNvGrpSpPr>
            <a:grpSpLocks/>
          </p:cNvGrpSpPr>
          <p:nvPr/>
        </p:nvGrpSpPr>
        <p:grpSpPr bwMode="auto">
          <a:xfrm>
            <a:off x="730250" y="2851150"/>
            <a:ext cx="1146175" cy="2679700"/>
            <a:chOff x="460" y="1796"/>
            <a:chExt cx="722" cy="1688"/>
          </a:xfrm>
        </p:grpSpPr>
        <p:sp>
          <p:nvSpPr>
            <p:cNvPr id="18451" name="Rectangle 11"/>
            <p:cNvSpPr>
              <a:spLocks noChangeArrowheads="1"/>
            </p:cNvSpPr>
            <p:nvPr/>
          </p:nvSpPr>
          <p:spPr bwMode="auto">
            <a:xfrm>
              <a:off x="461" y="1796"/>
              <a:ext cx="7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$400,001</a:t>
              </a:r>
            </a:p>
          </p:txBody>
        </p:sp>
        <p:sp>
          <p:nvSpPr>
            <p:cNvPr id="18452" name="Rectangle 12"/>
            <p:cNvSpPr>
              <a:spLocks noChangeArrowheads="1"/>
            </p:cNvSpPr>
            <p:nvPr/>
          </p:nvSpPr>
          <p:spPr bwMode="auto">
            <a:xfrm>
              <a:off x="461" y="2082"/>
              <a:ext cx="7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$400,000</a:t>
              </a:r>
            </a:p>
          </p:txBody>
        </p:sp>
        <p:sp>
          <p:nvSpPr>
            <p:cNvPr id="18453" name="Rectangle 13"/>
            <p:cNvSpPr>
              <a:spLocks noChangeArrowheads="1"/>
            </p:cNvSpPr>
            <p:nvPr/>
          </p:nvSpPr>
          <p:spPr bwMode="auto">
            <a:xfrm>
              <a:off x="466" y="2468"/>
              <a:ext cx="71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$100,001</a:t>
              </a:r>
            </a:p>
          </p:txBody>
        </p:sp>
        <p:sp>
          <p:nvSpPr>
            <p:cNvPr id="18454" name="Rectangle 14"/>
            <p:cNvSpPr>
              <a:spLocks noChangeArrowheads="1"/>
            </p:cNvSpPr>
            <p:nvPr/>
          </p:nvSpPr>
          <p:spPr bwMode="auto">
            <a:xfrm>
              <a:off x="460" y="2756"/>
              <a:ext cx="71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$100,000</a:t>
              </a:r>
            </a:p>
          </p:txBody>
        </p:sp>
        <p:sp>
          <p:nvSpPr>
            <p:cNvPr id="18455" name="Rectangle 15"/>
            <p:cNvSpPr>
              <a:spLocks noChangeArrowheads="1"/>
            </p:cNvSpPr>
            <p:nvPr/>
          </p:nvSpPr>
          <p:spPr bwMode="auto">
            <a:xfrm>
              <a:off x="768" y="3236"/>
              <a:ext cx="27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$0</a:t>
              </a:r>
            </a:p>
          </p:txBody>
        </p:sp>
        <p:sp>
          <p:nvSpPr>
            <p:cNvPr id="18456" name="Line 16"/>
            <p:cNvSpPr>
              <a:spLocks noChangeShapeType="1"/>
            </p:cNvSpPr>
            <p:nvPr/>
          </p:nvSpPr>
          <p:spPr bwMode="auto">
            <a:xfrm>
              <a:off x="696" y="2039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7" name="Line 17"/>
            <p:cNvSpPr>
              <a:spLocks noChangeShapeType="1"/>
            </p:cNvSpPr>
            <p:nvPr/>
          </p:nvSpPr>
          <p:spPr bwMode="auto">
            <a:xfrm>
              <a:off x="696" y="2706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5794" name="Group 18"/>
          <p:cNvGrpSpPr>
            <a:grpSpLocks/>
          </p:cNvGrpSpPr>
          <p:nvPr/>
        </p:nvGrpSpPr>
        <p:grpSpPr bwMode="auto">
          <a:xfrm>
            <a:off x="2046288" y="4175125"/>
            <a:ext cx="1763712" cy="1462088"/>
            <a:chOff x="1289" y="2630"/>
            <a:chExt cx="1111" cy="921"/>
          </a:xfrm>
        </p:grpSpPr>
        <p:pic>
          <p:nvPicPr>
            <p:cNvPr id="18449" name="Picture 1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9" y="2630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50" name="Text Box 20"/>
            <p:cNvSpPr txBox="1">
              <a:spLocks noChangeAspect="1" noChangeArrowheads="1"/>
            </p:cNvSpPr>
            <p:nvPr/>
          </p:nvSpPr>
          <p:spPr bwMode="auto">
            <a:xfrm>
              <a:off x="1345" y="3072"/>
              <a:ext cx="77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E844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A FUND</a:t>
              </a:r>
            </a:p>
          </p:txBody>
        </p:sp>
      </p:grpSp>
      <p:grpSp>
        <p:nvGrpSpPr>
          <p:cNvPr id="75797" name="Group 21"/>
          <p:cNvGrpSpPr>
            <a:grpSpLocks/>
          </p:cNvGrpSpPr>
          <p:nvPr/>
        </p:nvGrpSpPr>
        <p:grpSpPr bwMode="auto">
          <a:xfrm>
            <a:off x="2046288" y="2940050"/>
            <a:ext cx="1763712" cy="1462088"/>
            <a:chOff x="1289" y="1852"/>
            <a:chExt cx="1111" cy="921"/>
          </a:xfrm>
        </p:grpSpPr>
        <p:pic>
          <p:nvPicPr>
            <p:cNvPr id="18447" name="Picture 2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9" y="1852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8" name="Text Box 23"/>
            <p:cNvSpPr txBox="1">
              <a:spLocks noChangeAspect="1" noChangeArrowheads="1"/>
            </p:cNvSpPr>
            <p:nvPr/>
          </p:nvSpPr>
          <p:spPr bwMode="auto">
            <a:xfrm>
              <a:off x="1345" y="2294"/>
              <a:ext cx="7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E844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B FUND</a:t>
              </a:r>
            </a:p>
          </p:txBody>
        </p:sp>
      </p:grpSp>
      <p:grpSp>
        <p:nvGrpSpPr>
          <p:cNvPr id="75800" name="Group 24"/>
          <p:cNvGrpSpPr>
            <a:grpSpLocks/>
          </p:cNvGrpSpPr>
          <p:nvPr/>
        </p:nvGrpSpPr>
        <p:grpSpPr bwMode="auto">
          <a:xfrm>
            <a:off x="2046288" y="1704975"/>
            <a:ext cx="1763712" cy="1462088"/>
            <a:chOff x="1289" y="1074"/>
            <a:chExt cx="1111" cy="921"/>
          </a:xfrm>
        </p:grpSpPr>
        <p:pic>
          <p:nvPicPr>
            <p:cNvPr id="18445" name="Picture 2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9" y="1074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6" name="Text Box 26"/>
            <p:cNvSpPr txBox="1">
              <a:spLocks noChangeAspect="1" noChangeArrowheads="1"/>
            </p:cNvSpPr>
            <p:nvPr/>
          </p:nvSpPr>
          <p:spPr bwMode="auto">
            <a:xfrm>
              <a:off x="1345" y="1515"/>
              <a:ext cx="77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E844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Reins.</a:t>
              </a: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29000" y="6407944"/>
            <a:ext cx="5029200" cy="365125"/>
          </a:xfrm>
        </p:spPr>
        <p:txBody>
          <a:bodyPr/>
          <a:lstStyle/>
          <a:p>
            <a:r>
              <a:rPr lang="en-US" sz="800" dirty="0"/>
              <a:t>Confidential &amp; Privileged Non-Public Information - 2022 EPIC Insurance Brokers &amp; Consultants, Inc.  Use, disclosure, dissemination, distribution or reproduction is not authorized.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817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5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5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5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5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7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75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1" grpId="0" autoUpdateAnimBg="0"/>
      <p:bldP spid="75782" grpId="0" animBg="1" autoUpdateAnimBg="0"/>
      <p:bldP spid="75783" grpId="0" animBg="1" autoUpdateAnimBg="0"/>
      <p:bldP spid="75784" grpId="0" autoUpdateAnimBg="0"/>
      <p:bldP spid="75785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ChangeArrowheads="1"/>
          </p:cNvSpPr>
          <p:nvPr/>
        </p:nvSpPr>
        <p:spPr bwMode="auto">
          <a:xfrm>
            <a:off x="0" y="304800"/>
            <a:ext cx="9144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 algn="ctr">
              <a:lnSpc>
                <a:spcPct val="30000"/>
              </a:lnSpc>
              <a:spcBef>
                <a:spcPct val="50000"/>
              </a:spcBef>
            </a:pPr>
            <a:r>
              <a:rPr lang="en-US" altLang="en-US" sz="4500" b="0" i="1">
                <a:solidFill>
                  <a:schemeClr val="tx1"/>
                </a:solidFill>
                <a:latin typeface="Times New Roman" panose="02020603050405020304" pitchFamily="18" charset="0"/>
              </a:rPr>
              <a:t>Loss Example #2</a:t>
            </a:r>
          </a:p>
        </p:txBody>
      </p:sp>
      <p:sp>
        <p:nvSpPr>
          <p:cNvPr id="19459" name="Line 4"/>
          <p:cNvSpPr>
            <a:spLocks noChangeShapeType="1"/>
          </p:cNvSpPr>
          <p:nvPr/>
        </p:nvSpPr>
        <p:spPr bwMode="auto">
          <a:xfrm>
            <a:off x="762000" y="990600"/>
            <a:ext cx="769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05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77831" name="Rectangle 7"/>
          <p:cNvSpPr>
            <a:spLocks noChangeArrowheads="1"/>
          </p:cNvSpPr>
          <p:nvPr/>
        </p:nvSpPr>
        <p:spPr bwMode="auto">
          <a:xfrm>
            <a:off x="3357563" y="3990975"/>
            <a:ext cx="3759200" cy="292100"/>
          </a:xfrm>
          <a:prstGeom prst="rect">
            <a:avLst/>
          </a:prstGeom>
          <a:solidFill>
            <a:schemeClr val="bg1"/>
          </a:solidFill>
          <a:ln w="12700">
            <a:solidFill>
              <a:srgbClr val="8C613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2000">
                <a:latin typeface="Times New Roman" panose="02020603050405020304" pitchFamily="18" charset="0"/>
              </a:rPr>
              <a:t>A Fund Accounting</a:t>
            </a:r>
          </a:p>
        </p:txBody>
      </p:sp>
      <p:sp>
        <p:nvSpPr>
          <p:cNvPr id="77832" name="Rectangle 8"/>
          <p:cNvSpPr>
            <a:spLocks noChangeArrowheads="1"/>
          </p:cNvSpPr>
          <p:nvPr/>
        </p:nvSpPr>
        <p:spPr bwMode="auto">
          <a:xfrm>
            <a:off x="3276600" y="2844800"/>
            <a:ext cx="3221038" cy="423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  70,000 Beginning Balance</a:t>
            </a:r>
          </a:p>
        </p:txBody>
      </p:sp>
      <p:sp>
        <p:nvSpPr>
          <p:cNvPr id="77833" name="Rectangle 9"/>
          <p:cNvSpPr>
            <a:spLocks noChangeArrowheads="1"/>
          </p:cNvSpPr>
          <p:nvPr/>
        </p:nvSpPr>
        <p:spPr bwMode="auto">
          <a:xfrm>
            <a:off x="3276600" y="4448175"/>
            <a:ext cx="4819650" cy="144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$330,000 Beginning Balance</a:t>
            </a:r>
            <a:endParaRPr lang="en-US" altLang="en-US" sz="2000"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- 215,000 Total Claims Less than $100,000</a:t>
            </a:r>
          </a:p>
          <a:p>
            <a:pPr>
              <a:lnSpc>
                <a:spcPct val="110000"/>
              </a:lnSpc>
            </a:pPr>
            <a:r>
              <a:rPr lang="en-US" altLang="en-US" sz="2000" u="sng">
                <a:latin typeface="Times New Roman" panose="02020603050405020304" pitchFamily="18" charset="0"/>
              </a:rPr>
              <a:t>- 100,000</a:t>
            </a:r>
            <a:r>
              <a:rPr lang="en-US" altLang="en-US" sz="2000">
                <a:latin typeface="Times New Roman" panose="02020603050405020304" pitchFamily="18" charset="0"/>
              </a:rPr>
              <a:t> 1st $100,000 of Catastrophe Loss</a:t>
            </a:r>
          </a:p>
          <a:p>
            <a:pPr>
              <a:lnSpc>
                <a:spcPct val="11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$  15,000 New Balance</a:t>
            </a:r>
            <a:endParaRPr lang="en-US" altLang="en-US" sz="2000" i="1">
              <a:latin typeface="Times New Roman" panose="02020603050405020304" pitchFamily="18" charset="0"/>
            </a:endParaRPr>
          </a:p>
        </p:txBody>
      </p:sp>
      <p:grpSp>
        <p:nvGrpSpPr>
          <p:cNvPr id="77851" name="Group 27"/>
          <p:cNvGrpSpPr>
            <a:grpSpLocks/>
          </p:cNvGrpSpPr>
          <p:nvPr/>
        </p:nvGrpSpPr>
        <p:grpSpPr bwMode="auto">
          <a:xfrm>
            <a:off x="44450" y="2851150"/>
            <a:ext cx="1146175" cy="2679700"/>
            <a:chOff x="28" y="1796"/>
            <a:chExt cx="722" cy="1688"/>
          </a:xfrm>
        </p:grpSpPr>
        <p:sp>
          <p:nvSpPr>
            <p:cNvPr id="19475" name="Rectangle 11"/>
            <p:cNvSpPr>
              <a:spLocks noChangeArrowheads="1"/>
            </p:cNvSpPr>
            <p:nvPr/>
          </p:nvSpPr>
          <p:spPr bwMode="auto">
            <a:xfrm>
              <a:off x="29" y="1796"/>
              <a:ext cx="7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$400,001</a:t>
              </a:r>
            </a:p>
          </p:txBody>
        </p:sp>
        <p:sp>
          <p:nvSpPr>
            <p:cNvPr id="19476" name="Rectangle 12"/>
            <p:cNvSpPr>
              <a:spLocks noChangeArrowheads="1"/>
            </p:cNvSpPr>
            <p:nvPr/>
          </p:nvSpPr>
          <p:spPr bwMode="auto">
            <a:xfrm>
              <a:off x="29" y="2082"/>
              <a:ext cx="7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$400,000</a:t>
              </a:r>
            </a:p>
          </p:txBody>
        </p:sp>
        <p:sp>
          <p:nvSpPr>
            <p:cNvPr id="19477" name="Rectangle 13"/>
            <p:cNvSpPr>
              <a:spLocks noChangeArrowheads="1"/>
            </p:cNvSpPr>
            <p:nvPr/>
          </p:nvSpPr>
          <p:spPr bwMode="auto">
            <a:xfrm>
              <a:off x="34" y="2468"/>
              <a:ext cx="71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$100,001</a:t>
              </a:r>
            </a:p>
          </p:txBody>
        </p:sp>
        <p:sp>
          <p:nvSpPr>
            <p:cNvPr id="19478" name="Rectangle 14"/>
            <p:cNvSpPr>
              <a:spLocks noChangeArrowheads="1"/>
            </p:cNvSpPr>
            <p:nvPr/>
          </p:nvSpPr>
          <p:spPr bwMode="auto">
            <a:xfrm>
              <a:off x="28" y="2756"/>
              <a:ext cx="71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$100,000</a:t>
              </a:r>
            </a:p>
          </p:txBody>
        </p:sp>
        <p:sp>
          <p:nvSpPr>
            <p:cNvPr id="19479" name="Rectangle 15"/>
            <p:cNvSpPr>
              <a:spLocks noChangeArrowheads="1"/>
            </p:cNvSpPr>
            <p:nvPr/>
          </p:nvSpPr>
          <p:spPr bwMode="auto">
            <a:xfrm>
              <a:off x="336" y="3236"/>
              <a:ext cx="27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$0</a:t>
              </a:r>
            </a:p>
          </p:txBody>
        </p:sp>
        <p:sp>
          <p:nvSpPr>
            <p:cNvPr id="19480" name="Line 16"/>
            <p:cNvSpPr>
              <a:spLocks noChangeShapeType="1"/>
            </p:cNvSpPr>
            <p:nvPr/>
          </p:nvSpPr>
          <p:spPr bwMode="auto">
            <a:xfrm>
              <a:off x="264" y="2039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1" name="Line 17"/>
            <p:cNvSpPr>
              <a:spLocks noChangeShapeType="1"/>
            </p:cNvSpPr>
            <p:nvPr/>
          </p:nvSpPr>
          <p:spPr bwMode="auto">
            <a:xfrm>
              <a:off x="264" y="2706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7842" name="Group 18"/>
          <p:cNvGrpSpPr>
            <a:grpSpLocks/>
          </p:cNvGrpSpPr>
          <p:nvPr/>
        </p:nvGrpSpPr>
        <p:grpSpPr bwMode="auto">
          <a:xfrm>
            <a:off x="1360488" y="4175125"/>
            <a:ext cx="1763712" cy="1462088"/>
            <a:chOff x="857" y="2630"/>
            <a:chExt cx="1111" cy="921"/>
          </a:xfrm>
        </p:grpSpPr>
        <p:pic>
          <p:nvPicPr>
            <p:cNvPr id="19473" name="Picture 1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" y="2630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74" name="Text Box 20"/>
            <p:cNvSpPr txBox="1">
              <a:spLocks noChangeAspect="1" noChangeArrowheads="1"/>
            </p:cNvSpPr>
            <p:nvPr/>
          </p:nvSpPr>
          <p:spPr bwMode="auto">
            <a:xfrm>
              <a:off x="913" y="3072"/>
              <a:ext cx="77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E844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A FUND</a:t>
              </a:r>
            </a:p>
          </p:txBody>
        </p:sp>
      </p:grpSp>
      <p:grpSp>
        <p:nvGrpSpPr>
          <p:cNvPr id="77845" name="Group 21"/>
          <p:cNvGrpSpPr>
            <a:grpSpLocks/>
          </p:cNvGrpSpPr>
          <p:nvPr/>
        </p:nvGrpSpPr>
        <p:grpSpPr bwMode="auto">
          <a:xfrm>
            <a:off x="1360488" y="2940050"/>
            <a:ext cx="1763712" cy="1462088"/>
            <a:chOff x="857" y="1852"/>
            <a:chExt cx="1111" cy="921"/>
          </a:xfrm>
        </p:grpSpPr>
        <p:pic>
          <p:nvPicPr>
            <p:cNvPr id="19471" name="Picture 2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" y="1852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72" name="Text Box 23"/>
            <p:cNvSpPr txBox="1">
              <a:spLocks noChangeAspect="1" noChangeArrowheads="1"/>
            </p:cNvSpPr>
            <p:nvPr/>
          </p:nvSpPr>
          <p:spPr bwMode="auto">
            <a:xfrm>
              <a:off x="913" y="2294"/>
              <a:ext cx="7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E844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B FUND</a:t>
              </a:r>
            </a:p>
          </p:txBody>
        </p:sp>
      </p:grpSp>
      <p:grpSp>
        <p:nvGrpSpPr>
          <p:cNvPr id="77848" name="Group 24"/>
          <p:cNvGrpSpPr>
            <a:grpSpLocks/>
          </p:cNvGrpSpPr>
          <p:nvPr/>
        </p:nvGrpSpPr>
        <p:grpSpPr bwMode="auto">
          <a:xfrm>
            <a:off x="1360488" y="1704975"/>
            <a:ext cx="1763712" cy="1462088"/>
            <a:chOff x="857" y="1074"/>
            <a:chExt cx="1111" cy="921"/>
          </a:xfrm>
        </p:grpSpPr>
        <p:pic>
          <p:nvPicPr>
            <p:cNvPr id="19469" name="Picture 2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" y="1074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70" name="Text Box 26"/>
            <p:cNvSpPr txBox="1">
              <a:spLocks noChangeAspect="1" noChangeArrowheads="1"/>
            </p:cNvSpPr>
            <p:nvPr/>
          </p:nvSpPr>
          <p:spPr bwMode="auto">
            <a:xfrm>
              <a:off x="913" y="1515"/>
              <a:ext cx="77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E844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Reins.</a:t>
              </a:r>
            </a:p>
          </p:txBody>
        </p:sp>
      </p:grpSp>
      <p:sp>
        <p:nvSpPr>
          <p:cNvPr id="77860" name="Rectangle 36"/>
          <p:cNvSpPr>
            <a:spLocks noChangeArrowheads="1"/>
          </p:cNvSpPr>
          <p:nvPr/>
        </p:nvSpPr>
        <p:spPr bwMode="auto">
          <a:xfrm>
            <a:off x="3276600" y="1600200"/>
            <a:ext cx="4953000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$215,000 of Total Claims less than $100,000 </a:t>
            </a:r>
          </a:p>
          <a:p>
            <a:r>
              <a:rPr lang="en-US" altLang="en-US" sz="2000">
                <a:latin typeface="Times New Roman" panose="02020603050405020304" pitchFamily="18" charset="0"/>
              </a:rPr>
              <a:t>and a $1,000,000 Catastrophe Claim.</a:t>
            </a:r>
          </a:p>
        </p:txBody>
      </p:sp>
      <p:sp>
        <p:nvSpPr>
          <p:cNvPr id="77861" name="Rectangle 37"/>
          <p:cNvSpPr>
            <a:spLocks noChangeArrowheads="1"/>
          </p:cNvSpPr>
          <p:nvPr/>
        </p:nvSpPr>
        <p:spPr bwMode="auto">
          <a:xfrm>
            <a:off x="3357563" y="2403475"/>
            <a:ext cx="3759200" cy="292100"/>
          </a:xfrm>
          <a:prstGeom prst="rect">
            <a:avLst/>
          </a:prstGeom>
          <a:solidFill>
            <a:schemeClr val="bg1"/>
          </a:solidFill>
          <a:ln w="12700">
            <a:solidFill>
              <a:srgbClr val="8C613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2000">
                <a:latin typeface="Times New Roman" panose="02020603050405020304" pitchFamily="18" charset="0"/>
              </a:rPr>
              <a:t>B Fund Accounting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0" y="6407944"/>
            <a:ext cx="4953000" cy="365125"/>
          </a:xfrm>
        </p:spPr>
        <p:txBody>
          <a:bodyPr/>
          <a:lstStyle/>
          <a:p>
            <a:r>
              <a:rPr lang="en-US" sz="800" dirty="0"/>
              <a:t>Confidential &amp; Privileged Non-Public Information - 2022 EPIC Insurance Brokers &amp; Consultants, Inc.  Use, disclosure, dissemination, distribution or reproduction is not authorized.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363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7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7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7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7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77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77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31" grpId="0" animBg="1" autoUpdateAnimBg="0"/>
      <p:bldP spid="77832" grpId="0" autoUpdateAnimBg="0"/>
      <p:bldP spid="77833" grpId="0" autoUpdateAnimBg="0"/>
      <p:bldP spid="77860" grpId="0" autoUpdateAnimBg="0"/>
      <p:bldP spid="77861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ChangeArrowheads="1"/>
          </p:cNvSpPr>
          <p:nvPr/>
        </p:nvSpPr>
        <p:spPr bwMode="auto">
          <a:xfrm>
            <a:off x="0" y="304800"/>
            <a:ext cx="9144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 algn="ctr">
              <a:lnSpc>
                <a:spcPct val="30000"/>
              </a:lnSpc>
              <a:spcBef>
                <a:spcPct val="50000"/>
              </a:spcBef>
            </a:pPr>
            <a:r>
              <a:rPr lang="en-US" altLang="en-US" sz="4500" b="0" i="1">
                <a:solidFill>
                  <a:schemeClr val="tx1"/>
                </a:solidFill>
                <a:latin typeface="Times New Roman" panose="02020603050405020304" pitchFamily="18" charset="0"/>
              </a:rPr>
              <a:t>Loss Example #2</a:t>
            </a:r>
          </a:p>
        </p:txBody>
      </p:sp>
      <p:sp>
        <p:nvSpPr>
          <p:cNvPr id="20483" name="Line 4"/>
          <p:cNvSpPr>
            <a:spLocks noChangeShapeType="1"/>
          </p:cNvSpPr>
          <p:nvPr/>
        </p:nvSpPr>
        <p:spPr bwMode="auto">
          <a:xfrm>
            <a:off x="762000" y="990600"/>
            <a:ext cx="769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05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20484" name="Rectangle 5"/>
          <p:cNvSpPr>
            <a:spLocks noChangeArrowheads="1"/>
          </p:cNvSpPr>
          <p:nvPr/>
        </p:nvSpPr>
        <p:spPr bwMode="auto">
          <a:xfrm>
            <a:off x="3276600" y="1600200"/>
            <a:ext cx="4953000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$215,000 of Total Claims less than $100,000 </a:t>
            </a:r>
          </a:p>
          <a:p>
            <a:r>
              <a:rPr lang="en-US" altLang="en-US" sz="2000">
                <a:latin typeface="Times New Roman" panose="02020603050405020304" pitchFamily="18" charset="0"/>
              </a:rPr>
              <a:t>and a $1,000,000 Catastrophe Claim.</a:t>
            </a:r>
          </a:p>
        </p:txBody>
      </p:sp>
      <p:sp>
        <p:nvSpPr>
          <p:cNvPr id="20485" name="Rectangle 7"/>
          <p:cNvSpPr>
            <a:spLocks noChangeArrowheads="1"/>
          </p:cNvSpPr>
          <p:nvPr/>
        </p:nvSpPr>
        <p:spPr bwMode="auto">
          <a:xfrm>
            <a:off x="3357563" y="3990975"/>
            <a:ext cx="3759200" cy="292100"/>
          </a:xfrm>
          <a:prstGeom prst="rect">
            <a:avLst/>
          </a:prstGeom>
          <a:solidFill>
            <a:schemeClr val="bg1"/>
          </a:solidFill>
          <a:ln w="12700">
            <a:solidFill>
              <a:srgbClr val="8C613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2000">
                <a:latin typeface="Times New Roman" panose="02020603050405020304" pitchFamily="18" charset="0"/>
              </a:rPr>
              <a:t>A Fund Accounting</a:t>
            </a:r>
          </a:p>
        </p:txBody>
      </p:sp>
      <p:grpSp>
        <p:nvGrpSpPr>
          <p:cNvPr id="20486" name="Group 17"/>
          <p:cNvGrpSpPr>
            <a:grpSpLocks/>
          </p:cNvGrpSpPr>
          <p:nvPr/>
        </p:nvGrpSpPr>
        <p:grpSpPr bwMode="auto">
          <a:xfrm>
            <a:off x="1360488" y="4175125"/>
            <a:ext cx="1763712" cy="1462088"/>
            <a:chOff x="857" y="2630"/>
            <a:chExt cx="1111" cy="921"/>
          </a:xfrm>
        </p:grpSpPr>
        <p:pic>
          <p:nvPicPr>
            <p:cNvPr id="20506" name="Picture 1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" y="2630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07" name="Text Box 19"/>
            <p:cNvSpPr txBox="1">
              <a:spLocks noChangeAspect="1" noChangeArrowheads="1"/>
            </p:cNvSpPr>
            <p:nvPr/>
          </p:nvSpPr>
          <p:spPr bwMode="auto">
            <a:xfrm>
              <a:off x="913" y="3072"/>
              <a:ext cx="77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E844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A FUND</a:t>
              </a:r>
            </a:p>
          </p:txBody>
        </p:sp>
      </p:grpSp>
      <p:grpSp>
        <p:nvGrpSpPr>
          <p:cNvPr id="20487" name="Group 20"/>
          <p:cNvGrpSpPr>
            <a:grpSpLocks/>
          </p:cNvGrpSpPr>
          <p:nvPr/>
        </p:nvGrpSpPr>
        <p:grpSpPr bwMode="auto">
          <a:xfrm>
            <a:off x="1360488" y="2940050"/>
            <a:ext cx="1763712" cy="1462088"/>
            <a:chOff x="857" y="1852"/>
            <a:chExt cx="1111" cy="921"/>
          </a:xfrm>
        </p:grpSpPr>
        <p:pic>
          <p:nvPicPr>
            <p:cNvPr id="20504" name="Picture 2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" y="1852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05" name="Text Box 22"/>
            <p:cNvSpPr txBox="1">
              <a:spLocks noChangeAspect="1" noChangeArrowheads="1"/>
            </p:cNvSpPr>
            <p:nvPr/>
          </p:nvSpPr>
          <p:spPr bwMode="auto">
            <a:xfrm>
              <a:off x="913" y="2294"/>
              <a:ext cx="7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E844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B FUND</a:t>
              </a:r>
            </a:p>
          </p:txBody>
        </p:sp>
      </p:grpSp>
      <p:grpSp>
        <p:nvGrpSpPr>
          <p:cNvPr id="20488" name="Group 23"/>
          <p:cNvGrpSpPr>
            <a:grpSpLocks/>
          </p:cNvGrpSpPr>
          <p:nvPr/>
        </p:nvGrpSpPr>
        <p:grpSpPr bwMode="auto">
          <a:xfrm>
            <a:off x="1360488" y="1704975"/>
            <a:ext cx="1763712" cy="1462088"/>
            <a:chOff x="857" y="1074"/>
            <a:chExt cx="1111" cy="921"/>
          </a:xfrm>
        </p:grpSpPr>
        <p:pic>
          <p:nvPicPr>
            <p:cNvPr id="20502" name="Picture 2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" y="1074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03" name="Text Box 25"/>
            <p:cNvSpPr txBox="1">
              <a:spLocks noChangeAspect="1" noChangeArrowheads="1"/>
            </p:cNvSpPr>
            <p:nvPr/>
          </p:nvSpPr>
          <p:spPr bwMode="auto">
            <a:xfrm>
              <a:off x="913" y="1515"/>
              <a:ext cx="77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E844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Reins.</a:t>
              </a:r>
            </a:p>
          </p:txBody>
        </p:sp>
      </p:grpSp>
      <p:sp>
        <p:nvSpPr>
          <p:cNvPr id="20489" name="Rectangle 26"/>
          <p:cNvSpPr>
            <a:spLocks noChangeArrowheads="1"/>
          </p:cNvSpPr>
          <p:nvPr/>
        </p:nvSpPr>
        <p:spPr bwMode="auto">
          <a:xfrm>
            <a:off x="3276600" y="2844800"/>
            <a:ext cx="3221038" cy="1093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  70,000 Beginning Balance</a:t>
            </a:r>
          </a:p>
          <a:p>
            <a:pPr>
              <a:lnSpc>
                <a:spcPct val="110000"/>
              </a:lnSpc>
            </a:pPr>
            <a:r>
              <a:rPr lang="en-US" altLang="en-US" sz="2000" u="sng">
                <a:latin typeface="Times New Roman" panose="02020603050405020304" pitchFamily="18" charset="0"/>
              </a:rPr>
              <a:t>-   70,000</a:t>
            </a:r>
          </a:p>
          <a:p>
            <a:pPr>
              <a:lnSpc>
                <a:spcPct val="11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              0 Ending Balance</a:t>
            </a:r>
            <a:endParaRPr lang="en-US" altLang="en-US" sz="2000" i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90" name="Rectangle 27"/>
          <p:cNvSpPr>
            <a:spLocks noChangeArrowheads="1"/>
          </p:cNvSpPr>
          <p:nvPr/>
        </p:nvSpPr>
        <p:spPr bwMode="auto">
          <a:xfrm>
            <a:off x="3276600" y="4448175"/>
            <a:ext cx="4778375" cy="142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$330,000 Beginning Balance</a:t>
            </a:r>
          </a:p>
          <a:p>
            <a:pPr>
              <a:lnSpc>
                <a:spcPct val="11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- 215,000 Total Claims Less than $100,000</a:t>
            </a:r>
          </a:p>
          <a:p>
            <a:pPr>
              <a:lnSpc>
                <a:spcPct val="110000"/>
              </a:lnSpc>
            </a:pPr>
            <a:r>
              <a:rPr lang="en-US" altLang="en-US" sz="2000" u="sng">
                <a:solidFill>
                  <a:schemeClr val="tx1"/>
                </a:solidFill>
                <a:latin typeface="Times New Roman" panose="02020603050405020304" pitchFamily="18" charset="0"/>
              </a:rPr>
              <a:t>- 100,000</a:t>
            </a: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 1st $100,000 of Catastrophe Loss</a:t>
            </a:r>
          </a:p>
          <a:p>
            <a:pPr>
              <a:lnSpc>
                <a:spcPct val="11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  15,000 New Balance</a:t>
            </a:r>
          </a:p>
        </p:txBody>
      </p:sp>
      <p:grpSp>
        <p:nvGrpSpPr>
          <p:cNvPr id="20491" name="Group 30"/>
          <p:cNvGrpSpPr>
            <a:grpSpLocks/>
          </p:cNvGrpSpPr>
          <p:nvPr/>
        </p:nvGrpSpPr>
        <p:grpSpPr bwMode="auto">
          <a:xfrm>
            <a:off x="44450" y="2851150"/>
            <a:ext cx="1146175" cy="2679700"/>
            <a:chOff x="28" y="1796"/>
            <a:chExt cx="722" cy="1688"/>
          </a:xfrm>
        </p:grpSpPr>
        <p:sp>
          <p:nvSpPr>
            <p:cNvPr id="20495" name="Rectangle 31"/>
            <p:cNvSpPr>
              <a:spLocks noChangeArrowheads="1"/>
            </p:cNvSpPr>
            <p:nvPr/>
          </p:nvSpPr>
          <p:spPr bwMode="auto">
            <a:xfrm>
              <a:off x="29" y="1796"/>
              <a:ext cx="7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$400,001</a:t>
              </a:r>
            </a:p>
          </p:txBody>
        </p:sp>
        <p:sp>
          <p:nvSpPr>
            <p:cNvPr id="20496" name="Rectangle 32"/>
            <p:cNvSpPr>
              <a:spLocks noChangeArrowheads="1"/>
            </p:cNvSpPr>
            <p:nvPr/>
          </p:nvSpPr>
          <p:spPr bwMode="auto">
            <a:xfrm>
              <a:off x="29" y="2082"/>
              <a:ext cx="7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$400,000</a:t>
              </a:r>
            </a:p>
          </p:txBody>
        </p:sp>
        <p:sp>
          <p:nvSpPr>
            <p:cNvPr id="20497" name="Rectangle 33"/>
            <p:cNvSpPr>
              <a:spLocks noChangeArrowheads="1"/>
            </p:cNvSpPr>
            <p:nvPr/>
          </p:nvSpPr>
          <p:spPr bwMode="auto">
            <a:xfrm>
              <a:off x="34" y="2468"/>
              <a:ext cx="71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$100,001</a:t>
              </a:r>
            </a:p>
          </p:txBody>
        </p:sp>
        <p:sp>
          <p:nvSpPr>
            <p:cNvPr id="20498" name="Rectangle 34"/>
            <p:cNvSpPr>
              <a:spLocks noChangeArrowheads="1"/>
            </p:cNvSpPr>
            <p:nvPr/>
          </p:nvSpPr>
          <p:spPr bwMode="auto">
            <a:xfrm>
              <a:off x="28" y="2756"/>
              <a:ext cx="71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$100,000</a:t>
              </a:r>
            </a:p>
          </p:txBody>
        </p:sp>
        <p:sp>
          <p:nvSpPr>
            <p:cNvPr id="20499" name="Rectangle 35"/>
            <p:cNvSpPr>
              <a:spLocks noChangeArrowheads="1"/>
            </p:cNvSpPr>
            <p:nvPr/>
          </p:nvSpPr>
          <p:spPr bwMode="auto">
            <a:xfrm>
              <a:off x="336" y="3236"/>
              <a:ext cx="27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$0</a:t>
              </a:r>
            </a:p>
          </p:txBody>
        </p:sp>
        <p:sp>
          <p:nvSpPr>
            <p:cNvPr id="20500" name="Line 36"/>
            <p:cNvSpPr>
              <a:spLocks noChangeShapeType="1"/>
            </p:cNvSpPr>
            <p:nvPr/>
          </p:nvSpPr>
          <p:spPr bwMode="auto">
            <a:xfrm>
              <a:off x="264" y="2039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1" name="Line 37"/>
            <p:cNvSpPr>
              <a:spLocks noChangeShapeType="1"/>
            </p:cNvSpPr>
            <p:nvPr/>
          </p:nvSpPr>
          <p:spPr bwMode="auto">
            <a:xfrm>
              <a:off x="264" y="2706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492" name="Rectangle 39"/>
          <p:cNvSpPr>
            <a:spLocks noChangeArrowheads="1"/>
          </p:cNvSpPr>
          <p:nvPr/>
        </p:nvSpPr>
        <p:spPr bwMode="auto">
          <a:xfrm>
            <a:off x="3357563" y="2403475"/>
            <a:ext cx="3759200" cy="292100"/>
          </a:xfrm>
          <a:prstGeom prst="rect">
            <a:avLst/>
          </a:prstGeom>
          <a:solidFill>
            <a:schemeClr val="bg1"/>
          </a:solidFill>
          <a:ln w="12700">
            <a:solidFill>
              <a:srgbClr val="8C613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2000">
                <a:latin typeface="Times New Roman" panose="02020603050405020304" pitchFamily="18" charset="0"/>
              </a:rPr>
              <a:t>B Fund Accounting</a:t>
            </a:r>
          </a:p>
        </p:txBody>
      </p:sp>
      <p:sp>
        <p:nvSpPr>
          <p:cNvPr id="78888" name="Rectangle 40"/>
          <p:cNvSpPr>
            <a:spLocks noChangeArrowheads="1"/>
          </p:cNvSpPr>
          <p:nvPr/>
        </p:nvSpPr>
        <p:spPr bwMode="auto">
          <a:xfrm>
            <a:off x="7474295" y="2139030"/>
            <a:ext cx="1405835" cy="2521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>
              <a:defRPr/>
            </a:pPr>
            <a:r>
              <a:rPr lang="en-US" altLang="en-US" sz="2000" dirty="0">
                <a:solidFill>
                  <a:schemeClr val="tx1"/>
                </a:solidFill>
                <a:latin typeface="Times New Roman" pitchFamily="18" charset="0"/>
              </a:rPr>
              <a:t>Catastrophe</a:t>
            </a:r>
          </a:p>
          <a:p>
            <a:pPr algn="ctr">
              <a:defRPr/>
            </a:pPr>
            <a:r>
              <a:rPr lang="en-US" altLang="en-US" sz="2000" dirty="0">
                <a:solidFill>
                  <a:schemeClr val="tx1"/>
                </a:solidFill>
                <a:latin typeface="Times New Roman" pitchFamily="18" charset="0"/>
              </a:rPr>
              <a:t>Claim:</a:t>
            </a:r>
          </a:p>
          <a:p>
            <a:pPr algn="ctr">
              <a:defRPr/>
            </a:pPr>
            <a:r>
              <a:rPr lang="en-US" altLang="en-US" sz="2000" dirty="0">
                <a:solidFill>
                  <a:schemeClr val="tx1"/>
                </a:solidFill>
                <a:latin typeface="Times New Roman" pitchFamily="18" charset="0"/>
              </a:rPr>
              <a:t>  $300,000</a:t>
            </a:r>
          </a:p>
          <a:p>
            <a:pPr algn="ctr">
              <a:defRPr/>
            </a:pPr>
            <a:r>
              <a:rPr lang="en-US" altLang="en-US" sz="2000" b="0" dirty="0">
                <a:solidFill>
                  <a:srgbClr val="0000FF"/>
                </a:solidFill>
                <a:latin typeface="Times New Roman" pitchFamily="18" charset="0"/>
              </a:rPr>
              <a:t>  </a:t>
            </a:r>
            <a:r>
              <a:rPr lang="en-US" altLang="en-US" sz="2000" u="sng" dirty="0">
                <a:solidFill>
                  <a:srgbClr val="0000FF"/>
                </a:solidFill>
                <a:latin typeface="Times New Roman" pitchFamily="18" charset="0"/>
              </a:rPr>
              <a:t>-   70,000</a:t>
            </a:r>
            <a:endParaRPr lang="en-US" altLang="en-US" sz="2000" dirty="0">
              <a:solidFill>
                <a:srgbClr val="0000FF"/>
              </a:solidFill>
              <a:latin typeface="Times New Roman" pitchFamily="18" charset="0"/>
            </a:endParaRPr>
          </a:p>
          <a:p>
            <a:pPr algn="ctr">
              <a:defRPr/>
            </a:pPr>
            <a:r>
              <a:rPr lang="en-US" altLang="en-US" sz="2000" dirty="0">
                <a:solidFill>
                  <a:srgbClr val="0000FF"/>
                </a:solidFill>
                <a:latin typeface="Times New Roman" pitchFamily="18" charset="0"/>
              </a:rPr>
              <a:t>   $230,000</a:t>
            </a:r>
          </a:p>
          <a:p>
            <a:pPr algn="ctr">
              <a:defRPr/>
            </a:pPr>
            <a:endParaRPr lang="en-US" altLang="en-US" sz="2000" u="sng" dirty="0">
              <a:latin typeface="Times New Roman" pitchFamily="18" charset="0"/>
            </a:endParaRPr>
          </a:p>
          <a:p>
            <a:pPr algn="ctr">
              <a:defRPr/>
            </a:pPr>
            <a:r>
              <a:rPr lang="en-US" altLang="en-US" sz="2000" dirty="0">
                <a:latin typeface="Times New Roman" pitchFamily="18" charset="0"/>
              </a:rPr>
              <a:t>  </a:t>
            </a:r>
            <a:endParaRPr lang="en-US" altLang="en-US" sz="2000" u="sng" dirty="0">
              <a:latin typeface="Times New Roman" pitchFamily="18" charset="0"/>
            </a:endParaRPr>
          </a:p>
          <a:p>
            <a:pPr algn="ctr">
              <a:defRPr/>
            </a:pPr>
            <a:r>
              <a:rPr lang="en-US" altLang="en-US" sz="1800" b="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  </a:t>
            </a:r>
          </a:p>
        </p:txBody>
      </p:sp>
      <p:sp>
        <p:nvSpPr>
          <p:cNvPr id="78890" name="Line 42"/>
          <p:cNvSpPr>
            <a:spLocks noChangeShapeType="1"/>
          </p:cNvSpPr>
          <p:nvPr/>
        </p:nvSpPr>
        <p:spPr bwMode="auto">
          <a:xfrm flipV="1">
            <a:off x="3200400" y="3200400"/>
            <a:ext cx="0" cy="1981200"/>
          </a:xfrm>
          <a:prstGeom prst="line">
            <a:avLst/>
          </a:prstGeom>
          <a:noFill/>
          <a:ln w="25400">
            <a:solidFill>
              <a:srgbClr val="8C6136"/>
            </a:solidFill>
            <a:round/>
            <a:headEnd/>
            <a:tailEnd type="stealth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05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21</a:t>
            </a:fld>
            <a:endParaRPr lang="en-US"/>
          </a:p>
        </p:txBody>
      </p:sp>
      <p:sp>
        <p:nvSpPr>
          <p:cNvPr id="3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67891" y="6278585"/>
            <a:ext cx="5181600" cy="365125"/>
          </a:xfrm>
        </p:spPr>
        <p:txBody>
          <a:bodyPr/>
          <a:lstStyle/>
          <a:p>
            <a:r>
              <a:rPr lang="en-US" sz="800" dirty="0"/>
              <a:t>Confidential &amp; Privileged Non-Public Information - 2022 EPIC Insurance Brokers &amp; Consultants, Inc.  Use, disclosure, dissemination, distribution or reproduction is not authorized.</a:t>
            </a:r>
          </a:p>
        </p:txBody>
      </p:sp>
    </p:spTree>
    <p:extLst>
      <p:ext uri="{BB962C8B-B14F-4D97-AF65-F5344CB8AC3E}">
        <p14:creationId xmlns:p14="http://schemas.microsoft.com/office/powerpoint/2010/main" val="417157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8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9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ChangeArrowheads="1"/>
          </p:cNvSpPr>
          <p:nvPr/>
        </p:nvSpPr>
        <p:spPr bwMode="auto">
          <a:xfrm>
            <a:off x="0" y="304800"/>
            <a:ext cx="9144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 algn="ctr">
              <a:lnSpc>
                <a:spcPct val="30000"/>
              </a:lnSpc>
              <a:spcBef>
                <a:spcPct val="50000"/>
              </a:spcBef>
            </a:pPr>
            <a:r>
              <a:rPr lang="en-US" altLang="en-US" sz="4500" b="0" i="1">
                <a:solidFill>
                  <a:schemeClr val="tx1"/>
                </a:solidFill>
                <a:latin typeface="Times New Roman" panose="02020603050405020304" pitchFamily="18" charset="0"/>
              </a:rPr>
              <a:t>Loss Example #2</a:t>
            </a:r>
          </a:p>
        </p:txBody>
      </p:sp>
      <p:sp>
        <p:nvSpPr>
          <p:cNvPr id="21507" name="Line 4"/>
          <p:cNvSpPr>
            <a:spLocks noChangeShapeType="1"/>
          </p:cNvSpPr>
          <p:nvPr/>
        </p:nvSpPr>
        <p:spPr bwMode="auto">
          <a:xfrm>
            <a:off x="762000" y="990600"/>
            <a:ext cx="769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05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21508" name="Rectangle 5"/>
          <p:cNvSpPr>
            <a:spLocks noChangeArrowheads="1"/>
          </p:cNvSpPr>
          <p:nvPr/>
        </p:nvSpPr>
        <p:spPr bwMode="auto">
          <a:xfrm>
            <a:off x="3276600" y="1600200"/>
            <a:ext cx="4953000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$215,000 of Total Claims less than $100,000 </a:t>
            </a:r>
          </a:p>
          <a:p>
            <a:r>
              <a:rPr lang="en-US" altLang="en-US" sz="2000">
                <a:latin typeface="Times New Roman" panose="02020603050405020304" pitchFamily="18" charset="0"/>
              </a:rPr>
              <a:t>and a $1,000,000 Catastrophe Claim.</a:t>
            </a:r>
          </a:p>
        </p:txBody>
      </p:sp>
      <p:sp>
        <p:nvSpPr>
          <p:cNvPr id="21509" name="Rectangle 7"/>
          <p:cNvSpPr>
            <a:spLocks noChangeArrowheads="1"/>
          </p:cNvSpPr>
          <p:nvPr/>
        </p:nvSpPr>
        <p:spPr bwMode="auto">
          <a:xfrm>
            <a:off x="3357563" y="3990975"/>
            <a:ext cx="3759200" cy="292100"/>
          </a:xfrm>
          <a:prstGeom prst="rect">
            <a:avLst/>
          </a:prstGeom>
          <a:solidFill>
            <a:schemeClr val="bg1"/>
          </a:solidFill>
          <a:ln w="12700">
            <a:solidFill>
              <a:srgbClr val="8C613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2000">
                <a:latin typeface="Times New Roman" panose="02020603050405020304" pitchFamily="18" charset="0"/>
              </a:rPr>
              <a:t>A Fund Accounting</a:t>
            </a:r>
          </a:p>
        </p:txBody>
      </p:sp>
      <p:sp>
        <p:nvSpPr>
          <p:cNvPr id="21510" name="Rectangle 8"/>
          <p:cNvSpPr>
            <a:spLocks noChangeArrowheads="1"/>
          </p:cNvSpPr>
          <p:nvPr/>
        </p:nvSpPr>
        <p:spPr bwMode="auto">
          <a:xfrm>
            <a:off x="46038" y="2851150"/>
            <a:ext cx="11445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 algn="r"/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$400,001</a:t>
            </a:r>
          </a:p>
        </p:txBody>
      </p:sp>
      <p:sp>
        <p:nvSpPr>
          <p:cNvPr id="21511" name="Rectangle 9"/>
          <p:cNvSpPr>
            <a:spLocks noChangeArrowheads="1"/>
          </p:cNvSpPr>
          <p:nvPr/>
        </p:nvSpPr>
        <p:spPr bwMode="auto">
          <a:xfrm>
            <a:off x="46038" y="3305175"/>
            <a:ext cx="11445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 algn="r"/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$400,000</a:t>
            </a:r>
          </a:p>
        </p:txBody>
      </p:sp>
      <p:sp>
        <p:nvSpPr>
          <p:cNvPr id="21512" name="Rectangle 10"/>
          <p:cNvSpPr>
            <a:spLocks noChangeArrowheads="1"/>
          </p:cNvSpPr>
          <p:nvPr/>
        </p:nvSpPr>
        <p:spPr bwMode="auto">
          <a:xfrm>
            <a:off x="53975" y="3917950"/>
            <a:ext cx="11334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 algn="r"/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$100,001</a:t>
            </a:r>
          </a:p>
        </p:txBody>
      </p:sp>
      <p:sp>
        <p:nvSpPr>
          <p:cNvPr id="21513" name="Rectangle 11"/>
          <p:cNvSpPr>
            <a:spLocks noChangeArrowheads="1"/>
          </p:cNvSpPr>
          <p:nvPr/>
        </p:nvSpPr>
        <p:spPr bwMode="auto">
          <a:xfrm>
            <a:off x="44450" y="4375150"/>
            <a:ext cx="11334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 algn="r"/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$100,000</a:t>
            </a:r>
          </a:p>
        </p:txBody>
      </p:sp>
      <p:sp>
        <p:nvSpPr>
          <p:cNvPr id="21514" name="Rectangle 12"/>
          <p:cNvSpPr>
            <a:spLocks noChangeArrowheads="1"/>
          </p:cNvSpPr>
          <p:nvPr/>
        </p:nvSpPr>
        <p:spPr bwMode="auto">
          <a:xfrm>
            <a:off x="533400" y="5137150"/>
            <a:ext cx="4349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 algn="r"/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$0</a:t>
            </a:r>
          </a:p>
        </p:txBody>
      </p:sp>
      <p:sp>
        <p:nvSpPr>
          <p:cNvPr id="21515" name="Line 13"/>
          <p:cNvSpPr>
            <a:spLocks noChangeShapeType="1"/>
          </p:cNvSpPr>
          <p:nvPr/>
        </p:nvSpPr>
        <p:spPr bwMode="auto">
          <a:xfrm>
            <a:off x="419100" y="3236913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6" name="Line 14"/>
          <p:cNvSpPr>
            <a:spLocks noChangeShapeType="1"/>
          </p:cNvSpPr>
          <p:nvPr/>
        </p:nvSpPr>
        <p:spPr bwMode="auto">
          <a:xfrm>
            <a:off x="419100" y="4295775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1517" name="Group 15"/>
          <p:cNvGrpSpPr>
            <a:grpSpLocks/>
          </p:cNvGrpSpPr>
          <p:nvPr/>
        </p:nvGrpSpPr>
        <p:grpSpPr bwMode="auto">
          <a:xfrm>
            <a:off x="1360488" y="4175125"/>
            <a:ext cx="1763712" cy="1462088"/>
            <a:chOff x="857" y="2630"/>
            <a:chExt cx="1111" cy="921"/>
          </a:xfrm>
        </p:grpSpPr>
        <p:pic>
          <p:nvPicPr>
            <p:cNvPr id="21529" name="Picture 1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" y="2630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30" name="Text Box 17"/>
            <p:cNvSpPr txBox="1">
              <a:spLocks noChangeAspect="1" noChangeArrowheads="1"/>
            </p:cNvSpPr>
            <p:nvPr/>
          </p:nvSpPr>
          <p:spPr bwMode="auto">
            <a:xfrm>
              <a:off x="913" y="3072"/>
              <a:ext cx="77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E844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A FUND</a:t>
              </a:r>
            </a:p>
          </p:txBody>
        </p:sp>
      </p:grpSp>
      <p:grpSp>
        <p:nvGrpSpPr>
          <p:cNvPr id="21518" name="Group 18"/>
          <p:cNvGrpSpPr>
            <a:grpSpLocks/>
          </p:cNvGrpSpPr>
          <p:nvPr/>
        </p:nvGrpSpPr>
        <p:grpSpPr bwMode="auto">
          <a:xfrm>
            <a:off x="1360488" y="2940050"/>
            <a:ext cx="1763712" cy="1462088"/>
            <a:chOff x="857" y="1852"/>
            <a:chExt cx="1111" cy="921"/>
          </a:xfrm>
        </p:grpSpPr>
        <p:pic>
          <p:nvPicPr>
            <p:cNvPr id="21527" name="Picture 1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" y="1852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28" name="Text Box 20"/>
            <p:cNvSpPr txBox="1">
              <a:spLocks noChangeAspect="1" noChangeArrowheads="1"/>
            </p:cNvSpPr>
            <p:nvPr/>
          </p:nvSpPr>
          <p:spPr bwMode="auto">
            <a:xfrm>
              <a:off x="913" y="2294"/>
              <a:ext cx="7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E844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B FUND</a:t>
              </a:r>
            </a:p>
          </p:txBody>
        </p:sp>
      </p:grpSp>
      <p:grpSp>
        <p:nvGrpSpPr>
          <p:cNvPr id="21519" name="Group 21"/>
          <p:cNvGrpSpPr>
            <a:grpSpLocks/>
          </p:cNvGrpSpPr>
          <p:nvPr/>
        </p:nvGrpSpPr>
        <p:grpSpPr bwMode="auto">
          <a:xfrm>
            <a:off x="1360488" y="1704975"/>
            <a:ext cx="1763712" cy="1462088"/>
            <a:chOff x="857" y="1074"/>
            <a:chExt cx="1111" cy="921"/>
          </a:xfrm>
        </p:grpSpPr>
        <p:pic>
          <p:nvPicPr>
            <p:cNvPr id="21525" name="Picture 2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" y="1074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26" name="Text Box 23"/>
            <p:cNvSpPr txBox="1">
              <a:spLocks noChangeAspect="1" noChangeArrowheads="1"/>
            </p:cNvSpPr>
            <p:nvPr/>
          </p:nvSpPr>
          <p:spPr bwMode="auto">
            <a:xfrm>
              <a:off x="913" y="1515"/>
              <a:ext cx="77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E844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Reins.</a:t>
              </a:r>
            </a:p>
          </p:txBody>
        </p:sp>
      </p:grpSp>
      <p:sp>
        <p:nvSpPr>
          <p:cNvPr id="21520" name="Rectangle 27"/>
          <p:cNvSpPr>
            <a:spLocks noChangeArrowheads="1"/>
          </p:cNvSpPr>
          <p:nvPr/>
        </p:nvSpPr>
        <p:spPr bwMode="auto">
          <a:xfrm>
            <a:off x="3276600" y="2844800"/>
            <a:ext cx="3221038" cy="1093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  70,000 Beginning Balance</a:t>
            </a:r>
          </a:p>
          <a:p>
            <a:pPr>
              <a:lnSpc>
                <a:spcPct val="110000"/>
              </a:lnSpc>
            </a:pPr>
            <a:r>
              <a:rPr lang="en-US" altLang="en-US" sz="2000" u="sng">
                <a:solidFill>
                  <a:schemeClr val="tx1"/>
                </a:solidFill>
                <a:latin typeface="Times New Roman" panose="02020603050405020304" pitchFamily="18" charset="0"/>
              </a:rPr>
              <a:t>-   70,000</a:t>
            </a:r>
          </a:p>
          <a:p>
            <a:pPr>
              <a:lnSpc>
                <a:spcPct val="11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              0 Ending Balance</a:t>
            </a:r>
          </a:p>
        </p:txBody>
      </p:sp>
      <p:sp>
        <p:nvSpPr>
          <p:cNvPr id="21521" name="Rectangle 28"/>
          <p:cNvSpPr>
            <a:spLocks noChangeArrowheads="1"/>
          </p:cNvSpPr>
          <p:nvPr/>
        </p:nvSpPr>
        <p:spPr bwMode="auto">
          <a:xfrm>
            <a:off x="3298825" y="4448175"/>
            <a:ext cx="4778375" cy="203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$330,000 Beginning Balance</a:t>
            </a:r>
          </a:p>
          <a:p>
            <a:pPr>
              <a:lnSpc>
                <a:spcPct val="110000"/>
              </a:lnSpc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- 215,000 Total Claims Less than $100,000</a:t>
            </a:r>
          </a:p>
          <a:p>
            <a:pPr>
              <a:lnSpc>
                <a:spcPct val="110000"/>
              </a:lnSpc>
            </a:pPr>
            <a:r>
              <a:rPr lang="en-US" altLang="en-US" sz="2000" u="sng" dirty="0">
                <a:solidFill>
                  <a:schemeClr val="tx1"/>
                </a:solidFill>
                <a:latin typeface="Times New Roman" panose="02020603050405020304" pitchFamily="18" charset="0"/>
              </a:rPr>
              <a:t>- 100,000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1st $100,000 of Catastrophe Loss</a:t>
            </a:r>
          </a:p>
          <a:p>
            <a:pPr>
              <a:lnSpc>
                <a:spcPct val="110000"/>
              </a:lnSpc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$  15,000 New Balance</a:t>
            </a:r>
          </a:p>
          <a:p>
            <a:r>
              <a:rPr lang="en-US" altLang="en-US" sz="2000" u="sng" dirty="0">
                <a:latin typeface="Times New Roman" panose="02020603050405020304" pitchFamily="18" charset="0"/>
              </a:rPr>
              <a:t>-   15,000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</a:rPr>
              <a:t>Add’l</a:t>
            </a:r>
            <a:r>
              <a:rPr lang="en-US" altLang="en-US" sz="2000" dirty="0">
                <a:latin typeface="Times New Roman" panose="02020603050405020304" pitchFamily="18" charset="0"/>
              </a:rPr>
              <a:t> for Cat. Loss</a:t>
            </a:r>
          </a:p>
          <a:p>
            <a:r>
              <a:rPr lang="en-US" altLang="en-US" sz="2000" dirty="0">
                <a:latin typeface="Times New Roman" panose="02020603050405020304" pitchFamily="18" charset="0"/>
              </a:rPr>
              <a:t>             0 Ending Balance</a:t>
            </a:r>
            <a:endParaRPr lang="en-US" altLang="en-US" sz="2000" i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9901" name="Rectangle 29"/>
          <p:cNvSpPr>
            <a:spLocks noChangeArrowheads="1"/>
          </p:cNvSpPr>
          <p:nvPr/>
        </p:nvSpPr>
        <p:spPr bwMode="auto">
          <a:xfrm>
            <a:off x="7526682" y="1988108"/>
            <a:ext cx="1405835" cy="3167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>
              <a:defRPr/>
            </a:pPr>
            <a:r>
              <a:rPr lang="en-US" altLang="en-US" sz="2000" dirty="0">
                <a:solidFill>
                  <a:schemeClr val="tx1"/>
                </a:solidFill>
                <a:latin typeface="Times New Roman" pitchFamily="18" charset="0"/>
              </a:rPr>
              <a:t>Catastrophe</a:t>
            </a:r>
          </a:p>
          <a:p>
            <a:pPr algn="ctr">
              <a:defRPr/>
            </a:pPr>
            <a:r>
              <a:rPr lang="en-US" altLang="en-US" sz="2000" dirty="0">
                <a:solidFill>
                  <a:schemeClr val="tx1"/>
                </a:solidFill>
                <a:latin typeface="Times New Roman" pitchFamily="18" charset="0"/>
              </a:rPr>
              <a:t>Claim:</a:t>
            </a:r>
          </a:p>
          <a:p>
            <a:pPr algn="ctr">
              <a:defRPr/>
            </a:pPr>
            <a:r>
              <a:rPr lang="en-US" altLang="en-US" sz="2000" dirty="0">
                <a:solidFill>
                  <a:schemeClr val="tx1"/>
                </a:solidFill>
                <a:latin typeface="Times New Roman" pitchFamily="18" charset="0"/>
              </a:rPr>
              <a:t>  $300,000</a:t>
            </a:r>
          </a:p>
          <a:p>
            <a:pPr algn="ctr">
              <a:defRPr/>
            </a:pPr>
            <a:r>
              <a:rPr lang="en-US" altLang="en-US" sz="2000" dirty="0">
                <a:solidFill>
                  <a:schemeClr val="tx1"/>
                </a:solidFill>
                <a:latin typeface="Times New Roman" pitchFamily="18" charset="0"/>
              </a:rPr>
              <a:t>  </a:t>
            </a:r>
            <a:r>
              <a:rPr lang="en-US" altLang="en-US" sz="2000" u="sng" dirty="0">
                <a:solidFill>
                  <a:schemeClr val="tx1"/>
                </a:solidFill>
                <a:latin typeface="Times New Roman" pitchFamily="18" charset="0"/>
              </a:rPr>
              <a:t>-  70,000</a:t>
            </a:r>
            <a:endParaRPr lang="en-US" altLang="en-US" sz="2000" dirty="0">
              <a:solidFill>
                <a:schemeClr val="tx1"/>
              </a:solidFill>
              <a:latin typeface="Times New Roman" pitchFamily="18" charset="0"/>
            </a:endParaRPr>
          </a:p>
          <a:p>
            <a:pPr algn="ctr">
              <a:defRPr/>
            </a:pPr>
            <a:r>
              <a:rPr lang="en-US" altLang="en-US" sz="2000" dirty="0">
                <a:solidFill>
                  <a:schemeClr val="tx1"/>
                </a:solidFill>
                <a:latin typeface="Times New Roman" pitchFamily="18" charset="0"/>
              </a:rPr>
              <a:t>  $230,000</a:t>
            </a:r>
          </a:p>
          <a:p>
            <a:pPr algn="ctr">
              <a:defRPr/>
            </a:pPr>
            <a:r>
              <a:rPr lang="en-US" altLang="en-US" sz="2000" u="sng" dirty="0">
                <a:solidFill>
                  <a:srgbClr val="0000FF"/>
                </a:solidFill>
                <a:latin typeface="Times New Roman" pitchFamily="18" charset="0"/>
              </a:rPr>
              <a:t>-    15,000</a:t>
            </a:r>
          </a:p>
          <a:p>
            <a:pPr algn="ctr">
              <a:defRPr/>
            </a:pPr>
            <a:r>
              <a:rPr lang="en-US" altLang="en-US" sz="2000" dirty="0">
                <a:solidFill>
                  <a:srgbClr val="FF0000"/>
                </a:solidFill>
                <a:latin typeface="Times New Roman" pitchFamily="18" charset="0"/>
              </a:rPr>
              <a:t>  $215,000</a:t>
            </a:r>
          </a:p>
          <a:p>
            <a:pPr algn="ctr">
              <a:defRPr/>
            </a:pPr>
            <a:r>
              <a:rPr lang="en-US" altLang="en-US" sz="1400" i="1" dirty="0">
                <a:solidFill>
                  <a:srgbClr val="FF0000"/>
                </a:solidFill>
                <a:latin typeface="Times New Roman" pitchFamily="18" charset="0"/>
              </a:rPr>
              <a:t>Risk Shared</a:t>
            </a:r>
          </a:p>
          <a:p>
            <a:pPr algn="ctr">
              <a:defRPr/>
            </a:pPr>
            <a:r>
              <a:rPr lang="en-US" altLang="en-US" sz="1400" i="1" dirty="0">
                <a:solidFill>
                  <a:srgbClr val="FF0000"/>
                </a:solidFill>
                <a:latin typeface="Times New Roman" pitchFamily="18" charset="0"/>
              </a:rPr>
              <a:t>By Other</a:t>
            </a:r>
          </a:p>
          <a:p>
            <a:pPr algn="ctr">
              <a:defRPr/>
            </a:pPr>
            <a:r>
              <a:rPr lang="en-US" altLang="en-US" sz="1400" i="1" dirty="0">
                <a:solidFill>
                  <a:srgbClr val="FF0000"/>
                </a:solidFill>
                <a:latin typeface="Times New Roman" pitchFamily="18" charset="0"/>
              </a:rPr>
              <a:t>Members</a:t>
            </a:r>
            <a:endParaRPr lang="en-US" altLang="en-US" sz="1200" i="1" dirty="0">
              <a:solidFill>
                <a:srgbClr val="FF0000"/>
              </a:solidFill>
              <a:latin typeface="Times New Roman" pitchFamily="18" charset="0"/>
            </a:endParaRPr>
          </a:p>
          <a:p>
            <a:pPr algn="ctr">
              <a:defRPr/>
            </a:pPr>
            <a:r>
              <a:rPr lang="en-US" altLang="en-US" sz="1800" b="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  </a:t>
            </a:r>
          </a:p>
        </p:txBody>
      </p:sp>
      <p:sp>
        <p:nvSpPr>
          <p:cNvPr id="79902" name="Line 30"/>
          <p:cNvSpPr>
            <a:spLocks noChangeShapeType="1"/>
          </p:cNvSpPr>
          <p:nvPr/>
        </p:nvSpPr>
        <p:spPr bwMode="auto">
          <a:xfrm>
            <a:off x="3200400" y="3048000"/>
            <a:ext cx="0" cy="2895600"/>
          </a:xfrm>
          <a:prstGeom prst="line">
            <a:avLst/>
          </a:prstGeom>
          <a:noFill/>
          <a:ln w="25400">
            <a:solidFill>
              <a:srgbClr val="8C6136"/>
            </a:solidFill>
            <a:round/>
            <a:headEnd/>
            <a:tailEnd type="stealth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05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21524" name="Rectangle 33"/>
          <p:cNvSpPr>
            <a:spLocks noChangeArrowheads="1"/>
          </p:cNvSpPr>
          <p:nvPr/>
        </p:nvSpPr>
        <p:spPr bwMode="auto">
          <a:xfrm>
            <a:off x="3357563" y="2403475"/>
            <a:ext cx="3759200" cy="292100"/>
          </a:xfrm>
          <a:prstGeom prst="rect">
            <a:avLst/>
          </a:prstGeom>
          <a:solidFill>
            <a:schemeClr val="bg1"/>
          </a:solidFill>
          <a:ln w="12700">
            <a:solidFill>
              <a:srgbClr val="8C613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2000">
                <a:latin typeface="Times New Roman" panose="02020603050405020304" pitchFamily="18" charset="0"/>
              </a:rPr>
              <a:t>B Fund Accounting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22</a:t>
            </a:fld>
            <a:endParaRPr lang="en-US"/>
          </a:p>
        </p:txBody>
      </p:sp>
      <p:sp>
        <p:nvSpPr>
          <p:cNvPr id="31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76600" y="6396446"/>
            <a:ext cx="5181600" cy="365125"/>
          </a:xfrm>
        </p:spPr>
        <p:txBody>
          <a:bodyPr/>
          <a:lstStyle/>
          <a:p>
            <a:r>
              <a:rPr lang="en-US" sz="800" dirty="0"/>
              <a:t>Confidential &amp; Privileged Non-Public Information - 2022 EPIC Insurance Brokers &amp; Consultants, Inc.  Use, disclosure, dissemination, distribution or reproduction is not authorized.</a:t>
            </a:r>
          </a:p>
        </p:txBody>
      </p:sp>
    </p:spTree>
    <p:extLst>
      <p:ext uri="{BB962C8B-B14F-4D97-AF65-F5344CB8AC3E}">
        <p14:creationId xmlns:p14="http://schemas.microsoft.com/office/powerpoint/2010/main" val="1471942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79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90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5" name="Group 3"/>
          <p:cNvGrpSpPr>
            <a:grpSpLocks/>
          </p:cNvGrpSpPr>
          <p:nvPr/>
        </p:nvGrpSpPr>
        <p:grpSpPr bwMode="auto">
          <a:xfrm>
            <a:off x="2198688" y="4175125"/>
            <a:ext cx="1763712" cy="1462088"/>
            <a:chOff x="1385" y="2630"/>
            <a:chExt cx="1111" cy="921"/>
          </a:xfrm>
        </p:grpSpPr>
        <p:pic>
          <p:nvPicPr>
            <p:cNvPr id="22552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5" y="2630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53" name="Text Box 5"/>
            <p:cNvSpPr txBox="1">
              <a:spLocks noChangeAspect="1" noChangeArrowheads="1"/>
            </p:cNvSpPr>
            <p:nvPr/>
          </p:nvSpPr>
          <p:spPr bwMode="auto">
            <a:xfrm>
              <a:off x="1441" y="3072"/>
              <a:ext cx="77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E844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A FUND</a:t>
              </a:r>
            </a:p>
          </p:txBody>
        </p:sp>
      </p:grpSp>
      <p:sp>
        <p:nvSpPr>
          <p:cNvPr id="22531" name="Rectangle 6"/>
          <p:cNvSpPr>
            <a:spLocks noChangeArrowheads="1"/>
          </p:cNvSpPr>
          <p:nvPr/>
        </p:nvSpPr>
        <p:spPr bwMode="auto">
          <a:xfrm>
            <a:off x="0" y="304800"/>
            <a:ext cx="9144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 algn="ctr">
              <a:lnSpc>
                <a:spcPct val="30000"/>
              </a:lnSpc>
              <a:spcBef>
                <a:spcPct val="50000"/>
              </a:spcBef>
            </a:pPr>
            <a:r>
              <a:rPr lang="en-US" altLang="en-US" sz="4500" b="0" i="1">
                <a:solidFill>
                  <a:schemeClr val="tx1"/>
                </a:solidFill>
                <a:latin typeface="Times New Roman" panose="02020603050405020304" pitchFamily="18" charset="0"/>
              </a:rPr>
              <a:t>Loss Example #3</a:t>
            </a:r>
          </a:p>
        </p:txBody>
      </p:sp>
      <p:sp>
        <p:nvSpPr>
          <p:cNvPr id="22532" name="Line 7"/>
          <p:cNvSpPr>
            <a:spLocks noChangeShapeType="1"/>
          </p:cNvSpPr>
          <p:nvPr/>
        </p:nvSpPr>
        <p:spPr bwMode="auto">
          <a:xfrm>
            <a:off x="762000" y="990600"/>
            <a:ext cx="769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05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auto">
          <a:xfrm>
            <a:off x="4114800" y="1600200"/>
            <a:ext cx="495300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$480,000 of Total Claims less than $100,000.</a:t>
            </a:r>
          </a:p>
        </p:txBody>
      </p:sp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4195763" y="2403475"/>
            <a:ext cx="3759200" cy="292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B Fund Accounting</a:t>
            </a:r>
          </a:p>
        </p:txBody>
      </p:sp>
      <p:sp>
        <p:nvSpPr>
          <p:cNvPr id="8202" name="Rectangle 10"/>
          <p:cNvSpPr>
            <a:spLocks noChangeArrowheads="1"/>
          </p:cNvSpPr>
          <p:nvPr/>
        </p:nvSpPr>
        <p:spPr bwMode="auto">
          <a:xfrm>
            <a:off x="4191000" y="3962400"/>
            <a:ext cx="3759200" cy="292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A Fund Accounting</a:t>
            </a:r>
          </a:p>
        </p:txBody>
      </p:sp>
      <p:sp>
        <p:nvSpPr>
          <p:cNvPr id="8203" name="Rectangle 11"/>
          <p:cNvSpPr>
            <a:spLocks noChangeArrowheads="1"/>
          </p:cNvSpPr>
          <p:nvPr/>
        </p:nvSpPr>
        <p:spPr bwMode="auto">
          <a:xfrm>
            <a:off x="4114800" y="2844800"/>
            <a:ext cx="3221038" cy="423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  70,000 Beginning Balance</a:t>
            </a:r>
          </a:p>
        </p:txBody>
      </p:sp>
      <p:sp>
        <p:nvSpPr>
          <p:cNvPr id="8204" name="Rectangle 12"/>
          <p:cNvSpPr>
            <a:spLocks noChangeArrowheads="1"/>
          </p:cNvSpPr>
          <p:nvPr/>
        </p:nvSpPr>
        <p:spPr bwMode="auto">
          <a:xfrm>
            <a:off x="4114800" y="4448175"/>
            <a:ext cx="3451225" cy="161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80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$330,000 Beginning Balance</a:t>
            </a:r>
          </a:p>
          <a:p>
            <a:r>
              <a:rPr lang="en-US" altLang="en-US" sz="1800" b="0" u="sng">
                <a:latin typeface="Times New Roman" panose="02020603050405020304" pitchFamily="18" charset="0"/>
              </a:rPr>
              <a:t> </a:t>
            </a:r>
            <a:r>
              <a:rPr lang="en-US" altLang="en-US" sz="2000" u="sng">
                <a:latin typeface="Times New Roman" panose="02020603050405020304" pitchFamily="18" charset="0"/>
              </a:rPr>
              <a:t>- 480,000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</a:p>
          <a:p>
            <a:r>
              <a:rPr lang="en-US" altLang="en-US" sz="2000">
                <a:latin typeface="Times New Roman" panose="02020603050405020304" pitchFamily="18" charset="0"/>
              </a:rPr>
              <a:t> - 150,000</a:t>
            </a:r>
          </a:p>
          <a:p>
            <a:r>
              <a:rPr lang="en-US" altLang="en-US" sz="2000" u="sng">
                <a:latin typeface="Times New Roman" panose="02020603050405020304" pitchFamily="18" charset="0"/>
              </a:rPr>
              <a:t>+ 150,000</a:t>
            </a:r>
            <a:r>
              <a:rPr lang="en-US" altLang="en-US" sz="2000">
                <a:latin typeface="Times New Roman" panose="02020603050405020304" pitchFamily="18" charset="0"/>
              </a:rPr>
              <a:t> A Fund Adjustment</a:t>
            </a:r>
          </a:p>
          <a:p>
            <a:r>
              <a:rPr lang="en-US" altLang="en-US" sz="2000">
                <a:latin typeface="Times New Roman" panose="02020603050405020304" pitchFamily="18" charset="0"/>
              </a:rPr>
              <a:t>              0 Ending Balance</a:t>
            </a:r>
            <a:endParaRPr lang="en-US" altLang="en-US" sz="2000">
              <a:solidFill>
                <a:srgbClr val="FFCC18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8221" name="Group 29"/>
          <p:cNvGrpSpPr>
            <a:grpSpLocks/>
          </p:cNvGrpSpPr>
          <p:nvPr/>
        </p:nvGrpSpPr>
        <p:grpSpPr bwMode="auto">
          <a:xfrm>
            <a:off x="882650" y="2851150"/>
            <a:ext cx="1146175" cy="2679700"/>
            <a:chOff x="556" y="1796"/>
            <a:chExt cx="722" cy="1688"/>
          </a:xfrm>
        </p:grpSpPr>
        <p:sp>
          <p:nvSpPr>
            <p:cNvPr id="22545" name="Rectangle 14"/>
            <p:cNvSpPr>
              <a:spLocks noChangeArrowheads="1"/>
            </p:cNvSpPr>
            <p:nvPr/>
          </p:nvSpPr>
          <p:spPr bwMode="auto">
            <a:xfrm>
              <a:off x="557" y="1796"/>
              <a:ext cx="7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$400,001</a:t>
              </a:r>
            </a:p>
          </p:txBody>
        </p:sp>
        <p:sp>
          <p:nvSpPr>
            <p:cNvPr id="22546" name="Rectangle 15"/>
            <p:cNvSpPr>
              <a:spLocks noChangeArrowheads="1"/>
            </p:cNvSpPr>
            <p:nvPr/>
          </p:nvSpPr>
          <p:spPr bwMode="auto">
            <a:xfrm>
              <a:off x="557" y="2082"/>
              <a:ext cx="7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$400,000</a:t>
              </a:r>
            </a:p>
          </p:txBody>
        </p:sp>
        <p:sp>
          <p:nvSpPr>
            <p:cNvPr id="22547" name="Rectangle 16"/>
            <p:cNvSpPr>
              <a:spLocks noChangeArrowheads="1"/>
            </p:cNvSpPr>
            <p:nvPr/>
          </p:nvSpPr>
          <p:spPr bwMode="auto">
            <a:xfrm>
              <a:off x="562" y="2468"/>
              <a:ext cx="71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$100,001</a:t>
              </a:r>
            </a:p>
          </p:txBody>
        </p:sp>
        <p:sp>
          <p:nvSpPr>
            <p:cNvPr id="22548" name="Rectangle 17"/>
            <p:cNvSpPr>
              <a:spLocks noChangeArrowheads="1"/>
            </p:cNvSpPr>
            <p:nvPr/>
          </p:nvSpPr>
          <p:spPr bwMode="auto">
            <a:xfrm>
              <a:off x="556" y="2756"/>
              <a:ext cx="71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$100,000</a:t>
              </a:r>
            </a:p>
          </p:txBody>
        </p:sp>
        <p:sp>
          <p:nvSpPr>
            <p:cNvPr id="22549" name="Rectangle 18"/>
            <p:cNvSpPr>
              <a:spLocks noChangeArrowheads="1"/>
            </p:cNvSpPr>
            <p:nvPr/>
          </p:nvSpPr>
          <p:spPr bwMode="auto">
            <a:xfrm>
              <a:off x="864" y="3236"/>
              <a:ext cx="27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$0</a:t>
              </a:r>
            </a:p>
          </p:txBody>
        </p:sp>
        <p:sp>
          <p:nvSpPr>
            <p:cNvPr id="22550" name="Line 19"/>
            <p:cNvSpPr>
              <a:spLocks noChangeShapeType="1"/>
            </p:cNvSpPr>
            <p:nvPr/>
          </p:nvSpPr>
          <p:spPr bwMode="auto">
            <a:xfrm>
              <a:off x="792" y="2039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1" name="Line 20"/>
            <p:cNvSpPr>
              <a:spLocks noChangeShapeType="1"/>
            </p:cNvSpPr>
            <p:nvPr/>
          </p:nvSpPr>
          <p:spPr bwMode="auto">
            <a:xfrm>
              <a:off x="792" y="2706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213" name="Group 21"/>
          <p:cNvGrpSpPr>
            <a:grpSpLocks/>
          </p:cNvGrpSpPr>
          <p:nvPr/>
        </p:nvGrpSpPr>
        <p:grpSpPr bwMode="auto">
          <a:xfrm>
            <a:off x="2198688" y="2940050"/>
            <a:ext cx="1763712" cy="1462088"/>
            <a:chOff x="1385" y="1852"/>
            <a:chExt cx="1111" cy="921"/>
          </a:xfrm>
        </p:grpSpPr>
        <p:pic>
          <p:nvPicPr>
            <p:cNvPr id="22543" name="Picture 2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5" y="1852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44" name="Text Box 23"/>
            <p:cNvSpPr txBox="1">
              <a:spLocks noChangeAspect="1" noChangeArrowheads="1"/>
            </p:cNvSpPr>
            <p:nvPr/>
          </p:nvSpPr>
          <p:spPr bwMode="auto">
            <a:xfrm>
              <a:off x="1441" y="2294"/>
              <a:ext cx="7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E844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B FUND</a:t>
              </a:r>
            </a:p>
          </p:txBody>
        </p:sp>
      </p:grpSp>
      <p:grpSp>
        <p:nvGrpSpPr>
          <p:cNvPr id="8216" name="Group 24"/>
          <p:cNvGrpSpPr>
            <a:grpSpLocks/>
          </p:cNvGrpSpPr>
          <p:nvPr/>
        </p:nvGrpSpPr>
        <p:grpSpPr bwMode="auto">
          <a:xfrm>
            <a:off x="2198688" y="1704975"/>
            <a:ext cx="1763712" cy="1462088"/>
            <a:chOff x="1385" y="1074"/>
            <a:chExt cx="1111" cy="921"/>
          </a:xfrm>
        </p:grpSpPr>
        <p:pic>
          <p:nvPicPr>
            <p:cNvPr id="22541" name="Picture 2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5" y="1074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42" name="Text Box 26"/>
            <p:cNvSpPr txBox="1">
              <a:spLocks noChangeAspect="1" noChangeArrowheads="1"/>
            </p:cNvSpPr>
            <p:nvPr/>
          </p:nvSpPr>
          <p:spPr bwMode="auto">
            <a:xfrm>
              <a:off x="1441" y="1515"/>
              <a:ext cx="77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E844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8C6136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Reins.</a:t>
              </a:r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23</a:t>
            </a:fld>
            <a:endParaRPr lang="en-US"/>
          </a:p>
        </p:txBody>
      </p:sp>
      <p:sp>
        <p:nvSpPr>
          <p:cNvPr id="3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67891" y="6278585"/>
            <a:ext cx="5181600" cy="365125"/>
          </a:xfrm>
        </p:spPr>
        <p:txBody>
          <a:bodyPr/>
          <a:lstStyle/>
          <a:p>
            <a:r>
              <a:rPr lang="en-US" sz="800" dirty="0"/>
              <a:t>Confidential &amp; Privileged Non-Public Information - 2022 EPIC Insurance Brokers &amp; Consultants, Inc.  Use, disclosure, dissemination, distribution or reproduction is not authorized.</a:t>
            </a:r>
          </a:p>
        </p:txBody>
      </p:sp>
    </p:spTree>
    <p:extLst>
      <p:ext uri="{BB962C8B-B14F-4D97-AF65-F5344CB8AC3E}">
        <p14:creationId xmlns:p14="http://schemas.microsoft.com/office/powerpoint/2010/main" val="3058466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0" grpId="0" autoUpdateAnimBg="0"/>
      <p:bldP spid="8201" grpId="0" animBg="1" autoUpdateAnimBg="0"/>
      <p:bldP spid="8202" grpId="0" animBg="1" autoUpdateAnimBg="0"/>
      <p:bldP spid="8203" grpId="0" autoUpdateAnimBg="0"/>
      <p:bldP spid="8204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163763"/>
            <a:ext cx="1860550" cy="35210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Rectangle 4"/>
          <p:cNvSpPr>
            <a:spLocks noChangeAspect="1" noChangeArrowheads="1"/>
          </p:cNvSpPr>
          <p:nvPr/>
        </p:nvSpPr>
        <p:spPr bwMode="auto">
          <a:xfrm>
            <a:off x="609600" y="2163763"/>
            <a:ext cx="1862138" cy="3489325"/>
          </a:xfrm>
          <a:prstGeom prst="rect">
            <a:avLst/>
          </a:prstGeom>
          <a:solidFill>
            <a:schemeClr val="tx1">
              <a:alpha val="5019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en-US" sz="1800">
                <a:solidFill>
                  <a:schemeClr val="bg1"/>
                </a:solidFill>
                <a:latin typeface="Times New Roman" panose="02020603050405020304" pitchFamily="18" charset="0"/>
              </a:rPr>
              <a:t>$600,000</a:t>
            </a:r>
          </a:p>
          <a:p>
            <a:pPr algn="ctr">
              <a:spcBef>
                <a:spcPct val="20000"/>
              </a:spcBef>
            </a:pPr>
            <a:r>
              <a:rPr lang="en-US" altLang="en-US" sz="1800">
                <a:solidFill>
                  <a:schemeClr val="bg1"/>
                </a:solidFill>
                <a:latin typeface="Times New Roman" panose="02020603050405020304" pitchFamily="18" charset="0"/>
              </a:rPr>
              <a:t>Premium Paid</a:t>
            </a:r>
          </a:p>
          <a:p>
            <a:pPr algn="ctr">
              <a:spcBef>
                <a:spcPct val="20000"/>
              </a:spcBef>
            </a:pP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20000"/>
              </a:spcBef>
            </a:pPr>
            <a:r>
              <a:rPr lang="en-US" altLang="en-US" sz="1800">
                <a:solidFill>
                  <a:schemeClr val="bg1"/>
                </a:solidFill>
                <a:latin typeface="Times New Roman" panose="02020603050405020304" pitchFamily="18" charset="0"/>
              </a:rPr>
              <a:t>A Fund Claims</a:t>
            </a:r>
          </a:p>
          <a:p>
            <a:pPr algn="ctr">
              <a:spcBef>
                <a:spcPct val="20000"/>
              </a:spcBef>
            </a:pPr>
            <a:r>
              <a:rPr lang="en-US" altLang="en-US" sz="1800">
                <a:solidFill>
                  <a:schemeClr val="bg1"/>
                </a:solidFill>
                <a:latin typeface="Times New Roman" panose="02020603050405020304" pitchFamily="18" charset="0"/>
              </a:rPr>
              <a:t>Exceed A Fund</a:t>
            </a:r>
          </a:p>
          <a:p>
            <a:pPr algn="ctr">
              <a:spcBef>
                <a:spcPct val="20000"/>
              </a:spcBef>
            </a:pPr>
            <a:r>
              <a:rPr lang="en-US" altLang="en-US" sz="1800">
                <a:solidFill>
                  <a:schemeClr val="bg1"/>
                </a:solidFill>
                <a:latin typeface="Times New Roman" panose="02020603050405020304" pitchFamily="18" charset="0"/>
              </a:rPr>
              <a:t>Contributions</a:t>
            </a:r>
          </a:p>
          <a:p>
            <a:pPr algn="ctr">
              <a:spcBef>
                <a:spcPct val="20000"/>
              </a:spcBef>
            </a:pPr>
            <a:r>
              <a:rPr lang="en-US" altLang="en-US" sz="1800">
                <a:solidFill>
                  <a:schemeClr val="bg1"/>
                </a:solidFill>
                <a:latin typeface="Times New Roman" panose="02020603050405020304" pitchFamily="18" charset="0"/>
              </a:rPr>
              <a:t>by $150,000</a:t>
            </a:r>
          </a:p>
        </p:txBody>
      </p:sp>
      <p:sp>
        <p:nvSpPr>
          <p:cNvPr id="23556" name="Rectangle 5"/>
          <p:cNvSpPr>
            <a:spLocks noChangeAspect="1" noChangeArrowheads="1"/>
          </p:cNvSpPr>
          <p:nvPr/>
        </p:nvSpPr>
        <p:spPr bwMode="auto">
          <a:xfrm>
            <a:off x="609600" y="1828800"/>
            <a:ext cx="1844675" cy="334963"/>
          </a:xfrm>
          <a:prstGeom prst="rect">
            <a:avLst/>
          </a:prstGeom>
          <a:solidFill>
            <a:srgbClr val="8C6136"/>
          </a:solidFill>
          <a:ln w="127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  <a:latin typeface="Times New Roman" panose="02020603050405020304" pitchFamily="18" charset="0"/>
              </a:rPr>
              <a:t>YEAR 1</a:t>
            </a:r>
          </a:p>
        </p:txBody>
      </p:sp>
      <p:pic>
        <p:nvPicPr>
          <p:cNvPr id="23557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0963" y="2163763"/>
            <a:ext cx="1860550" cy="35210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8" name="Rectangle 8"/>
          <p:cNvSpPr>
            <a:spLocks noChangeAspect="1" noChangeArrowheads="1"/>
          </p:cNvSpPr>
          <p:nvPr/>
        </p:nvSpPr>
        <p:spPr bwMode="auto">
          <a:xfrm>
            <a:off x="2620963" y="2163763"/>
            <a:ext cx="1862137" cy="3489325"/>
          </a:xfrm>
          <a:prstGeom prst="rect">
            <a:avLst/>
          </a:prstGeom>
          <a:solidFill>
            <a:schemeClr val="tx1">
              <a:alpha val="5019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en-US" sz="1800" dirty="0">
                <a:solidFill>
                  <a:schemeClr val="bg1"/>
                </a:solidFill>
                <a:latin typeface="Times New Roman" panose="02020603050405020304" pitchFamily="18" charset="0"/>
              </a:rPr>
              <a:t>50% of</a:t>
            </a:r>
          </a:p>
          <a:p>
            <a:pPr algn="ctr">
              <a:spcBef>
                <a:spcPct val="20000"/>
              </a:spcBef>
            </a:pPr>
            <a:r>
              <a:rPr lang="en-US" altLang="en-US" sz="1800" dirty="0">
                <a:solidFill>
                  <a:schemeClr val="bg1"/>
                </a:solidFill>
                <a:latin typeface="Times New Roman" panose="02020603050405020304" pitchFamily="18" charset="0"/>
              </a:rPr>
              <a:t>Experience</a:t>
            </a:r>
          </a:p>
          <a:p>
            <a:pPr algn="ctr">
              <a:spcBef>
                <a:spcPct val="20000"/>
              </a:spcBef>
            </a:pPr>
            <a:r>
              <a:rPr lang="en-US" altLang="en-US" sz="1800" dirty="0">
                <a:solidFill>
                  <a:schemeClr val="bg1"/>
                </a:solidFill>
                <a:latin typeface="Times New Roman" panose="02020603050405020304" pitchFamily="18" charset="0"/>
              </a:rPr>
              <a:t>Adjustment</a:t>
            </a:r>
          </a:p>
          <a:p>
            <a:pPr algn="ctr">
              <a:spcBef>
                <a:spcPct val="20000"/>
              </a:spcBef>
            </a:pPr>
            <a:r>
              <a:rPr lang="en-US" altLang="en-US" sz="1800" dirty="0">
                <a:solidFill>
                  <a:schemeClr val="bg1"/>
                </a:solidFill>
                <a:latin typeface="Times New Roman" panose="02020603050405020304" pitchFamily="18" charset="0"/>
              </a:rPr>
              <a:t>Due</a:t>
            </a:r>
          </a:p>
          <a:p>
            <a:pPr algn="ctr">
              <a:spcBef>
                <a:spcPct val="20000"/>
              </a:spcBef>
            </a:pPr>
            <a:r>
              <a:rPr lang="en-US" altLang="en-US" sz="1800" dirty="0">
                <a:solidFill>
                  <a:schemeClr val="bg1"/>
                </a:solidFill>
                <a:latin typeface="Times New Roman" panose="02020603050405020304" pitchFamily="18" charset="0"/>
              </a:rPr>
              <a:t>(Paid Quarterly)</a:t>
            </a:r>
          </a:p>
          <a:p>
            <a:pPr algn="ctr">
              <a:spcBef>
                <a:spcPct val="20000"/>
              </a:spcBef>
            </a:pPr>
            <a:r>
              <a:rPr lang="en-US" altLang="en-US" sz="1800" dirty="0">
                <a:solidFill>
                  <a:schemeClr val="bg1"/>
                </a:solidFill>
                <a:latin typeface="Times New Roman" panose="02020603050405020304" pitchFamily="18" charset="0"/>
              </a:rPr>
              <a:t>$150,000</a:t>
            </a:r>
          </a:p>
          <a:p>
            <a:pPr algn="ctr">
              <a:spcBef>
                <a:spcPct val="20000"/>
              </a:spcBef>
            </a:pPr>
            <a:r>
              <a:rPr lang="en-US" altLang="en-US" sz="1800" u="sng" dirty="0">
                <a:solidFill>
                  <a:schemeClr val="bg1"/>
                </a:solidFill>
                <a:latin typeface="Times New Roman" panose="02020603050405020304" pitchFamily="18" charset="0"/>
              </a:rPr>
              <a:t>-75,000</a:t>
            </a:r>
            <a:endParaRPr lang="en-US" altLang="en-US" sz="180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20000"/>
              </a:spcBef>
            </a:pPr>
            <a:r>
              <a:rPr lang="en-US" altLang="en-US" sz="1800" dirty="0">
                <a:solidFill>
                  <a:schemeClr val="bg1"/>
                </a:solidFill>
                <a:latin typeface="Times New Roman" panose="02020603050405020304" pitchFamily="18" charset="0"/>
              </a:rPr>
              <a:t>$75,000</a:t>
            </a:r>
          </a:p>
          <a:p>
            <a:pPr algn="ctr">
              <a:spcBef>
                <a:spcPct val="20000"/>
              </a:spcBef>
            </a:pPr>
            <a:r>
              <a:rPr lang="en-US" altLang="en-US" sz="1800" dirty="0">
                <a:solidFill>
                  <a:schemeClr val="bg1"/>
                </a:solidFill>
                <a:latin typeface="Times New Roman" panose="02020603050405020304" pitchFamily="18" charset="0"/>
              </a:rPr>
              <a:t>(Remaining</a:t>
            </a:r>
          </a:p>
          <a:p>
            <a:pPr algn="ctr">
              <a:spcBef>
                <a:spcPct val="20000"/>
              </a:spcBef>
            </a:pPr>
            <a:r>
              <a:rPr lang="en-US" altLang="en-US" sz="1800" dirty="0">
                <a:solidFill>
                  <a:schemeClr val="bg1"/>
                </a:solidFill>
                <a:latin typeface="Times New Roman" panose="02020603050405020304" pitchFamily="18" charset="0"/>
              </a:rPr>
              <a:t>Balance)</a:t>
            </a:r>
          </a:p>
        </p:txBody>
      </p:sp>
      <p:sp>
        <p:nvSpPr>
          <p:cNvPr id="23559" name="Rectangle 9"/>
          <p:cNvSpPr>
            <a:spLocks noChangeAspect="1" noChangeArrowheads="1"/>
          </p:cNvSpPr>
          <p:nvPr/>
        </p:nvSpPr>
        <p:spPr bwMode="auto">
          <a:xfrm>
            <a:off x="2620963" y="1828800"/>
            <a:ext cx="1844675" cy="334963"/>
          </a:xfrm>
          <a:prstGeom prst="rect">
            <a:avLst/>
          </a:prstGeom>
          <a:solidFill>
            <a:srgbClr val="8C6136"/>
          </a:solidFill>
          <a:ln w="127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  <a:latin typeface="Times New Roman" panose="02020603050405020304" pitchFamily="18" charset="0"/>
              </a:rPr>
              <a:t>YEAR 2</a:t>
            </a:r>
          </a:p>
        </p:txBody>
      </p:sp>
      <p:pic>
        <p:nvPicPr>
          <p:cNvPr id="23560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450" y="2163763"/>
            <a:ext cx="1860550" cy="35210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1" name="Rectangle 12"/>
          <p:cNvSpPr>
            <a:spLocks noChangeAspect="1" noChangeArrowheads="1"/>
          </p:cNvSpPr>
          <p:nvPr/>
        </p:nvSpPr>
        <p:spPr bwMode="auto">
          <a:xfrm>
            <a:off x="4616450" y="2163763"/>
            <a:ext cx="1862138" cy="3489325"/>
          </a:xfrm>
          <a:prstGeom prst="rect">
            <a:avLst/>
          </a:prstGeom>
          <a:solidFill>
            <a:schemeClr val="tx1">
              <a:alpha val="5019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en-US" sz="1800">
                <a:solidFill>
                  <a:schemeClr val="bg1"/>
                </a:solidFill>
                <a:latin typeface="Times New Roman" panose="02020603050405020304" pitchFamily="18" charset="0"/>
              </a:rPr>
              <a:t>80% of</a:t>
            </a:r>
          </a:p>
          <a:p>
            <a:pPr algn="ctr">
              <a:spcBef>
                <a:spcPct val="20000"/>
              </a:spcBef>
            </a:pPr>
            <a:r>
              <a:rPr lang="en-US" altLang="en-US" sz="1800">
                <a:solidFill>
                  <a:schemeClr val="bg1"/>
                </a:solidFill>
                <a:latin typeface="Times New Roman" panose="02020603050405020304" pitchFamily="18" charset="0"/>
              </a:rPr>
              <a:t>Experience</a:t>
            </a:r>
          </a:p>
          <a:p>
            <a:pPr algn="ctr">
              <a:spcBef>
                <a:spcPct val="20000"/>
              </a:spcBef>
            </a:pPr>
            <a:r>
              <a:rPr lang="en-US" altLang="en-US" sz="1800">
                <a:solidFill>
                  <a:schemeClr val="bg1"/>
                </a:solidFill>
                <a:latin typeface="Times New Roman" panose="02020603050405020304" pitchFamily="18" charset="0"/>
              </a:rPr>
              <a:t>Adjustment</a:t>
            </a:r>
          </a:p>
          <a:p>
            <a:pPr algn="ctr">
              <a:spcBef>
                <a:spcPct val="20000"/>
              </a:spcBef>
            </a:pPr>
            <a:r>
              <a:rPr lang="en-US" altLang="en-US" sz="1800">
                <a:solidFill>
                  <a:schemeClr val="bg1"/>
                </a:solidFill>
                <a:latin typeface="Times New Roman" panose="02020603050405020304" pitchFamily="18" charset="0"/>
              </a:rPr>
              <a:t>Due</a:t>
            </a:r>
          </a:p>
          <a:p>
            <a:pPr algn="ctr">
              <a:spcBef>
                <a:spcPct val="20000"/>
              </a:spcBef>
            </a:pPr>
            <a:r>
              <a:rPr lang="en-US" altLang="en-US" sz="1800">
                <a:solidFill>
                  <a:schemeClr val="bg1"/>
                </a:solidFill>
                <a:latin typeface="Times New Roman" panose="02020603050405020304" pitchFamily="18" charset="0"/>
              </a:rPr>
              <a:t>(Paid Quarterly)</a:t>
            </a:r>
          </a:p>
          <a:p>
            <a:pPr algn="ctr">
              <a:spcBef>
                <a:spcPct val="20000"/>
              </a:spcBef>
            </a:pPr>
            <a:r>
              <a:rPr lang="en-US" altLang="en-US" sz="1800">
                <a:solidFill>
                  <a:schemeClr val="bg1"/>
                </a:solidFill>
                <a:latin typeface="Times New Roman" panose="02020603050405020304" pitchFamily="18" charset="0"/>
              </a:rPr>
              <a:t>$100,000</a:t>
            </a:r>
          </a:p>
          <a:p>
            <a:pPr algn="ctr">
              <a:spcBef>
                <a:spcPct val="20000"/>
              </a:spcBef>
            </a:pPr>
            <a:r>
              <a:rPr lang="en-US" altLang="en-US" sz="1800" u="sng">
                <a:solidFill>
                  <a:schemeClr val="bg1"/>
                </a:solidFill>
                <a:latin typeface="Times New Roman" panose="02020603050405020304" pitchFamily="18" charset="0"/>
              </a:rPr>
              <a:t>-45,000</a:t>
            </a:r>
          </a:p>
          <a:p>
            <a:pPr algn="ctr">
              <a:spcBef>
                <a:spcPct val="20000"/>
              </a:spcBef>
            </a:pPr>
            <a:r>
              <a:rPr lang="en-US" altLang="en-US" sz="1800">
                <a:solidFill>
                  <a:schemeClr val="bg1"/>
                </a:solidFill>
                <a:latin typeface="Times New Roman" panose="02020603050405020304" pitchFamily="18" charset="0"/>
              </a:rPr>
              <a:t>$30,000</a:t>
            </a:r>
          </a:p>
          <a:p>
            <a:pPr algn="ctr">
              <a:spcBef>
                <a:spcPct val="20000"/>
              </a:spcBef>
            </a:pPr>
            <a:r>
              <a:rPr lang="en-US" altLang="en-US" sz="1800">
                <a:solidFill>
                  <a:schemeClr val="bg1"/>
                </a:solidFill>
                <a:latin typeface="Times New Roman" panose="02020603050405020304" pitchFamily="18" charset="0"/>
              </a:rPr>
              <a:t>(Remaining</a:t>
            </a:r>
          </a:p>
          <a:p>
            <a:pPr algn="ctr">
              <a:spcBef>
                <a:spcPct val="20000"/>
              </a:spcBef>
            </a:pPr>
            <a:r>
              <a:rPr lang="en-US" altLang="en-US" sz="1800">
                <a:solidFill>
                  <a:schemeClr val="bg1"/>
                </a:solidFill>
                <a:latin typeface="Times New Roman" panose="02020603050405020304" pitchFamily="18" charset="0"/>
              </a:rPr>
              <a:t>Balance)</a:t>
            </a:r>
          </a:p>
        </p:txBody>
      </p:sp>
      <p:sp>
        <p:nvSpPr>
          <p:cNvPr id="23562" name="Rectangle 13"/>
          <p:cNvSpPr>
            <a:spLocks noChangeAspect="1" noChangeArrowheads="1"/>
          </p:cNvSpPr>
          <p:nvPr/>
        </p:nvSpPr>
        <p:spPr bwMode="auto">
          <a:xfrm>
            <a:off x="4616450" y="1828800"/>
            <a:ext cx="1844675" cy="334963"/>
          </a:xfrm>
          <a:prstGeom prst="rect">
            <a:avLst/>
          </a:prstGeom>
          <a:solidFill>
            <a:srgbClr val="8C6136"/>
          </a:solidFill>
          <a:ln w="127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  <a:latin typeface="Times New Roman" panose="02020603050405020304" pitchFamily="18" charset="0"/>
              </a:rPr>
              <a:t>YEAR 3</a:t>
            </a:r>
          </a:p>
        </p:txBody>
      </p:sp>
      <p:pic>
        <p:nvPicPr>
          <p:cNvPr id="89102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2163763"/>
            <a:ext cx="1860550" cy="35210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103" name="Rectangle 15"/>
          <p:cNvSpPr>
            <a:spLocks noChangeAspect="1" noChangeArrowheads="1"/>
          </p:cNvSpPr>
          <p:nvPr/>
        </p:nvSpPr>
        <p:spPr bwMode="auto">
          <a:xfrm>
            <a:off x="6627813" y="2163763"/>
            <a:ext cx="1862137" cy="348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E844A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</a:rPr>
              <a:t>100% of</a:t>
            </a:r>
          </a:p>
          <a:p>
            <a:pPr algn="ctr">
              <a:spcBef>
                <a:spcPct val="20000"/>
              </a:spcBef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</a:rPr>
              <a:t>Experience</a:t>
            </a:r>
          </a:p>
          <a:p>
            <a:pPr algn="ctr">
              <a:spcBef>
                <a:spcPct val="20000"/>
              </a:spcBef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</a:rPr>
              <a:t>Adjustment</a:t>
            </a:r>
          </a:p>
          <a:p>
            <a:pPr algn="ctr">
              <a:spcBef>
                <a:spcPct val="20000"/>
              </a:spcBef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</a:rPr>
              <a:t>Due</a:t>
            </a:r>
          </a:p>
          <a:p>
            <a:pPr algn="ctr">
              <a:spcBef>
                <a:spcPct val="20000"/>
              </a:spcBef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</a:rPr>
              <a:t>(Paid Quarterly)</a:t>
            </a:r>
          </a:p>
          <a:p>
            <a:pPr algn="ctr">
              <a:spcBef>
                <a:spcPct val="20000"/>
              </a:spcBef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</a:rPr>
              <a:t>$30,000</a:t>
            </a:r>
          </a:p>
          <a:p>
            <a:pPr algn="ctr">
              <a:spcBef>
                <a:spcPct val="20000"/>
              </a:spcBef>
            </a:pPr>
            <a:r>
              <a:rPr lang="en-US" altLang="en-US" sz="1800" u="sng">
                <a:solidFill>
                  <a:schemeClr val="tx1"/>
                </a:solidFill>
                <a:latin typeface="Times New Roman" panose="02020603050405020304" pitchFamily="18" charset="0"/>
              </a:rPr>
              <a:t>-30,000</a:t>
            </a:r>
          </a:p>
          <a:p>
            <a:pPr algn="ctr">
              <a:spcBef>
                <a:spcPct val="20000"/>
              </a:spcBef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</a:rPr>
              <a:t>0</a:t>
            </a:r>
          </a:p>
          <a:p>
            <a:pPr algn="ctr">
              <a:spcBef>
                <a:spcPct val="20000"/>
              </a:spcBef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</a:rPr>
              <a:t>(Remaining</a:t>
            </a:r>
          </a:p>
          <a:p>
            <a:pPr algn="ctr">
              <a:spcBef>
                <a:spcPct val="20000"/>
              </a:spcBef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</a:rPr>
              <a:t>Balance)</a:t>
            </a:r>
          </a:p>
        </p:txBody>
      </p:sp>
      <p:sp>
        <p:nvSpPr>
          <p:cNvPr id="89104" name="Rectangle 16"/>
          <p:cNvSpPr>
            <a:spLocks noChangeAspect="1" noChangeArrowheads="1"/>
          </p:cNvSpPr>
          <p:nvPr/>
        </p:nvSpPr>
        <p:spPr bwMode="auto">
          <a:xfrm>
            <a:off x="6627813" y="1828800"/>
            <a:ext cx="1844675" cy="334963"/>
          </a:xfrm>
          <a:prstGeom prst="rect">
            <a:avLst/>
          </a:prstGeom>
          <a:solidFill>
            <a:schemeClr val="tx1"/>
          </a:solidFill>
          <a:ln w="127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  <a:latin typeface="Times New Roman" panose="02020603050405020304" pitchFamily="18" charset="0"/>
              </a:rPr>
              <a:t>YEAR 4</a:t>
            </a:r>
          </a:p>
        </p:txBody>
      </p:sp>
      <p:sp>
        <p:nvSpPr>
          <p:cNvPr id="23566" name="Rectangle 21"/>
          <p:cNvSpPr>
            <a:spLocks noChangeArrowheads="1"/>
          </p:cNvSpPr>
          <p:nvPr/>
        </p:nvSpPr>
        <p:spPr bwMode="auto">
          <a:xfrm>
            <a:off x="0" y="304800"/>
            <a:ext cx="9144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 algn="ctr">
              <a:lnSpc>
                <a:spcPct val="30000"/>
              </a:lnSpc>
              <a:spcBef>
                <a:spcPct val="50000"/>
              </a:spcBef>
            </a:pPr>
            <a:r>
              <a:rPr lang="en-US" altLang="en-US" sz="4500" b="0" i="1">
                <a:solidFill>
                  <a:schemeClr val="tx1"/>
                </a:solidFill>
                <a:latin typeface="Times New Roman" panose="02020603050405020304" pitchFamily="18" charset="0"/>
              </a:rPr>
              <a:t>Experience Adjustment Schedule</a:t>
            </a:r>
          </a:p>
        </p:txBody>
      </p:sp>
      <p:sp>
        <p:nvSpPr>
          <p:cNvPr id="23567" name="Line 22"/>
          <p:cNvSpPr>
            <a:spLocks noChangeShapeType="1"/>
          </p:cNvSpPr>
          <p:nvPr/>
        </p:nvSpPr>
        <p:spPr bwMode="auto">
          <a:xfrm>
            <a:off x="762000" y="990600"/>
            <a:ext cx="769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05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24</a:t>
            </a:fld>
            <a:endParaRPr lang="en-US"/>
          </a:p>
        </p:txBody>
      </p:sp>
      <p:sp>
        <p:nvSpPr>
          <p:cNvPr id="2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67891" y="6278585"/>
            <a:ext cx="5181600" cy="365125"/>
          </a:xfrm>
        </p:spPr>
        <p:txBody>
          <a:bodyPr/>
          <a:lstStyle/>
          <a:p>
            <a:r>
              <a:rPr lang="en-US" sz="800" dirty="0"/>
              <a:t>Confidential &amp; Privileged Non-Public Information - 2022 EPIC Insurance Brokers &amp; Consultants, Inc.  Use, disclosure, dissemination, distribution or reproduction is not authorized.</a:t>
            </a:r>
          </a:p>
        </p:txBody>
      </p:sp>
    </p:spTree>
    <p:extLst>
      <p:ext uri="{BB962C8B-B14F-4D97-AF65-F5344CB8AC3E}">
        <p14:creationId xmlns:p14="http://schemas.microsoft.com/office/powerpoint/2010/main" val="3367772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89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89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103" grpId="0" autoUpdateAnimBg="0"/>
      <p:bldP spid="89104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No corporate tax</a:t>
            </a:r>
            <a:r>
              <a:rPr lang="en-US" dirty="0"/>
              <a:t>, no capital gains tax and no income tax</a:t>
            </a:r>
          </a:p>
          <a:p>
            <a:r>
              <a:rPr lang="en-US" dirty="0"/>
              <a:t>Ranked as world’s 5</a:t>
            </a:r>
            <a:r>
              <a:rPr lang="en-US" baseline="30000" dirty="0"/>
              <a:t>th</a:t>
            </a:r>
            <a:r>
              <a:rPr lang="en-US" dirty="0"/>
              <a:t> largest financial center with over 220 banks and </a:t>
            </a:r>
            <a:r>
              <a:rPr lang="en-US"/>
              <a:t>a </a:t>
            </a:r>
            <a:r>
              <a:rPr lang="en-US">
                <a:solidFill>
                  <a:srgbClr val="0000FF"/>
                </a:solidFill>
              </a:rPr>
              <a:t>well-developed </a:t>
            </a:r>
            <a:r>
              <a:rPr lang="en-US" dirty="0">
                <a:solidFill>
                  <a:srgbClr val="0000FF"/>
                </a:solidFill>
              </a:rPr>
              <a:t>infrastructure</a:t>
            </a:r>
          </a:p>
          <a:p>
            <a:r>
              <a:rPr lang="en-US" dirty="0">
                <a:solidFill>
                  <a:srgbClr val="0000FF"/>
                </a:solidFill>
              </a:rPr>
              <a:t>2</a:t>
            </a:r>
            <a:r>
              <a:rPr lang="en-US" baseline="30000" dirty="0">
                <a:solidFill>
                  <a:srgbClr val="0000FF"/>
                </a:solidFill>
              </a:rPr>
              <a:t>nd</a:t>
            </a:r>
            <a:r>
              <a:rPr lang="en-US" dirty="0">
                <a:solidFill>
                  <a:srgbClr val="0000FF"/>
                </a:solidFill>
              </a:rPr>
              <a:t> largest captive domicile in the world</a:t>
            </a:r>
          </a:p>
          <a:p>
            <a:r>
              <a:rPr lang="en-US" dirty="0"/>
              <a:t>Business friendly, low regulation environment</a:t>
            </a:r>
          </a:p>
          <a:p>
            <a:r>
              <a:rPr lang="en-US" dirty="0"/>
              <a:t>Stable </a:t>
            </a:r>
            <a:r>
              <a:rPr lang="en-US" dirty="0">
                <a:solidFill>
                  <a:srgbClr val="0000FF"/>
                </a:solidFill>
              </a:rPr>
              <a:t>political environment</a:t>
            </a:r>
          </a:p>
          <a:p>
            <a:r>
              <a:rPr lang="en-US" dirty="0"/>
              <a:t>High standard of living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Cayman Islands?</a:t>
            </a:r>
          </a:p>
        </p:txBody>
      </p:sp>
      <p:pic>
        <p:nvPicPr>
          <p:cNvPr id="1026" name="Picture 2" descr="C:\Users\jan.zewe\AppData\Local\Microsoft\Windows\Temporary Internet Files\Content.IE5\7N0TPF38\palm_tree_ailrines_logo_by_tacoapple99-d6g3n1f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419600"/>
            <a:ext cx="2280437" cy="2280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25</a:t>
            </a:fld>
            <a:endParaRPr lang="en-US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819400" y="6444955"/>
            <a:ext cx="5181600" cy="365125"/>
          </a:xfrm>
        </p:spPr>
        <p:txBody>
          <a:bodyPr/>
          <a:lstStyle/>
          <a:p>
            <a:r>
              <a:rPr lang="en-US" sz="800" dirty="0"/>
              <a:t>Confidential &amp; Privileged Non-Public Information - 2022 EPIC Insurance Brokers &amp; Consultants, Inc.  Use, disclosure, dissemination, distribution or reproduction is not authorized.</a:t>
            </a:r>
          </a:p>
        </p:txBody>
      </p:sp>
    </p:spTree>
    <p:extLst>
      <p:ext uri="{BB962C8B-B14F-4D97-AF65-F5344CB8AC3E}">
        <p14:creationId xmlns:p14="http://schemas.microsoft.com/office/powerpoint/2010/main" val="32827669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12811</TotalTime>
  <Words>2169</Words>
  <Application>Microsoft Office PowerPoint</Application>
  <PresentationFormat>On-screen Show (4:3)</PresentationFormat>
  <Paragraphs>378</Paragraphs>
  <Slides>25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Aharoni</vt:lpstr>
      <vt:lpstr>Calibri</vt:lpstr>
      <vt:lpstr>Lucida Sans Unicode</vt:lpstr>
      <vt:lpstr>Times New Roman</vt:lpstr>
      <vt:lpstr>Verdana</vt:lpstr>
      <vt:lpstr>Wingdings 2</vt:lpstr>
      <vt:lpstr>Wingdings 3</vt:lpstr>
      <vt:lpstr>Concourse</vt:lpstr>
      <vt:lpstr>Group Captives</vt:lpstr>
      <vt:lpstr>What is a Captive?</vt:lpstr>
      <vt:lpstr>Overview of Group Captives</vt:lpstr>
      <vt:lpstr>Benefits of a Group Captive:</vt:lpstr>
      <vt:lpstr>Financial Advantages of a Group Captive:</vt:lpstr>
      <vt:lpstr>Which companies should be considering a Group Captive</vt:lpstr>
      <vt:lpstr>Types of Captives</vt:lpstr>
      <vt:lpstr>Simple Rating Structure</vt:lpstr>
      <vt:lpstr>Captive Resources – Captive Groups</vt:lpstr>
      <vt:lpstr>Member’s Obligations &amp; Responsibilities</vt:lpstr>
      <vt:lpstr>Who’s Who</vt:lpstr>
      <vt:lpstr>Specific Excess Insurance</vt:lpstr>
      <vt:lpstr>Group Captive Premium Breakdown</vt:lpstr>
      <vt:lpstr>Each captive member’s rates and premiums are based on their loss and exposure history.   Rates/premiums are recalculated every year based on the 5 most recent years.   Each policy period stands on its own. </vt:lpstr>
      <vt:lpstr>PowerPoint Presentation</vt:lpstr>
      <vt:lpstr>Funding Structure</vt:lpstr>
      <vt:lpstr>Yearly Maximum Premium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Cayman Islands?</vt:lpstr>
    </vt:vector>
  </TitlesOfParts>
  <Company>Edgewood Partners Insurance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Captives</dc:title>
  <dc:creator>Jan Zewe</dc:creator>
  <cp:lastModifiedBy>Jan Zewe</cp:lastModifiedBy>
  <cp:revision>79</cp:revision>
  <cp:lastPrinted>2022-10-18T12:05:32Z</cp:lastPrinted>
  <dcterms:created xsi:type="dcterms:W3CDTF">2018-02-18T20:29:21Z</dcterms:created>
  <dcterms:modified xsi:type="dcterms:W3CDTF">2023-11-10T12:32:00Z</dcterms:modified>
</cp:coreProperties>
</file>