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1"/>
  </p:sldMasterIdLst>
  <p:notesMasterIdLst>
    <p:notesMasterId r:id="rId33"/>
  </p:notesMasterIdLst>
  <p:handoutMasterIdLst>
    <p:handoutMasterId r:id="rId34"/>
  </p:handoutMasterIdLst>
  <p:sldIdLst>
    <p:sldId id="597" r:id="rId2"/>
    <p:sldId id="626" r:id="rId3"/>
    <p:sldId id="628" r:id="rId4"/>
    <p:sldId id="629" r:id="rId5"/>
    <p:sldId id="612" r:id="rId6"/>
    <p:sldId id="611" r:id="rId7"/>
    <p:sldId id="627" r:id="rId8"/>
    <p:sldId id="624" r:id="rId9"/>
    <p:sldId id="568" r:id="rId10"/>
    <p:sldId id="569" r:id="rId11"/>
    <p:sldId id="615" r:id="rId12"/>
    <p:sldId id="607" r:id="rId13"/>
    <p:sldId id="598" r:id="rId14"/>
    <p:sldId id="599" r:id="rId15"/>
    <p:sldId id="605" r:id="rId16"/>
    <p:sldId id="635" r:id="rId17"/>
    <p:sldId id="606" r:id="rId18"/>
    <p:sldId id="630" r:id="rId19"/>
    <p:sldId id="633" r:id="rId20"/>
    <p:sldId id="636" r:id="rId21"/>
    <p:sldId id="637" r:id="rId22"/>
    <p:sldId id="590" r:id="rId23"/>
    <p:sldId id="603" r:id="rId24"/>
    <p:sldId id="592" r:id="rId25"/>
    <p:sldId id="593" r:id="rId26"/>
    <p:sldId id="604" r:id="rId27"/>
    <p:sldId id="634" r:id="rId28"/>
    <p:sldId id="609" r:id="rId29"/>
    <p:sldId id="596" r:id="rId30"/>
    <p:sldId id="595" r:id="rId31"/>
    <p:sldId id="534" r:id="rId32"/>
  </p:sldIdLst>
  <p:sldSz cx="9144000" cy="6858000" type="screen4x3"/>
  <p:notesSz cx="7010400" cy="9296400"/>
  <p:defaultTextStyle>
    <a:defPPr>
      <a:defRPr lang="en-US"/>
    </a:defPPr>
    <a:lvl1pPr algn="l" rtl="0" fontAlgn="base">
      <a:spcBef>
        <a:spcPct val="0"/>
      </a:spcBef>
      <a:spcAft>
        <a:spcPct val="0"/>
      </a:spcAft>
      <a:defRPr sz="2400" kern="1200">
        <a:solidFill>
          <a:schemeClr val="bg2"/>
        </a:solidFill>
        <a:latin typeface="News Gothic" pitchFamily="34" charset="0"/>
        <a:ea typeface="+mn-ea"/>
        <a:cs typeface="+mn-cs"/>
      </a:defRPr>
    </a:lvl1pPr>
    <a:lvl2pPr marL="457200" algn="l" rtl="0" fontAlgn="base">
      <a:spcBef>
        <a:spcPct val="0"/>
      </a:spcBef>
      <a:spcAft>
        <a:spcPct val="0"/>
      </a:spcAft>
      <a:defRPr sz="2400" kern="1200">
        <a:solidFill>
          <a:schemeClr val="bg2"/>
        </a:solidFill>
        <a:latin typeface="News Gothic" pitchFamily="34" charset="0"/>
        <a:ea typeface="+mn-ea"/>
        <a:cs typeface="+mn-cs"/>
      </a:defRPr>
    </a:lvl2pPr>
    <a:lvl3pPr marL="914400" algn="l" rtl="0" fontAlgn="base">
      <a:spcBef>
        <a:spcPct val="0"/>
      </a:spcBef>
      <a:spcAft>
        <a:spcPct val="0"/>
      </a:spcAft>
      <a:defRPr sz="2400" kern="1200">
        <a:solidFill>
          <a:schemeClr val="bg2"/>
        </a:solidFill>
        <a:latin typeface="News Gothic" pitchFamily="34" charset="0"/>
        <a:ea typeface="+mn-ea"/>
        <a:cs typeface="+mn-cs"/>
      </a:defRPr>
    </a:lvl3pPr>
    <a:lvl4pPr marL="1371600" algn="l" rtl="0" fontAlgn="base">
      <a:spcBef>
        <a:spcPct val="0"/>
      </a:spcBef>
      <a:spcAft>
        <a:spcPct val="0"/>
      </a:spcAft>
      <a:defRPr sz="2400" kern="1200">
        <a:solidFill>
          <a:schemeClr val="bg2"/>
        </a:solidFill>
        <a:latin typeface="News Gothic" pitchFamily="34" charset="0"/>
        <a:ea typeface="+mn-ea"/>
        <a:cs typeface="+mn-cs"/>
      </a:defRPr>
    </a:lvl4pPr>
    <a:lvl5pPr marL="1828800" algn="l" rtl="0" fontAlgn="base">
      <a:spcBef>
        <a:spcPct val="0"/>
      </a:spcBef>
      <a:spcAft>
        <a:spcPct val="0"/>
      </a:spcAft>
      <a:defRPr sz="2400" kern="1200">
        <a:solidFill>
          <a:schemeClr val="bg2"/>
        </a:solidFill>
        <a:latin typeface="News Gothic" pitchFamily="34" charset="0"/>
        <a:ea typeface="+mn-ea"/>
        <a:cs typeface="+mn-cs"/>
      </a:defRPr>
    </a:lvl5pPr>
    <a:lvl6pPr marL="2286000" algn="l" defTabSz="914400" rtl="0" eaLnBrk="1" latinLnBrk="0" hangingPunct="1">
      <a:defRPr sz="2400" kern="1200">
        <a:solidFill>
          <a:schemeClr val="bg2"/>
        </a:solidFill>
        <a:latin typeface="News Gothic" pitchFamily="34" charset="0"/>
        <a:ea typeface="+mn-ea"/>
        <a:cs typeface="+mn-cs"/>
      </a:defRPr>
    </a:lvl6pPr>
    <a:lvl7pPr marL="2743200" algn="l" defTabSz="914400" rtl="0" eaLnBrk="1" latinLnBrk="0" hangingPunct="1">
      <a:defRPr sz="2400" kern="1200">
        <a:solidFill>
          <a:schemeClr val="bg2"/>
        </a:solidFill>
        <a:latin typeface="News Gothic" pitchFamily="34" charset="0"/>
        <a:ea typeface="+mn-ea"/>
        <a:cs typeface="+mn-cs"/>
      </a:defRPr>
    </a:lvl7pPr>
    <a:lvl8pPr marL="3200400" algn="l" defTabSz="914400" rtl="0" eaLnBrk="1" latinLnBrk="0" hangingPunct="1">
      <a:defRPr sz="2400" kern="1200">
        <a:solidFill>
          <a:schemeClr val="bg2"/>
        </a:solidFill>
        <a:latin typeface="News Gothic" pitchFamily="34" charset="0"/>
        <a:ea typeface="+mn-ea"/>
        <a:cs typeface="+mn-cs"/>
      </a:defRPr>
    </a:lvl8pPr>
    <a:lvl9pPr marL="3657600" algn="l" defTabSz="914400" rtl="0" eaLnBrk="1" latinLnBrk="0" hangingPunct="1">
      <a:defRPr sz="2400" kern="1200">
        <a:solidFill>
          <a:schemeClr val="bg2"/>
        </a:solidFill>
        <a:latin typeface="News Gothic" pitchFamily="34" charset="0"/>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ob" initials="B" lastIdx="5"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srgbClr val="00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B65"/>
    <a:srgbClr val="005465"/>
    <a:srgbClr val="32439A"/>
    <a:srgbClr val="2C579F"/>
    <a:srgbClr val="336699"/>
    <a:srgbClr val="003399"/>
    <a:srgbClr val="124788"/>
    <a:srgbClr val="225578"/>
    <a:srgbClr val="284172"/>
    <a:srgbClr val="1A48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385" autoAdjust="0"/>
    <p:restoredTop sz="77935" autoAdjust="0"/>
  </p:normalViewPr>
  <p:slideViewPr>
    <p:cSldViewPr>
      <p:cViewPr varScale="1">
        <p:scale>
          <a:sx n="109" d="100"/>
          <a:sy n="109" d="100"/>
        </p:scale>
        <p:origin x="-486" y="-90"/>
      </p:cViewPr>
      <p:guideLst>
        <p:guide orient="horz" pos="480"/>
        <p:guide orient="horz" pos="4128"/>
        <p:guide orient="horz" pos="144"/>
        <p:guide orient="horz" pos="1008"/>
        <p:guide orient="horz" pos="768"/>
        <p:guide pos="4560"/>
        <p:guide pos="240"/>
        <p:guide pos="5520"/>
        <p:guide pos="384"/>
        <p:guide pos="100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79" d="100"/>
          <a:sy n="79" d="100"/>
        </p:scale>
        <p:origin x="-1962" y="-84"/>
      </p:cViewPr>
      <p:guideLst>
        <p:guide orient="horz" pos="2927"/>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004B65"/>
            </a:solidFill>
          </c:spPr>
          <c:invertIfNegative val="0"/>
          <c:cat>
            <c:strRef>
              <c:f>Sheet1!$A$2:$A$4</c:f>
              <c:strCache>
                <c:ptCount val="3"/>
                <c:pt idx="0">
                  <c:v>Insureds with low losses</c:v>
                </c:pt>
                <c:pt idx="1">
                  <c:v>Insureds with typical losses</c:v>
                </c:pt>
                <c:pt idx="2">
                  <c:v>Insureds with high losses</c:v>
                </c:pt>
              </c:strCache>
            </c:strRef>
          </c:cat>
          <c:val>
            <c:numRef>
              <c:f>Sheet1!$B$2:$B$4</c:f>
              <c:numCache>
                <c:formatCode>General</c:formatCode>
                <c:ptCount val="3"/>
                <c:pt idx="0">
                  <c:v>1</c:v>
                </c:pt>
                <c:pt idx="1">
                  <c:v>2</c:v>
                </c:pt>
                <c:pt idx="2">
                  <c:v>4</c:v>
                </c:pt>
              </c:numCache>
            </c:numRef>
          </c:val>
        </c:ser>
        <c:dLbls>
          <c:showLegendKey val="0"/>
          <c:showVal val="0"/>
          <c:showCatName val="0"/>
          <c:showSerName val="0"/>
          <c:showPercent val="0"/>
          <c:showBubbleSize val="0"/>
        </c:dLbls>
        <c:gapWidth val="150"/>
        <c:axId val="115313280"/>
        <c:axId val="115315072"/>
      </c:barChart>
      <c:catAx>
        <c:axId val="115313280"/>
        <c:scaling>
          <c:orientation val="minMax"/>
        </c:scaling>
        <c:delete val="0"/>
        <c:axPos val="b"/>
        <c:majorTickMark val="out"/>
        <c:minorTickMark val="none"/>
        <c:tickLblPos val="nextTo"/>
        <c:crossAx val="115315072"/>
        <c:crosses val="autoZero"/>
        <c:auto val="1"/>
        <c:lblAlgn val="ctr"/>
        <c:lblOffset val="100"/>
        <c:noMultiLvlLbl val="0"/>
      </c:catAx>
      <c:valAx>
        <c:axId val="115315072"/>
        <c:scaling>
          <c:orientation val="minMax"/>
        </c:scaling>
        <c:delete val="1"/>
        <c:axPos val="l"/>
        <c:numFmt formatCode="General" sourceLinked="1"/>
        <c:majorTickMark val="out"/>
        <c:minorTickMark val="none"/>
        <c:tickLblPos val="nextTo"/>
        <c:crossAx val="115313280"/>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188205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Rot="1" noChangeAspect="1" noChangeArrowheads="1" noTextEdit="1"/>
          </p:cNvSpPr>
          <p:nvPr>
            <p:ph type="sldImg" idx="2"/>
          </p:nvPr>
        </p:nvSpPr>
        <p:spPr bwMode="auto">
          <a:xfrm>
            <a:off x="1190625" y="703263"/>
            <a:ext cx="4630738" cy="3473450"/>
          </a:xfrm>
          <a:prstGeom prst="rect">
            <a:avLst/>
          </a:prstGeom>
          <a:noFill/>
          <a:ln w="12700">
            <a:solidFill>
              <a:srgbClr val="000000"/>
            </a:solidFill>
            <a:miter lim="800000"/>
            <a:headEnd/>
            <a:tailEnd/>
          </a:ln>
        </p:spPr>
      </p:sp>
      <p:sp>
        <p:nvSpPr>
          <p:cNvPr id="2051" name="Rectangle 3"/>
          <p:cNvSpPr>
            <a:spLocks noGrp="1" noChangeArrowheads="1"/>
          </p:cNvSpPr>
          <p:nvPr>
            <p:ph type="body" sz="quarter" idx="3"/>
          </p:nvPr>
        </p:nvSpPr>
        <p:spPr bwMode="auto">
          <a:xfrm>
            <a:off x="935040" y="4413250"/>
            <a:ext cx="5140325" cy="4186238"/>
          </a:xfrm>
          <a:prstGeom prst="rect">
            <a:avLst/>
          </a:prstGeom>
          <a:noFill/>
          <a:ln w="9525">
            <a:noFill/>
            <a:miter lim="800000"/>
            <a:headEnd/>
            <a:tailEnd/>
          </a:ln>
          <a:effectLst/>
        </p:spPr>
        <p:txBody>
          <a:bodyPr vert="horz" wrap="square" lIns="92229" tIns="45305" rIns="92229" bIns="45305" numCol="1" anchor="t" anchorCtr="0" compatLnSpc="1">
            <a:prstTxWarp prst="textNoShape">
              <a:avLst/>
            </a:prstTxWarp>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Tree>
    <p:extLst>
      <p:ext uri="{BB962C8B-B14F-4D97-AF65-F5344CB8AC3E}">
        <p14:creationId xmlns:p14="http://schemas.microsoft.com/office/powerpoint/2010/main" val="354325198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News Gothic"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News Gothic"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News Gothic"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News Gothic"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News Gothic"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80582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Slide Image Placeholder 1"/>
          <p:cNvSpPr>
            <a:spLocks noGrp="1" noRot="1" noChangeAspect="1" noTextEdit="1"/>
          </p:cNvSpPr>
          <p:nvPr>
            <p:ph type="sldImg"/>
          </p:nvPr>
        </p:nvSpPr>
        <p:spPr>
          <a:ln/>
        </p:spPr>
      </p:sp>
      <p:sp>
        <p:nvSpPr>
          <p:cNvPr id="118787" name="Notes Placeholder 2"/>
          <p:cNvSpPr>
            <a:spLocks noGrp="1"/>
          </p:cNvSpPr>
          <p:nvPr>
            <p:ph type="body" idx="1"/>
          </p:nvPr>
        </p:nvSpPr>
        <p:spPr>
          <a:noFill/>
          <a:ln/>
        </p:spPr>
        <p:txBody>
          <a:bodyPr/>
          <a:lstStyle/>
          <a:p>
            <a:endParaRPr lang="en-US" dirty="0" smtClean="0">
              <a:latin typeface="News Gothic"/>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xfrm>
            <a:off x="1182688" y="696913"/>
            <a:ext cx="4648200" cy="3486150"/>
          </a:xfrm>
          <a:ln/>
        </p:spPr>
      </p:sp>
      <p:sp>
        <p:nvSpPr>
          <p:cNvPr id="51203" name="Rectangle 3"/>
          <p:cNvSpPr>
            <a:spLocks noGrp="1" noChangeArrowheads="1"/>
          </p:cNvSpPr>
          <p:nvPr>
            <p:ph type="body" idx="1"/>
          </p:nvPr>
        </p:nvSpPr>
        <p:spPr>
          <a:xfrm>
            <a:off x="934720" y="4416426"/>
            <a:ext cx="5140960" cy="4183063"/>
          </a:xfrm>
          <a:noFill/>
        </p:spPr>
        <p:txBody>
          <a:bodyPr/>
          <a:lstStyle/>
          <a:p>
            <a:pPr eaLnBrk="1" hangingPunct="1"/>
            <a:endParaRPr lang="en-US" dirty="0"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37"/>
          <p:cNvSpPr>
            <a:spLocks noChangeArrowheads="1"/>
          </p:cNvSpPr>
          <p:nvPr userDrawn="1"/>
        </p:nvSpPr>
        <p:spPr bwMode="auto">
          <a:xfrm>
            <a:off x="-9526" y="609600"/>
            <a:ext cx="9153526" cy="6248400"/>
          </a:xfrm>
          <a:prstGeom prst="rect">
            <a:avLst/>
          </a:prstGeom>
          <a:solidFill>
            <a:schemeClr val="bg1"/>
          </a:solidFill>
          <a:ln w="12700">
            <a:noFill/>
            <a:miter lim="800000"/>
            <a:headEnd type="none" w="sm" len="sm"/>
            <a:tailEnd type="none" w="sm" len="sm"/>
          </a:ln>
          <a:effectLst/>
        </p:spPr>
        <p:txBody>
          <a:bodyPr wrap="none" anchor="ctr"/>
          <a:lstStyle/>
          <a:p>
            <a:pPr>
              <a:defRPr/>
            </a:pPr>
            <a:endParaRPr lang="en-US" dirty="0"/>
          </a:p>
        </p:txBody>
      </p:sp>
      <p:sp>
        <p:nvSpPr>
          <p:cNvPr id="5" name="Rectangle 36"/>
          <p:cNvSpPr>
            <a:spLocks noChangeArrowheads="1"/>
          </p:cNvSpPr>
          <p:nvPr/>
        </p:nvSpPr>
        <p:spPr bwMode="auto">
          <a:xfrm>
            <a:off x="-9526" y="2353811"/>
            <a:ext cx="1685925" cy="2286000"/>
          </a:xfrm>
          <a:prstGeom prst="rect">
            <a:avLst/>
          </a:prstGeom>
          <a:gradFill rotWithShape="0">
            <a:gsLst>
              <a:gs pos="0">
                <a:schemeClr val="bg1">
                  <a:lumMod val="75000"/>
                </a:schemeClr>
              </a:gs>
              <a:gs pos="100000">
                <a:schemeClr val="bg1">
                  <a:lumMod val="85000"/>
                </a:schemeClr>
              </a:gs>
            </a:gsLst>
            <a:lin ang="2700000" scaled="1"/>
          </a:gradFill>
          <a:ln w="12700">
            <a:noFill/>
            <a:miter lim="800000"/>
            <a:headEnd type="none" w="sm" len="sm"/>
            <a:tailEnd type="none" w="sm" len="sm"/>
          </a:ln>
          <a:effectLst/>
        </p:spPr>
        <p:txBody>
          <a:bodyPr wrap="none" anchor="ctr"/>
          <a:lstStyle/>
          <a:p>
            <a:pPr>
              <a:defRPr/>
            </a:pPr>
            <a:endParaRPr lang="en-US" dirty="0"/>
          </a:p>
        </p:txBody>
      </p:sp>
      <p:sp>
        <p:nvSpPr>
          <p:cNvPr id="6" name="Rectangle 35"/>
          <p:cNvSpPr>
            <a:spLocks noChangeArrowheads="1"/>
          </p:cNvSpPr>
          <p:nvPr/>
        </p:nvSpPr>
        <p:spPr bwMode="auto">
          <a:xfrm>
            <a:off x="619125" y="1134611"/>
            <a:ext cx="8534400" cy="2438400"/>
          </a:xfrm>
          <a:prstGeom prst="rect">
            <a:avLst/>
          </a:prstGeom>
          <a:gradFill rotWithShape="0">
            <a:gsLst>
              <a:gs pos="0">
                <a:srgbClr val="004B65"/>
              </a:gs>
              <a:gs pos="100000">
                <a:srgbClr val="004B65"/>
              </a:gs>
            </a:gsLst>
            <a:lin ang="18900000" scaled="1"/>
          </a:gradFill>
          <a:ln w="12700">
            <a:noFill/>
            <a:miter lim="800000"/>
            <a:headEnd type="none" w="sm" len="sm"/>
            <a:tailEnd type="none" w="sm" len="sm"/>
          </a:ln>
          <a:effectLst/>
        </p:spPr>
        <p:txBody>
          <a:bodyPr wrap="none" anchor="ctr"/>
          <a:lstStyle/>
          <a:p>
            <a:pPr>
              <a:defRPr/>
            </a:pPr>
            <a:endParaRPr lang="en-US" dirty="0"/>
          </a:p>
        </p:txBody>
      </p:sp>
      <p:sp>
        <p:nvSpPr>
          <p:cNvPr id="7" name="Rectangle 6"/>
          <p:cNvSpPr>
            <a:spLocks noChangeArrowheads="1"/>
          </p:cNvSpPr>
          <p:nvPr/>
        </p:nvSpPr>
        <p:spPr bwMode="auto">
          <a:xfrm>
            <a:off x="1609725" y="2887211"/>
            <a:ext cx="7543800" cy="2895600"/>
          </a:xfrm>
          <a:prstGeom prst="rect">
            <a:avLst/>
          </a:prstGeom>
          <a:solidFill>
            <a:schemeClr val="bg1">
              <a:lumMod val="50000"/>
            </a:schemeClr>
          </a:solidFill>
          <a:ln w="12700">
            <a:noFill/>
            <a:miter lim="800000"/>
            <a:headEnd type="none" w="sm" len="sm"/>
            <a:tailEnd type="none" w="sm" len="sm"/>
          </a:ln>
          <a:effectLst/>
        </p:spPr>
        <p:txBody>
          <a:bodyPr wrap="none" anchor="ctr"/>
          <a:lstStyle/>
          <a:p>
            <a:pPr>
              <a:defRPr/>
            </a:pPr>
            <a:endParaRPr lang="en-US" dirty="0"/>
          </a:p>
        </p:txBody>
      </p:sp>
      <p:sp>
        <p:nvSpPr>
          <p:cNvPr id="3075" name="Rectangle 3"/>
          <p:cNvSpPr>
            <a:spLocks noGrp="1" noChangeArrowheads="1"/>
          </p:cNvSpPr>
          <p:nvPr>
            <p:ph type="subTitle" sz="quarter" idx="1"/>
          </p:nvPr>
        </p:nvSpPr>
        <p:spPr bwMode="white">
          <a:xfrm>
            <a:off x="1600200" y="2430011"/>
            <a:ext cx="7162800" cy="304800"/>
          </a:xfrm>
        </p:spPr>
        <p:txBody>
          <a:bodyPr anchor="b">
            <a:spAutoFit/>
          </a:bodyPr>
          <a:lstStyle>
            <a:lvl1pPr>
              <a:spcBef>
                <a:spcPct val="0"/>
              </a:spcBef>
              <a:buFont typeface="Monotype Sorts" pitchFamily="2" charset="2"/>
              <a:buNone/>
              <a:defRPr sz="2000">
                <a:solidFill>
                  <a:schemeClr val="bg1"/>
                </a:solidFill>
              </a:defRPr>
            </a:lvl1pPr>
          </a:lstStyle>
          <a:p>
            <a:r>
              <a:rPr lang="en-US"/>
              <a:t>Click to edit Master subtitle style</a:t>
            </a:r>
          </a:p>
        </p:txBody>
      </p:sp>
      <p:sp>
        <p:nvSpPr>
          <p:cNvPr id="3076" name="Rectangle 4"/>
          <p:cNvSpPr>
            <a:spLocks noGrp="1" noChangeArrowheads="1"/>
          </p:cNvSpPr>
          <p:nvPr>
            <p:ph type="ctrTitle" sz="quarter"/>
          </p:nvPr>
        </p:nvSpPr>
        <p:spPr bwMode="white">
          <a:xfrm>
            <a:off x="1600200" y="1298124"/>
            <a:ext cx="7162800" cy="522287"/>
          </a:xfrm>
          <a:prstGeom prst="rect">
            <a:avLst/>
          </a:prstGeom>
        </p:spPr>
        <p:txBody>
          <a:bodyPr>
            <a:spAutoFit/>
          </a:bodyPr>
          <a:lstStyle>
            <a:lvl1pPr>
              <a:defRPr sz="3800"/>
            </a:lvl1pPr>
          </a:lstStyle>
          <a:p>
            <a:r>
              <a:rPr lang="en-US"/>
              <a:t>Click to edit Master title style</a:t>
            </a:r>
          </a:p>
        </p:txBody>
      </p:sp>
      <p:sp>
        <p:nvSpPr>
          <p:cNvPr id="9" name="Rectangle 37"/>
          <p:cNvSpPr>
            <a:spLocks noChangeArrowheads="1"/>
          </p:cNvSpPr>
          <p:nvPr userDrawn="1"/>
        </p:nvSpPr>
        <p:spPr bwMode="auto">
          <a:xfrm>
            <a:off x="-9526" y="-9526"/>
            <a:ext cx="9153526" cy="695325"/>
          </a:xfrm>
          <a:prstGeom prst="rect">
            <a:avLst/>
          </a:prstGeom>
          <a:solidFill>
            <a:schemeClr val="bg1"/>
          </a:solidFill>
          <a:ln w="12700">
            <a:noFill/>
            <a:miter lim="800000"/>
            <a:headEnd type="none" w="sm" len="sm"/>
            <a:tailEnd type="none" w="sm" len="sm"/>
          </a:ln>
          <a:effectLst/>
        </p:spPr>
        <p:txBody>
          <a:bodyPr wrap="none" anchor="ctr"/>
          <a:lstStyle/>
          <a:p>
            <a:pPr>
              <a:defRPr/>
            </a:pPr>
            <a:endParaRPr lang="en-US" dirty="0"/>
          </a:p>
        </p:txBody>
      </p:sp>
      <p:sp>
        <p:nvSpPr>
          <p:cNvPr id="11" name="Rectangle 37"/>
          <p:cNvSpPr>
            <a:spLocks noChangeArrowheads="1"/>
          </p:cNvSpPr>
          <p:nvPr userDrawn="1"/>
        </p:nvSpPr>
        <p:spPr bwMode="auto">
          <a:xfrm>
            <a:off x="-1" y="0"/>
            <a:ext cx="9153526" cy="1209675"/>
          </a:xfrm>
          <a:prstGeom prst="rect">
            <a:avLst/>
          </a:prstGeom>
          <a:solidFill>
            <a:schemeClr val="bg1"/>
          </a:solidFill>
          <a:ln w="12700">
            <a:noFill/>
            <a:miter lim="800000"/>
            <a:headEnd type="none" w="sm" len="sm"/>
            <a:tailEnd type="none" w="sm" len="sm"/>
          </a:ln>
          <a:effectLst/>
        </p:spPr>
        <p:txBody>
          <a:bodyPr wrap="none" anchor="ctr"/>
          <a:lstStyle/>
          <a:p>
            <a:pPr>
              <a:defRPr/>
            </a:pPr>
            <a:endParaRPr lang="en-US" dirty="0"/>
          </a:p>
        </p:txBody>
      </p:sp>
      <p:pic>
        <p:nvPicPr>
          <p:cNvPr id="14"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770916" y="5824756"/>
            <a:ext cx="2277234" cy="976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userDrawn="1"/>
        </p:nvSpPr>
        <p:spPr>
          <a:xfrm>
            <a:off x="533400" y="6388208"/>
            <a:ext cx="2701381" cy="201594"/>
          </a:xfrm>
          <a:prstGeom prst="rect">
            <a:avLst/>
          </a:prstGeom>
          <a:noFill/>
        </p:spPr>
        <p:txBody>
          <a:bodyPr wrap="none" rtlCol="0">
            <a:spAutoFit/>
          </a:bodyPr>
          <a:lstStyle/>
          <a:p>
            <a:r>
              <a:rPr lang="en-US" sz="710" dirty="0" smtClean="0"/>
              <a:t>© Edgewood Partners Insurance Center CA License 0B29370</a:t>
            </a:r>
            <a:endParaRPr lang="en-US" sz="71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342900" indent="-342900">
              <a:buSzPct val="100000"/>
              <a:buFont typeface="Wingdings" pitchFamily="2" charset="2"/>
              <a:buChar char="§"/>
              <a:defRPr/>
            </a:lvl1pPr>
            <a:lvl2pPr marL="576263" indent="-238125">
              <a:buFontTx/>
              <a:buChar char="‒"/>
              <a:defRPr/>
            </a:lvl2pPr>
            <a:lvl3pPr marL="920750" indent="-342900">
              <a:buSzPct val="75000"/>
              <a:buFont typeface="Wingdings" pitchFamily="2" charset="2"/>
              <a:buChar char="§"/>
              <a:defRPr/>
            </a:lvl3pPr>
            <a:lvl5pPr>
              <a:buClr>
                <a:srgbClr val="86001E"/>
              </a:buClr>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6" name="Rectangle 4"/>
          <p:cNvSpPr>
            <a:spLocks noGrp="1" noChangeArrowheads="1"/>
          </p:cNvSpPr>
          <p:nvPr>
            <p:ph type="title"/>
          </p:nvPr>
        </p:nvSpPr>
        <p:spPr bwMode="auto">
          <a:xfrm>
            <a:off x="1600200" y="192088"/>
            <a:ext cx="7162800" cy="431800"/>
          </a:xfrm>
          <a:prstGeom prst="rect">
            <a:avLst/>
          </a:prstGeom>
          <a:noFill/>
          <a:ln w="9525">
            <a:noFill/>
            <a:miter lim="800000"/>
            <a:headEnd/>
            <a:tailEnd/>
          </a:ln>
        </p:spPr>
        <p:txBody>
          <a:bodyPr/>
          <a:lstStyle/>
          <a:p>
            <a:pPr lvl="0"/>
            <a:r>
              <a:rPr lang="en-US" dirty="0" smtClean="0"/>
              <a:t>Click to edit Master title style</a:t>
            </a:r>
          </a:p>
        </p:txBody>
      </p:sp>
      <p:sp>
        <p:nvSpPr>
          <p:cNvPr id="4" name="Rectangle 16"/>
          <p:cNvSpPr>
            <a:spLocks noGrp="1" noChangeArrowheads="1"/>
          </p:cNvSpPr>
          <p:nvPr>
            <p:ph type="sldNum" sz="quarter" idx="10"/>
          </p:nvPr>
        </p:nvSpPr>
        <p:spPr>
          <a:ln/>
        </p:spPr>
        <p:txBody>
          <a:bodyPr/>
          <a:lstStyle>
            <a:lvl1pPr>
              <a:defRPr/>
            </a:lvl1pPr>
          </a:lstStyle>
          <a:p>
            <a:pPr>
              <a:defRPr/>
            </a:pPr>
            <a:fld id="{0B9A7EEB-07A5-4AF2-AE91-BE3FA2FA8060}"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4" name="Rectangle 4"/>
          <p:cNvSpPr txBox="1">
            <a:spLocks noChangeArrowheads="1"/>
          </p:cNvSpPr>
          <p:nvPr userDrawn="1"/>
        </p:nvSpPr>
        <p:spPr bwMode="auto">
          <a:xfrm>
            <a:off x="1600200" y="192088"/>
            <a:ext cx="7162800" cy="431800"/>
          </a:xfrm>
          <a:prstGeom prst="rect">
            <a:avLst/>
          </a:prstGeom>
          <a:noFill/>
          <a:ln w="9525">
            <a:noFill/>
            <a:miter lim="800000"/>
            <a:headEnd/>
            <a:tailEnd/>
          </a:ln>
        </p:spPr>
        <p:txBody>
          <a:bodyPr lIns="0" tIns="0" rIns="0" bIns="0"/>
          <a:lstStyle/>
          <a:p>
            <a:pPr eaLnBrk="0" hangingPunct="0">
              <a:lnSpc>
                <a:spcPct val="90000"/>
              </a:lnSpc>
              <a:defRPr/>
            </a:pPr>
            <a:r>
              <a:rPr lang="en-US" sz="2900" b="1" kern="0" dirty="0">
                <a:solidFill>
                  <a:schemeClr val="bg1"/>
                </a:solidFill>
                <a:latin typeface="+mj-lt"/>
                <a:ea typeface="+mj-ea"/>
                <a:cs typeface="+mj-cs"/>
              </a:rPr>
              <a:t>Click to edit Master title style</a:t>
            </a:r>
          </a:p>
        </p:txBody>
      </p:sp>
      <p:sp>
        <p:nvSpPr>
          <p:cNvPr id="2" name="Title 1"/>
          <p:cNvSpPr>
            <a:spLocks noGrp="1"/>
          </p:cNvSpPr>
          <p:nvPr>
            <p:ph type="title"/>
          </p:nvPr>
        </p:nvSpPr>
        <p:spPr>
          <a:xfrm>
            <a:off x="722313" y="4406900"/>
            <a:ext cx="7772400" cy="1362075"/>
          </a:xfrm>
          <a:prstGeom prst="rect">
            <a:avLst/>
          </a:prstGeom>
        </p:spPr>
        <p:txBody>
          <a:bodyPr/>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dirty="0" smtClean="0"/>
              <a:t>Click to edit Master text styles</a:t>
            </a:r>
          </a:p>
        </p:txBody>
      </p:sp>
      <p:sp>
        <p:nvSpPr>
          <p:cNvPr id="5" name="Rectangle 16"/>
          <p:cNvSpPr>
            <a:spLocks noGrp="1" noChangeArrowheads="1"/>
          </p:cNvSpPr>
          <p:nvPr>
            <p:ph type="sldNum" sz="quarter" idx="10"/>
          </p:nvPr>
        </p:nvSpPr>
        <p:spPr/>
        <p:txBody>
          <a:bodyPr/>
          <a:lstStyle>
            <a:lvl1pPr>
              <a:defRPr/>
            </a:lvl1pPr>
          </a:lstStyle>
          <a:p>
            <a:pPr>
              <a:defRPr/>
            </a:pPr>
            <a:fld id="{12C5662E-259F-4092-B60A-88AE76332741}"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192088"/>
            <a:ext cx="7162800" cy="431800"/>
          </a:xfrm>
          <a:prstGeom prst="rect">
            <a:avLst/>
          </a:prstGeom>
        </p:spPr>
        <p:txBody>
          <a:bodyPr/>
          <a:lstStyle/>
          <a:p>
            <a:r>
              <a:rPr lang="en-US" smtClean="0"/>
              <a:t>Click to edit Master title style</a:t>
            </a:r>
            <a:endParaRPr lang="en-US"/>
          </a:p>
        </p:txBody>
      </p:sp>
      <p:sp>
        <p:nvSpPr>
          <p:cNvPr id="3" name="Content Placeholder 2"/>
          <p:cNvSpPr>
            <a:spLocks noGrp="1"/>
          </p:cNvSpPr>
          <p:nvPr>
            <p:ph sz="half" idx="1"/>
          </p:nvPr>
        </p:nvSpPr>
        <p:spPr>
          <a:xfrm>
            <a:off x="1600200" y="1828800"/>
            <a:ext cx="3505200" cy="4114800"/>
          </a:xfrm>
        </p:spPr>
        <p:txBody>
          <a:bodyPr/>
          <a:lstStyle>
            <a:lvl1pPr>
              <a:defRPr sz="2800"/>
            </a:lvl1pPr>
            <a:lvl2pPr>
              <a:defRPr sz="2400"/>
            </a:lvl2pPr>
            <a:lvl3pPr>
              <a:defRPr sz="2000"/>
            </a:lvl3pPr>
            <a:lvl4pPr>
              <a:defRPr sz="1800"/>
            </a:lvl4pPr>
            <a:lvl5pPr>
              <a:buClr>
                <a:srgbClr val="86001E"/>
              </a:buCl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257800" y="1828800"/>
            <a:ext cx="3505200" cy="4114800"/>
          </a:xfrm>
        </p:spPr>
        <p:txBody>
          <a:bodyPr/>
          <a:lstStyle>
            <a:lvl1pPr>
              <a:defRPr sz="2800"/>
            </a:lvl1pPr>
            <a:lvl2pPr>
              <a:defRPr sz="2400"/>
            </a:lvl2pPr>
            <a:lvl3pPr>
              <a:defRPr sz="2000"/>
            </a:lvl3pPr>
            <a:lvl4pPr>
              <a:defRPr sz="1800"/>
            </a:lvl4pPr>
            <a:lvl5pPr>
              <a:buClr>
                <a:srgbClr val="86001E"/>
              </a:buCl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Rectangle 16"/>
          <p:cNvSpPr>
            <a:spLocks noGrp="1" noChangeArrowheads="1"/>
          </p:cNvSpPr>
          <p:nvPr>
            <p:ph type="sldNum" sz="quarter" idx="10"/>
          </p:nvPr>
        </p:nvSpPr>
        <p:spPr>
          <a:ln/>
        </p:spPr>
        <p:txBody>
          <a:bodyPr/>
          <a:lstStyle>
            <a:lvl1pPr>
              <a:defRPr/>
            </a:lvl1pPr>
          </a:lstStyle>
          <a:p>
            <a:pPr>
              <a:defRPr/>
            </a:pPr>
            <a:fld id="{981AFCB6-AC79-40CB-B69E-ED4E39F334DB}"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874838"/>
            <a:ext cx="4040188" cy="63976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514599"/>
            <a:ext cx="4040188" cy="3611563"/>
          </a:xfrm>
        </p:spPr>
        <p:txBody>
          <a:bodyPr/>
          <a:lstStyle>
            <a:lvl1pPr>
              <a:defRPr sz="2400"/>
            </a:lvl1pPr>
            <a:lvl2pPr>
              <a:defRPr sz="2000"/>
            </a:lvl2pPr>
            <a:lvl3pPr>
              <a:defRPr sz="1800"/>
            </a:lvl3pPr>
            <a:lvl4pPr>
              <a:defRPr sz="1600"/>
            </a:lvl4pPr>
            <a:lvl5pPr>
              <a:buClr>
                <a:srgbClr val="86001E"/>
              </a:buClr>
              <a:defRPr sz="1600"/>
            </a:lvl5pPr>
            <a:lvl6pPr>
              <a:defRPr sz="1600"/>
            </a:lvl6pPr>
            <a:lvl7pPr>
              <a:defRPr sz="1600"/>
            </a:lvl7pPr>
            <a:lvl8pPr>
              <a:defRPr sz="1600"/>
            </a:lvl8pPr>
            <a:lvl9pPr>
              <a:defRPr sz="16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4645025" y="1874838"/>
            <a:ext cx="4041775" cy="63976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514599"/>
            <a:ext cx="4041775" cy="3611563"/>
          </a:xfrm>
        </p:spPr>
        <p:txBody>
          <a:bodyPr/>
          <a:lstStyle>
            <a:lvl1pPr>
              <a:defRPr sz="2400"/>
            </a:lvl1pPr>
            <a:lvl2pPr>
              <a:defRPr sz="2000"/>
            </a:lvl2pPr>
            <a:lvl3pPr>
              <a:defRPr sz="1800"/>
            </a:lvl3pPr>
            <a:lvl4pPr>
              <a:defRPr sz="1600"/>
            </a:lvl4pPr>
            <a:lvl5pPr>
              <a:buClr>
                <a:srgbClr val="86001E"/>
              </a:buClr>
              <a:defRPr sz="1600"/>
            </a:lvl5pPr>
            <a:lvl6pPr>
              <a:defRPr sz="1600"/>
            </a:lvl6pPr>
            <a:lvl7pPr>
              <a:defRPr sz="1600"/>
            </a:lvl7pPr>
            <a:lvl8pPr>
              <a:defRPr sz="1600"/>
            </a:lvl8pPr>
            <a:lvl9pPr>
              <a:defRPr sz="16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8" name="Rectangle 4"/>
          <p:cNvSpPr>
            <a:spLocks noGrp="1" noChangeArrowheads="1"/>
          </p:cNvSpPr>
          <p:nvPr>
            <p:ph type="title"/>
          </p:nvPr>
        </p:nvSpPr>
        <p:spPr bwMode="auto">
          <a:xfrm>
            <a:off x="1600200" y="192088"/>
            <a:ext cx="7162800" cy="431800"/>
          </a:xfrm>
          <a:prstGeom prst="rect">
            <a:avLst/>
          </a:prstGeom>
          <a:noFill/>
          <a:ln w="9525">
            <a:noFill/>
            <a:miter lim="800000"/>
            <a:headEnd/>
            <a:tailEnd/>
          </a:ln>
        </p:spPr>
        <p:txBody>
          <a:bodyPr/>
          <a:lstStyle/>
          <a:p>
            <a:pPr lvl="0"/>
            <a:r>
              <a:rPr lang="en-US" dirty="0" smtClean="0"/>
              <a:t>Click to edit Master title style</a:t>
            </a:r>
          </a:p>
        </p:txBody>
      </p:sp>
      <p:sp>
        <p:nvSpPr>
          <p:cNvPr id="7" name="Rectangle 16"/>
          <p:cNvSpPr>
            <a:spLocks noGrp="1" noChangeArrowheads="1"/>
          </p:cNvSpPr>
          <p:nvPr>
            <p:ph type="sldNum" sz="quarter" idx="10"/>
          </p:nvPr>
        </p:nvSpPr>
        <p:spPr>
          <a:ln/>
        </p:spPr>
        <p:txBody>
          <a:bodyPr/>
          <a:lstStyle>
            <a:lvl1pPr>
              <a:defRPr/>
            </a:lvl1pPr>
          </a:lstStyle>
          <a:p>
            <a:pPr>
              <a:defRPr/>
            </a:pPr>
            <a:fld id="{C6EDBBC9-D8A4-4136-B103-EB4A68EC03D4}" type="slidenum">
              <a:rPr lang="en-US"/>
              <a:pPr>
                <a:defRPr/>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600200" y="192088"/>
            <a:ext cx="7162800" cy="431800"/>
          </a:xfrm>
          <a:prstGeom prst="rect">
            <a:avLst/>
          </a:prstGeom>
        </p:spPr>
        <p:txBody>
          <a:bodyPr/>
          <a:lstStyle/>
          <a:p>
            <a:r>
              <a:rPr lang="en-US" smtClean="0"/>
              <a:t>Click to edit Master title style</a:t>
            </a:r>
            <a:endParaRPr lang="en-US"/>
          </a:p>
        </p:txBody>
      </p:sp>
      <p:sp>
        <p:nvSpPr>
          <p:cNvPr id="3" name="Rectangle 16"/>
          <p:cNvSpPr>
            <a:spLocks noGrp="1" noChangeArrowheads="1"/>
          </p:cNvSpPr>
          <p:nvPr>
            <p:ph type="sldNum" sz="quarter" idx="10"/>
          </p:nvPr>
        </p:nvSpPr>
        <p:spPr>
          <a:ln/>
        </p:spPr>
        <p:txBody>
          <a:bodyPr/>
          <a:lstStyle>
            <a:lvl1pPr>
              <a:defRPr/>
            </a:lvl1pPr>
          </a:lstStyle>
          <a:p>
            <a:pPr>
              <a:defRPr/>
            </a:pPr>
            <a:fld id="{3DAC9827-A357-4524-AEA8-15AD5E7B59AC}" type="slidenum">
              <a:rPr lang="en-US"/>
              <a:pPr>
                <a:defRPr/>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Rectangle 4"/>
          <p:cNvSpPr>
            <a:spLocks noGrp="1" noChangeArrowheads="1"/>
          </p:cNvSpPr>
          <p:nvPr>
            <p:ph type="title"/>
          </p:nvPr>
        </p:nvSpPr>
        <p:spPr bwMode="auto">
          <a:xfrm>
            <a:off x="1600200" y="192088"/>
            <a:ext cx="7162800" cy="431800"/>
          </a:xfrm>
          <a:prstGeom prst="rect">
            <a:avLst/>
          </a:prstGeom>
          <a:noFill/>
          <a:ln w="9525">
            <a:noFill/>
            <a:miter lim="800000"/>
            <a:headEnd/>
            <a:tailEnd/>
          </a:ln>
        </p:spPr>
        <p:txBody>
          <a:bodyPr/>
          <a:lstStyle/>
          <a:p>
            <a:pPr lvl="0"/>
            <a:r>
              <a:rPr lang="en-US" dirty="0" smtClean="0"/>
              <a:t>Click to edit Master title style</a:t>
            </a:r>
          </a:p>
        </p:txBody>
      </p:sp>
      <p:sp>
        <p:nvSpPr>
          <p:cNvPr id="4" name="Rectangle 16"/>
          <p:cNvSpPr>
            <a:spLocks noGrp="1" noChangeArrowheads="1"/>
          </p:cNvSpPr>
          <p:nvPr>
            <p:ph type="sldNum" sz="quarter" idx="10"/>
          </p:nvPr>
        </p:nvSpPr>
        <p:spPr>
          <a:ln/>
        </p:spPr>
        <p:txBody>
          <a:bodyPr/>
          <a:lstStyle>
            <a:lvl1pPr>
              <a:defRPr/>
            </a:lvl1pPr>
          </a:lstStyle>
          <a:p>
            <a:pPr>
              <a:defRPr/>
            </a:pPr>
            <a:fld id="{582F4ABE-4A32-4695-8D4E-D624193DB3D6}" type="slidenum">
              <a:rPr lang="en-US"/>
              <a:pPr>
                <a:defRPr/>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1809750"/>
            <a:ext cx="3008313" cy="1162050"/>
          </a:xfrm>
          <a:prstGeom prst="rect">
            <a:avLst/>
          </a:prstGeo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1828800"/>
            <a:ext cx="5111750" cy="4297363"/>
          </a:xfrm>
        </p:spPr>
        <p:txBody>
          <a:bodyPr/>
          <a:lstStyle>
            <a:lvl1pPr>
              <a:defRPr sz="3200"/>
            </a:lvl1pPr>
            <a:lvl2pPr>
              <a:defRPr sz="2800"/>
            </a:lvl2pPr>
            <a:lvl3pPr>
              <a:defRPr sz="2400"/>
            </a:lvl3pPr>
            <a:lvl4pPr>
              <a:defRPr sz="2000"/>
            </a:lvl4pPr>
            <a:lvl5pPr>
              <a:buClr>
                <a:srgbClr val="86001E"/>
              </a:buClr>
              <a:defRPr sz="2000"/>
            </a:lvl5pPr>
            <a:lvl6pPr>
              <a:defRPr sz="2000"/>
            </a:lvl6pPr>
            <a:lvl7pPr>
              <a:defRPr sz="2000"/>
            </a:lvl7pPr>
            <a:lvl8pPr>
              <a:defRPr sz="2000"/>
            </a:lvl8pPr>
            <a:lvl9pPr>
              <a:defRPr sz="20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Text Placeholder 3"/>
          <p:cNvSpPr>
            <a:spLocks noGrp="1"/>
          </p:cNvSpPr>
          <p:nvPr>
            <p:ph type="body" sz="half" idx="2"/>
          </p:nvPr>
        </p:nvSpPr>
        <p:spPr>
          <a:xfrm>
            <a:off x="457200" y="1828800"/>
            <a:ext cx="3008313" cy="42973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16"/>
          <p:cNvSpPr>
            <a:spLocks noGrp="1" noChangeArrowheads="1"/>
          </p:cNvSpPr>
          <p:nvPr>
            <p:ph type="sldNum" sz="quarter" idx="10"/>
          </p:nvPr>
        </p:nvSpPr>
        <p:spPr>
          <a:ln/>
        </p:spPr>
        <p:txBody>
          <a:bodyPr/>
          <a:lstStyle>
            <a:lvl1pPr>
              <a:defRPr/>
            </a:lvl1pPr>
          </a:lstStyle>
          <a:p>
            <a:pPr>
              <a:defRPr/>
            </a:pPr>
            <a:fld id="{942DF743-D4A5-486A-9B3F-CE07E43D93EA}" type="slidenum">
              <a:rPr lang="en-US"/>
              <a:pPr>
                <a:defRPr/>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1981199"/>
            <a:ext cx="5486400" cy="27463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Rectangle 16"/>
          <p:cNvSpPr>
            <a:spLocks noGrp="1" noChangeArrowheads="1"/>
          </p:cNvSpPr>
          <p:nvPr>
            <p:ph type="sldNum" sz="quarter" idx="10"/>
          </p:nvPr>
        </p:nvSpPr>
        <p:spPr>
          <a:ln/>
        </p:spPr>
        <p:txBody>
          <a:bodyPr/>
          <a:lstStyle>
            <a:lvl1pPr>
              <a:defRPr/>
            </a:lvl1pPr>
          </a:lstStyle>
          <a:p>
            <a:pPr>
              <a:defRPr/>
            </a:pPr>
            <a:fld id="{10E05679-C5E3-4279-88E3-AC9D220B419F}" type="slidenum">
              <a:rPr lang="en-US"/>
              <a:pPr>
                <a:defRPr/>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600200" y="192088"/>
            <a:ext cx="7162800" cy="431800"/>
          </a:xfrm>
          <a:prstGeom prst="rect">
            <a:avLst/>
          </a:prstGeo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16"/>
          <p:cNvSpPr>
            <a:spLocks noGrp="1" noChangeArrowheads="1"/>
          </p:cNvSpPr>
          <p:nvPr>
            <p:ph type="sldNum" sz="quarter" idx="10"/>
          </p:nvPr>
        </p:nvSpPr>
        <p:spPr>
          <a:ln/>
        </p:spPr>
        <p:txBody>
          <a:bodyPr/>
          <a:lstStyle>
            <a:lvl1pPr>
              <a:defRPr/>
            </a:lvl1pPr>
          </a:lstStyle>
          <a:p>
            <a:pPr>
              <a:defRPr/>
            </a:pPr>
            <a:fld id="{526376A0-C6E9-4585-924E-3BB77748389E}" type="slidenum">
              <a:rPr lang="en-US"/>
              <a:pPr>
                <a:defRPr/>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972300" y="1981200"/>
            <a:ext cx="1790700" cy="3962400"/>
          </a:xfrm>
          <a:prstGeom prst="rect">
            <a:avLst/>
          </a:prstGeo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1600200" y="1981200"/>
            <a:ext cx="5219700" cy="39624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Rectangle 16"/>
          <p:cNvSpPr>
            <a:spLocks noGrp="1" noChangeArrowheads="1"/>
          </p:cNvSpPr>
          <p:nvPr>
            <p:ph type="sldNum" sz="quarter" idx="10"/>
          </p:nvPr>
        </p:nvSpPr>
        <p:spPr>
          <a:ln/>
        </p:spPr>
        <p:txBody>
          <a:bodyPr/>
          <a:lstStyle>
            <a:lvl1pPr>
              <a:defRPr/>
            </a:lvl1pPr>
          </a:lstStyle>
          <a:p>
            <a:pPr>
              <a:defRPr/>
            </a:pPr>
            <a:fld id="{971685D0-E367-423C-AE49-2222E3C5110B}" type="slidenum">
              <a:rPr lang="en-US"/>
              <a:pPr>
                <a:defRPr/>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600200" y="192088"/>
            <a:ext cx="7162800" cy="431800"/>
          </a:xfrm>
          <a:prstGeom prst="rect">
            <a:avLst/>
          </a:prstGeom>
        </p:spPr>
        <p:txBody>
          <a:bodyPr/>
          <a:lstStyle/>
          <a:p>
            <a:r>
              <a:rPr lang="en-US" smtClean="0"/>
              <a:t>Click to edit Master title style</a:t>
            </a:r>
            <a:endParaRPr lang="en-US"/>
          </a:p>
        </p:txBody>
      </p:sp>
      <p:sp>
        <p:nvSpPr>
          <p:cNvPr id="3" name="Table Placeholder 2"/>
          <p:cNvSpPr>
            <a:spLocks noGrp="1"/>
          </p:cNvSpPr>
          <p:nvPr>
            <p:ph type="tbl" idx="1"/>
          </p:nvPr>
        </p:nvSpPr>
        <p:spPr>
          <a:xfrm>
            <a:off x="1600200" y="1828800"/>
            <a:ext cx="7162800" cy="4114800"/>
          </a:xfrm>
        </p:spPr>
        <p:txBody>
          <a:bodyPr/>
          <a:lstStyle/>
          <a:p>
            <a:pPr lvl="0"/>
            <a:endParaRPr lang="en-US" noProof="0" dirty="0" smtClean="0"/>
          </a:p>
        </p:txBody>
      </p:sp>
      <p:sp>
        <p:nvSpPr>
          <p:cNvPr id="4" name="Rectangle 16"/>
          <p:cNvSpPr>
            <a:spLocks noGrp="1" noChangeArrowheads="1"/>
          </p:cNvSpPr>
          <p:nvPr>
            <p:ph type="sldNum" sz="quarter" idx="10"/>
          </p:nvPr>
        </p:nvSpPr>
        <p:spPr>
          <a:ln/>
        </p:spPr>
        <p:txBody>
          <a:bodyPr/>
          <a:lstStyle>
            <a:lvl1pPr>
              <a:defRPr/>
            </a:lvl1pPr>
          </a:lstStyle>
          <a:p>
            <a:pPr>
              <a:defRPr/>
            </a:pPr>
            <a:fld id="{C8C9F5E7-5AFA-457F-8154-568AB4081C33}" type="slidenum">
              <a:rPr lang="en-US"/>
              <a:pPr>
                <a:defRPr/>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036134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86001E">
            <a:alpha val="0"/>
          </a:srgbClr>
        </a:solidFill>
        <a:effectLst/>
      </p:bgPr>
    </p:bg>
    <p:spTree>
      <p:nvGrpSpPr>
        <p:cNvPr id="1" name=""/>
        <p:cNvGrpSpPr/>
        <p:nvPr/>
      </p:nvGrpSpPr>
      <p:grpSpPr>
        <a:xfrm>
          <a:off x="0" y="0"/>
          <a:ext cx="0" cy="0"/>
          <a:chOff x="0" y="0"/>
          <a:chExt cx="0" cy="0"/>
        </a:xfrm>
      </p:grpSpPr>
      <p:sp>
        <p:nvSpPr>
          <p:cNvPr id="1044" name="Rectangle 20"/>
          <p:cNvSpPr>
            <a:spLocks noChangeArrowheads="1"/>
          </p:cNvSpPr>
          <p:nvPr/>
        </p:nvSpPr>
        <p:spPr bwMode="auto">
          <a:xfrm>
            <a:off x="-9525" y="533400"/>
            <a:ext cx="7239000" cy="1066800"/>
          </a:xfrm>
          <a:prstGeom prst="rect">
            <a:avLst/>
          </a:prstGeom>
          <a:gradFill rotWithShape="0">
            <a:gsLst>
              <a:gs pos="0">
                <a:srgbClr val="4D4D4D"/>
              </a:gs>
              <a:gs pos="100000">
                <a:schemeClr val="bg1">
                  <a:lumMod val="75000"/>
                </a:schemeClr>
              </a:gs>
            </a:gsLst>
            <a:lin ang="18900000" scaled="1"/>
          </a:gradFill>
          <a:ln w="12700">
            <a:noFill/>
            <a:miter lim="800000"/>
            <a:headEnd type="none" w="sm" len="sm"/>
            <a:tailEnd type="none" w="sm" len="sm"/>
          </a:ln>
          <a:effectLst/>
        </p:spPr>
        <p:txBody>
          <a:bodyPr wrap="none" anchor="ctr"/>
          <a:lstStyle/>
          <a:p>
            <a:pPr>
              <a:defRPr/>
            </a:pPr>
            <a:endParaRPr lang="en-US" dirty="0"/>
          </a:p>
        </p:txBody>
      </p:sp>
      <p:sp>
        <p:nvSpPr>
          <p:cNvPr id="1027" name="Rectangle 3"/>
          <p:cNvSpPr>
            <a:spLocks noGrp="1" noChangeArrowheads="1"/>
          </p:cNvSpPr>
          <p:nvPr>
            <p:ph type="body" idx="1"/>
          </p:nvPr>
        </p:nvSpPr>
        <p:spPr bwMode="auto">
          <a:xfrm>
            <a:off x="1219200" y="1828800"/>
            <a:ext cx="7543800" cy="41148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1040" name="Rectangle 16"/>
          <p:cNvSpPr>
            <a:spLocks noGrp="1" noChangeArrowheads="1"/>
          </p:cNvSpPr>
          <p:nvPr>
            <p:ph type="sldNum" sz="quarter" idx="4"/>
          </p:nvPr>
        </p:nvSpPr>
        <p:spPr bwMode="auto">
          <a:xfrm>
            <a:off x="7543800" y="6477000"/>
            <a:ext cx="1219200" cy="228600"/>
          </a:xfrm>
          <a:prstGeom prst="rect">
            <a:avLst/>
          </a:prstGeom>
          <a:noFill/>
          <a:ln w="12700">
            <a:noFill/>
            <a:miter lim="800000"/>
            <a:headEnd type="none" w="sm" len="sm"/>
            <a:tailEnd type="none" w="sm" len="sm"/>
          </a:ln>
          <a:effectLst/>
        </p:spPr>
        <p:txBody>
          <a:bodyPr vert="horz" wrap="square" lIns="0" tIns="0" rIns="0" bIns="0" numCol="1" anchor="ctr" anchorCtr="0" compatLnSpc="1">
            <a:prstTxWarp prst="textNoShape">
              <a:avLst/>
            </a:prstTxWarp>
          </a:bodyPr>
          <a:lstStyle>
            <a:lvl1pPr>
              <a:defRPr sz="900">
                <a:solidFill>
                  <a:schemeClr val="tx1"/>
                </a:solidFill>
              </a:defRPr>
            </a:lvl1pPr>
          </a:lstStyle>
          <a:p>
            <a:pPr>
              <a:defRPr/>
            </a:pPr>
            <a:fld id="{B449862C-56E9-4969-B6FD-161881286339}" type="slidenum">
              <a:rPr lang="en-US"/>
              <a:pPr>
                <a:defRPr/>
              </a:pPr>
              <a:t>‹#›</a:t>
            </a:fld>
            <a:endParaRPr lang="en-US" dirty="0"/>
          </a:p>
        </p:txBody>
      </p:sp>
      <p:pic>
        <p:nvPicPr>
          <p:cNvPr id="15" name="Picture 3"/>
          <p:cNvPicPr>
            <a:picLocks noChangeAspect="1" noChangeArrowheads="1"/>
          </p:cNvPicPr>
          <p:nvPr userDrawn="1"/>
        </p:nvPicPr>
        <p:blipFill rotWithShape="1">
          <a:blip r:embed="rId15" cstate="print">
            <a:extLst>
              <a:ext uri="{28A0092B-C50C-407E-A947-70E740481C1C}">
                <a14:useLocalDpi xmlns:a14="http://schemas.microsoft.com/office/drawing/2010/main" val="0"/>
              </a:ext>
            </a:extLst>
          </a:blip>
          <a:srcRect b="37770"/>
          <a:stretch/>
        </p:blipFill>
        <p:spPr bwMode="auto">
          <a:xfrm>
            <a:off x="7845656" y="6433194"/>
            <a:ext cx="925050" cy="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Rectangle 35"/>
          <p:cNvSpPr>
            <a:spLocks noChangeArrowheads="1"/>
          </p:cNvSpPr>
          <p:nvPr userDrawn="1"/>
        </p:nvSpPr>
        <p:spPr bwMode="auto">
          <a:xfrm>
            <a:off x="1238716" y="-8388"/>
            <a:ext cx="7914809" cy="1210810"/>
          </a:xfrm>
          <a:prstGeom prst="rect">
            <a:avLst/>
          </a:prstGeom>
          <a:gradFill rotWithShape="0">
            <a:gsLst>
              <a:gs pos="0">
                <a:srgbClr val="004B65"/>
              </a:gs>
              <a:gs pos="100000">
                <a:srgbClr val="004B65"/>
              </a:gs>
            </a:gsLst>
            <a:lin ang="18900000" scaled="1"/>
          </a:gradFill>
          <a:ln w="12700">
            <a:noFill/>
            <a:miter lim="800000"/>
            <a:headEnd type="none" w="sm" len="sm"/>
            <a:tailEnd type="none" w="sm" len="sm"/>
          </a:ln>
          <a:effectLst/>
        </p:spPr>
        <p:txBody>
          <a:bodyPr wrap="none" anchor="ctr"/>
          <a:lstStyle/>
          <a:p>
            <a:pPr>
              <a:defRPr/>
            </a:pPr>
            <a:endParaRPr lang="en-US" dirty="0"/>
          </a:p>
        </p:txBody>
      </p:sp>
      <p:sp>
        <p:nvSpPr>
          <p:cNvPr id="18" name="Rectangle 4"/>
          <p:cNvSpPr>
            <a:spLocks noGrp="1" noChangeArrowheads="1"/>
          </p:cNvSpPr>
          <p:nvPr>
            <p:ph type="title"/>
          </p:nvPr>
        </p:nvSpPr>
        <p:spPr bwMode="auto">
          <a:xfrm>
            <a:off x="1600200" y="192088"/>
            <a:ext cx="7162800" cy="4318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US" smtClean="0"/>
              <a:t>Click to edit Master title style</a:t>
            </a:r>
          </a:p>
        </p:txBody>
      </p:sp>
      <p:sp>
        <p:nvSpPr>
          <p:cNvPr id="19" name="TextBox 18"/>
          <p:cNvSpPr txBox="1"/>
          <p:nvPr userDrawn="1"/>
        </p:nvSpPr>
        <p:spPr>
          <a:xfrm>
            <a:off x="533400" y="6388208"/>
            <a:ext cx="2701381" cy="201594"/>
          </a:xfrm>
          <a:prstGeom prst="rect">
            <a:avLst/>
          </a:prstGeom>
          <a:noFill/>
        </p:spPr>
        <p:txBody>
          <a:bodyPr wrap="none" rtlCol="0">
            <a:spAutoFit/>
          </a:bodyPr>
          <a:lstStyle/>
          <a:p>
            <a:r>
              <a:rPr lang="en-US" sz="710" dirty="0" smtClean="0"/>
              <a:t>© Edgewood Partners Insurance Center CA License 0B29370</a:t>
            </a:r>
            <a:endParaRPr lang="en-US" sz="710" dirty="0"/>
          </a:p>
        </p:txBody>
      </p:sp>
    </p:spTree>
  </p:cSld>
  <p:clrMap bg1="lt1" tx1="dk1" bg2="lt2" tx2="dk2" accent1="accent1" accent2="accent2" accent3="accent3" accent4="accent4" accent5="accent5" accent6="accent6" hlink="hlink" folHlink="folHlink"/>
  <p:sldLayoutIdLst>
    <p:sldLayoutId id="2147483971" r:id="rId1"/>
    <p:sldLayoutId id="2147483961" r:id="rId2"/>
    <p:sldLayoutId id="2147483972" r:id="rId3"/>
    <p:sldLayoutId id="2147483962" r:id="rId4"/>
    <p:sldLayoutId id="2147483963" r:id="rId5"/>
    <p:sldLayoutId id="2147483964" r:id="rId6"/>
    <p:sldLayoutId id="2147483965" r:id="rId7"/>
    <p:sldLayoutId id="2147483966" r:id="rId8"/>
    <p:sldLayoutId id="2147483967" r:id="rId9"/>
    <p:sldLayoutId id="2147483968" r:id="rId10"/>
    <p:sldLayoutId id="2147483969" r:id="rId11"/>
    <p:sldLayoutId id="2147483970" r:id="rId12"/>
    <p:sldLayoutId id="2147483973" r:id="rId13"/>
  </p:sldLayoutIdLst>
  <p:hf hdr="0" ftr="0" dt="0"/>
  <p:txStyles>
    <p:titleStyle>
      <a:lvl1pPr algn="l" rtl="0" eaLnBrk="0" fontAlgn="base" hangingPunct="0">
        <a:lnSpc>
          <a:spcPct val="110000"/>
        </a:lnSpc>
        <a:spcBef>
          <a:spcPct val="0"/>
        </a:spcBef>
        <a:spcAft>
          <a:spcPct val="0"/>
        </a:spcAft>
        <a:defRPr sz="2900" b="1">
          <a:solidFill>
            <a:schemeClr val="bg1"/>
          </a:solidFill>
          <a:latin typeface="+mj-lt"/>
          <a:ea typeface="+mj-ea"/>
          <a:cs typeface="+mj-cs"/>
        </a:defRPr>
      </a:lvl1pPr>
      <a:lvl2pPr algn="l" rtl="0" eaLnBrk="0" fontAlgn="base" hangingPunct="0">
        <a:lnSpc>
          <a:spcPct val="110000"/>
        </a:lnSpc>
        <a:spcBef>
          <a:spcPct val="0"/>
        </a:spcBef>
        <a:spcAft>
          <a:spcPct val="0"/>
        </a:spcAft>
        <a:defRPr sz="2900" b="1">
          <a:solidFill>
            <a:schemeClr val="bg1"/>
          </a:solidFill>
          <a:latin typeface="News Gothic" pitchFamily="34" charset="0"/>
        </a:defRPr>
      </a:lvl2pPr>
      <a:lvl3pPr algn="l" rtl="0" eaLnBrk="0" fontAlgn="base" hangingPunct="0">
        <a:lnSpc>
          <a:spcPct val="110000"/>
        </a:lnSpc>
        <a:spcBef>
          <a:spcPct val="0"/>
        </a:spcBef>
        <a:spcAft>
          <a:spcPct val="0"/>
        </a:spcAft>
        <a:defRPr sz="2900" b="1">
          <a:solidFill>
            <a:schemeClr val="bg1"/>
          </a:solidFill>
          <a:latin typeface="News Gothic" pitchFamily="34" charset="0"/>
        </a:defRPr>
      </a:lvl3pPr>
      <a:lvl4pPr algn="l" rtl="0" eaLnBrk="0" fontAlgn="base" hangingPunct="0">
        <a:lnSpc>
          <a:spcPct val="110000"/>
        </a:lnSpc>
        <a:spcBef>
          <a:spcPct val="0"/>
        </a:spcBef>
        <a:spcAft>
          <a:spcPct val="0"/>
        </a:spcAft>
        <a:defRPr sz="2900" b="1">
          <a:solidFill>
            <a:schemeClr val="bg1"/>
          </a:solidFill>
          <a:latin typeface="News Gothic" pitchFamily="34" charset="0"/>
        </a:defRPr>
      </a:lvl4pPr>
      <a:lvl5pPr algn="l" rtl="0" eaLnBrk="0" fontAlgn="base" hangingPunct="0">
        <a:lnSpc>
          <a:spcPct val="110000"/>
        </a:lnSpc>
        <a:spcBef>
          <a:spcPct val="0"/>
        </a:spcBef>
        <a:spcAft>
          <a:spcPct val="0"/>
        </a:spcAft>
        <a:defRPr sz="2900" b="1">
          <a:solidFill>
            <a:schemeClr val="bg1"/>
          </a:solidFill>
          <a:latin typeface="News Gothic" pitchFamily="34" charset="0"/>
        </a:defRPr>
      </a:lvl5pPr>
      <a:lvl6pPr marL="457200" algn="l" rtl="0" fontAlgn="base">
        <a:lnSpc>
          <a:spcPct val="90000"/>
        </a:lnSpc>
        <a:spcBef>
          <a:spcPct val="0"/>
        </a:spcBef>
        <a:spcAft>
          <a:spcPct val="0"/>
        </a:spcAft>
        <a:defRPr sz="2900" b="1">
          <a:solidFill>
            <a:schemeClr val="bg1"/>
          </a:solidFill>
          <a:latin typeface="News Gothic" pitchFamily="34" charset="0"/>
        </a:defRPr>
      </a:lvl6pPr>
      <a:lvl7pPr marL="914400" algn="l" rtl="0" fontAlgn="base">
        <a:lnSpc>
          <a:spcPct val="90000"/>
        </a:lnSpc>
        <a:spcBef>
          <a:spcPct val="0"/>
        </a:spcBef>
        <a:spcAft>
          <a:spcPct val="0"/>
        </a:spcAft>
        <a:defRPr sz="2900" b="1">
          <a:solidFill>
            <a:schemeClr val="bg1"/>
          </a:solidFill>
          <a:latin typeface="News Gothic" pitchFamily="34" charset="0"/>
        </a:defRPr>
      </a:lvl7pPr>
      <a:lvl8pPr marL="1371600" algn="l" rtl="0" fontAlgn="base">
        <a:lnSpc>
          <a:spcPct val="90000"/>
        </a:lnSpc>
        <a:spcBef>
          <a:spcPct val="0"/>
        </a:spcBef>
        <a:spcAft>
          <a:spcPct val="0"/>
        </a:spcAft>
        <a:defRPr sz="2900" b="1">
          <a:solidFill>
            <a:schemeClr val="bg1"/>
          </a:solidFill>
          <a:latin typeface="News Gothic" pitchFamily="34" charset="0"/>
        </a:defRPr>
      </a:lvl8pPr>
      <a:lvl9pPr marL="1828800" algn="l" rtl="0" fontAlgn="base">
        <a:lnSpc>
          <a:spcPct val="90000"/>
        </a:lnSpc>
        <a:spcBef>
          <a:spcPct val="0"/>
        </a:spcBef>
        <a:spcAft>
          <a:spcPct val="0"/>
        </a:spcAft>
        <a:defRPr sz="2900" b="1">
          <a:solidFill>
            <a:schemeClr val="bg1"/>
          </a:solidFill>
          <a:latin typeface="News Gothic" pitchFamily="34" charset="0"/>
        </a:defRPr>
      </a:lvl9pPr>
    </p:titleStyle>
    <p:bodyStyle>
      <a:lvl1pPr marL="342900" indent="-342900" algn="l" defTabSz="684213" rtl="0" eaLnBrk="0" fontAlgn="base" hangingPunct="0">
        <a:spcBef>
          <a:spcPct val="50000"/>
        </a:spcBef>
        <a:spcAft>
          <a:spcPct val="0"/>
        </a:spcAft>
        <a:buClr>
          <a:srgbClr val="86001E"/>
        </a:buClr>
        <a:buSzPct val="70000"/>
        <a:buFont typeface="Wingdings 3" pitchFamily="18" charset="2"/>
        <a:buChar char=""/>
        <a:defRPr sz="2400">
          <a:solidFill>
            <a:schemeClr val="tx1"/>
          </a:solidFill>
          <a:latin typeface="+mn-lt"/>
          <a:ea typeface="+mn-ea"/>
          <a:cs typeface="+mn-cs"/>
        </a:defRPr>
      </a:lvl1pPr>
      <a:lvl2pPr marL="576263" indent="-238125" algn="l" defTabSz="684213" rtl="0" eaLnBrk="0" fontAlgn="base" hangingPunct="0">
        <a:spcBef>
          <a:spcPct val="40000"/>
        </a:spcBef>
        <a:spcAft>
          <a:spcPct val="0"/>
        </a:spcAft>
        <a:buClr>
          <a:srgbClr val="86001E"/>
        </a:buClr>
        <a:buSzPct val="85000"/>
        <a:buFont typeface="Wingdings" pitchFamily="2" charset="2"/>
        <a:buChar char="§"/>
        <a:defRPr sz="2200">
          <a:solidFill>
            <a:schemeClr val="tx1"/>
          </a:solidFill>
          <a:latin typeface="+mn-lt"/>
        </a:defRPr>
      </a:lvl2pPr>
      <a:lvl3pPr marL="801688" indent="-223838" algn="l" defTabSz="684213" rtl="0" eaLnBrk="0" fontAlgn="base" hangingPunct="0">
        <a:spcBef>
          <a:spcPct val="25000"/>
        </a:spcBef>
        <a:spcAft>
          <a:spcPct val="0"/>
        </a:spcAft>
        <a:buClr>
          <a:srgbClr val="86001E"/>
        </a:buClr>
        <a:buSzPct val="60000"/>
        <a:buFont typeface="Arial" charset="0"/>
        <a:buChar char="•"/>
        <a:defRPr sz="2200">
          <a:solidFill>
            <a:schemeClr val="tx1"/>
          </a:solidFill>
          <a:latin typeface="+mn-lt"/>
        </a:defRPr>
      </a:lvl3pPr>
      <a:lvl4pPr marL="1150938" indent="-233363" algn="l" defTabSz="684213" rtl="0" eaLnBrk="0" fontAlgn="base" hangingPunct="0">
        <a:spcBef>
          <a:spcPct val="15000"/>
        </a:spcBef>
        <a:spcAft>
          <a:spcPct val="0"/>
        </a:spcAft>
        <a:buClr>
          <a:srgbClr val="86001E"/>
        </a:buClr>
        <a:buSzPct val="55000"/>
        <a:buFont typeface="Symbol" pitchFamily="18" charset="2"/>
        <a:buChar char=""/>
        <a:defRPr sz="2200">
          <a:solidFill>
            <a:schemeClr val="tx1"/>
          </a:solidFill>
          <a:latin typeface="+mn-lt"/>
        </a:defRPr>
      </a:lvl4pPr>
      <a:lvl5pPr marL="1366838" indent="-219075" algn="l" defTabSz="684213" rtl="0" eaLnBrk="0" fontAlgn="base" hangingPunct="0">
        <a:spcBef>
          <a:spcPct val="5000"/>
        </a:spcBef>
        <a:spcAft>
          <a:spcPct val="0"/>
        </a:spcAft>
        <a:buClr>
          <a:srgbClr val="86001E"/>
        </a:buClr>
        <a:buSzPct val="50000"/>
        <a:buFont typeface="Wingdings" pitchFamily="2" charset="2"/>
        <a:buChar char=""/>
        <a:defRPr sz="2200">
          <a:solidFill>
            <a:schemeClr val="tx1"/>
          </a:solidFill>
          <a:latin typeface="+mn-lt"/>
        </a:defRPr>
      </a:lvl5pPr>
      <a:lvl6pPr marL="17049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6pPr>
      <a:lvl7pPr marL="21621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7pPr>
      <a:lvl8pPr marL="26193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8pPr>
      <a:lvl9pPr marL="30765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sz="quarter"/>
          </p:nvPr>
        </p:nvSpPr>
        <p:spPr>
          <a:xfrm>
            <a:off x="1625601" y="1501242"/>
            <a:ext cx="5689599" cy="1286506"/>
          </a:xfrm>
        </p:spPr>
        <p:txBody>
          <a:bodyPr/>
          <a:lstStyle/>
          <a:p>
            <a:r>
              <a:rPr lang="en-US" dirty="0" smtClean="0"/>
              <a:t>Group Captive Insurance for Engineers</a:t>
            </a:r>
            <a:endParaRPr lang="en-US" dirty="0"/>
          </a:p>
        </p:txBody>
      </p:sp>
      <p:sp>
        <p:nvSpPr>
          <p:cNvPr id="5" name="Subtitle 1"/>
          <p:cNvSpPr txBox="1">
            <a:spLocks/>
          </p:cNvSpPr>
          <p:nvPr/>
        </p:nvSpPr>
        <p:spPr bwMode="white">
          <a:xfrm>
            <a:off x="1749759" y="4109591"/>
            <a:ext cx="7162800" cy="1461939"/>
          </a:xfrm>
          <a:prstGeom prst="rect">
            <a:avLst/>
          </a:prstGeom>
          <a:noFill/>
          <a:ln w="9525">
            <a:noFill/>
            <a:miter lim="800000"/>
            <a:headEnd/>
            <a:tailEnd/>
          </a:ln>
        </p:spPr>
        <p:txBody>
          <a:bodyPr vert="horz" wrap="square" lIns="0" tIns="0" rIns="0" bIns="0" numCol="1" anchor="b" anchorCtr="0" compatLnSpc="1">
            <a:prstTxWarp prst="textNoShape">
              <a:avLst/>
            </a:prstTxWarp>
            <a:spAutoFit/>
          </a:bodyPr>
          <a:lstStyle>
            <a:lvl1pPr marL="342900" indent="-342900" algn="l" defTabSz="684213" rtl="0" eaLnBrk="0" fontAlgn="base" hangingPunct="0">
              <a:spcBef>
                <a:spcPct val="0"/>
              </a:spcBef>
              <a:spcAft>
                <a:spcPct val="0"/>
              </a:spcAft>
              <a:buClr>
                <a:srgbClr val="86001E"/>
              </a:buClr>
              <a:buSzPct val="70000"/>
              <a:buFont typeface="Monotype Sorts" pitchFamily="2" charset="2"/>
              <a:buNone/>
              <a:defRPr sz="2000">
                <a:solidFill>
                  <a:schemeClr val="bg1"/>
                </a:solidFill>
                <a:latin typeface="+mn-lt"/>
                <a:ea typeface="+mn-ea"/>
                <a:cs typeface="+mn-cs"/>
              </a:defRPr>
            </a:lvl1pPr>
            <a:lvl2pPr marL="576263" indent="-238125" algn="l" defTabSz="684213" rtl="0" eaLnBrk="0" fontAlgn="base" hangingPunct="0">
              <a:spcBef>
                <a:spcPct val="40000"/>
              </a:spcBef>
              <a:spcAft>
                <a:spcPct val="0"/>
              </a:spcAft>
              <a:buClr>
                <a:srgbClr val="86001E"/>
              </a:buClr>
              <a:buSzPct val="85000"/>
              <a:buFont typeface="Wingdings" pitchFamily="2" charset="2"/>
              <a:buChar char="§"/>
              <a:defRPr sz="2200">
                <a:solidFill>
                  <a:schemeClr val="tx1"/>
                </a:solidFill>
                <a:latin typeface="+mn-lt"/>
              </a:defRPr>
            </a:lvl2pPr>
            <a:lvl3pPr marL="801688" indent="-223838" algn="l" defTabSz="684213" rtl="0" eaLnBrk="0" fontAlgn="base" hangingPunct="0">
              <a:spcBef>
                <a:spcPct val="25000"/>
              </a:spcBef>
              <a:spcAft>
                <a:spcPct val="0"/>
              </a:spcAft>
              <a:buClr>
                <a:srgbClr val="86001E"/>
              </a:buClr>
              <a:buSzPct val="60000"/>
              <a:buFont typeface="Arial" charset="0"/>
              <a:buChar char="•"/>
              <a:defRPr sz="2200">
                <a:solidFill>
                  <a:schemeClr val="tx1"/>
                </a:solidFill>
                <a:latin typeface="+mn-lt"/>
              </a:defRPr>
            </a:lvl3pPr>
            <a:lvl4pPr marL="1150938" indent="-233363" algn="l" defTabSz="684213" rtl="0" eaLnBrk="0" fontAlgn="base" hangingPunct="0">
              <a:spcBef>
                <a:spcPct val="15000"/>
              </a:spcBef>
              <a:spcAft>
                <a:spcPct val="0"/>
              </a:spcAft>
              <a:buClr>
                <a:srgbClr val="86001E"/>
              </a:buClr>
              <a:buSzPct val="55000"/>
              <a:buFont typeface="Symbol" pitchFamily="18" charset="2"/>
              <a:buChar char=""/>
              <a:defRPr sz="2200">
                <a:solidFill>
                  <a:schemeClr val="tx1"/>
                </a:solidFill>
                <a:latin typeface="+mn-lt"/>
              </a:defRPr>
            </a:lvl4pPr>
            <a:lvl5pPr marL="1366838" indent="-219075" algn="l" defTabSz="684213" rtl="0" eaLnBrk="0" fontAlgn="base" hangingPunct="0">
              <a:spcBef>
                <a:spcPct val="5000"/>
              </a:spcBef>
              <a:spcAft>
                <a:spcPct val="0"/>
              </a:spcAft>
              <a:buClr>
                <a:srgbClr val="86001E"/>
              </a:buClr>
              <a:buSzPct val="50000"/>
              <a:buFont typeface="Wingdings" pitchFamily="2" charset="2"/>
              <a:buChar char=""/>
              <a:defRPr sz="2200">
                <a:solidFill>
                  <a:schemeClr val="tx1"/>
                </a:solidFill>
                <a:latin typeface="+mn-lt"/>
              </a:defRPr>
            </a:lvl5pPr>
            <a:lvl6pPr marL="17049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6pPr>
            <a:lvl7pPr marL="21621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7pPr>
            <a:lvl8pPr marL="26193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8pPr>
            <a:lvl9pPr marL="30765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9pPr>
          </a:lstStyle>
          <a:p>
            <a:pPr>
              <a:spcAft>
                <a:spcPts val="600"/>
              </a:spcAft>
            </a:pPr>
            <a:r>
              <a:rPr lang="en-US" kern="0" dirty="0" smtClean="0"/>
              <a:t>Bob Staed, Principal</a:t>
            </a:r>
          </a:p>
          <a:p>
            <a:pPr>
              <a:spcAft>
                <a:spcPts val="600"/>
              </a:spcAft>
            </a:pPr>
            <a:r>
              <a:rPr lang="en-US" kern="0" dirty="0" smtClean="0"/>
              <a:t>Matias Ormaza, Broker</a:t>
            </a:r>
          </a:p>
          <a:p>
            <a:pPr>
              <a:spcAft>
                <a:spcPts val="600"/>
              </a:spcAft>
            </a:pPr>
            <a:r>
              <a:rPr lang="en-US" kern="0" dirty="0" smtClean="0"/>
              <a:t>Josh Truex, Account Administrator</a:t>
            </a:r>
          </a:p>
          <a:p>
            <a:pPr>
              <a:spcAft>
                <a:spcPts val="600"/>
              </a:spcAft>
            </a:pPr>
            <a:r>
              <a:rPr lang="en-US" kern="0" dirty="0" smtClean="0"/>
              <a:t>July 19, 2016</a:t>
            </a:r>
            <a:endParaRPr lang="en-US" kern="0" dirty="0"/>
          </a:p>
        </p:txBody>
      </p:sp>
      <p:pic>
        <p:nvPicPr>
          <p:cNvPr id="1028" name="Picture 4" descr="KPFF Consulting Engineers log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36696" y="152400"/>
            <a:ext cx="1752600" cy="9906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04719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Why consider Group Captives?</a:t>
            </a:r>
            <a:endParaRPr lang="en-US"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2</a:t>
            </a:fld>
            <a:endParaRPr lang="en-US" dirty="0"/>
          </a:p>
        </p:txBody>
      </p:sp>
      <p:grpSp>
        <p:nvGrpSpPr>
          <p:cNvPr id="20" name="Group 19"/>
          <p:cNvGrpSpPr/>
          <p:nvPr/>
        </p:nvGrpSpPr>
        <p:grpSpPr>
          <a:xfrm>
            <a:off x="1075443" y="1836953"/>
            <a:ext cx="7086600" cy="1211047"/>
            <a:chOff x="685800" y="2065553"/>
            <a:chExt cx="7086600" cy="1211047"/>
          </a:xfrm>
        </p:grpSpPr>
        <p:cxnSp>
          <p:nvCxnSpPr>
            <p:cNvPr id="7" name="Straight Connector 6"/>
            <p:cNvCxnSpPr/>
            <p:nvPr/>
          </p:nvCxnSpPr>
          <p:spPr bwMode="auto">
            <a:xfrm>
              <a:off x="1524000" y="3276600"/>
              <a:ext cx="6248400" cy="0"/>
            </a:xfrm>
            <a:prstGeom prst="line">
              <a:avLst/>
            </a:prstGeom>
            <a:solidFill>
              <a:schemeClr val="accent1"/>
            </a:solidFill>
            <a:ln w="63500" cap="flat" cmpd="sng" algn="ctr">
              <a:solidFill>
                <a:schemeClr val="tx1"/>
              </a:solidFill>
              <a:prstDash val="dash"/>
              <a:round/>
              <a:headEnd type="none" w="sm" len="sm"/>
              <a:tailEnd type="none" w="sm" len="sm"/>
            </a:ln>
            <a:effectLst/>
          </p:spPr>
        </p:cxnSp>
        <p:sp>
          <p:nvSpPr>
            <p:cNvPr id="10" name="TextBox 9"/>
            <p:cNvSpPr txBox="1"/>
            <p:nvPr/>
          </p:nvSpPr>
          <p:spPr>
            <a:xfrm>
              <a:off x="685800" y="2065553"/>
              <a:ext cx="2743200" cy="646331"/>
            </a:xfrm>
            <a:prstGeom prst="rect">
              <a:avLst/>
            </a:prstGeom>
            <a:noFill/>
          </p:spPr>
          <p:txBody>
            <a:bodyPr wrap="square" rtlCol="0">
              <a:spAutoFit/>
            </a:bodyPr>
            <a:lstStyle/>
            <a:p>
              <a:r>
                <a:rPr lang="en-US" sz="1800" dirty="0" smtClean="0">
                  <a:solidFill>
                    <a:schemeClr val="tx1"/>
                  </a:solidFill>
                </a:rPr>
                <a:t>Overall average / insurer’s breakeven point</a:t>
              </a:r>
              <a:endParaRPr lang="en-US" sz="1800" dirty="0">
                <a:solidFill>
                  <a:schemeClr val="tx1"/>
                </a:solidFill>
              </a:endParaRPr>
            </a:p>
          </p:txBody>
        </p:sp>
        <p:cxnSp>
          <p:nvCxnSpPr>
            <p:cNvPr id="12" name="Straight Arrow Connector 11"/>
            <p:cNvCxnSpPr/>
            <p:nvPr/>
          </p:nvCxnSpPr>
          <p:spPr bwMode="auto">
            <a:xfrm>
              <a:off x="1447800" y="2711884"/>
              <a:ext cx="381000" cy="412316"/>
            </a:xfrm>
            <a:prstGeom prst="straightConnector1">
              <a:avLst/>
            </a:prstGeom>
            <a:solidFill>
              <a:schemeClr val="accent1"/>
            </a:solidFill>
            <a:ln w="38100" cap="flat" cmpd="sng" algn="ctr">
              <a:solidFill>
                <a:schemeClr val="tx1"/>
              </a:solidFill>
              <a:prstDash val="solid"/>
              <a:round/>
              <a:headEnd type="none" w="sm" len="sm"/>
              <a:tailEnd type="arrow"/>
            </a:ln>
            <a:effectLst/>
          </p:spPr>
        </p:cxnSp>
      </p:grpSp>
      <p:sp>
        <p:nvSpPr>
          <p:cNvPr id="21" name="TextBox 20"/>
          <p:cNvSpPr txBox="1"/>
          <p:nvPr/>
        </p:nvSpPr>
        <p:spPr>
          <a:xfrm rot="20172546">
            <a:off x="2972845" y="2854836"/>
            <a:ext cx="3522116" cy="369332"/>
          </a:xfrm>
          <a:prstGeom prst="rect">
            <a:avLst/>
          </a:prstGeom>
          <a:solidFill>
            <a:schemeClr val="bg1"/>
          </a:solidFill>
        </p:spPr>
        <p:txBody>
          <a:bodyPr wrap="square" rtlCol="0">
            <a:spAutoFit/>
          </a:bodyPr>
          <a:lstStyle/>
          <a:p>
            <a:r>
              <a:rPr lang="en-US" sz="1800" dirty="0" smtClean="0">
                <a:solidFill>
                  <a:schemeClr val="tx1"/>
                </a:solidFill>
              </a:rPr>
              <a:t>This group subsidizes this group</a:t>
            </a:r>
            <a:endParaRPr lang="en-US" sz="1800" dirty="0">
              <a:solidFill>
                <a:schemeClr val="tx1"/>
              </a:solidFill>
            </a:endParaRPr>
          </a:p>
        </p:txBody>
      </p:sp>
      <p:cxnSp>
        <p:nvCxnSpPr>
          <p:cNvPr id="22" name="Straight Arrow Connector 21"/>
          <p:cNvCxnSpPr/>
          <p:nvPr/>
        </p:nvCxnSpPr>
        <p:spPr bwMode="auto">
          <a:xfrm flipH="1">
            <a:off x="3047998" y="3733800"/>
            <a:ext cx="533402" cy="717116"/>
          </a:xfrm>
          <a:prstGeom prst="straightConnector1">
            <a:avLst/>
          </a:prstGeom>
          <a:solidFill>
            <a:schemeClr val="accent1"/>
          </a:solidFill>
          <a:ln w="38100" cap="flat" cmpd="sng" algn="ctr">
            <a:solidFill>
              <a:schemeClr val="tx1"/>
            </a:solidFill>
            <a:prstDash val="solid"/>
            <a:round/>
            <a:headEnd type="none" w="sm" len="sm"/>
            <a:tailEnd type="arrow"/>
          </a:ln>
          <a:effectLst/>
        </p:spPr>
      </p:cxnSp>
      <p:cxnSp>
        <p:nvCxnSpPr>
          <p:cNvPr id="23" name="Straight Arrow Connector 22"/>
          <p:cNvCxnSpPr/>
          <p:nvPr/>
        </p:nvCxnSpPr>
        <p:spPr bwMode="auto">
          <a:xfrm>
            <a:off x="6019800" y="2689442"/>
            <a:ext cx="914400" cy="1"/>
          </a:xfrm>
          <a:prstGeom prst="straightConnector1">
            <a:avLst/>
          </a:prstGeom>
          <a:solidFill>
            <a:schemeClr val="accent1"/>
          </a:solidFill>
          <a:ln w="38100" cap="flat" cmpd="sng" algn="ctr">
            <a:solidFill>
              <a:schemeClr val="tx1"/>
            </a:solidFill>
            <a:prstDash val="solid"/>
            <a:round/>
            <a:headEnd type="none" w="sm" len="sm"/>
            <a:tailEnd type="arrow"/>
          </a:ln>
          <a:effectLst/>
        </p:spPr>
      </p:cxnSp>
      <p:grpSp>
        <p:nvGrpSpPr>
          <p:cNvPr id="35" name="Group 34"/>
          <p:cNvGrpSpPr/>
          <p:nvPr/>
        </p:nvGrpSpPr>
        <p:grpSpPr>
          <a:xfrm>
            <a:off x="685800" y="3318722"/>
            <a:ext cx="1790701" cy="1213776"/>
            <a:chOff x="381000" y="3547322"/>
            <a:chExt cx="1790701" cy="1213776"/>
          </a:xfrm>
        </p:grpSpPr>
        <p:sp>
          <p:nvSpPr>
            <p:cNvPr id="24" name="TextBox 23"/>
            <p:cNvSpPr txBox="1"/>
            <p:nvPr/>
          </p:nvSpPr>
          <p:spPr>
            <a:xfrm>
              <a:off x="381000" y="3547322"/>
              <a:ext cx="1790701" cy="1200329"/>
            </a:xfrm>
            <a:prstGeom prst="rect">
              <a:avLst/>
            </a:prstGeom>
            <a:noFill/>
          </p:spPr>
          <p:txBody>
            <a:bodyPr wrap="square" rtlCol="0">
              <a:spAutoFit/>
            </a:bodyPr>
            <a:lstStyle/>
            <a:p>
              <a:r>
                <a:rPr lang="en-US" sz="1800" b="1" dirty="0" smtClean="0">
                  <a:solidFill>
                    <a:srgbClr val="800000"/>
                  </a:solidFill>
                </a:rPr>
                <a:t>Most engineering firms are in this group</a:t>
              </a:r>
              <a:endParaRPr lang="en-US" sz="1800" b="1" dirty="0">
                <a:solidFill>
                  <a:srgbClr val="800000"/>
                </a:solidFill>
              </a:endParaRPr>
            </a:p>
          </p:txBody>
        </p:sp>
        <p:cxnSp>
          <p:nvCxnSpPr>
            <p:cNvPr id="25" name="Straight Arrow Connector 24"/>
            <p:cNvCxnSpPr/>
            <p:nvPr/>
          </p:nvCxnSpPr>
          <p:spPr bwMode="auto">
            <a:xfrm>
              <a:off x="1772238" y="4238919"/>
              <a:ext cx="342900" cy="522179"/>
            </a:xfrm>
            <a:prstGeom prst="straightConnector1">
              <a:avLst/>
            </a:prstGeom>
            <a:solidFill>
              <a:schemeClr val="accent1"/>
            </a:solidFill>
            <a:ln w="38100" cap="flat" cmpd="sng" algn="ctr">
              <a:solidFill>
                <a:schemeClr val="tx1"/>
              </a:solidFill>
              <a:prstDash val="solid"/>
              <a:round/>
              <a:headEnd type="none" w="sm" len="sm"/>
              <a:tailEnd type="arrow"/>
            </a:ln>
            <a:effectLst/>
          </p:spPr>
        </p:cxnSp>
      </p:grpSp>
      <p:graphicFrame>
        <p:nvGraphicFramePr>
          <p:cNvPr id="29" name="Chart 28"/>
          <p:cNvGraphicFramePr/>
          <p:nvPr>
            <p:extLst>
              <p:ext uri="{D42A27DB-BD31-4B8C-83A1-F6EECF244321}">
                <p14:modId xmlns:p14="http://schemas.microsoft.com/office/powerpoint/2010/main" val="2289463318"/>
              </p:ext>
            </p:extLst>
          </p:nvPr>
        </p:nvGraphicFramePr>
        <p:xfrm>
          <a:off x="1676400" y="1447800"/>
          <a:ext cx="7010400" cy="4724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932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left)">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down)">
                                      <p:cBhvr>
                                        <p:cTn id="12" dur="500"/>
                                        <p:tgtEl>
                                          <p:spTgt spid="21"/>
                                        </p:tgtEl>
                                      </p:cBhvr>
                                    </p:animEffect>
                                  </p:childTnLst>
                                </p:cTn>
                              </p:par>
                            </p:childTnLst>
                          </p:cTn>
                        </p:par>
                        <p:par>
                          <p:cTn id="13" fill="hold">
                            <p:stCondLst>
                              <p:cond delay="500"/>
                            </p:stCondLst>
                            <p:childTnLst>
                              <p:par>
                                <p:cTn id="14" presetID="22" presetClass="entr" presetSubtype="1" fill="hold" nodeType="afterEffect">
                                  <p:stCondLst>
                                    <p:cond delay="50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500"/>
                                        <p:tgtEl>
                                          <p:spTgt spid="22"/>
                                        </p:tgtEl>
                                      </p:cBhvr>
                                    </p:animEffect>
                                  </p:childTnLst>
                                </p:cTn>
                              </p:par>
                            </p:childTnLst>
                          </p:cTn>
                        </p:par>
                        <p:par>
                          <p:cTn id="17" fill="hold">
                            <p:stCondLst>
                              <p:cond delay="1500"/>
                            </p:stCondLst>
                            <p:childTnLst>
                              <p:par>
                                <p:cTn id="18" presetID="22" presetClass="entr" presetSubtype="4" fill="hold" nodeType="afterEffect">
                                  <p:stCondLst>
                                    <p:cond delay="500"/>
                                  </p:stCondLst>
                                  <p:childTnLst>
                                    <p:set>
                                      <p:cBhvr>
                                        <p:cTn id="19" dur="1" fill="hold">
                                          <p:stCondLst>
                                            <p:cond delay="0"/>
                                          </p:stCondLst>
                                        </p:cTn>
                                        <p:tgtEl>
                                          <p:spTgt spid="23"/>
                                        </p:tgtEl>
                                        <p:attrNameLst>
                                          <p:attrName>style.visibility</p:attrName>
                                        </p:attrNameLst>
                                      </p:cBhvr>
                                      <p:to>
                                        <p:strVal val="visible"/>
                                      </p:to>
                                    </p:set>
                                    <p:animEffect transition="in" filter="wipe(down)">
                                      <p:cBhvr>
                                        <p:cTn id="20" dur="5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animEffect transition="in" filter="wipe(left)">
                                      <p:cBhvr>
                                        <p:cTn id="2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smtClean="0"/>
              <a:t>Initial Cost</a:t>
            </a:r>
          </a:p>
          <a:p>
            <a:pPr lvl="1"/>
            <a:r>
              <a:rPr lang="en-US" sz="2400" b="1" dirty="0" smtClean="0">
                <a:solidFill>
                  <a:srgbClr val="800000"/>
                </a:solidFill>
              </a:rPr>
              <a:t>22.73</a:t>
            </a:r>
            <a:r>
              <a:rPr lang="en-US" sz="2400" b="1" dirty="0">
                <a:solidFill>
                  <a:srgbClr val="800000"/>
                </a:solidFill>
              </a:rPr>
              <a:t>%</a:t>
            </a:r>
            <a:r>
              <a:rPr lang="en-US" sz="2400" b="1" dirty="0">
                <a:solidFill>
                  <a:srgbClr val="FF0000"/>
                </a:solidFill>
              </a:rPr>
              <a:t> </a:t>
            </a:r>
            <a:r>
              <a:rPr lang="en-US" sz="2400" dirty="0" smtClean="0"/>
              <a:t>less than traditional insurance</a:t>
            </a:r>
          </a:p>
          <a:p>
            <a:r>
              <a:rPr lang="en-US" b="1" dirty="0" smtClean="0"/>
              <a:t>Final Net Cost After Dividend</a:t>
            </a:r>
          </a:p>
          <a:p>
            <a:pPr lvl="1"/>
            <a:r>
              <a:rPr lang="en-US" sz="2400" dirty="0" smtClean="0"/>
              <a:t>An additional </a:t>
            </a:r>
            <a:r>
              <a:rPr lang="en-US" sz="2400" b="1" dirty="0" smtClean="0">
                <a:solidFill>
                  <a:srgbClr val="800000"/>
                </a:solidFill>
              </a:rPr>
              <a:t>26.14%</a:t>
            </a:r>
            <a:r>
              <a:rPr lang="en-US" sz="2400" b="1" dirty="0" smtClean="0">
                <a:solidFill>
                  <a:srgbClr val="FF0000"/>
                </a:solidFill>
              </a:rPr>
              <a:t> </a:t>
            </a:r>
            <a:r>
              <a:rPr lang="en-US" sz="2400" dirty="0" smtClean="0"/>
              <a:t>in reduced cost</a:t>
            </a:r>
          </a:p>
          <a:p>
            <a:r>
              <a:rPr lang="en-US" b="1" dirty="0" smtClean="0"/>
              <a:t>Total Savings</a:t>
            </a:r>
          </a:p>
          <a:p>
            <a:pPr lvl="1"/>
            <a:r>
              <a:rPr lang="en-US" sz="2400" b="1" dirty="0" smtClean="0">
                <a:solidFill>
                  <a:srgbClr val="800000"/>
                </a:solidFill>
              </a:rPr>
              <a:t>48.9%</a:t>
            </a:r>
            <a:r>
              <a:rPr lang="en-US" sz="2400" b="1" dirty="0" smtClean="0">
                <a:solidFill>
                  <a:srgbClr val="FF0000"/>
                </a:solidFill>
              </a:rPr>
              <a:t> </a:t>
            </a:r>
            <a:r>
              <a:rPr lang="en-US" sz="2400" dirty="0" smtClean="0"/>
              <a:t>less cost than traditional insurance</a:t>
            </a:r>
          </a:p>
          <a:p>
            <a:pPr lvl="2"/>
            <a:r>
              <a:rPr lang="en-US" sz="2000" dirty="0" smtClean="0">
                <a:solidFill>
                  <a:srgbClr val="800000"/>
                </a:solidFill>
              </a:rPr>
              <a:t>(low </a:t>
            </a:r>
            <a:r>
              <a:rPr lang="en-US" sz="2000" dirty="0">
                <a:solidFill>
                  <a:srgbClr val="800000"/>
                </a:solidFill>
              </a:rPr>
              <a:t>is </a:t>
            </a:r>
            <a:r>
              <a:rPr lang="en-US" sz="2000" dirty="0" smtClean="0">
                <a:solidFill>
                  <a:srgbClr val="800000"/>
                </a:solidFill>
              </a:rPr>
              <a:t>36.8% </a:t>
            </a:r>
            <a:r>
              <a:rPr lang="en-US" sz="2000" dirty="0">
                <a:solidFill>
                  <a:srgbClr val="800000"/>
                </a:solidFill>
              </a:rPr>
              <a:t>and high is </a:t>
            </a:r>
            <a:r>
              <a:rPr lang="en-US" sz="2000" dirty="0" smtClean="0">
                <a:solidFill>
                  <a:srgbClr val="800000"/>
                </a:solidFill>
              </a:rPr>
              <a:t>57.1%)</a:t>
            </a:r>
          </a:p>
          <a:p>
            <a:r>
              <a:rPr lang="en-US" sz="1600" dirty="0"/>
              <a:t>Based on a study of Greyling clients that have joined a group captive.</a:t>
            </a:r>
          </a:p>
          <a:p>
            <a:endParaRPr lang="en-US" sz="2800"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3</a:t>
            </a:fld>
            <a:endParaRPr lang="en-US" dirty="0"/>
          </a:p>
        </p:txBody>
      </p:sp>
      <p:sp>
        <p:nvSpPr>
          <p:cNvPr id="5" name="Title 4"/>
          <p:cNvSpPr>
            <a:spLocks noGrp="1"/>
          </p:cNvSpPr>
          <p:nvPr>
            <p:ph type="title"/>
          </p:nvPr>
        </p:nvSpPr>
        <p:spPr/>
        <p:txBody>
          <a:bodyPr/>
          <a:lstStyle/>
          <a:p>
            <a:r>
              <a:rPr lang="en-US" dirty="0" smtClean="0"/>
              <a:t>Cost Impact Study of Group Captives</a:t>
            </a:r>
            <a:endParaRPr lang="en-US" dirty="0"/>
          </a:p>
        </p:txBody>
      </p:sp>
    </p:spTree>
    <p:extLst>
      <p:ext uri="{BB962C8B-B14F-4D97-AF65-F5344CB8AC3E}">
        <p14:creationId xmlns:p14="http://schemas.microsoft.com/office/powerpoint/2010/main" val="1622750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500"/>
                                        <p:tgtEl>
                                          <p:spTgt spid="2">
                                            <p:txEl>
                                              <p:pRg st="0" end="0"/>
                                            </p:txEl>
                                          </p:spTgt>
                                        </p:tgtEl>
                                      </p:cBhvr>
                                    </p:animEffect>
                                  </p:childTnLst>
                                </p:cTn>
                              </p:par>
                            </p:childTnLst>
                          </p:cTn>
                        </p:par>
                        <p:par>
                          <p:cTn id="8" fill="hold">
                            <p:stCondLst>
                              <p:cond delay="750"/>
                            </p:stCondLst>
                            <p:childTnLst>
                              <p:par>
                                <p:cTn id="9" presetID="22" presetClass="entr" presetSubtype="8" fill="hold" nodeType="afterEffect">
                                  <p:stCondLst>
                                    <p:cond delay="25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wipe(left)">
                                      <p:cBhvr>
                                        <p:cTn id="11" dur="500"/>
                                        <p:tgtEl>
                                          <p:spTgt spid="2">
                                            <p:txEl>
                                              <p:pRg st="1" end="1"/>
                                            </p:txEl>
                                          </p:spTgt>
                                        </p:tgtEl>
                                      </p:cBhvr>
                                    </p:animEffect>
                                  </p:childTnLst>
                                </p:cTn>
                              </p:par>
                            </p:childTnLst>
                          </p:cTn>
                        </p:par>
                        <p:par>
                          <p:cTn id="12" fill="hold">
                            <p:stCondLst>
                              <p:cond delay="1500"/>
                            </p:stCondLst>
                            <p:childTnLst>
                              <p:par>
                                <p:cTn id="13" presetID="22" presetClass="entr" presetSubtype="8" fill="hold" nodeType="afterEffect">
                                  <p:stCondLst>
                                    <p:cond delay="200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wipe(left)">
                                      <p:cBhvr>
                                        <p:cTn id="15" dur="500"/>
                                        <p:tgtEl>
                                          <p:spTgt spid="2">
                                            <p:txEl>
                                              <p:pRg st="2" end="2"/>
                                            </p:txEl>
                                          </p:spTgt>
                                        </p:tgtEl>
                                      </p:cBhvr>
                                    </p:animEffect>
                                  </p:childTnLst>
                                </p:cTn>
                              </p:par>
                            </p:childTnLst>
                          </p:cTn>
                        </p:par>
                        <p:par>
                          <p:cTn id="16" fill="hold">
                            <p:stCondLst>
                              <p:cond delay="4000"/>
                            </p:stCondLst>
                            <p:childTnLst>
                              <p:par>
                                <p:cTn id="17" presetID="22" presetClass="entr" presetSubtype="8" fill="hold" nodeType="after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Effect transition="in" filter="wipe(left)">
                                      <p:cBhvr>
                                        <p:cTn id="19" dur="500"/>
                                        <p:tgtEl>
                                          <p:spTgt spid="2">
                                            <p:txEl>
                                              <p:pRg st="3" end="3"/>
                                            </p:txEl>
                                          </p:spTgt>
                                        </p:tgtEl>
                                      </p:cBhvr>
                                    </p:animEffect>
                                  </p:childTnLst>
                                </p:cTn>
                              </p:par>
                            </p:childTnLst>
                          </p:cTn>
                        </p:par>
                        <p:par>
                          <p:cTn id="20" fill="hold">
                            <p:stCondLst>
                              <p:cond delay="4500"/>
                            </p:stCondLst>
                            <p:childTnLst>
                              <p:par>
                                <p:cTn id="21" presetID="22" presetClass="entr" presetSubtype="8" fill="hold" nodeType="afterEffect">
                                  <p:stCondLst>
                                    <p:cond delay="200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wipe(left)">
                                      <p:cBhvr>
                                        <p:cTn id="23" dur="500"/>
                                        <p:tgtEl>
                                          <p:spTgt spid="2">
                                            <p:txEl>
                                              <p:pRg st="4" end="4"/>
                                            </p:txEl>
                                          </p:spTgt>
                                        </p:tgtEl>
                                      </p:cBhvr>
                                    </p:animEffect>
                                  </p:childTnLst>
                                </p:cTn>
                              </p:par>
                            </p:childTnLst>
                          </p:cTn>
                        </p:par>
                        <p:par>
                          <p:cTn id="24" fill="hold">
                            <p:stCondLst>
                              <p:cond delay="7000"/>
                            </p:stCondLst>
                            <p:childTnLst>
                              <p:par>
                                <p:cTn id="25" presetID="22" presetClass="entr" presetSubtype="8" fill="hold" nodeType="after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animEffect transition="in" filter="wipe(left)">
                                      <p:cBhvr>
                                        <p:cTn id="27" dur="500"/>
                                        <p:tgtEl>
                                          <p:spTgt spid="2">
                                            <p:txEl>
                                              <p:pRg st="5" end="5"/>
                                            </p:txEl>
                                          </p:spTgt>
                                        </p:tgtEl>
                                      </p:cBhvr>
                                    </p:animEffect>
                                  </p:childTnLst>
                                </p:cTn>
                              </p:par>
                            </p:childTnLst>
                          </p:cTn>
                        </p:par>
                        <p:par>
                          <p:cTn id="28" fill="hold">
                            <p:stCondLst>
                              <p:cond delay="7500"/>
                            </p:stCondLst>
                            <p:childTnLst>
                              <p:par>
                                <p:cTn id="29" presetID="22" presetClass="entr" presetSubtype="8" fill="hold" nodeType="after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wipe(left)">
                                      <p:cBhvr>
                                        <p:cTn id="31" dur="500"/>
                                        <p:tgtEl>
                                          <p:spTgt spid="2">
                                            <p:txEl>
                                              <p:pRg st="6" end="6"/>
                                            </p:txEl>
                                          </p:spTgt>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animEffect transition="in" filter="wipe(left)">
                                      <p:cBhvr>
                                        <p:cTn id="35"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Single Parent</a:t>
            </a:r>
          </a:p>
          <a:p>
            <a:r>
              <a:rPr lang="en-US" dirty="0" smtClean="0"/>
              <a:t>Group</a:t>
            </a:r>
          </a:p>
          <a:p>
            <a:pPr lvl="1"/>
            <a:r>
              <a:rPr lang="en-US" dirty="0" smtClean="0"/>
              <a:t>Heterogeneous</a:t>
            </a:r>
          </a:p>
          <a:p>
            <a:pPr lvl="1"/>
            <a:r>
              <a:rPr lang="en-US" dirty="0" smtClean="0"/>
              <a:t>Homogeneous</a:t>
            </a:r>
          </a:p>
          <a:p>
            <a:r>
              <a:rPr lang="en-US" dirty="0" smtClean="0"/>
              <a:t>Other</a:t>
            </a:r>
          </a:p>
        </p:txBody>
      </p:sp>
      <p:sp>
        <p:nvSpPr>
          <p:cNvPr id="3" name="Title 2"/>
          <p:cNvSpPr>
            <a:spLocks noGrp="1"/>
          </p:cNvSpPr>
          <p:nvPr>
            <p:ph type="title"/>
          </p:nvPr>
        </p:nvSpPr>
        <p:spPr/>
        <p:txBody>
          <a:bodyPr/>
          <a:lstStyle/>
          <a:p>
            <a:r>
              <a:rPr lang="en-US" dirty="0"/>
              <a:t>Types of Captives</a:t>
            </a:r>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4</a:t>
            </a:fld>
            <a:endParaRPr lang="en-US" dirty="0"/>
          </a:p>
        </p:txBody>
      </p:sp>
    </p:spTree>
    <p:extLst>
      <p:ext uri="{BB962C8B-B14F-4D97-AF65-F5344CB8AC3E}">
        <p14:creationId xmlns:p14="http://schemas.microsoft.com/office/powerpoint/2010/main" val="366354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Evolution Insurance Company, Ltd.</a:t>
            </a:r>
            <a:endParaRPr lang="en-US"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5</a:t>
            </a:fld>
            <a:endParaRPr lang="en-US" dirty="0"/>
          </a:p>
        </p:txBody>
      </p:sp>
      <p:sp>
        <p:nvSpPr>
          <p:cNvPr id="6" name="Content Placeholder 5"/>
          <p:cNvSpPr>
            <a:spLocks noGrp="1"/>
          </p:cNvSpPr>
          <p:nvPr>
            <p:ph idx="1"/>
          </p:nvPr>
        </p:nvSpPr>
        <p:spPr/>
        <p:txBody>
          <a:bodyPr/>
          <a:lstStyle/>
          <a:p>
            <a:r>
              <a:rPr lang="en-US" sz="1800" dirty="0" smtClean="0"/>
              <a:t>Formed </a:t>
            </a:r>
            <a:r>
              <a:rPr lang="en-US" sz="1800" dirty="0"/>
              <a:t>in 2004</a:t>
            </a:r>
          </a:p>
          <a:p>
            <a:r>
              <a:rPr lang="en-US" sz="1800" dirty="0" smtClean="0"/>
              <a:t>Domicile</a:t>
            </a:r>
            <a:r>
              <a:rPr lang="en-US" sz="1800" dirty="0"/>
              <a:t>: Cayman </a:t>
            </a:r>
            <a:r>
              <a:rPr lang="en-US" sz="1800" dirty="0" smtClean="0"/>
              <a:t>Islands</a:t>
            </a:r>
          </a:p>
          <a:p>
            <a:r>
              <a:rPr lang="en-US" sz="1800" dirty="0" smtClean="0"/>
              <a:t>Manager: Captive Resources </a:t>
            </a:r>
            <a:endParaRPr lang="en-US" sz="1800" dirty="0"/>
          </a:p>
          <a:p>
            <a:r>
              <a:rPr lang="en-US" sz="1800" dirty="0" smtClean="0"/>
              <a:t>Millions </a:t>
            </a:r>
            <a:r>
              <a:rPr lang="en-US" sz="1800" dirty="0"/>
              <a:t>in dividends </a:t>
            </a:r>
            <a:r>
              <a:rPr lang="en-US" sz="1800" dirty="0" smtClean="0"/>
              <a:t>returned</a:t>
            </a:r>
          </a:p>
          <a:p>
            <a:r>
              <a:rPr lang="en-US" sz="1800" dirty="0" smtClean="0"/>
              <a:t>195+ </a:t>
            </a:r>
            <a:r>
              <a:rPr lang="en-US" sz="1800" dirty="0"/>
              <a:t>active members (approx</a:t>
            </a:r>
            <a:r>
              <a:rPr lang="en-US" sz="1800" dirty="0" smtClean="0"/>
              <a:t>.) including leading engineering firms</a:t>
            </a:r>
            <a:endParaRPr lang="en-US" sz="1800" dirty="0"/>
          </a:p>
          <a:p>
            <a:r>
              <a:rPr lang="en-US" sz="1800" dirty="0" smtClean="0"/>
              <a:t>What </a:t>
            </a:r>
            <a:r>
              <a:rPr lang="en-US" sz="1800" dirty="0"/>
              <a:t>the members have in common:</a:t>
            </a:r>
          </a:p>
          <a:p>
            <a:pPr lvl="1"/>
            <a:r>
              <a:rPr lang="en-US" sz="1600" dirty="0"/>
              <a:t>Favorable loss experience / on-going commitment to safety</a:t>
            </a:r>
          </a:p>
          <a:p>
            <a:pPr lvl="1"/>
            <a:r>
              <a:rPr lang="en-US" sz="1600" dirty="0"/>
              <a:t>No exotic risks</a:t>
            </a:r>
          </a:p>
          <a:p>
            <a:pPr lvl="1"/>
            <a:r>
              <a:rPr lang="en-US" sz="1600" dirty="0"/>
              <a:t>Approved by committee of existing captive </a:t>
            </a:r>
            <a:r>
              <a:rPr lang="en-US" sz="1600" dirty="0" smtClean="0"/>
              <a:t>members</a:t>
            </a:r>
            <a:endParaRPr lang="en-US" sz="1600" dirty="0"/>
          </a:p>
        </p:txBody>
      </p:sp>
    </p:spTree>
    <p:extLst>
      <p:ext uri="{BB962C8B-B14F-4D97-AF65-F5344CB8AC3E}">
        <p14:creationId xmlns:p14="http://schemas.microsoft.com/office/powerpoint/2010/main" val="225933854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Evolution Insurance Company, Ltd</a:t>
            </a:r>
            <a:r>
              <a:rPr lang="en-US" dirty="0" smtClean="0"/>
              <a:t>.</a:t>
            </a:r>
            <a:endParaRPr lang="en-US"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6</a:t>
            </a:fld>
            <a:endParaRPr lang="en-US" dirty="0"/>
          </a:p>
        </p:txBody>
      </p:sp>
      <p:pic>
        <p:nvPicPr>
          <p:cNvPr id="7" name="Picture 15" descr="evolutionlogofinal"/>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7211" t="22845" r="14816"/>
          <a:stretch/>
        </p:blipFill>
        <p:spPr bwMode="auto">
          <a:xfrm>
            <a:off x="3666566" y="1666070"/>
            <a:ext cx="1797424" cy="75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Content Placeholder 1"/>
          <p:cNvSpPr>
            <a:spLocks noGrp="1"/>
          </p:cNvSpPr>
          <p:nvPr>
            <p:ph idx="1"/>
          </p:nvPr>
        </p:nvSpPr>
        <p:spPr>
          <a:xfrm>
            <a:off x="959220" y="2483225"/>
            <a:ext cx="7239000" cy="3733800"/>
          </a:xfrm>
        </p:spPr>
        <p:txBody>
          <a:bodyPr/>
          <a:lstStyle/>
          <a:p>
            <a:pPr marL="0" indent="0" algn="ctr">
              <a:buNone/>
            </a:pPr>
            <a:r>
              <a:rPr lang="en-US" sz="1600" dirty="0" smtClean="0"/>
              <a:t>Evolution </a:t>
            </a:r>
            <a:r>
              <a:rPr lang="en-US" sz="1600" dirty="0"/>
              <a:t>Insurance Company, Ltd. was created to meet the needs of its members to </a:t>
            </a:r>
            <a:r>
              <a:rPr lang="en-US" sz="1600" dirty="0" smtClean="0"/>
              <a:t>obtain </a:t>
            </a:r>
            <a:r>
              <a:rPr lang="en-US" sz="1600" b="1" dirty="0" smtClean="0">
                <a:solidFill>
                  <a:srgbClr val="800000"/>
                </a:solidFill>
              </a:rPr>
              <a:t>adequate insurance coverage </a:t>
            </a:r>
            <a:r>
              <a:rPr lang="en-US" sz="1600" b="1" dirty="0">
                <a:solidFill>
                  <a:srgbClr val="800000"/>
                </a:solidFill>
              </a:rPr>
              <a:t>at affordable rates</a:t>
            </a:r>
            <a:r>
              <a:rPr lang="en-US" sz="1600" dirty="0"/>
              <a:t>. The founders of the Company perceived that the commercial insurance </a:t>
            </a:r>
            <a:r>
              <a:rPr lang="en-US" sz="1600" dirty="0" smtClean="0"/>
              <a:t>industry was </a:t>
            </a:r>
            <a:r>
              <a:rPr lang="en-US" sz="1600" dirty="0"/>
              <a:t>not responsive to this basic commercial necessity. </a:t>
            </a:r>
            <a:endParaRPr lang="en-US" sz="1600" dirty="0" smtClean="0"/>
          </a:p>
          <a:p>
            <a:pPr marL="0" indent="0" algn="ctr">
              <a:buNone/>
            </a:pPr>
            <a:r>
              <a:rPr lang="en-US" sz="1600" dirty="0" smtClean="0"/>
              <a:t>The </a:t>
            </a:r>
            <a:r>
              <a:rPr lang="en-US" sz="1600" dirty="0"/>
              <a:t>mission of Evolution is to provide the highest quality insurance protection and services for its shareholders</a:t>
            </a:r>
            <a:r>
              <a:rPr lang="en-US" sz="1600" dirty="0" smtClean="0"/>
              <a:t>. By </a:t>
            </a:r>
            <a:r>
              <a:rPr lang="en-US" sz="1600" dirty="0"/>
              <a:t>bonding together to create true sharing of risk, the </a:t>
            </a:r>
            <a:r>
              <a:rPr lang="en-US" sz="1600" b="1" dirty="0">
                <a:solidFill>
                  <a:srgbClr val="800000"/>
                </a:solidFill>
              </a:rPr>
              <a:t>shareholders can control their insurance costs and </a:t>
            </a:r>
            <a:r>
              <a:rPr lang="en-US" sz="1600" b="1" dirty="0" smtClean="0">
                <a:solidFill>
                  <a:srgbClr val="800000"/>
                </a:solidFill>
              </a:rPr>
              <a:t>avoid the </a:t>
            </a:r>
            <a:r>
              <a:rPr lang="en-US" sz="1600" b="1" dirty="0">
                <a:solidFill>
                  <a:srgbClr val="800000"/>
                </a:solidFill>
              </a:rPr>
              <a:t>volatility of the general insurance industry</a:t>
            </a:r>
            <a:r>
              <a:rPr lang="en-US" sz="1600" dirty="0"/>
              <a:t>. Additional benefits are created through the increased </a:t>
            </a:r>
            <a:r>
              <a:rPr lang="en-US" sz="1600" dirty="0" smtClean="0"/>
              <a:t>assurance of </a:t>
            </a:r>
            <a:r>
              <a:rPr lang="en-US" sz="1600" dirty="0"/>
              <a:t>coverage, the stabilization of </a:t>
            </a:r>
            <a:r>
              <a:rPr lang="en-US" sz="1600" dirty="0" smtClean="0"/>
              <a:t>premiums and </a:t>
            </a:r>
            <a:r>
              <a:rPr lang="en-US" sz="1600" dirty="0"/>
              <a:t>the improved management of risk through effective loss control.</a:t>
            </a:r>
          </a:p>
          <a:p>
            <a:pPr marL="0" indent="0" algn="ctr">
              <a:buNone/>
            </a:pPr>
            <a:r>
              <a:rPr lang="en-US" sz="1600" dirty="0"/>
              <a:t>Through the active participation of its shareholders, Evolution endeavors to provide the long-term security of </a:t>
            </a:r>
            <a:r>
              <a:rPr lang="en-US" sz="1600" dirty="0" smtClean="0"/>
              <a:t>a well-managed </a:t>
            </a:r>
            <a:r>
              <a:rPr lang="en-US" sz="1600" dirty="0"/>
              <a:t>offshore insurance company. </a:t>
            </a:r>
            <a:r>
              <a:rPr lang="en-US" sz="1600" b="1" dirty="0">
                <a:solidFill>
                  <a:srgbClr val="800000"/>
                </a:solidFill>
              </a:rPr>
              <a:t>Only those providers of services that can meet the highest </a:t>
            </a:r>
            <a:r>
              <a:rPr lang="en-US" sz="1600" b="1" dirty="0" smtClean="0">
                <a:solidFill>
                  <a:srgbClr val="800000"/>
                </a:solidFill>
              </a:rPr>
              <a:t>standards of </a:t>
            </a:r>
            <a:r>
              <a:rPr lang="en-US" sz="1600" b="1" dirty="0">
                <a:solidFill>
                  <a:srgbClr val="800000"/>
                </a:solidFill>
              </a:rPr>
              <a:t>excellence shall be associated with Evolution</a:t>
            </a:r>
            <a:r>
              <a:rPr lang="en-US" sz="1600" dirty="0"/>
              <a:t>.</a:t>
            </a:r>
          </a:p>
        </p:txBody>
      </p:sp>
    </p:spTree>
    <p:extLst>
      <p:ext uri="{BB962C8B-B14F-4D97-AF65-F5344CB8AC3E}">
        <p14:creationId xmlns:p14="http://schemas.microsoft.com/office/powerpoint/2010/main" val="359188538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2"/>
          <p:cNvSpPr>
            <a:spLocks noGrp="1"/>
          </p:cNvSpPr>
          <p:nvPr>
            <p:ph type="title"/>
          </p:nvPr>
        </p:nvSpPr>
        <p:spPr/>
        <p:txBody>
          <a:bodyPr/>
          <a:lstStyle/>
          <a:p>
            <a:r>
              <a:rPr lang="en-US" sz="3200" dirty="0">
                <a:ea typeface="Calibri"/>
                <a:cs typeface="Times New Roman"/>
              </a:rPr>
              <a:t>Engineering </a:t>
            </a:r>
            <a:r>
              <a:rPr lang="en-US" sz="3200" dirty="0" smtClean="0">
                <a:ea typeface="Calibri"/>
                <a:cs typeface="Times New Roman"/>
              </a:rPr>
              <a:t>Firms </a:t>
            </a:r>
            <a:r>
              <a:rPr lang="en-US" sz="3200" dirty="0">
                <a:ea typeface="Calibri"/>
                <a:cs typeface="Times New Roman"/>
              </a:rPr>
              <a:t>in </a:t>
            </a:r>
            <a:r>
              <a:rPr lang="en-US" sz="3200" dirty="0" smtClean="0">
                <a:ea typeface="Calibri"/>
                <a:cs typeface="Times New Roman"/>
              </a:rPr>
              <a:t>Group Captive</a:t>
            </a:r>
            <a:r>
              <a:rPr lang="en-US" sz="2800" dirty="0">
                <a:ea typeface="Calibri"/>
                <a:cs typeface="Times New Roman"/>
              </a:rPr>
              <a:t/>
            </a:r>
            <a:br>
              <a:rPr lang="en-US" sz="2800" dirty="0">
                <a:ea typeface="Calibri"/>
                <a:cs typeface="Times New Roman"/>
              </a:rPr>
            </a:br>
            <a:endParaRPr lang="en-US" dirty="0" smtClean="0"/>
          </a:p>
        </p:txBody>
      </p:sp>
      <p:sp>
        <p:nvSpPr>
          <p:cNvPr id="4"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7</a:t>
            </a:fld>
            <a:endParaRPr lang="en-US" dirty="0"/>
          </a:p>
        </p:txBody>
      </p:sp>
      <p:sp>
        <p:nvSpPr>
          <p:cNvPr id="6" name="Content Placeholder 1"/>
          <p:cNvSpPr>
            <a:spLocks noGrp="1"/>
          </p:cNvSpPr>
          <p:nvPr>
            <p:ph idx="1"/>
          </p:nvPr>
        </p:nvSpPr>
        <p:spPr>
          <a:xfrm>
            <a:off x="437864" y="1828800"/>
            <a:ext cx="3829336" cy="4876800"/>
          </a:xfrm>
        </p:spPr>
        <p:txBody>
          <a:bodyPr/>
          <a:lstStyle/>
          <a:p>
            <a:pPr>
              <a:spcBef>
                <a:spcPts val="1000"/>
              </a:spcBef>
              <a:spcAft>
                <a:spcPts val="0"/>
              </a:spcAft>
            </a:pPr>
            <a:r>
              <a:rPr lang="en-US" sz="2400" dirty="0"/>
              <a:t>Arup</a:t>
            </a:r>
          </a:p>
          <a:p>
            <a:pPr>
              <a:spcBef>
                <a:spcPts val="1000"/>
              </a:spcBef>
              <a:spcAft>
                <a:spcPts val="0"/>
              </a:spcAft>
            </a:pPr>
            <a:r>
              <a:rPr lang="en-US" sz="2400" dirty="0"/>
              <a:t>Burgess &amp; Niple</a:t>
            </a:r>
          </a:p>
          <a:p>
            <a:pPr>
              <a:spcBef>
                <a:spcPts val="1000"/>
              </a:spcBef>
              <a:spcAft>
                <a:spcPts val="0"/>
              </a:spcAft>
            </a:pPr>
            <a:r>
              <a:rPr lang="en-US" sz="2400" dirty="0"/>
              <a:t>Civil &amp; Environmental </a:t>
            </a:r>
            <a:r>
              <a:rPr lang="en-US" sz="2400" dirty="0" smtClean="0"/>
              <a:t>Consultants</a:t>
            </a:r>
          </a:p>
          <a:p>
            <a:pPr>
              <a:spcBef>
                <a:spcPts val="1000"/>
              </a:spcBef>
              <a:spcAft>
                <a:spcPts val="0"/>
              </a:spcAft>
            </a:pPr>
            <a:r>
              <a:rPr lang="en-US" sz="2400" dirty="0" smtClean="0"/>
              <a:t>DLZ</a:t>
            </a:r>
            <a:endParaRPr lang="en-US" sz="2400" dirty="0"/>
          </a:p>
          <a:p>
            <a:pPr>
              <a:spcBef>
                <a:spcPts val="1000"/>
              </a:spcBef>
              <a:spcAft>
                <a:spcPts val="0"/>
              </a:spcAft>
            </a:pPr>
            <a:r>
              <a:rPr lang="en-US" sz="2400" dirty="0"/>
              <a:t>GeoSyntec</a:t>
            </a:r>
          </a:p>
          <a:p>
            <a:pPr>
              <a:spcBef>
                <a:spcPts val="1000"/>
              </a:spcBef>
              <a:spcAft>
                <a:spcPts val="0"/>
              </a:spcAft>
            </a:pPr>
            <a:r>
              <a:rPr lang="en-US" sz="2400" dirty="0"/>
              <a:t>KCI </a:t>
            </a:r>
            <a:r>
              <a:rPr lang="en-US" sz="2400" dirty="0" smtClean="0"/>
              <a:t>Technologies</a:t>
            </a:r>
            <a:endParaRPr lang="en-US" sz="2400" dirty="0"/>
          </a:p>
        </p:txBody>
      </p:sp>
      <p:sp>
        <p:nvSpPr>
          <p:cNvPr id="8" name="Content Placeholder 1"/>
          <p:cNvSpPr txBox="1">
            <a:spLocks/>
          </p:cNvSpPr>
          <p:nvPr/>
        </p:nvSpPr>
        <p:spPr bwMode="auto">
          <a:xfrm>
            <a:off x="4705064" y="1828800"/>
            <a:ext cx="3829336" cy="487680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342900" indent="-342900" algn="l" defTabSz="684213" rtl="0" eaLnBrk="0" fontAlgn="base" hangingPunct="0">
              <a:spcBef>
                <a:spcPct val="50000"/>
              </a:spcBef>
              <a:spcAft>
                <a:spcPct val="0"/>
              </a:spcAft>
              <a:buClr>
                <a:srgbClr val="86001E"/>
              </a:buClr>
              <a:buSzPct val="100000"/>
              <a:buFont typeface="Wingdings" pitchFamily="2" charset="2"/>
              <a:buChar char="§"/>
              <a:defRPr sz="2400">
                <a:solidFill>
                  <a:schemeClr val="tx1"/>
                </a:solidFill>
                <a:latin typeface="+mn-lt"/>
                <a:ea typeface="+mn-ea"/>
                <a:cs typeface="+mn-cs"/>
              </a:defRPr>
            </a:lvl1pPr>
            <a:lvl2pPr marL="576263" indent="-238125" algn="l" defTabSz="684213" rtl="0" eaLnBrk="0" fontAlgn="base" hangingPunct="0">
              <a:spcBef>
                <a:spcPct val="40000"/>
              </a:spcBef>
              <a:spcAft>
                <a:spcPct val="0"/>
              </a:spcAft>
              <a:buClr>
                <a:srgbClr val="86001E"/>
              </a:buClr>
              <a:buSzPct val="85000"/>
              <a:buFontTx/>
              <a:buChar char="‒"/>
              <a:defRPr sz="2200">
                <a:solidFill>
                  <a:schemeClr val="tx1"/>
                </a:solidFill>
                <a:latin typeface="+mn-lt"/>
              </a:defRPr>
            </a:lvl2pPr>
            <a:lvl3pPr marL="920750" indent="-342900" algn="l" defTabSz="684213" rtl="0" eaLnBrk="0" fontAlgn="base" hangingPunct="0">
              <a:spcBef>
                <a:spcPct val="25000"/>
              </a:spcBef>
              <a:spcAft>
                <a:spcPct val="0"/>
              </a:spcAft>
              <a:buClr>
                <a:srgbClr val="86001E"/>
              </a:buClr>
              <a:buSzPct val="75000"/>
              <a:buFont typeface="Wingdings" pitchFamily="2" charset="2"/>
              <a:buChar char="§"/>
              <a:defRPr sz="2200">
                <a:solidFill>
                  <a:schemeClr val="tx1"/>
                </a:solidFill>
                <a:latin typeface="+mn-lt"/>
              </a:defRPr>
            </a:lvl3pPr>
            <a:lvl4pPr marL="1150938" indent="-233363" algn="l" defTabSz="684213" rtl="0" eaLnBrk="0" fontAlgn="base" hangingPunct="0">
              <a:spcBef>
                <a:spcPct val="15000"/>
              </a:spcBef>
              <a:spcAft>
                <a:spcPct val="0"/>
              </a:spcAft>
              <a:buClr>
                <a:srgbClr val="86001E"/>
              </a:buClr>
              <a:buSzPct val="55000"/>
              <a:buFont typeface="Symbol" pitchFamily="18" charset="2"/>
              <a:buChar char=""/>
              <a:defRPr sz="2200">
                <a:solidFill>
                  <a:schemeClr val="tx1"/>
                </a:solidFill>
                <a:latin typeface="+mn-lt"/>
              </a:defRPr>
            </a:lvl4pPr>
            <a:lvl5pPr marL="1366838" indent="-219075" algn="l" defTabSz="684213" rtl="0" eaLnBrk="0" fontAlgn="base" hangingPunct="0">
              <a:spcBef>
                <a:spcPct val="5000"/>
              </a:spcBef>
              <a:spcAft>
                <a:spcPct val="0"/>
              </a:spcAft>
              <a:buClr>
                <a:srgbClr val="86001E"/>
              </a:buClr>
              <a:buSzPct val="50000"/>
              <a:buFont typeface="Wingdings" pitchFamily="2" charset="2"/>
              <a:buChar char=""/>
              <a:defRPr sz="2200">
                <a:solidFill>
                  <a:schemeClr val="tx1"/>
                </a:solidFill>
                <a:latin typeface="+mn-lt"/>
              </a:defRPr>
            </a:lvl5pPr>
            <a:lvl6pPr marL="17049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6pPr>
            <a:lvl7pPr marL="21621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7pPr>
            <a:lvl8pPr marL="26193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8pPr>
            <a:lvl9pPr marL="30765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9pPr>
          </a:lstStyle>
          <a:p>
            <a:pPr>
              <a:spcBef>
                <a:spcPts val="1000"/>
              </a:spcBef>
              <a:spcAft>
                <a:spcPts val="0"/>
              </a:spcAft>
            </a:pPr>
            <a:r>
              <a:rPr lang="en-US" kern="0" dirty="0" err="1" smtClean="0"/>
              <a:t>Kimley</a:t>
            </a:r>
            <a:r>
              <a:rPr lang="en-US" kern="0" dirty="0" smtClean="0"/>
              <a:t>-Horn</a:t>
            </a:r>
          </a:p>
          <a:p>
            <a:pPr>
              <a:spcBef>
                <a:spcPts val="1000"/>
              </a:spcBef>
              <a:spcAft>
                <a:spcPts val="0"/>
              </a:spcAft>
            </a:pPr>
            <a:r>
              <a:rPr lang="en-US" kern="0" dirty="0" smtClean="0"/>
              <a:t>POWER Engineers</a:t>
            </a:r>
          </a:p>
          <a:p>
            <a:pPr>
              <a:spcBef>
                <a:spcPts val="1000"/>
              </a:spcBef>
              <a:spcAft>
                <a:spcPts val="0"/>
              </a:spcAft>
            </a:pPr>
            <a:r>
              <a:rPr lang="en-US" kern="0" dirty="0" err="1" smtClean="0"/>
              <a:t>Psomas</a:t>
            </a:r>
            <a:endParaRPr lang="en-US" kern="0" dirty="0" smtClean="0"/>
          </a:p>
          <a:p>
            <a:pPr>
              <a:spcBef>
                <a:spcPts val="1000"/>
              </a:spcBef>
              <a:spcAft>
                <a:spcPts val="0"/>
              </a:spcAft>
            </a:pPr>
            <a:r>
              <a:rPr lang="en-US" kern="0" dirty="0" smtClean="0"/>
              <a:t>STV</a:t>
            </a:r>
          </a:p>
          <a:p>
            <a:pPr>
              <a:spcBef>
                <a:spcPts val="1000"/>
              </a:spcBef>
              <a:spcAft>
                <a:spcPts val="0"/>
              </a:spcAft>
            </a:pPr>
            <a:r>
              <a:rPr lang="en-US" kern="0" dirty="0" err="1" smtClean="0"/>
              <a:t>Syska</a:t>
            </a:r>
            <a:r>
              <a:rPr lang="en-US" kern="0" dirty="0" smtClean="0"/>
              <a:t> Hennessy Group</a:t>
            </a:r>
          </a:p>
          <a:p>
            <a:pPr>
              <a:spcBef>
                <a:spcPts val="1000"/>
              </a:spcBef>
              <a:spcAft>
                <a:spcPts val="0"/>
              </a:spcAft>
            </a:pPr>
            <a:r>
              <a:rPr lang="en-US" kern="0" dirty="0" smtClean="0"/>
              <a:t>Thornton </a:t>
            </a:r>
            <a:r>
              <a:rPr lang="en-US" kern="0" dirty="0" err="1" smtClean="0"/>
              <a:t>Tomasetti</a:t>
            </a:r>
            <a:endParaRPr lang="en-US" kern="0" dirty="0" smtClean="0"/>
          </a:p>
          <a:p>
            <a:pPr>
              <a:spcBef>
                <a:spcPts val="1000"/>
              </a:spcBef>
              <a:spcAft>
                <a:spcPts val="0"/>
              </a:spcAft>
            </a:pPr>
            <a:r>
              <a:rPr lang="en-US" kern="0" dirty="0" smtClean="0"/>
              <a:t>Urban Engineers</a:t>
            </a:r>
          </a:p>
          <a:p>
            <a:pPr>
              <a:spcBef>
                <a:spcPts val="1000"/>
              </a:spcBef>
              <a:spcAft>
                <a:spcPts val="0"/>
              </a:spcAft>
            </a:pPr>
            <a:r>
              <a:rPr lang="en-US" kern="0" dirty="0" smtClean="0"/>
              <a:t>TRC Companies</a:t>
            </a:r>
            <a:endParaRPr lang="en-US" kern="0" dirty="0"/>
          </a:p>
        </p:txBody>
      </p:sp>
    </p:spTree>
    <p:extLst>
      <p:ext uri="{BB962C8B-B14F-4D97-AF65-F5344CB8AC3E}">
        <p14:creationId xmlns:p14="http://schemas.microsoft.com/office/powerpoint/2010/main" val="379408821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6"/>
          <p:cNvSpPr>
            <a:spLocks noGrp="1" noChangeArrowheads="1"/>
          </p:cNvSpPr>
          <p:nvPr>
            <p:ph type="title"/>
          </p:nvPr>
        </p:nvSpPr>
        <p:spPr/>
        <p:txBody>
          <a:bodyPr/>
          <a:lstStyle/>
          <a:p>
            <a:pPr eaLnBrk="1" hangingPunct="1"/>
            <a:r>
              <a:rPr lang="en-US" dirty="0" smtClean="0"/>
              <a:t>Who is Captive Resources?</a:t>
            </a:r>
          </a:p>
        </p:txBody>
      </p:sp>
      <p:sp>
        <p:nvSpPr>
          <p:cNvPr id="2" name="Content Placeholder 1"/>
          <p:cNvSpPr>
            <a:spLocks noGrp="1"/>
          </p:cNvSpPr>
          <p:nvPr>
            <p:ph idx="1"/>
          </p:nvPr>
        </p:nvSpPr>
        <p:spPr/>
        <p:txBody>
          <a:bodyPr/>
          <a:lstStyle/>
          <a:p>
            <a:r>
              <a:rPr lang="en-US" dirty="0" smtClean="0"/>
              <a:t>Over </a:t>
            </a:r>
            <a:r>
              <a:rPr lang="en-US" dirty="0" smtClean="0"/>
              <a:t>30+</a:t>
            </a:r>
            <a:r>
              <a:rPr lang="en-US" dirty="0" smtClean="0"/>
              <a:t> </a:t>
            </a:r>
            <a:r>
              <a:rPr lang="en-US" dirty="0"/>
              <a:t>years of experience</a:t>
            </a:r>
          </a:p>
          <a:p>
            <a:pPr eaLnBrk="1" hangingPunct="1">
              <a:spcBef>
                <a:spcPct val="55000"/>
              </a:spcBef>
            </a:pPr>
            <a:r>
              <a:rPr lang="en-US" u="sng" dirty="0"/>
              <a:t>Independent</a:t>
            </a:r>
            <a:r>
              <a:rPr lang="en-US" dirty="0"/>
              <a:t> consultant</a:t>
            </a:r>
          </a:p>
          <a:p>
            <a:pPr eaLnBrk="1" hangingPunct="1">
              <a:spcBef>
                <a:spcPct val="55000"/>
              </a:spcBef>
            </a:pPr>
            <a:r>
              <a:rPr lang="en-US" dirty="0"/>
              <a:t>Administer </a:t>
            </a:r>
            <a:r>
              <a:rPr lang="en-US" dirty="0" smtClean="0"/>
              <a:t>30+ </a:t>
            </a:r>
            <a:r>
              <a:rPr lang="en-US" dirty="0"/>
              <a:t>group captive programs</a:t>
            </a:r>
          </a:p>
          <a:p>
            <a:pPr eaLnBrk="1" hangingPunct="1">
              <a:spcBef>
                <a:spcPct val="55000"/>
              </a:spcBef>
            </a:pPr>
            <a:r>
              <a:rPr lang="en-US" dirty="0"/>
              <a:t>Represent over 2,500 shareholders</a:t>
            </a:r>
          </a:p>
          <a:p>
            <a:pPr eaLnBrk="1" hangingPunct="1">
              <a:spcBef>
                <a:spcPct val="55000"/>
              </a:spcBef>
            </a:pPr>
            <a:r>
              <a:rPr lang="en-US" dirty="0"/>
              <a:t>Combined premiums over $</a:t>
            </a:r>
            <a:r>
              <a:rPr lang="en-US" dirty="0" smtClean="0"/>
              <a:t>1.7 </a:t>
            </a:r>
            <a:r>
              <a:rPr lang="en-US" dirty="0"/>
              <a:t>Billion</a:t>
            </a:r>
          </a:p>
          <a:p>
            <a:pPr eaLnBrk="1" hangingPunct="1">
              <a:spcBef>
                <a:spcPct val="55000"/>
              </a:spcBef>
            </a:pPr>
            <a:r>
              <a:rPr lang="en-US" dirty="0" smtClean="0"/>
              <a:t>Have returned over $1.2 Billion in dividends </a:t>
            </a:r>
            <a:endParaRPr lang="en-US" dirty="0"/>
          </a:p>
          <a:p>
            <a:pPr eaLnBrk="1" hangingPunct="1">
              <a:spcBef>
                <a:spcPct val="55000"/>
              </a:spcBef>
            </a:pPr>
            <a:r>
              <a:rPr lang="en-US" dirty="0"/>
              <a:t>Administer 831 (b) micro captives</a:t>
            </a:r>
          </a:p>
          <a:p>
            <a:endParaRPr lang="en-US" dirty="0"/>
          </a:p>
        </p:txBody>
      </p:sp>
      <p:sp>
        <p:nvSpPr>
          <p:cNvPr id="8"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8</a:t>
            </a:fld>
            <a:endParaRPr lang="en-US" dirty="0"/>
          </a:p>
        </p:txBody>
      </p:sp>
    </p:spTree>
    <p:extLst>
      <p:ext uri="{BB962C8B-B14F-4D97-AF65-F5344CB8AC3E}">
        <p14:creationId xmlns:p14="http://schemas.microsoft.com/office/powerpoint/2010/main" val="190904773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Premiums </a:t>
            </a:r>
            <a:r>
              <a:rPr lang="en-US" dirty="0"/>
              <a:t>based on your loss </a:t>
            </a:r>
            <a:r>
              <a:rPr lang="en-US" dirty="0" smtClean="0"/>
              <a:t>experience</a:t>
            </a:r>
          </a:p>
          <a:p>
            <a:r>
              <a:rPr lang="en-US" dirty="0"/>
              <a:t>Only good risks are accepted</a:t>
            </a:r>
          </a:p>
          <a:p>
            <a:r>
              <a:rPr lang="en-US" dirty="0" smtClean="0"/>
              <a:t>Commitment to loss </a:t>
            </a:r>
            <a:r>
              <a:rPr lang="en-US" dirty="0"/>
              <a:t>prevention and </a:t>
            </a:r>
            <a:r>
              <a:rPr lang="en-US" dirty="0" smtClean="0"/>
              <a:t>claims management</a:t>
            </a:r>
          </a:p>
          <a:p>
            <a:r>
              <a:rPr lang="en-US" dirty="0"/>
              <a:t>Operating costs are lower</a:t>
            </a:r>
          </a:p>
          <a:p>
            <a:r>
              <a:rPr lang="en-US" dirty="0" smtClean="0"/>
              <a:t>Return </a:t>
            </a:r>
            <a:r>
              <a:rPr lang="en-US" dirty="0"/>
              <a:t>of unused loss funds and </a:t>
            </a:r>
            <a:r>
              <a:rPr lang="en-US" dirty="0" smtClean="0"/>
              <a:t>investment income</a:t>
            </a:r>
            <a:endParaRPr lang="en-US" dirty="0"/>
          </a:p>
        </p:txBody>
      </p:sp>
      <p:sp>
        <p:nvSpPr>
          <p:cNvPr id="14338" name="Rectangle 5"/>
          <p:cNvSpPr>
            <a:spLocks noGrp="1" noChangeArrowheads="1"/>
          </p:cNvSpPr>
          <p:nvPr>
            <p:ph type="title"/>
          </p:nvPr>
        </p:nvSpPr>
        <p:spPr/>
        <p:txBody>
          <a:bodyPr/>
          <a:lstStyle/>
          <a:p>
            <a:pPr eaLnBrk="1" hangingPunct="1"/>
            <a:r>
              <a:rPr lang="en-US" sz="2800" dirty="0" smtClean="0"/>
              <a:t>Why Are Your Costs Lower?</a:t>
            </a:r>
            <a:br>
              <a:rPr lang="en-US" sz="2800" dirty="0" smtClean="0"/>
            </a:br>
            <a:r>
              <a:rPr lang="en-US" sz="2600" dirty="0" smtClean="0"/>
              <a:t>Recapturing Previously Lost Dollars</a:t>
            </a:r>
          </a:p>
        </p:txBody>
      </p:sp>
      <p:sp>
        <p:nvSpPr>
          <p:cNvPr id="11" name="Slide Number Placeholder 3"/>
          <p:cNvSpPr>
            <a:spLocks noGrp="1"/>
          </p:cNvSpPr>
          <p:nvPr>
            <p:ph type="sldNum" sz="quarter" idx="10"/>
          </p:nvPr>
        </p:nvSpPr>
        <p:spPr/>
        <p:txBody>
          <a:bodyPr/>
          <a:lstStyle/>
          <a:p>
            <a:pPr>
              <a:defRPr/>
            </a:pPr>
            <a:fld id="{0B9A7EEB-07A5-4AF2-AE91-BE3FA2FA8060}" type="slidenum">
              <a:rPr lang="en-US" smtClean="0"/>
              <a:pPr>
                <a:defRPr/>
              </a:pPr>
              <a:t>9</a:t>
            </a:fld>
            <a:endParaRPr lang="en-US" dirty="0"/>
          </a:p>
        </p:txBody>
      </p:sp>
    </p:spTree>
    <p:extLst>
      <p:ext uri="{BB962C8B-B14F-4D97-AF65-F5344CB8AC3E}">
        <p14:creationId xmlns:p14="http://schemas.microsoft.com/office/powerpoint/2010/main" val="2582576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Insurance Coverages</a:t>
            </a:r>
            <a:endParaRPr lang="en-US" dirty="0"/>
          </a:p>
        </p:txBody>
      </p:sp>
      <p:sp>
        <p:nvSpPr>
          <p:cNvPr id="10" name="Slide Number Placeholder 3"/>
          <p:cNvSpPr>
            <a:spLocks noGrp="1"/>
          </p:cNvSpPr>
          <p:nvPr>
            <p:ph type="sldNum" sz="quarter" idx="10"/>
          </p:nvPr>
        </p:nvSpPr>
        <p:spPr/>
        <p:txBody>
          <a:bodyPr/>
          <a:lstStyle/>
          <a:p>
            <a:pPr>
              <a:defRPr/>
            </a:pPr>
            <a:fld id="{0B9A7EEB-07A5-4AF2-AE91-BE3FA2FA8060}" type="slidenum">
              <a:rPr lang="en-US" smtClean="0"/>
              <a:pPr>
                <a:defRPr/>
              </a:pPr>
              <a:t>10</a:t>
            </a:fld>
            <a:endParaRPr lang="en-US" dirty="0"/>
          </a:p>
        </p:txBody>
      </p:sp>
      <p:sp>
        <p:nvSpPr>
          <p:cNvPr id="13" name="Content Placeholder 1"/>
          <p:cNvSpPr>
            <a:spLocks noGrp="1"/>
          </p:cNvSpPr>
          <p:nvPr>
            <p:ph idx="1"/>
          </p:nvPr>
        </p:nvSpPr>
        <p:spPr/>
        <p:txBody>
          <a:bodyPr/>
          <a:lstStyle/>
          <a:p>
            <a:r>
              <a:rPr lang="en-US" dirty="0" smtClean="0"/>
              <a:t>Policies in the group captive </a:t>
            </a:r>
            <a:r>
              <a:rPr lang="en-US" dirty="0" smtClean="0">
                <a:solidFill>
                  <a:srgbClr val="800000"/>
                </a:solidFill>
              </a:rPr>
              <a:t>(typically about 40% of an engineering firm’s insurance costs)</a:t>
            </a:r>
          </a:p>
          <a:p>
            <a:pPr lvl="1"/>
            <a:r>
              <a:rPr lang="en-US" b="1" dirty="0" smtClean="0"/>
              <a:t>General Liability</a:t>
            </a:r>
          </a:p>
          <a:p>
            <a:pPr lvl="1"/>
            <a:r>
              <a:rPr lang="en-US" b="1" dirty="0" smtClean="0"/>
              <a:t>Workers Compensation / Employers Liability</a:t>
            </a:r>
          </a:p>
          <a:p>
            <a:pPr lvl="1"/>
            <a:r>
              <a:rPr lang="en-US" b="1" dirty="0" smtClean="0"/>
              <a:t>Business Auto</a:t>
            </a:r>
          </a:p>
          <a:p>
            <a:r>
              <a:rPr lang="en-US" dirty="0" smtClean="0"/>
              <a:t>Policies that are often purchased in conjunction with the above but will now be a </a:t>
            </a:r>
            <a:r>
              <a:rPr lang="en-US" b="1" dirty="0" smtClean="0"/>
              <a:t>stand-alone</a:t>
            </a:r>
            <a:r>
              <a:rPr lang="en-US" dirty="0" smtClean="0"/>
              <a:t> purchase</a:t>
            </a:r>
          </a:p>
          <a:p>
            <a:pPr lvl="1"/>
            <a:r>
              <a:rPr lang="en-US" b="1" dirty="0" smtClean="0"/>
              <a:t>Umbrella</a:t>
            </a:r>
          </a:p>
          <a:p>
            <a:pPr lvl="1"/>
            <a:r>
              <a:rPr lang="en-US" b="1" dirty="0" smtClean="0"/>
              <a:t>Property</a:t>
            </a:r>
            <a:endParaRPr lang="en-US" b="1" dirty="0"/>
          </a:p>
        </p:txBody>
      </p:sp>
    </p:spTree>
    <p:extLst>
      <p:ext uri="{BB962C8B-B14F-4D97-AF65-F5344CB8AC3E}">
        <p14:creationId xmlns:p14="http://schemas.microsoft.com/office/powerpoint/2010/main" val="5040403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Program Design</a:t>
            </a:r>
            <a:endParaRPr lang="en-US"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11</a:t>
            </a:fld>
            <a:endParaRPr lang="en-US" dirty="0"/>
          </a:p>
        </p:txBody>
      </p:sp>
      <p:sp>
        <p:nvSpPr>
          <p:cNvPr id="6" name="TextBox 5"/>
          <p:cNvSpPr txBox="1"/>
          <p:nvPr/>
        </p:nvSpPr>
        <p:spPr>
          <a:xfrm>
            <a:off x="3276600" y="2209800"/>
            <a:ext cx="1905000" cy="3416320"/>
          </a:xfrm>
          <a:prstGeom prst="rect">
            <a:avLst/>
          </a:prstGeom>
          <a:solidFill>
            <a:schemeClr val="tx1"/>
          </a:solidFill>
        </p:spPr>
        <p:txBody>
          <a:bodyPr wrap="square" rtlCol="0">
            <a:spAutoFit/>
          </a:bodyPr>
          <a:lstStyle/>
          <a:p>
            <a:pPr algn="ctr"/>
            <a:endParaRPr lang="en-US" dirty="0" smtClean="0">
              <a:solidFill>
                <a:schemeClr val="bg1"/>
              </a:solidFill>
            </a:endParaRPr>
          </a:p>
          <a:p>
            <a:pPr algn="ctr"/>
            <a:r>
              <a:rPr lang="en-US" dirty="0" smtClean="0">
                <a:solidFill>
                  <a:schemeClr val="bg1"/>
                </a:solidFill>
              </a:rPr>
              <a:t>Fronting</a:t>
            </a:r>
          </a:p>
          <a:p>
            <a:pPr algn="ctr"/>
            <a:r>
              <a:rPr lang="en-US" dirty="0" smtClean="0">
                <a:solidFill>
                  <a:schemeClr val="bg1"/>
                </a:solidFill>
              </a:rPr>
              <a:t>Policies</a:t>
            </a:r>
          </a:p>
          <a:p>
            <a:pPr algn="ctr"/>
            <a:r>
              <a:rPr lang="en-US" dirty="0" smtClean="0">
                <a:solidFill>
                  <a:schemeClr val="bg1"/>
                </a:solidFill>
              </a:rPr>
              <a:t>(AIG)</a:t>
            </a:r>
          </a:p>
          <a:p>
            <a:pPr algn="ctr"/>
            <a:endParaRPr lang="en-US" dirty="0" smtClean="0">
              <a:solidFill>
                <a:schemeClr val="bg1"/>
              </a:solidFill>
            </a:endParaRPr>
          </a:p>
          <a:p>
            <a:pPr algn="ctr"/>
            <a:r>
              <a:rPr lang="en-US" dirty="0" smtClean="0">
                <a:solidFill>
                  <a:schemeClr val="bg1"/>
                </a:solidFill>
              </a:rPr>
              <a:t>GL, WC, and Auto</a:t>
            </a:r>
          </a:p>
          <a:p>
            <a:pPr algn="ctr"/>
            <a:endParaRPr lang="en-US" dirty="0">
              <a:solidFill>
                <a:schemeClr val="bg1"/>
              </a:solidFill>
            </a:endParaRPr>
          </a:p>
          <a:p>
            <a:pPr algn="ctr"/>
            <a:endParaRPr lang="en-US" dirty="0">
              <a:solidFill>
                <a:schemeClr val="bg1"/>
              </a:solidFill>
            </a:endParaRPr>
          </a:p>
        </p:txBody>
      </p:sp>
      <p:sp>
        <p:nvSpPr>
          <p:cNvPr id="7" name="TextBox 6"/>
          <p:cNvSpPr txBox="1"/>
          <p:nvPr/>
        </p:nvSpPr>
        <p:spPr>
          <a:xfrm>
            <a:off x="990600" y="2903621"/>
            <a:ext cx="1905000" cy="2677656"/>
          </a:xfrm>
          <a:prstGeom prst="rect">
            <a:avLst/>
          </a:prstGeom>
          <a:noFill/>
        </p:spPr>
        <p:txBody>
          <a:bodyPr wrap="square" rtlCol="0">
            <a:spAutoFit/>
          </a:bodyPr>
          <a:lstStyle/>
          <a:p>
            <a:r>
              <a:rPr lang="en-US" dirty="0" smtClean="0">
                <a:solidFill>
                  <a:schemeClr val="tx1"/>
                </a:solidFill>
              </a:rPr>
              <a:t>What your clients see</a:t>
            </a:r>
          </a:p>
          <a:p>
            <a:endParaRPr lang="en-US" dirty="0">
              <a:solidFill>
                <a:schemeClr val="tx1"/>
              </a:solidFill>
            </a:endParaRPr>
          </a:p>
          <a:p>
            <a:r>
              <a:rPr lang="en-US" dirty="0" smtClean="0">
                <a:solidFill>
                  <a:schemeClr val="tx1"/>
                </a:solidFill>
              </a:rPr>
              <a:t>What will show on Certificates of insurance</a:t>
            </a:r>
            <a:endParaRPr lang="en-US" dirty="0">
              <a:solidFill>
                <a:schemeClr val="tx1"/>
              </a:solidFill>
            </a:endParaRPr>
          </a:p>
        </p:txBody>
      </p:sp>
      <p:cxnSp>
        <p:nvCxnSpPr>
          <p:cNvPr id="9" name="Straight Arrow Connector 8"/>
          <p:cNvCxnSpPr/>
          <p:nvPr/>
        </p:nvCxnSpPr>
        <p:spPr bwMode="auto">
          <a:xfrm flipV="1">
            <a:off x="2057400" y="3746883"/>
            <a:ext cx="1066800" cy="215517"/>
          </a:xfrm>
          <a:prstGeom prst="straightConnector1">
            <a:avLst/>
          </a:prstGeom>
          <a:solidFill>
            <a:schemeClr val="accent1"/>
          </a:solidFill>
          <a:ln w="12700" cap="flat" cmpd="sng" algn="ctr">
            <a:solidFill>
              <a:schemeClr val="tx1"/>
            </a:solidFill>
            <a:prstDash val="solid"/>
            <a:round/>
            <a:headEnd type="none" w="sm" len="sm"/>
            <a:tailEnd type="arrow"/>
          </a:ln>
          <a:effectLst/>
        </p:spPr>
      </p:cxnSp>
      <p:sp>
        <p:nvSpPr>
          <p:cNvPr id="10" name="TextBox 9"/>
          <p:cNvSpPr txBox="1"/>
          <p:nvPr/>
        </p:nvSpPr>
        <p:spPr>
          <a:xfrm>
            <a:off x="6439300" y="4057850"/>
            <a:ext cx="1905000" cy="1661993"/>
          </a:xfrm>
          <a:prstGeom prst="rect">
            <a:avLst/>
          </a:prstGeom>
          <a:solidFill>
            <a:srgbClr val="800000"/>
          </a:solidFill>
        </p:spPr>
        <p:txBody>
          <a:bodyPr wrap="square" rtlCol="0">
            <a:spAutoFit/>
          </a:bodyPr>
          <a:lstStyle/>
          <a:p>
            <a:pPr algn="ctr"/>
            <a:endParaRPr lang="en-US" dirty="0" smtClean="0">
              <a:solidFill>
                <a:schemeClr val="bg1"/>
              </a:solidFill>
            </a:endParaRPr>
          </a:p>
          <a:p>
            <a:pPr algn="ctr"/>
            <a:endParaRPr lang="en-US" sz="1200" dirty="0" smtClean="0">
              <a:solidFill>
                <a:schemeClr val="bg1"/>
              </a:solidFill>
            </a:endParaRPr>
          </a:p>
          <a:p>
            <a:pPr algn="ctr"/>
            <a:r>
              <a:rPr lang="en-US" dirty="0" smtClean="0">
                <a:solidFill>
                  <a:schemeClr val="bg1"/>
                </a:solidFill>
              </a:rPr>
              <a:t>Evolution</a:t>
            </a:r>
          </a:p>
          <a:p>
            <a:pPr algn="ctr"/>
            <a:endParaRPr lang="en-US" sz="1800" dirty="0" smtClean="0">
              <a:solidFill>
                <a:schemeClr val="bg1"/>
              </a:solidFill>
            </a:endParaRPr>
          </a:p>
          <a:p>
            <a:pPr algn="ctr"/>
            <a:endParaRPr lang="en-US" dirty="0">
              <a:solidFill>
                <a:schemeClr val="bg1"/>
              </a:solidFill>
            </a:endParaRPr>
          </a:p>
        </p:txBody>
      </p:sp>
      <p:sp>
        <p:nvSpPr>
          <p:cNvPr id="11" name="TextBox 10"/>
          <p:cNvSpPr txBox="1"/>
          <p:nvPr/>
        </p:nvSpPr>
        <p:spPr>
          <a:xfrm>
            <a:off x="6439300" y="2213008"/>
            <a:ext cx="1905000" cy="1938992"/>
          </a:xfrm>
          <a:prstGeom prst="rect">
            <a:avLst/>
          </a:prstGeom>
          <a:solidFill>
            <a:schemeClr val="bg1">
              <a:lumMod val="50000"/>
            </a:schemeClr>
          </a:solidFill>
        </p:spPr>
        <p:txBody>
          <a:bodyPr wrap="square" rtlCol="0">
            <a:spAutoFit/>
          </a:bodyPr>
          <a:lstStyle/>
          <a:p>
            <a:pPr algn="ctr"/>
            <a:endParaRPr lang="en-US" dirty="0" smtClean="0">
              <a:solidFill>
                <a:schemeClr val="bg1"/>
              </a:solidFill>
            </a:endParaRPr>
          </a:p>
          <a:p>
            <a:pPr algn="ctr"/>
            <a:r>
              <a:rPr lang="en-US" dirty="0" smtClean="0">
                <a:solidFill>
                  <a:schemeClr val="bg1"/>
                </a:solidFill>
              </a:rPr>
              <a:t>AIG Excess Reinsurance</a:t>
            </a:r>
          </a:p>
          <a:p>
            <a:pPr algn="ctr"/>
            <a:endParaRPr lang="en-US" dirty="0">
              <a:solidFill>
                <a:schemeClr val="bg1"/>
              </a:solidFill>
            </a:endParaRPr>
          </a:p>
          <a:p>
            <a:pPr algn="ctr"/>
            <a:endParaRPr lang="en-US" dirty="0">
              <a:solidFill>
                <a:schemeClr val="bg1"/>
              </a:solidFill>
            </a:endParaRPr>
          </a:p>
        </p:txBody>
      </p:sp>
      <p:cxnSp>
        <p:nvCxnSpPr>
          <p:cNvPr id="15" name="Straight Connector 14"/>
          <p:cNvCxnSpPr/>
          <p:nvPr/>
        </p:nvCxnSpPr>
        <p:spPr bwMode="auto">
          <a:xfrm>
            <a:off x="6400800" y="4134850"/>
            <a:ext cx="1981200" cy="0"/>
          </a:xfrm>
          <a:prstGeom prst="line">
            <a:avLst/>
          </a:prstGeom>
          <a:solidFill>
            <a:schemeClr val="accent1"/>
          </a:solidFill>
          <a:ln w="50800" cap="flat" cmpd="sng" algn="ctr">
            <a:solidFill>
              <a:schemeClr val="bg1"/>
            </a:solidFill>
            <a:prstDash val="solid"/>
            <a:round/>
            <a:headEnd type="none" w="sm" len="sm"/>
            <a:tailEnd type="none" w="sm" len="sm"/>
          </a:ln>
          <a:effectLst/>
        </p:spPr>
      </p:cxnSp>
      <p:sp>
        <p:nvSpPr>
          <p:cNvPr id="21" name="TextBox 20"/>
          <p:cNvSpPr txBox="1"/>
          <p:nvPr/>
        </p:nvSpPr>
        <p:spPr>
          <a:xfrm>
            <a:off x="5203257" y="2613455"/>
            <a:ext cx="1524000" cy="2923877"/>
          </a:xfrm>
          <a:prstGeom prst="rect">
            <a:avLst/>
          </a:prstGeom>
          <a:noFill/>
        </p:spPr>
        <p:txBody>
          <a:bodyPr wrap="square" rtlCol="0">
            <a:spAutoFit/>
          </a:bodyPr>
          <a:lstStyle/>
          <a:p>
            <a:r>
              <a:rPr lang="en-US" dirty="0" smtClean="0">
                <a:solidFill>
                  <a:schemeClr val="tx1"/>
                </a:solidFill>
              </a:rPr>
              <a:t>Excess Risk</a:t>
            </a:r>
          </a:p>
          <a:p>
            <a:endParaRPr lang="en-US" dirty="0">
              <a:solidFill>
                <a:schemeClr val="tx1"/>
              </a:solidFill>
            </a:endParaRPr>
          </a:p>
          <a:p>
            <a:endParaRPr lang="en-US" sz="1400" dirty="0" smtClean="0">
              <a:solidFill>
                <a:schemeClr val="tx1"/>
              </a:solidFill>
            </a:endParaRPr>
          </a:p>
          <a:p>
            <a:endParaRPr lang="en-US" dirty="0">
              <a:solidFill>
                <a:schemeClr val="tx1"/>
              </a:solidFill>
            </a:endParaRPr>
          </a:p>
          <a:p>
            <a:endParaRPr lang="en-US" dirty="0" smtClean="0">
              <a:solidFill>
                <a:schemeClr val="tx1"/>
              </a:solidFill>
            </a:endParaRPr>
          </a:p>
          <a:p>
            <a:r>
              <a:rPr lang="en-US" dirty="0" smtClean="0">
                <a:solidFill>
                  <a:schemeClr val="tx1"/>
                </a:solidFill>
              </a:rPr>
              <a:t>Primary Risk</a:t>
            </a:r>
            <a:endParaRPr lang="en-US" dirty="0">
              <a:solidFill>
                <a:schemeClr val="tx1"/>
              </a:solidFill>
            </a:endParaRPr>
          </a:p>
        </p:txBody>
      </p:sp>
      <p:cxnSp>
        <p:nvCxnSpPr>
          <p:cNvPr id="22" name="Straight Arrow Connector 21"/>
          <p:cNvCxnSpPr/>
          <p:nvPr/>
        </p:nvCxnSpPr>
        <p:spPr bwMode="auto">
          <a:xfrm flipV="1">
            <a:off x="5200850" y="3276600"/>
            <a:ext cx="1199950" cy="245338"/>
          </a:xfrm>
          <a:prstGeom prst="straightConnector1">
            <a:avLst/>
          </a:prstGeom>
          <a:solidFill>
            <a:schemeClr val="accent1"/>
          </a:solidFill>
          <a:ln w="12700" cap="flat" cmpd="sng" algn="ctr">
            <a:solidFill>
              <a:schemeClr val="tx1"/>
            </a:solidFill>
            <a:prstDash val="solid"/>
            <a:round/>
            <a:headEnd type="none" w="sm" len="sm"/>
            <a:tailEnd type="arrow"/>
          </a:ln>
          <a:effectLst/>
        </p:spPr>
      </p:cxnSp>
      <p:cxnSp>
        <p:nvCxnSpPr>
          <p:cNvPr id="28" name="Straight Arrow Connector 27"/>
          <p:cNvCxnSpPr/>
          <p:nvPr/>
        </p:nvCxnSpPr>
        <p:spPr bwMode="auto">
          <a:xfrm>
            <a:off x="5210475" y="4495800"/>
            <a:ext cx="1190325" cy="243622"/>
          </a:xfrm>
          <a:prstGeom prst="straightConnector1">
            <a:avLst/>
          </a:prstGeom>
          <a:solidFill>
            <a:schemeClr val="accent1"/>
          </a:solidFill>
          <a:ln w="12700" cap="flat" cmpd="sng" algn="ctr">
            <a:solidFill>
              <a:schemeClr val="tx1"/>
            </a:solidFill>
            <a:prstDash val="solid"/>
            <a:round/>
            <a:headEnd type="none" w="sm" len="sm"/>
            <a:tailEnd type="arrow"/>
          </a:ln>
          <a:effectLst/>
        </p:spPr>
      </p:cxnSp>
      <p:sp>
        <p:nvSpPr>
          <p:cNvPr id="2" name="Rectangle 1"/>
          <p:cNvSpPr/>
          <p:nvPr/>
        </p:nvSpPr>
        <p:spPr bwMode="auto">
          <a:xfrm>
            <a:off x="2362200" y="5638800"/>
            <a:ext cx="6553200" cy="457200"/>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Tree>
    <p:extLst>
      <p:ext uri="{BB962C8B-B14F-4D97-AF65-F5344CB8AC3E}">
        <p14:creationId xmlns:p14="http://schemas.microsoft.com/office/powerpoint/2010/main" val="338953450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12</a:t>
            </a:fld>
            <a:endParaRPr lang="en-US" dirty="0"/>
          </a:p>
        </p:txBody>
      </p:sp>
      <p:sp>
        <p:nvSpPr>
          <p:cNvPr id="2" name="Title 1"/>
          <p:cNvSpPr>
            <a:spLocks noGrp="1"/>
          </p:cNvSpPr>
          <p:nvPr>
            <p:ph type="title"/>
          </p:nvPr>
        </p:nvSpPr>
        <p:spPr/>
        <p:txBody>
          <a:bodyPr/>
          <a:lstStyle/>
          <a:p>
            <a:r>
              <a:rPr lang="en-US" dirty="0" smtClean="0"/>
              <a:t>Program Design</a:t>
            </a:r>
            <a:br>
              <a:rPr lang="en-US" dirty="0" smtClean="0"/>
            </a:br>
            <a:r>
              <a:rPr lang="en-US" sz="1200" dirty="0" smtClean="0"/>
              <a:t>Coverage: </a:t>
            </a:r>
            <a:r>
              <a:rPr lang="en-US" sz="1200" b="0" dirty="0" smtClean="0"/>
              <a:t>General Liability, Workers Compensation/Employers Liability and Business Auto</a:t>
            </a:r>
            <a:endParaRPr lang="en-US" sz="1200" b="0" dirty="0"/>
          </a:p>
        </p:txBody>
      </p:sp>
      <p:sp>
        <p:nvSpPr>
          <p:cNvPr id="138" name="Rectangle 4"/>
          <p:cNvSpPr>
            <a:spLocks noChangeArrowheads="1"/>
          </p:cNvSpPr>
          <p:nvPr/>
        </p:nvSpPr>
        <p:spPr bwMode="auto">
          <a:xfrm>
            <a:off x="847165" y="1796167"/>
            <a:ext cx="8305799" cy="4187664"/>
          </a:xfrm>
          <a:prstGeom prst="rect">
            <a:avLst/>
          </a:prstGeom>
          <a:solidFill>
            <a:schemeClr val="tx1">
              <a:lumMod val="50000"/>
              <a:lumOff val="50000"/>
            </a:schemeClr>
          </a:solidFill>
          <a:ln>
            <a:noFill/>
          </a:ln>
          <a:effectLst/>
          <a:extLst>
            <a:ext uri="{91240B29-F687-4F45-9708-019B960494DF}">
              <a14:hiddenLine xmlns:a14="http://schemas.microsoft.com/office/drawing/2010/main" w="1905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latin typeface="+mn-lt"/>
            </a:endParaRPr>
          </a:p>
        </p:txBody>
      </p:sp>
      <p:sp>
        <p:nvSpPr>
          <p:cNvPr id="142" name="Rectangle 26"/>
          <p:cNvSpPr>
            <a:spLocks noChangeArrowheads="1"/>
          </p:cNvSpPr>
          <p:nvPr/>
        </p:nvSpPr>
        <p:spPr bwMode="auto">
          <a:xfrm>
            <a:off x="2448033" y="2130045"/>
            <a:ext cx="4769227" cy="961522"/>
          </a:xfrm>
          <a:prstGeom prst="rect">
            <a:avLst/>
          </a:prstGeom>
          <a:solidFill>
            <a:schemeClr val="tx1">
              <a:lumMod val="95000"/>
              <a:lumOff val="5000"/>
            </a:schemeClr>
          </a:solidFill>
          <a:ln w="19050">
            <a:noFill/>
            <a:prstDash val="dash"/>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latin typeface="+mn-lt"/>
            </a:endParaRPr>
          </a:p>
        </p:txBody>
      </p:sp>
      <p:cxnSp>
        <p:nvCxnSpPr>
          <p:cNvPr id="144" name="Straight Connector 143"/>
          <p:cNvCxnSpPr/>
          <p:nvPr/>
        </p:nvCxnSpPr>
        <p:spPr bwMode="auto">
          <a:xfrm>
            <a:off x="2400265" y="3083440"/>
            <a:ext cx="4914935" cy="0"/>
          </a:xfrm>
          <a:prstGeom prst="line">
            <a:avLst/>
          </a:prstGeom>
          <a:solidFill>
            <a:schemeClr val="accent1"/>
          </a:solidFill>
          <a:ln w="50800" cap="flat" cmpd="sng" algn="ctr">
            <a:solidFill>
              <a:schemeClr val="bg1"/>
            </a:solidFill>
            <a:prstDash val="solid"/>
            <a:round/>
            <a:headEnd type="none" w="sm" len="sm"/>
            <a:tailEnd type="none" w="sm" len="sm"/>
          </a:ln>
          <a:effectLst/>
        </p:spPr>
      </p:cxnSp>
      <p:cxnSp>
        <p:nvCxnSpPr>
          <p:cNvPr id="145" name="Straight Connector 144"/>
          <p:cNvCxnSpPr/>
          <p:nvPr/>
        </p:nvCxnSpPr>
        <p:spPr bwMode="auto">
          <a:xfrm flipV="1">
            <a:off x="2420660" y="1719967"/>
            <a:ext cx="0" cy="1389582"/>
          </a:xfrm>
          <a:prstGeom prst="line">
            <a:avLst/>
          </a:prstGeom>
          <a:solidFill>
            <a:schemeClr val="accent1"/>
          </a:solidFill>
          <a:ln w="50800" cap="flat" cmpd="sng" algn="ctr">
            <a:solidFill>
              <a:schemeClr val="bg1"/>
            </a:solidFill>
            <a:prstDash val="solid"/>
            <a:round/>
            <a:headEnd type="none" w="sm" len="sm"/>
            <a:tailEnd type="none" w="sm" len="sm"/>
          </a:ln>
          <a:effectLst/>
        </p:spPr>
      </p:cxnSp>
      <p:sp>
        <p:nvSpPr>
          <p:cNvPr id="151" name="Rectangle 65"/>
          <p:cNvSpPr>
            <a:spLocks noChangeArrowheads="1"/>
          </p:cNvSpPr>
          <p:nvPr/>
        </p:nvSpPr>
        <p:spPr bwMode="auto">
          <a:xfrm>
            <a:off x="847165" y="4626396"/>
            <a:ext cx="5884655" cy="1360771"/>
          </a:xfrm>
          <a:prstGeom prst="rect">
            <a:avLst/>
          </a:prstGeom>
          <a:solidFill>
            <a:srgbClr val="800000"/>
          </a:solidFill>
          <a:ln>
            <a:noFill/>
          </a:ln>
          <a:effectLst/>
          <a:extLst>
            <a:ext uri="{91240B29-F687-4F45-9708-019B960494DF}">
              <a14:hiddenLine xmlns:a14="http://schemas.microsoft.com/office/drawing/2010/main" w="1905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dirty="0">
              <a:latin typeface="+mn-lt"/>
            </a:endParaRPr>
          </a:p>
        </p:txBody>
      </p:sp>
      <p:sp>
        <p:nvSpPr>
          <p:cNvPr id="152" name="Text Box 66"/>
          <p:cNvSpPr txBox="1">
            <a:spLocks noChangeArrowheads="1"/>
          </p:cNvSpPr>
          <p:nvPr/>
        </p:nvSpPr>
        <p:spPr bwMode="auto">
          <a:xfrm>
            <a:off x="990600" y="4744701"/>
            <a:ext cx="417141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2700" dir="5400000" algn="ctr" rotWithShape="0">
                    <a:srgbClr val="000000"/>
                  </a:outerShdw>
                </a:effectLst>
              </a14:hiddenEffects>
            </a:ext>
          </a:extLst>
        </p:spPr>
        <p:txBody>
          <a:bodyPr wrap="squar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marL="968375" indent="-968375" eaLnBrk="1" hangingPunct="1">
              <a:spcBef>
                <a:spcPts val="600"/>
              </a:spcBef>
            </a:pPr>
            <a:r>
              <a:rPr lang="en-US" sz="1400" dirty="0" smtClean="0">
                <a:solidFill>
                  <a:schemeClr val="bg1"/>
                </a:solidFill>
                <a:latin typeface="+mn-lt"/>
              </a:rPr>
              <a:t>Coverage: 	</a:t>
            </a:r>
            <a:r>
              <a:rPr lang="en-US" sz="1400" b="0" dirty="0">
                <a:solidFill>
                  <a:schemeClr val="bg1"/>
                </a:solidFill>
                <a:latin typeface="+mn-lt"/>
              </a:rPr>
              <a:t>Primary </a:t>
            </a:r>
            <a:r>
              <a:rPr lang="en-US" sz="1400" b="0" dirty="0" smtClean="0">
                <a:solidFill>
                  <a:schemeClr val="bg1"/>
                </a:solidFill>
                <a:latin typeface="+mn-lt"/>
              </a:rPr>
              <a:t>Reinsurance</a:t>
            </a:r>
          </a:p>
          <a:p>
            <a:pPr marL="968375" indent="-968375" eaLnBrk="1" hangingPunct="1">
              <a:spcBef>
                <a:spcPts val="600"/>
              </a:spcBef>
            </a:pPr>
            <a:r>
              <a:rPr lang="en-US" sz="1400" dirty="0" smtClean="0">
                <a:solidFill>
                  <a:schemeClr val="bg1"/>
                </a:solidFill>
                <a:latin typeface="+mn-lt"/>
              </a:rPr>
              <a:t>Insurer: 	</a:t>
            </a:r>
            <a:r>
              <a:rPr lang="en-US" sz="1400" b="0" dirty="0" smtClean="0">
                <a:solidFill>
                  <a:schemeClr val="bg1"/>
                </a:solidFill>
                <a:latin typeface="+mn-lt"/>
              </a:rPr>
              <a:t>Evolution</a:t>
            </a:r>
            <a:endParaRPr lang="en-US" sz="1400" dirty="0">
              <a:solidFill>
                <a:schemeClr val="bg1"/>
              </a:solidFill>
              <a:latin typeface="+mn-lt"/>
            </a:endParaRPr>
          </a:p>
          <a:p>
            <a:pPr marL="968375" indent="-968375" eaLnBrk="1" hangingPunct="1">
              <a:spcBef>
                <a:spcPts val="600"/>
              </a:spcBef>
            </a:pPr>
            <a:r>
              <a:rPr lang="en-US" sz="1400" dirty="0" smtClean="0">
                <a:solidFill>
                  <a:schemeClr val="bg1"/>
                </a:solidFill>
                <a:latin typeface="+mn-lt"/>
              </a:rPr>
              <a:t>Limit: 	</a:t>
            </a:r>
            <a:r>
              <a:rPr lang="en-US" sz="1400" b="0" dirty="0" smtClean="0">
                <a:solidFill>
                  <a:schemeClr val="bg1"/>
                </a:solidFill>
                <a:latin typeface="+mn-lt"/>
              </a:rPr>
              <a:t>$400,000</a:t>
            </a:r>
            <a:endParaRPr lang="en-US" sz="1400" b="0" dirty="0">
              <a:solidFill>
                <a:schemeClr val="bg1"/>
              </a:solidFill>
              <a:latin typeface="+mn-lt"/>
            </a:endParaRPr>
          </a:p>
        </p:txBody>
      </p:sp>
      <p:cxnSp>
        <p:nvCxnSpPr>
          <p:cNvPr id="153" name="Straight Connector 152"/>
          <p:cNvCxnSpPr/>
          <p:nvPr/>
        </p:nvCxnSpPr>
        <p:spPr bwMode="auto">
          <a:xfrm flipV="1">
            <a:off x="6117336" y="4580735"/>
            <a:ext cx="0" cy="1482632"/>
          </a:xfrm>
          <a:prstGeom prst="line">
            <a:avLst/>
          </a:prstGeom>
          <a:solidFill>
            <a:schemeClr val="accent1"/>
          </a:solidFill>
          <a:ln w="12700" cap="flat" cmpd="sng" algn="ctr">
            <a:solidFill>
              <a:schemeClr val="bg1"/>
            </a:solidFill>
            <a:prstDash val="dash"/>
            <a:round/>
            <a:headEnd type="none" w="sm" len="sm"/>
            <a:tailEnd type="none" w="sm" len="sm"/>
          </a:ln>
          <a:effectLst/>
        </p:spPr>
      </p:cxnSp>
      <p:cxnSp>
        <p:nvCxnSpPr>
          <p:cNvPr id="155" name="Straight Connector 154"/>
          <p:cNvCxnSpPr/>
          <p:nvPr/>
        </p:nvCxnSpPr>
        <p:spPr bwMode="auto">
          <a:xfrm flipH="1" flipV="1">
            <a:off x="6705600" y="4580735"/>
            <a:ext cx="3811" cy="1478822"/>
          </a:xfrm>
          <a:prstGeom prst="line">
            <a:avLst/>
          </a:prstGeom>
          <a:solidFill>
            <a:schemeClr val="accent1"/>
          </a:solidFill>
          <a:ln w="50800" cap="flat" cmpd="sng" algn="ctr">
            <a:solidFill>
              <a:schemeClr val="bg1"/>
            </a:solidFill>
            <a:prstDash val="solid"/>
            <a:round/>
            <a:headEnd type="none" w="sm" len="sm"/>
            <a:tailEnd type="none" w="sm" len="sm"/>
          </a:ln>
          <a:effectLst/>
        </p:spPr>
      </p:cxnSp>
      <p:sp>
        <p:nvSpPr>
          <p:cNvPr id="156" name="TextBox 155"/>
          <p:cNvSpPr txBox="1"/>
          <p:nvPr/>
        </p:nvSpPr>
        <p:spPr>
          <a:xfrm rot="16200000">
            <a:off x="5707360" y="5043503"/>
            <a:ext cx="1357435" cy="523220"/>
          </a:xfrm>
          <a:prstGeom prst="rect">
            <a:avLst/>
          </a:prstGeom>
          <a:noFill/>
        </p:spPr>
        <p:txBody>
          <a:bodyPr wrap="square" rtlCol="0">
            <a:spAutoFit/>
          </a:bodyPr>
          <a:lstStyle/>
          <a:p>
            <a:pPr algn="ctr"/>
            <a:r>
              <a:rPr lang="en-US" sz="1400" dirty="0" smtClean="0">
                <a:solidFill>
                  <a:schemeClr val="bg1"/>
                </a:solidFill>
              </a:rPr>
              <a:t>Experience Adjustment</a:t>
            </a:r>
            <a:endParaRPr lang="en-US" sz="1400" dirty="0">
              <a:solidFill>
                <a:schemeClr val="bg1"/>
              </a:solidFill>
            </a:endParaRPr>
          </a:p>
        </p:txBody>
      </p:sp>
      <p:cxnSp>
        <p:nvCxnSpPr>
          <p:cNvPr id="159" name="Straight Connector 158"/>
          <p:cNvCxnSpPr/>
          <p:nvPr/>
        </p:nvCxnSpPr>
        <p:spPr bwMode="auto">
          <a:xfrm>
            <a:off x="805480" y="4605713"/>
            <a:ext cx="5924435" cy="0"/>
          </a:xfrm>
          <a:prstGeom prst="line">
            <a:avLst/>
          </a:prstGeom>
          <a:solidFill>
            <a:schemeClr val="accent1"/>
          </a:solidFill>
          <a:ln w="50800" cap="flat" cmpd="sng" algn="ctr">
            <a:solidFill>
              <a:schemeClr val="bg1"/>
            </a:solidFill>
            <a:prstDash val="solid"/>
            <a:round/>
            <a:headEnd type="none" w="sm" len="sm"/>
            <a:tailEnd type="none" w="sm" len="sm"/>
          </a:ln>
          <a:effectLst/>
        </p:spPr>
      </p:cxnSp>
      <p:sp>
        <p:nvSpPr>
          <p:cNvPr id="176" name="Rectangle 26"/>
          <p:cNvSpPr>
            <a:spLocks noChangeArrowheads="1"/>
          </p:cNvSpPr>
          <p:nvPr/>
        </p:nvSpPr>
        <p:spPr bwMode="auto">
          <a:xfrm>
            <a:off x="6709412" y="2060234"/>
            <a:ext cx="2443552" cy="1050100"/>
          </a:xfrm>
          <a:prstGeom prst="rect">
            <a:avLst/>
          </a:prstGeom>
          <a:solidFill>
            <a:schemeClr val="bg1"/>
          </a:solidFill>
          <a:ln w="19050">
            <a:noFill/>
            <a:prstDash val="dash"/>
            <a:miter lim="800000"/>
            <a:headEnd/>
            <a:tailEnd/>
          </a:ln>
          <a:effectLst/>
          <a:extLst/>
        </p:spPr>
        <p:txBody>
          <a:bodyPr wrap="none" anchor="ctr"/>
          <a:lstStyle/>
          <a:p>
            <a:endParaRPr lang="en-US" dirty="0">
              <a:latin typeface="+mn-lt"/>
            </a:endParaRPr>
          </a:p>
        </p:txBody>
      </p:sp>
      <p:sp>
        <p:nvSpPr>
          <p:cNvPr id="177" name="Text Box 66"/>
          <p:cNvSpPr txBox="1">
            <a:spLocks noChangeArrowheads="1"/>
          </p:cNvSpPr>
          <p:nvPr/>
        </p:nvSpPr>
        <p:spPr bwMode="auto">
          <a:xfrm>
            <a:off x="990599" y="3218151"/>
            <a:ext cx="548640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2700" dir="5400000" algn="ctr" rotWithShape="0">
                    <a:srgbClr val="000000"/>
                  </a:outerShdw>
                </a:effectLst>
              </a14:hiddenEffects>
            </a:ext>
          </a:extLst>
        </p:spPr>
        <p:txBody>
          <a:bodyPr wrap="squar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marL="968375" indent="-968375" eaLnBrk="1" hangingPunct="1">
              <a:spcBef>
                <a:spcPts val="600"/>
              </a:spcBef>
            </a:pPr>
            <a:r>
              <a:rPr lang="en-US" sz="1400" dirty="0">
                <a:solidFill>
                  <a:schemeClr val="bg1"/>
                </a:solidFill>
                <a:latin typeface="+mn-lt"/>
                <a:cs typeface="Arial" pitchFamily="34" charset="0"/>
              </a:rPr>
              <a:t>Coverage: 	</a:t>
            </a:r>
            <a:r>
              <a:rPr lang="en-US" sz="1400" b="0" dirty="0">
                <a:solidFill>
                  <a:schemeClr val="bg1"/>
                </a:solidFill>
                <a:latin typeface="+mn-lt"/>
                <a:cs typeface="Arial" pitchFamily="34" charset="0"/>
              </a:rPr>
              <a:t>Per-Claim Excess Reinsurance</a:t>
            </a:r>
          </a:p>
          <a:p>
            <a:pPr marL="968375" indent="-968375" eaLnBrk="1" hangingPunct="1">
              <a:spcBef>
                <a:spcPts val="600"/>
              </a:spcBef>
            </a:pPr>
            <a:r>
              <a:rPr lang="en-US" sz="1400" dirty="0" smtClean="0">
                <a:solidFill>
                  <a:schemeClr val="bg1"/>
                </a:solidFill>
                <a:latin typeface="+mn-lt"/>
                <a:cs typeface="Arial" pitchFamily="34" charset="0"/>
              </a:rPr>
              <a:t>Insurer</a:t>
            </a:r>
            <a:r>
              <a:rPr lang="en-US" sz="1400" dirty="0" smtClean="0">
                <a:solidFill>
                  <a:schemeClr val="bg1"/>
                </a:solidFill>
                <a:latin typeface="+mn-lt"/>
              </a:rPr>
              <a:t>: 	</a:t>
            </a:r>
            <a:r>
              <a:rPr lang="en-US" sz="1400" b="0" dirty="0" smtClean="0">
                <a:solidFill>
                  <a:schemeClr val="bg1"/>
                </a:solidFill>
                <a:latin typeface="+mn-lt"/>
              </a:rPr>
              <a:t>AIG</a:t>
            </a:r>
          </a:p>
          <a:p>
            <a:pPr marL="968375" indent="-968375" eaLnBrk="1" hangingPunct="1">
              <a:spcBef>
                <a:spcPts val="600"/>
              </a:spcBef>
            </a:pPr>
            <a:r>
              <a:rPr lang="en-US" sz="1400" dirty="0" smtClean="0">
                <a:solidFill>
                  <a:schemeClr val="bg1"/>
                </a:solidFill>
                <a:latin typeface="+mn-lt"/>
              </a:rPr>
              <a:t>Limit: 	</a:t>
            </a:r>
            <a:r>
              <a:rPr lang="en-US" sz="1400" b="0" dirty="0" smtClean="0">
                <a:solidFill>
                  <a:schemeClr val="bg1"/>
                </a:solidFill>
                <a:latin typeface="+mn-lt"/>
              </a:rPr>
              <a:t>$600,000 each occurrence (except statutory for WC) excess of $400,000 each occurrence</a:t>
            </a:r>
            <a:endParaRPr lang="en-US" sz="1400" b="0" dirty="0">
              <a:solidFill>
                <a:schemeClr val="bg1"/>
              </a:solidFill>
              <a:latin typeface="+mn-lt"/>
            </a:endParaRPr>
          </a:p>
        </p:txBody>
      </p:sp>
      <p:cxnSp>
        <p:nvCxnSpPr>
          <p:cNvPr id="16409" name="Straight Connector 16408"/>
          <p:cNvCxnSpPr/>
          <p:nvPr/>
        </p:nvCxnSpPr>
        <p:spPr bwMode="auto">
          <a:xfrm flipV="1">
            <a:off x="6713532" y="3133323"/>
            <a:ext cx="1" cy="1482244"/>
          </a:xfrm>
          <a:prstGeom prst="line">
            <a:avLst/>
          </a:prstGeom>
          <a:solidFill>
            <a:schemeClr val="accent1"/>
          </a:solidFill>
          <a:ln w="12700" cap="flat" cmpd="sng" algn="ctr">
            <a:solidFill>
              <a:schemeClr val="bg1"/>
            </a:solidFill>
            <a:prstDash val="dash"/>
            <a:round/>
            <a:headEnd type="none" w="sm" len="sm"/>
            <a:tailEnd type="none" w="sm" len="sm"/>
          </a:ln>
          <a:effectLst/>
        </p:spPr>
      </p:cxnSp>
      <p:sp>
        <p:nvSpPr>
          <p:cNvPr id="185" name="Text Box 66"/>
          <p:cNvSpPr txBox="1">
            <a:spLocks noChangeArrowheads="1"/>
          </p:cNvSpPr>
          <p:nvPr/>
        </p:nvSpPr>
        <p:spPr bwMode="auto">
          <a:xfrm>
            <a:off x="846318" y="2024767"/>
            <a:ext cx="15432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2700" dir="5400000" algn="ctr" rotWithShape="0">
                    <a:srgbClr val="000000"/>
                  </a:outerShdw>
                </a:effectLst>
              </a14:hiddenEffects>
            </a:ext>
          </a:extLst>
        </p:spPr>
        <p:txBody>
          <a:bodyPr wrap="squar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algn="ctr" eaLnBrk="1" hangingPunct="1">
              <a:spcBef>
                <a:spcPts val="600"/>
              </a:spcBef>
            </a:pPr>
            <a:r>
              <a:rPr lang="en-US" sz="1200" b="0" dirty="0" smtClean="0">
                <a:solidFill>
                  <a:schemeClr val="bg1"/>
                </a:solidFill>
                <a:latin typeface="+mn-lt"/>
              </a:rPr>
              <a:t>(WC statutory limit is unlimited)</a:t>
            </a:r>
            <a:endParaRPr lang="en-US" sz="1200" b="0" dirty="0">
              <a:solidFill>
                <a:schemeClr val="bg1"/>
              </a:solidFill>
              <a:latin typeface="+mn-lt"/>
            </a:endParaRPr>
          </a:p>
        </p:txBody>
      </p:sp>
      <p:sp>
        <p:nvSpPr>
          <p:cNvPr id="186" name="Rectangle 26"/>
          <p:cNvSpPr>
            <a:spLocks noChangeArrowheads="1"/>
          </p:cNvSpPr>
          <p:nvPr/>
        </p:nvSpPr>
        <p:spPr bwMode="auto">
          <a:xfrm>
            <a:off x="2420661" y="1796167"/>
            <a:ext cx="6732304" cy="333878"/>
          </a:xfrm>
          <a:prstGeom prst="rect">
            <a:avLst/>
          </a:prstGeom>
          <a:solidFill>
            <a:schemeClr val="bg1"/>
          </a:solidFill>
          <a:ln w="19050">
            <a:noFill/>
            <a:prstDash val="dash"/>
            <a:miter lim="800000"/>
            <a:headEnd/>
            <a:tailEnd/>
          </a:ln>
          <a:effectLst/>
          <a:extLst/>
        </p:spPr>
        <p:txBody>
          <a:bodyPr wrap="none" anchor="ctr"/>
          <a:lstStyle/>
          <a:p>
            <a:endParaRPr lang="en-US" dirty="0">
              <a:latin typeface="+mn-lt"/>
            </a:endParaRPr>
          </a:p>
        </p:txBody>
      </p:sp>
      <p:sp>
        <p:nvSpPr>
          <p:cNvPr id="197" name="Text Box 66"/>
          <p:cNvSpPr txBox="1">
            <a:spLocks noChangeArrowheads="1"/>
          </p:cNvSpPr>
          <p:nvPr/>
        </p:nvSpPr>
        <p:spPr bwMode="auto">
          <a:xfrm>
            <a:off x="6781800" y="3167767"/>
            <a:ext cx="2218764"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2700" dir="5400000" algn="ctr" rotWithShape="0">
                    <a:srgbClr val="000000"/>
                  </a:outerShdw>
                </a:effectLst>
              </a14:hiddenEffects>
            </a:ext>
          </a:extLst>
        </p:spPr>
        <p:txBody>
          <a:bodyPr wrap="squar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marL="968375" indent="-968375" eaLnBrk="1" hangingPunct="1">
              <a:spcBef>
                <a:spcPts val="600"/>
              </a:spcBef>
            </a:pPr>
            <a:r>
              <a:rPr lang="en-US" sz="1400" dirty="0" smtClean="0">
                <a:solidFill>
                  <a:schemeClr val="bg1"/>
                </a:solidFill>
                <a:latin typeface="+mn-lt"/>
              </a:rPr>
              <a:t>Coverage: 	</a:t>
            </a:r>
            <a:r>
              <a:rPr lang="en-US" sz="1400" b="0" dirty="0" smtClean="0">
                <a:solidFill>
                  <a:schemeClr val="bg1"/>
                </a:solidFill>
                <a:latin typeface="+mn-lt"/>
              </a:rPr>
              <a:t>Group Aggregate Excess Reinsurance</a:t>
            </a:r>
          </a:p>
          <a:p>
            <a:pPr marL="968375" indent="-968375" eaLnBrk="1" hangingPunct="1">
              <a:spcBef>
                <a:spcPts val="600"/>
              </a:spcBef>
            </a:pPr>
            <a:r>
              <a:rPr lang="en-US" sz="1400" dirty="0" smtClean="0">
                <a:solidFill>
                  <a:schemeClr val="bg1"/>
                </a:solidFill>
                <a:latin typeface="+mn-lt"/>
              </a:rPr>
              <a:t>Insurer:</a:t>
            </a:r>
            <a:r>
              <a:rPr lang="en-US" sz="1400" b="0" dirty="0">
                <a:solidFill>
                  <a:schemeClr val="bg1"/>
                </a:solidFill>
                <a:latin typeface="+mn-lt"/>
              </a:rPr>
              <a:t>	</a:t>
            </a:r>
            <a:r>
              <a:rPr lang="en-US" sz="1400" b="0" dirty="0" smtClean="0">
                <a:solidFill>
                  <a:schemeClr val="bg1"/>
                </a:solidFill>
                <a:latin typeface="+mn-lt"/>
              </a:rPr>
              <a:t>AIG</a:t>
            </a:r>
            <a:endParaRPr lang="en-US" sz="1400" dirty="0">
              <a:solidFill>
                <a:schemeClr val="bg1"/>
              </a:solidFill>
              <a:latin typeface="+mn-lt"/>
            </a:endParaRPr>
          </a:p>
          <a:p>
            <a:pPr marL="968375" indent="-968375" eaLnBrk="1" hangingPunct="1">
              <a:spcBef>
                <a:spcPts val="600"/>
              </a:spcBef>
            </a:pPr>
            <a:r>
              <a:rPr lang="en-US" sz="1400" dirty="0" smtClean="0">
                <a:solidFill>
                  <a:schemeClr val="bg1"/>
                </a:solidFill>
                <a:latin typeface="+mn-lt"/>
              </a:rPr>
              <a:t>Limit: 	</a:t>
            </a:r>
            <a:r>
              <a:rPr lang="en-US" sz="1400" b="0" dirty="0" smtClean="0">
                <a:solidFill>
                  <a:schemeClr val="bg1"/>
                </a:solidFill>
                <a:latin typeface="+mn-lt"/>
              </a:rPr>
              <a:t>Unlimited once captive aggregate limits are exhausted</a:t>
            </a:r>
            <a:endParaRPr lang="en-US" sz="1400" b="0" dirty="0">
              <a:solidFill>
                <a:schemeClr val="bg1"/>
              </a:solidFill>
              <a:latin typeface="+mn-lt"/>
            </a:endParaRPr>
          </a:p>
        </p:txBody>
      </p:sp>
      <p:sp>
        <p:nvSpPr>
          <p:cNvPr id="201" name="Text Box 66"/>
          <p:cNvSpPr txBox="1">
            <a:spLocks noChangeArrowheads="1"/>
          </p:cNvSpPr>
          <p:nvPr/>
        </p:nvSpPr>
        <p:spPr bwMode="auto">
          <a:xfrm>
            <a:off x="2514601" y="2139203"/>
            <a:ext cx="418978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2700" dir="5400000" algn="ctr" rotWithShape="0">
                    <a:srgbClr val="000000"/>
                  </a:outerShdw>
                </a:effectLst>
              </a14:hiddenEffects>
            </a:ext>
          </a:extLst>
        </p:spPr>
        <p:txBody>
          <a:bodyPr wrap="squar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marL="968375" indent="-968375" eaLnBrk="1" hangingPunct="1">
              <a:spcBef>
                <a:spcPts val="600"/>
              </a:spcBef>
            </a:pPr>
            <a:r>
              <a:rPr lang="en-US" sz="1400" dirty="0">
                <a:solidFill>
                  <a:schemeClr val="bg1"/>
                </a:solidFill>
                <a:latin typeface="+mn-lt"/>
              </a:rPr>
              <a:t>Coverage: 	</a:t>
            </a:r>
            <a:r>
              <a:rPr lang="en-US" sz="1400" b="0" dirty="0">
                <a:solidFill>
                  <a:schemeClr val="bg1"/>
                </a:solidFill>
                <a:latin typeface="+mn-lt"/>
              </a:rPr>
              <a:t>Umbrella (not part of </a:t>
            </a:r>
            <a:r>
              <a:rPr lang="en-US" sz="1400" b="0" dirty="0" smtClean="0">
                <a:solidFill>
                  <a:schemeClr val="bg1"/>
                </a:solidFill>
                <a:latin typeface="+mn-lt"/>
              </a:rPr>
              <a:t>captive)</a:t>
            </a:r>
            <a:endParaRPr lang="en-US" sz="1400" b="0" dirty="0">
              <a:solidFill>
                <a:schemeClr val="bg1"/>
              </a:solidFill>
              <a:latin typeface="+mn-lt"/>
            </a:endParaRPr>
          </a:p>
          <a:p>
            <a:pPr marL="968375" indent="-968375" eaLnBrk="1" hangingPunct="1">
              <a:spcBef>
                <a:spcPts val="600"/>
              </a:spcBef>
            </a:pPr>
            <a:r>
              <a:rPr lang="en-US" sz="1400" dirty="0" smtClean="0">
                <a:solidFill>
                  <a:schemeClr val="bg1"/>
                </a:solidFill>
                <a:latin typeface="+mn-lt"/>
              </a:rPr>
              <a:t>Insurer: 	</a:t>
            </a:r>
            <a:r>
              <a:rPr lang="en-US" sz="1400" b="0" dirty="0" smtClean="0">
                <a:solidFill>
                  <a:schemeClr val="bg1"/>
                </a:solidFill>
                <a:latin typeface="+mn-lt"/>
              </a:rPr>
              <a:t>Varies for each insured</a:t>
            </a:r>
          </a:p>
          <a:p>
            <a:pPr marL="968375" indent="-968375" eaLnBrk="1" hangingPunct="1">
              <a:spcBef>
                <a:spcPts val="600"/>
              </a:spcBef>
            </a:pPr>
            <a:r>
              <a:rPr lang="en-US" sz="1400" dirty="0" smtClean="0">
                <a:solidFill>
                  <a:schemeClr val="bg1"/>
                </a:solidFill>
                <a:latin typeface="+mn-lt"/>
              </a:rPr>
              <a:t>Limit: 	</a:t>
            </a:r>
            <a:r>
              <a:rPr lang="en-US" sz="1400" b="0" dirty="0" smtClean="0">
                <a:solidFill>
                  <a:schemeClr val="bg1"/>
                </a:solidFill>
                <a:latin typeface="+mn-lt"/>
              </a:rPr>
              <a:t>Varies for each insured</a:t>
            </a:r>
            <a:endParaRPr lang="en-US" sz="1400" b="0" dirty="0">
              <a:solidFill>
                <a:schemeClr val="bg1"/>
              </a:solidFill>
              <a:latin typeface="+mn-lt"/>
            </a:endParaRPr>
          </a:p>
        </p:txBody>
      </p:sp>
      <p:cxnSp>
        <p:nvCxnSpPr>
          <p:cNvPr id="16430" name="Straight Arrow Connector 16429"/>
          <p:cNvCxnSpPr/>
          <p:nvPr/>
        </p:nvCxnSpPr>
        <p:spPr bwMode="auto">
          <a:xfrm flipV="1">
            <a:off x="637032" y="1963106"/>
            <a:ext cx="0" cy="4020725"/>
          </a:xfrm>
          <a:prstGeom prst="straightConnector1">
            <a:avLst/>
          </a:prstGeom>
          <a:solidFill>
            <a:schemeClr val="accent1"/>
          </a:solidFill>
          <a:ln w="12700" cap="flat" cmpd="sng" algn="ctr">
            <a:solidFill>
              <a:schemeClr val="tx1"/>
            </a:solidFill>
            <a:prstDash val="solid"/>
            <a:round/>
            <a:headEnd type="none" w="sm" len="sm"/>
            <a:tailEnd type="arrow"/>
          </a:ln>
          <a:effectLst/>
        </p:spPr>
      </p:cxnSp>
      <p:cxnSp>
        <p:nvCxnSpPr>
          <p:cNvPr id="204" name="Straight Arrow Connector 203"/>
          <p:cNvCxnSpPr/>
          <p:nvPr/>
        </p:nvCxnSpPr>
        <p:spPr bwMode="auto">
          <a:xfrm flipV="1">
            <a:off x="859536" y="6163663"/>
            <a:ext cx="8077200" cy="1"/>
          </a:xfrm>
          <a:prstGeom prst="straightConnector1">
            <a:avLst/>
          </a:prstGeom>
          <a:solidFill>
            <a:schemeClr val="accent1"/>
          </a:solidFill>
          <a:ln w="12700" cap="flat" cmpd="sng" algn="ctr">
            <a:solidFill>
              <a:schemeClr val="tx1"/>
            </a:solidFill>
            <a:prstDash val="solid"/>
            <a:round/>
            <a:headEnd type="none" w="sm" len="sm"/>
            <a:tailEnd type="arrow"/>
          </a:ln>
          <a:effectLst/>
        </p:spPr>
      </p:cxnSp>
      <p:sp>
        <p:nvSpPr>
          <p:cNvPr id="16432" name="TextBox 16431"/>
          <p:cNvSpPr txBox="1"/>
          <p:nvPr/>
        </p:nvSpPr>
        <p:spPr>
          <a:xfrm rot="16200000">
            <a:off x="-214374" y="3966814"/>
            <a:ext cx="1712328" cy="276999"/>
          </a:xfrm>
          <a:prstGeom prst="rect">
            <a:avLst/>
          </a:prstGeom>
          <a:solidFill>
            <a:schemeClr val="bg1"/>
          </a:solidFill>
        </p:spPr>
        <p:txBody>
          <a:bodyPr wrap="none" rtlCol="0">
            <a:spAutoFit/>
          </a:bodyPr>
          <a:lstStyle/>
          <a:p>
            <a:r>
              <a:rPr lang="en-US" sz="1200" dirty="0" smtClean="0">
                <a:solidFill>
                  <a:schemeClr val="tx1"/>
                </a:solidFill>
              </a:rPr>
              <a:t>Per-Occurrence Limits</a:t>
            </a:r>
            <a:endParaRPr lang="en-US" sz="1200" dirty="0">
              <a:solidFill>
                <a:schemeClr val="tx1"/>
              </a:solidFill>
            </a:endParaRPr>
          </a:p>
        </p:txBody>
      </p:sp>
      <p:sp>
        <p:nvSpPr>
          <p:cNvPr id="207" name="TextBox 206"/>
          <p:cNvSpPr txBox="1"/>
          <p:nvPr/>
        </p:nvSpPr>
        <p:spPr>
          <a:xfrm>
            <a:off x="5750978" y="6021166"/>
            <a:ext cx="1335622" cy="276999"/>
          </a:xfrm>
          <a:prstGeom prst="rect">
            <a:avLst/>
          </a:prstGeom>
          <a:solidFill>
            <a:schemeClr val="bg1"/>
          </a:solidFill>
        </p:spPr>
        <p:txBody>
          <a:bodyPr wrap="none" rtlCol="0">
            <a:spAutoFit/>
          </a:bodyPr>
          <a:lstStyle/>
          <a:p>
            <a:r>
              <a:rPr lang="en-US" sz="1200" dirty="0" smtClean="0">
                <a:solidFill>
                  <a:schemeClr val="tx1"/>
                </a:solidFill>
              </a:rPr>
              <a:t>Aggregate Limits</a:t>
            </a:r>
            <a:endParaRPr lang="en-US" sz="1200" dirty="0">
              <a:solidFill>
                <a:schemeClr val="tx1"/>
              </a:solidFill>
            </a:endParaRPr>
          </a:p>
        </p:txBody>
      </p:sp>
      <p:grpSp>
        <p:nvGrpSpPr>
          <p:cNvPr id="41" name="Group 40"/>
          <p:cNvGrpSpPr/>
          <p:nvPr/>
        </p:nvGrpSpPr>
        <p:grpSpPr>
          <a:xfrm>
            <a:off x="801624" y="1719967"/>
            <a:ext cx="1813560" cy="109728"/>
            <a:chOff x="801624" y="1719072"/>
            <a:chExt cx="1813560" cy="155448"/>
          </a:xfrm>
        </p:grpSpPr>
        <p:sp>
          <p:nvSpPr>
            <p:cNvPr id="42" name="Double Wave 41"/>
            <p:cNvSpPr/>
            <p:nvPr/>
          </p:nvSpPr>
          <p:spPr bwMode="auto">
            <a:xfrm>
              <a:off x="801624" y="1719072"/>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43" name="Double Wave 42"/>
            <p:cNvSpPr/>
            <p:nvPr/>
          </p:nvSpPr>
          <p:spPr bwMode="auto">
            <a:xfrm>
              <a:off x="1100328" y="1719072"/>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44" name="Double Wave 43"/>
            <p:cNvSpPr/>
            <p:nvPr/>
          </p:nvSpPr>
          <p:spPr bwMode="auto">
            <a:xfrm>
              <a:off x="1402080" y="1719072"/>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45" name="Double Wave 44"/>
            <p:cNvSpPr/>
            <p:nvPr/>
          </p:nvSpPr>
          <p:spPr bwMode="auto">
            <a:xfrm>
              <a:off x="1700784" y="1719072"/>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46" name="Double Wave 45"/>
            <p:cNvSpPr/>
            <p:nvPr/>
          </p:nvSpPr>
          <p:spPr bwMode="auto">
            <a:xfrm>
              <a:off x="2005584" y="1722120"/>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47" name="Double Wave 46"/>
            <p:cNvSpPr/>
            <p:nvPr/>
          </p:nvSpPr>
          <p:spPr bwMode="auto">
            <a:xfrm>
              <a:off x="2310384" y="1719072"/>
              <a:ext cx="304800" cy="152400"/>
            </a:xfrm>
            <a:prstGeom prst="doubleWave">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grpSp>
      <p:sp>
        <p:nvSpPr>
          <p:cNvPr id="3" name="TextBox 2"/>
          <p:cNvSpPr txBox="1"/>
          <p:nvPr/>
        </p:nvSpPr>
        <p:spPr>
          <a:xfrm>
            <a:off x="4500956" y="4289382"/>
            <a:ext cx="1702624" cy="585610"/>
          </a:xfrm>
          <a:prstGeom prst="rect">
            <a:avLst/>
          </a:prstGeom>
          <a:noFill/>
        </p:spPr>
        <p:txBody>
          <a:bodyPr wrap="square" rtlCol="0">
            <a:spAutoFit/>
          </a:bodyPr>
          <a:lstStyle/>
          <a:p>
            <a:pPr>
              <a:lnSpc>
                <a:spcPct val="120000"/>
              </a:lnSpc>
            </a:pPr>
            <a:r>
              <a:rPr lang="en-US" sz="1400" dirty="0" smtClean="0">
                <a:solidFill>
                  <a:schemeClr val="bg1"/>
                </a:solidFill>
              </a:rPr>
              <a:t>Basket and clash coverage included</a:t>
            </a:r>
            <a:endParaRPr lang="en-US" sz="1400" dirty="0">
              <a:solidFill>
                <a:schemeClr val="bg1"/>
              </a:solidFill>
            </a:endParaRPr>
          </a:p>
        </p:txBody>
      </p:sp>
    </p:spTree>
    <p:extLst>
      <p:ext uri="{BB962C8B-B14F-4D97-AF65-F5344CB8AC3E}">
        <p14:creationId xmlns:p14="http://schemas.microsoft.com/office/powerpoint/2010/main" val="37979708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Captive Service Providers</a:t>
            </a:r>
            <a:endParaRPr lang="en-US" dirty="0"/>
          </a:p>
        </p:txBody>
      </p:sp>
      <p:sp>
        <p:nvSpPr>
          <p:cNvPr id="3" name="Slide Number Placeholder 2"/>
          <p:cNvSpPr>
            <a:spLocks noGrp="1"/>
          </p:cNvSpPr>
          <p:nvPr>
            <p:ph type="sldNum" sz="quarter" idx="10"/>
          </p:nvPr>
        </p:nvSpPr>
        <p:spPr/>
        <p:txBody>
          <a:bodyPr/>
          <a:lstStyle/>
          <a:p>
            <a:pPr>
              <a:defRPr/>
            </a:pPr>
            <a:fld id="{3DAC9827-A357-4524-AEA8-15AD5E7B59AC}" type="slidenum">
              <a:rPr lang="en-US" smtClean="0"/>
              <a:pPr>
                <a:defRPr/>
              </a:pPr>
              <a:t>13</a:t>
            </a:fld>
            <a:endParaRPr lang="en-US" dirty="0"/>
          </a:p>
        </p:txBody>
      </p:sp>
      <p:sp>
        <p:nvSpPr>
          <p:cNvPr id="5" name="Rectangle 3"/>
          <p:cNvSpPr>
            <a:spLocks noChangeAspect="1" noChangeArrowheads="1"/>
          </p:cNvSpPr>
          <p:nvPr/>
        </p:nvSpPr>
        <p:spPr bwMode="auto">
          <a:xfrm>
            <a:off x="3352800" y="2897187"/>
            <a:ext cx="2593975" cy="379413"/>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Broker</a:t>
            </a:r>
            <a:r>
              <a:rPr lang="en-US" altLang="en-US" sz="2000" dirty="0" smtClean="0">
                <a:solidFill>
                  <a:schemeClr val="bg1"/>
                </a:solidFill>
                <a:latin typeface="+mn-lt"/>
              </a:rPr>
              <a:t>: Greyling</a:t>
            </a:r>
            <a:endParaRPr lang="en-US" altLang="en-US" sz="2000" dirty="0">
              <a:solidFill>
                <a:schemeClr val="bg1"/>
              </a:solidFill>
              <a:latin typeface="+mn-lt"/>
            </a:endParaRPr>
          </a:p>
        </p:txBody>
      </p:sp>
      <p:sp>
        <p:nvSpPr>
          <p:cNvPr id="6" name="Rectangle 10"/>
          <p:cNvSpPr>
            <a:spLocks noChangeAspect="1" noChangeArrowheads="1"/>
          </p:cNvSpPr>
          <p:nvPr/>
        </p:nvSpPr>
        <p:spPr bwMode="auto">
          <a:xfrm>
            <a:off x="1219200" y="5564187"/>
            <a:ext cx="3086100" cy="379413"/>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Reinsurance: </a:t>
            </a:r>
            <a:r>
              <a:rPr lang="en-US" altLang="en-US" sz="2000" dirty="0" smtClean="0">
                <a:solidFill>
                  <a:schemeClr val="bg1"/>
                </a:solidFill>
                <a:latin typeface="+mn-lt"/>
              </a:rPr>
              <a:t>AIG</a:t>
            </a:r>
            <a:endParaRPr lang="en-US" altLang="en-US" sz="2000" dirty="0">
              <a:solidFill>
                <a:schemeClr val="bg1"/>
              </a:solidFill>
              <a:latin typeface="+mn-lt"/>
            </a:endParaRPr>
          </a:p>
        </p:txBody>
      </p:sp>
      <p:sp>
        <p:nvSpPr>
          <p:cNvPr id="7" name="Rectangle 11"/>
          <p:cNvSpPr>
            <a:spLocks noChangeAspect="1" noChangeArrowheads="1"/>
          </p:cNvSpPr>
          <p:nvPr/>
        </p:nvSpPr>
        <p:spPr bwMode="auto">
          <a:xfrm>
            <a:off x="4821777" y="4063755"/>
            <a:ext cx="3581400" cy="411163"/>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sz="2000" b="1" dirty="0" smtClean="0">
                <a:solidFill>
                  <a:schemeClr val="bg1"/>
                </a:solidFill>
              </a:rPr>
              <a:t>Claims: </a:t>
            </a:r>
            <a:r>
              <a:rPr lang="en-US" sz="2000" dirty="0" smtClean="0">
                <a:solidFill>
                  <a:schemeClr val="bg1"/>
                </a:solidFill>
              </a:rPr>
              <a:t>Sedgwick</a:t>
            </a:r>
            <a:endParaRPr lang="en-US" sz="2000" dirty="0">
              <a:solidFill>
                <a:schemeClr val="bg1"/>
              </a:solidFill>
            </a:endParaRPr>
          </a:p>
        </p:txBody>
      </p:sp>
      <p:sp>
        <p:nvSpPr>
          <p:cNvPr id="8" name="Rectangle 13"/>
          <p:cNvSpPr>
            <a:spLocks noChangeAspect="1" noChangeArrowheads="1"/>
          </p:cNvSpPr>
          <p:nvPr/>
        </p:nvSpPr>
        <p:spPr bwMode="auto">
          <a:xfrm>
            <a:off x="4821777" y="5257800"/>
            <a:ext cx="3771732" cy="342900"/>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Safety: </a:t>
            </a:r>
            <a:r>
              <a:rPr lang="en-US" altLang="en-US" sz="2000" dirty="0" smtClean="0">
                <a:solidFill>
                  <a:schemeClr val="bg1"/>
                </a:solidFill>
                <a:latin typeface="+mn-lt"/>
              </a:rPr>
              <a:t>Risk </a:t>
            </a:r>
            <a:r>
              <a:rPr lang="en-US" altLang="en-US" sz="2000" dirty="0">
                <a:solidFill>
                  <a:schemeClr val="bg1"/>
                </a:solidFill>
                <a:latin typeface="+mn-lt"/>
              </a:rPr>
              <a:t>Consultants Inc.</a:t>
            </a:r>
          </a:p>
        </p:txBody>
      </p:sp>
      <p:sp>
        <p:nvSpPr>
          <p:cNvPr id="9" name="Rectangle 37"/>
          <p:cNvSpPr>
            <a:spLocks noChangeAspect="1" noChangeArrowheads="1"/>
          </p:cNvSpPr>
          <p:nvPr/>
        </p:nvSpPr>
        <p:spPr bwMode="auto">
          <a:xfrm>
            <a:off x="5839767" y="4633643"/>
            <a:ext cx="1543049" cy="379413"/>
          </a:xfrm>
          <a:prstGeom prst="rect">
            <a:avLst/>
          </a:prstGeom>
          <a:solidFill>
            <a:schemeClr val="tx1"/>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Claimant</a:t>
            </a:r>
            <a:endParaRPr lang="en-US" altLang="en-US" sz="2000" b="1" dirty="0">
              <a:solidFill>
                <a:schemeClr val="bg1"/>
              </a:solidFill>
              <a:latin typeface="+mn-lt"/>
            </a:endParaRPr>
          </a:p>
        </p:txBody>
      </p:sp>
      <p:sp>
        <p:nvSpPr>
          <p:cNvPr id="10" name="TextBox 9"/>
          <p:cNvSpPr txBox="1"/>
          <p:nvPr/>
        </p:nvSpPr>
        <p:spPr>
          <a:xfrm>
            <a:off x="6248400" y="2024389"/>
            <a:ext cx="2542996" cy="1631216"/>
          </a:xfrm>
          <a:prstGeom prst="rect">
            <a:avLst/>
          </a:prstGeom>
          <a:noFill/>
        </p:spPr>
        <p:txBody>
          <a:bodyPr wrap="square" rtlCol="0">
            <a:spAutoFit/>
          </a:bodyPr>
          <a:lstStyle/>
          <a:p>
            <a:r>
              <a:rPr lang="en-US" sz="2000" dirty="0" smtClean="0">
                <a:solidFill>
                  <a:schemeClr val="tx1"/>
                </a:solidFill>
              </a:rPr>
              <a:t>Captive members, via board committee participation, have control over all service providers.</a:t>
            </a:r>
            <a:endParaRPr lang="en-US" sz="2000" dirty="0">
              <a:solidFill>
                <a:schemeClr val="tx1"/>
              </a:solidFill>
            </a:endParaRPr>
          </a:p>
        </p:txBody>
      </p:sp>
      <p:cxnSp>
        <p:nvCxnSpPr>
          <p:cNvPr id="11" name="Elbow Connector 10"/>
          <p:cNvCxnSpPr>
            <a:stCxn id="17" idx="1"/>
          </p:cNvCxnSpPr>
          <p:nvPr/>
        </p:nvCxnSpPr>
        <p:spPr bwMode="auto">
          <a:xfrm rot="10800000" flipH="1">
            <a:off x="1219199" y="2182310"/>
            <a:ext cx="2734733" cy="3093343"/>
          </a:xfrm>
          <a:prstGeom prst="bentConnector3">
            <a:avLst>
              <a:gd name="adj1" fmla="val -8359"/>
            </a:avLst>
          </a:prstGeom>
          <a:solidFill>
            <a:schemeClr val="accent1"/>
          </a:solidFill>
          <a:ln w="12700" cap="flat" cmpd="sng" algn="ctr">
            <a:solidFill>
              <a:schemeClr val="tx1"/>
            </a:solidFill>
            <a:prstDash val="solid"/>
            <a:round/>
            <a:headEnd type="none" w="sm" len="sm"/>
            <a:tailEnd type="arrow"/>
          </a:ln>
          <a:effectLst/>
        </p:spPr>
      </p:cxnSp>
      <p:sp>
        <p:nvSpPr>
          <p:cNvPr id="12" name="Rectangle 24"/>
          <p:cNvSpPr>
            <a:spLocks noChangeArrowheads="1"/>
          </p:cNvSpPr>
          <p:nvPr/>
        </p:nvSpPr>
        <p:spPr bwMode="auto">
          <a:xfrm>
            <a:off x="589891" y="2682081"/>
            <a:ext cx="1271588" cy="654050"/>
          </a:xfrm>
          <a:prstGeom prst="rect">
            <a:avLst/>
          </a:prstGeom>
          <a:solidFill>
            <a:srgbClr val="006600"/>
          </a:solidFill>
          <a:ln w="12700">
            <a:noFill/>
            <a:miter lim="800000"/>
            <a:headEnd/>
            <a:tailEnd/>
          </a:ln>
          <a:effectLst/>
          <a:extLst/>
        </p:spPr>
        <p:txBody>
          <a:bodyPr wrap="none" lIns="274320" rIns="274320" anchor="ctr"/>
          <a:lstStyle/>
          <a:p>
            <a:pPr algn="ctr"/>
            <a:r>
              <a:rPr lang="en-US" altLang="en-US" sz="2000" b="0" dirty="0" smtClean="0">
                <a:solidFill>
                  <a:schemeClr val="bg1"/>
                </a:solidFill>
                <a:latin typeface="+mn-lt"/>
              </a:rPr>
              <a:t>Profits</a:t>
            </a:r>
            <a:endParaRPr lang="en-US" altLang="en-US" sz="2000" b="0" dirty="0">
              <a:solidFill>
                <a:schemeClr val="bg1"/>
              </a:solidFill>
              <a:latin typeface="+mn-lt"/>
            </a:endParaRPr>
          </a:p>
        </p:txBody>
      </p:sp>
      <p:cxnSp>
        <p:nvCxnSpPr>
          <p:cNvPr id="13" name="Elbow Connector 12"/>
          <p:cNvCxnSpPr>
            <a:stCxn id="6" idx="0"/>
          </p:cNvCxnSpPr>
          <p:nvPr/>
        </p:nvCxnSpPr>
        <p:spPr bwMode="auto">
          <a:xfrm rot="5400000" flipH="1" flipV="1">
            <a:off x="2007341" y="3151926"/>
            <a:ext cx="3167171" cy="1657352"/>
          </a:xfrm>
          <a:prstGeom prst="bentConnector3">
            <a:avLst>
              <a:gd name="adj1" fmla="val 90099"/>
            </a:avLst>
          </a:prstGeom>
          <a:solidFill>
            <a:schemeClr val="accent1"/>
          </a:solidFill>
          <a:ln w="12700" cap="flat" cmpd="sng" algn="ctr">
            <a:solidFill>
              <a:schemeClr val="tx1"/>
            </a:solidFill>
            <a:prstDash val="solid"/>
            <a:round/>
            <a:headEnd type="none" w="sm" len="sm"/>
            <a:tailEnd type="none"/>
          </a:ln>
          <a:effectLst/>
        </p:spPr>
      </p:cxnSp>
      <p:cxnSp>
        <p:nvCxnSpPr>
          <p:cNvPr id="14" name="Straight Arrow Connector 13"/>
          <p:cNvCxnSpPr>
            <a:stCxn id="5" idx="0"/>
          </p:cNvCxnSpPr>
          <p:nvPr/>
        </p:nvCxnSpPr>
        <p:spPr bwMode="auto">
          <a:xfrm flipH="1" flipV="1">
            <a:off x="4649787" y="2416175"/>
            <a:ext cx="1" cy="481012"/>
          </a:xfrm>
          <a:prstGeom prst="straightConnector1">
            <a:avLst/>
          </a:prstGeom>
          <a:solidFill>
            <a:schemeClr val="accent1"/>
          </a:solidFill>
          <a:ln w="12700" cap="flat" cmpd="sng" algn="ctr">
            <a:solidFill>
              <a:schemeClr val="tx1"/>
            </a:solidFill>
            <a:prstDash val="solid"/>
            <a:round/>
            <a:headEnd type="none" w="sm" len="sm"/>
            <a:tailEnd type="none"/>
          </a:ln>
          <a:effectLst/>
        </p:spPr>
      </p:cxnSp>
      <p:sp>
        <p:nvSpPr>
          <p:cNvPr id="15" name="Rectangle 5"/>
          <p:cNvSpPr>
            <a:spLocks noChangeArrowheads="1"/>
          </p:cNvSpPr>
          <p:nvPr/>
        </p:nvSpPr>
        <p:spPr bwMode="auto">
          <a:xfrm>
            <a:off x="1225685" y="3803284"/>
            <a:ext cx="3079615" cy="697036"/>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Captive Manager: </a:t>
            </a:r>
          </a:p>
          <a:p>
            <a:pPr algn="ctr"/>
            <a:r>
              <a:rPr lang="en-US" altLang="en-US" sz="2000" dirty="0" smtClean="0">
                <a:solidFill>
                  <a:schemeClr val="bg1"/>
                </a:solidFill>
                <a:latin typeface="+mn-lt"/>
              </a:rPr>
              <a:t>Captive Resources</a:t>
            </a:r>
          </a:p>
        </p:txBody>
      </p:sp>
      <p:sp>
        <p:nvSpPr>
          <p:cNvPr id="16" name="Rectangle 7"/>
          <p:cNvSpPr>
            <a:spLocks noChangeAspect="1" noChangeArrowheads="1"/>
          </p:cNvSpPr>
          <p:nvPr/>
        </p:nvSpPr>
        <p:spPr bwMode="auto">
          <a:xfrm>
            <a:off x="1225684" y="4606275"/>
            <a:ext cx="3079615" cy="379413"/>
          </a:xfrm>
          <a:prstGeom prst="rect">
            <a:avLst/>
          </a:prstGeom>
          <a:solidFill>
            <a:schemeClr val="tx1">
              <a:lumMod val="65000"/>
              <a:lumOff val="35000"/>
            </a:schemeClr>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Fronting Insurer: </a:t>
            </a:r>
            <a:r>
              <a:rPr lang="en-US" altLang="en-US" sz="2000" dirty="0" smtClean="0">
                <a:solidFill>
                  <a:schemeClr val="bg1"/>
                </a:solidFill>
                <a:latin typeface="+mn-lt"/>
              </a:rPr>
              <a:t>AIG</a:t>
            </a:r>
            <a:endParaRPr lang="en-US" altLang="en-US" sz="2000" dirty="0">
              <a:solidFill>
                <a:schemeClr val="bg1"/>
              </a:solidFill>
              <a:latin typeface="+mn-lt"/>
            </a:endParaRPr>
          </a:p>
        </p:txBody>
      </p:sp>
      <p:sp>
        <p:nvSpPr>
          <p:cNvPr id="17" name="Rectangle 36"/>
          <p:cNvSpPr>
            <a:spLocks noChangeAspect="1" noChangeArrowheads="1"/>
          </p:cNvSpPr>
          <p:nvPr/>
        </p:nvSpPr>
        <p:spPr bwMode="auto">
          <a:xfrm>
            <a:off x="1219200" y="5085945"/>
            <a:ext cx="3086100" cy="379413"/>
          </a:xfrm>
          <a:prstGeom prst="rect">
            <a:avLst/>
          </a:prstGeom>
          <a:solidFill>
            <a:srgbClr val="006600"/>
          </a:solidFill>
          <a:ln w="12700">
            <a:noFill/>
            <a:miter lim="800000"/>
            <a:headEnd/>
            <a:tailEnd/>
          </a:ln>
          <a:effectLst/>
          <a:extLst/>
        </p:spPr>
        <p:txBody>
          <a:bodyPr wrap="none" lIns="274320" rIns="274320" anchor="ctr"/>
          <a:lstStyle/>
          <a:p>
            <a:pPr algn="ctr"/>
            <a:r>
              <a:rPr lang="en-US" altLang="en-US" sz="2000" b="1" dirty="0" smtClean="0">
                <a:solidFill>
                  <a:schemeClr val="bg1"/>
                </a:solidFill>
                <a:latin typeface="+mn-lt"/>
              </a:rPr>
              <a:t>Captive: </a:t>
            </a:r>
            <a:r>
              <a:rPr lang="en-US" altLang="en-US" sz="2000" dirty="0" smtClean="0">
                <a:solidFill>
                  <a:schemeClr val="bg1"/>
                </a:solidFill>
                <a:latin typeface="+mn-lt"/>
              </a:rPr>
              <a:t>Evolution</a:t>
            </a:r>
            <a:endParaRPr lang="en-US" altLang="en-US" sz="2000" dirty="0">
              <a:solidFill>
                <a:schemeClr val="bg1"/>
              </a:solidFill>
              <a:latin typeface="+mn-lt"/>
            </a:endParaRPr>
          </a:p>
        </p:txBody>
      </p:sp>
      <p:cxnSp>
        <p:nvCxnSpPr>
          <p:cNvPr id="18" name="Elbow Connector 17"/>
          <p:cNvCxnSpPr>
            <a:stCxn id="17" idx="3"/>
            <a:endCxn id="7" idx="1"/>
          </p:cNvCxnSpPr>
          <p:nvPr/>
        </p:nvCxnSpPr>
        <p:spPr bwMode="auto">
          <a:xfrm flipV="1">
            <a:off x="4305300" y="4269337"/>
            <a:ext cx="516477" cy="1006315"/>
          </a:xfrm>
          <a:prstGeom prst="bentConnector3">
            <a:avLst/>
          </a:prstGeom>
          <a:solidFill>
            <a:schemeClr val="accent1"/>
          </a:solidFill>
          <a:ln w="12700" cap="flat" cmpd="sng" algn="ctr">
            <a:solidFill>
              <a:schemeClr val="tx1"/>
            </a:solidFill>
            <a:prstDash val="solid"/>
            <a:round/>
            <a:headEnd type="none" w="sm" len="sm"/>
            <a:tailEnd type="none" w="sm" len="sm"/>
          </a:ln>
          <a:effectLst/>
        </p:spPr>
      </p:cxnSp>
      <p:cxnSp>
        <p:nvCxnSpPr>
          <p:cNvPr id="19" name="Elbow Connector 18"/>
          <p:cNvCxnSpPr>
            <a:stCxn id="17" idx="3"/>
            <a:endCxn id="8" idx="1"/>
          </p:cNvCxnSpPr>
          <p:nvPr/>
        </p:nvCxnSpPr>
        <p:spPr bwMode="auto">
          <a:xfrm>
            <a:off x="4305300" y="5275652"/>
            <a:ext cx="516477" cy="153598"/>
          </a:xfrm>
          <a:prstGeom prst="bentConnector3">
            <a:avLst/>
          </a:prstGeom>
          <a:solidFill>
            <a:schemeClr val="accent1"/>
          </a:solidFill>
          <a:ln w="12700" cap="flat" cmpd="sng" algn="ctr">
            <a:solidFill>
              <a:schemeClr val="tx1"/>
            </a:solidFill>
            <a:prstDash val="solid"/>
            <a:round/>
            <a:headEnd type="none" w="sm" len="sm"/>
            <a:tailEnd type="none" w="sm" len="sm"/>
          </a:ln>
          <a:effectLst/>
        </p:spPr>
      </p:cxnSp>
      <p:cxnSp>
        <p:nvCxnSpPr>
          <p:cNvPr id="20" name="Straight Connector 19"/>
          <p:cNvCxnSpPr>
            <a:stCxn id="7" idx="2"/>
            <a:endCxn id="9" idx="0"/>
          </p:cNvCxnSpPr>
          <p:nvPr/>
        </p:nvCxnSpPr>
        <p:spPr bwMode="auto">
          <a:xfrm flipH="1">
            <a:off x="6611292" y="4474918"/>
            <a:ext cx="1185" cy="158725"/>
          </a:xfrm>
          <a:prstGeom prst="line">
            <a:avLst/>
          </a:prstGeom>
          <a:solidFill>
            <a:schemeClr val="accent1"/>
          </a:solidFill>
          <a:ln w="12700" cap="flat" cmpd="sng" algn="ctr">
            <a:noFill/>
            <a:prstDash val="solid"/>
            <a:round/>
            <a:headEnd type="none" w="sm" len="sm"/>
            <a:tailEnd type="none" w="sm" len="sm"/>
          </a:ln>
          <a:effectLst/>
        </p:spPr>
      </p:cxnSp>
      <p:cxnSp>
        <p:nvCxnSpPr>
          <p:cNvPr id="23" name="Straight Connector 22"/>
          <p:cNvCxnSpPr>
            <a:stCxn id="7" idx="2"/>
            <a:endCxn id="9" idx="0"/>
          </p:cNvCxnSpPr>
          <p:nvPr/>
        </p:nvCxnSpPr>
        <p:spPr bwMode="auto">
          <a:xfrm flipH="1">
            <a:off x="6611292" y="4474918"/>
            <a:ext cx="1185" cy="158725"/>
          </a:xfrm>
          <a:prstGeom prst="line">
            <a:avLst/>
          </a:prstGeom>
          <a:solidFill>
            <a:schemeClr val="accent1"/>
          </a:solidFill>
          <a:ln w="12700" cap="flat" cmpd="sng" algn="ctr">
            <a:solidFill>
              <a:schemeClr val="tx1"/>
            </a:solidFill>
            <a:prstDash val="solid"/>
            <a:round/>
            <a:headEnd type="none" w="sm" len="sm"/>
            <a:tailEnd type="none" w="sm" len="sm"/>
          </a:ln>
          <a:effectLst/>
        </p:spPr>
      </p:cxnSp>
      <p:pic>
        <p:nvPicPr>
          <p:cNvPr id="22" name="Picture 4" descr="KPFF Consulting Engineers log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38600" y="1828800"/>
            <a:ext cx="930304" cy="52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8454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500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sz="quarter"/>
          </p:nvPr>
        </p:nvSpPr>
        <p:spPr>
          <a:xfrm>
            <a:off x="1600200" y="1611313"/>
            <a:ext cx="7162800" cy="593368"/>
          </a:xfrm>
        </p:spPr>
        <p:txBody>
          <a:bodyPr/>
          <a:lstStyle/>
          <a:p>
            <a:r>
              <a:rPr lang="en-US" dirty="0" smtClean="0"/>
              <a:t>Funding for Losses</a:t>
            </a:r>
            <a:endParaRPr lang="en-US" dirty="0"/>
          </a:p>
        </p:txBody>
      </p:sp>
    </p:spTree>
    <p:extLst>
      <p:ext uri="{BB962C8B-B14F-4D97-AF65-F5344CB8AC3E}">
        <p14:creationId xmlns:p14="http://schemas.microsoft.com/office/powerpoint/2010/main" val="67956716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Captive pay-in premium is due in four equal installments over the policy year</a:t>
            </a:r>
          </a:p>
          <a:p>
            <a:r>
              <a:rPr lang="en-US" dirty="0" smtClean="0"/>
              <a:t>Part of the premium goes to paying the expenses of running the captive and related service providers</a:t>
            </a:r>
          </a:p>
          <a:p>
            <a:r>
              <a:rPr lang="en-US" dirty="0" smtClean="0"/>
              <a:t>Part of the premium is set aside to fund your losses</a:t>
            </a:r>
          </a:p>
          <a:p>
            <a:r>
              <a:rPr lang="en-US" dirty="0" smtClean="0"/>
              <a:t>The premium that is set aside is invested in the </a:t>
            </a:r>
            <a:r>
              <a:rPr lang="en-US" b="1" dirty="0" smtClean="0"/>
              <a:t>Captive Investors Fund </a:t>
            </a:r>
            <a:r>
              <a:rPr lang="en-US" dirty="0" smtClean="0"/>
              <a:t>(over $2.0 billion in assets) until it is either returned to you with investment income or used to pay losses or some combination of the two</a:t>
            </a:r>
            <a:endParaRPr lang="en-US" dirty="0"/>
          </a:p>
        </p:txBody>
      </p:sp>
      <p:sp>
        <p:nvSpPr>
          <p:cNvPr id="3" name="Title 2"/>
          <p:cNvSpPr>
            <a:spLocks noGrp="1"/>
          </p:cNvSpPr>
          <p:nvPr>
            <p:ph type="title"/>
          </p:nvPr>
        </p:nvSpPr>
        <p:spPr/>
        <p:txBody>
          <a:bodyPr/>
          <a:lstStyle/>
          <a:p>
            <a:r>
              <a:rPr lang="en-US" dirty="0" smtClean="0"/>
              <a:t>Premium</a:t>
            </a:r>
            <a:endParaRPr lang="en-US"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15</a:t>
            </a:fld>
            <a:endParaRPr lang="en-US" dirty="0"/>
          </a:p>
        </p:txBody>
      </p:sp>
    </p:spTree>
    <p:extLst>
      <p:ext uri="{BB962C8B-B14F-4D97-AF65-F5344CB8AC3E}">
        <p14:creationId xmlns:p14="http://schemas.microsoft.com/office/powerpoint/2010/main" val="283463415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Captive Program</a:t>
            </a:r>
            <a:endParaRPr lang="en-US" sz="1200" b="0" dirty="0"/>
          </a:p>
        </p:txBody>
      </p:sp>
      <p:sp>
        <p:nvSpPr>
          <p:cNvPr id="36" name="Content Placeholder 1"/>
          <p:cNvSpPr>
            <a:spLocks noGrp="1"/>
          </p:cNvSpPr>
          <p:nvPr>
            <p:ph idx="1"/>
          </p:nvPr>
        </p:nvSpPr>
        <p:spPr>
          <a:xfrm>
            <a:off x="1219200" y="1828800"/>
            <a:ext cx="7543800" cy="4114800"/>
          </a:xfrm>
        </p:spPr>
        <p:txBody>
          <a:bodyPr/>
          <a:lstStyle/>
          <a:p>
            <a:r>
              <a:rPr lang="en-US" dirty="0" smtClean="0"/>
              <a:t>KPFF’s current term premium paid for General Liability, Workers Compensation, and Auto Liability is $336,238 broken down as follows:</a:t>
            </a:r>
          </a:p>
          <a:p>
            <a:pPr>
              <a:buFont typeface="Courier New" panose="02070309020205020404" pitchFamily="49" charset="0"/>
              <a:buChar char="o"/>
            </a:pPr>
            <a:r>
              <a:rPr lang="en-US" dirty="0" smtClean="0"/>
              <a:t>General Liability: $41,556 (AOS &amp; CA)</a:t>
            </a:r>
          </a:p>
          <a:p>
            <a:pPr>
              <a:buFont typeface="Courier New" panose="02070309020205020404" pitchFamily="49" charset="0"/>
              <a:buChar char="o"/>
            </a:pPr>
            <a:r>
              <a:rPr lang="en-US" dirty="0" smtClean="0"/>
              <a:t>Workers Compensation: $263,698 ($254,070 premium + $9,628 surcharges)</a:t>
            </a:r>
          </a:p>
          <a:p>
            <a:pPr>
              <a:buFont typeface="Courier New" panose="02070309020205020404" pitchFamily="49" charset="0"/>
              <a:buChar char="o"/>
            </a:pPr>
            <a:r>
              <a:rPr lang="en-US" dirty="0" smtClean="0"/>
              <a:t>Auto Liability: $30,984</a:t>
            </a:r>
          </a:p>
          <a:p>
            <a:r>
              <a:rPr lang="en-US" dirty="0" smtClean="0"/>
              <a:t>Assuming a 20% initial cost savings, the estimated captive cost would be $268,990  </a:t>
            </a:r>
          </a:p>
        </p:txBody>
      </p:sp>
    </p:spTree>
    <p:extLst>
      <p:ext uri="{BB962C8B-B14F-4D97-AF65-F5344CB8AC3E}">
        <p14:creationId xmlns:p14="http://schemas.microsoft.com/office/powerpoint/2010/main" val="26207649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Captive Program – Sample Funds Breakdown for KPFF</a:t>
            </a:r>
            <a:endParaRPr lang="en-US" sz="1200" b="0" dirty="0"/>
          </a:p>
        </p:txBody>
      </p:sp>
      <p:graphicFrame>
        <p:nvGraphicFramePr>
          <p:cNvPr id="48" name="Table 47"/>
          <p:cNvGraphicFramePr>
            <a:graphicFrameLocks noGrp="1"/>
          </p:cNvGraphicFramePr>
          <p:nvPr>
            <p:extLst>
              <p:ext uri="{D42A27DB-BD31-4B8C-83A1-F6EECF244321}">
                <p14:modId xmlns:p14="http://schemas.microsoft.com/office/powerpoint/2010/main" val="3738642016"/>
              </p:ext>
            </p:extLst>
          </p:nvPr>
        </p:nvGraphicFramePr>
        <p:xfrm>
          <a:off x="76201" y="2057400"/>
          <a:ext cx="7467599" cy="2925714"/>
        </p:xfrm>
        <a:graphic>
          <a:graphicData uri="http://schemas.openxmlformats.org/drawingml/2006/table">
            <a:tbl>
              <a:tblPr firstRow="1" firstCol="1" bandRow="1"/>
              <a:tblGrid>
                <a:gridCol w="4268463"/>
                <a:gridCol w="3058481"/>
                <a:gridCol w="140655"/>
              </a:tblGrid>
              <a:tr h="268437">
                <a:tc>
                  <a:txBody>
                    <a:bodyPr/>
                    <a:lstStyle/>
                    <a:p>
                      <a:pPr marL="0" marR="0" algn="r">
                        <a:lnSpc>
                          <a:spcPct val="115000"/>
                        </a:lnSpc>
                        <a:spcBef>
                          <a:spcPts val="100"/>
                        </a:spcBef>
                        <a:spcAft>
                          <a:spcPts val="100"/>
                        </a:spcAft>
                      </a:pPr>
                      <a:r>
                        <a:rPr lang="en-US" sz="1400" b="1" dirty="0">
                          <a:effectLst/>
                          <a:latin typeface="+mn-lt"/>
                          <a:ea typeface="Calibri"/>
                          <a:cs typeface="Times New Roman"/>
                        </a:rPr>
                        <a:t> </a:t>
                      </a:r>
                      <a:r>
                        <a:rPr lang="en-US" sz="1400" b="1" dirty="0" smtClean="0">
                          <a:effectLst/>
                          <a:latin typeface="+mn-lt"/>
                          <a:ea typeface="Calibri"/>
                          <a:cs typeface="Times New Roman"/>
                        </a:rPr>
                        <a:t>A Fund (pays up to $100k per</a:t>
                      </a:r>
                      <a:r>
                        <a:rPr lang="en-US" sz="1400" b="1" baseline="0" dirty="0" smtClean="0">
                          <a:effectLst/>
                          <a:latin typeface="+mn-lt"/>
                          <a:ea typeface="Calibri"/>
                          <a:cs typeface="Times New Roman"/>
                        </a:rPr>
                        <a:t> claim)</a:t>
                      </a:r>
                      <a:r>
                        <a:rPr lang="en-US" sz="1400" b="1" dirty="0" smtClean="0">
                          <a:effectLst/>
                          <a:latin typeface="+mn-lt"/>
                          <a:ea typeface="Calibri"/>
                          <a:cs typeface="Times New Roman"/>
                        </a:rPr>
                        <a:t>:</a:t>
                      </a:r>
                      <a:endParaRPr lang="en-US" sz="1400" b="1"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$126,098 (~ 48% of premium)</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8437">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B Fund (pays</a:t>
                      </a:r>
                      <a:r>
                        <a:rPr lang="en-US" sz="1400" b="1" baseline="0" dirty="0" smtClean="0">
                          <a:effectLst/>
                          <a:latin typeface="+mn-lt"/>
                          <a:ea typeface="Calibri"/>
                          <a:cs typeface="Times New Roman"/>
                        </a:rPr>
                        <a:t> $100k to $400k per claim</a:t>
                      </a:r>
                      <a:r>
                        <a:rPr lang="en-US" sz="1400" b="1" dirty="0" smtClean="0">
                          <a:effectLst/>
                          <a:latin typeface="+mn-lt"/>
                          <a:ea typeface="Calibri"/>
                          <a:cs typeface="Times New Roman"/>
                        </a:rPr>
                        <a: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$52,362 (~ 20% of premium)</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8437">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Total Loss Funds:</a:t>
                      </a:r>
                      <a:endParaRPr lang="en-US" sz="1400" b="1"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$178,460 (~ 68% of premium)</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51925">
                <a:tc rowSpan="6">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Operating Costs (~32% of</a:t>
                      </a:r>
                      <a:r>
                        <a:rPr lang="en-US" sz="1400" b="1" baseline="0" dirty="0" smtClean="0">
                          <a:effectLst/>
                          <a:latin typeface="+mn-lt"/>
                          <a:ea typeface="Calibri"/>
                          <a:cs typeface="Times New Roman"/>
                        </a:rPr>
                        <a:t> premium)</a:t>
                      </a:r>
                      <a:r>
                        <a:rPr lang="en-US" sz="1400" b="1" dirty="0" smtClean="0">
                          <a:effectLst/>
                          <a:latin typeface="+mn-lt"/>
                          <a:ea typeface="Calibri"/>
                          <a:cs typeface="Times New Roman"/>
                        </a:rPr>
                        <a:t>:</a:t>
                      </a:r>
                      <a:endParaRPr lang="en-US" sz="1400" b="1"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$32,478</a:t>
                      </a:r>
                      <a:r>
                        <a:rPr lang="en-US" sz="1400" baseline="0" dirty="0" smtClean="0">
                          <a:effectLst/>
                          <a:latin typeface="+mn-lt"/>
                          <a:ea typeface="Calibri"/>
                          <a:cs typeface="Times New Roman"/>
                        </a:rPr>
                        <a:t> Reinsurance (AIG)</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rowSpan="6">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51925">
                <a:tc vMerge="1">
                  <a:txBody>
                    <a:bodyPr/>
                    <a:lstStyle/>
                    <a:p>
                      <a:endParaRPr lang="en-US"/>
                    </a:p>
                  </a:txBody>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$22,915 Front Cost (AIG)</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vMerge="1">
                  <a:txBody>
                    <a:bodyPr/>
                    <a:lstStyle/>
                    <a:p>
                      <a:endParaRPr lang="en-US"/>
                    </a:p>
                  </a:txBody>
                  <a:tcPr/>
                </a:tc>
              </a:tr>
              <a:tr h="251925">
                <a:tc vMerge="1">
                  <a:txBody>
                    <a:bodyPr/>
                    <a:lstStyle/>
                    <a:p>
                      <a:endParaRPr lang="en-US"/>
                    </a:p>
                  </a:txBody>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$10,452 Claims</a:t>
                      </a:r>
                      <a:r>
                        <a:rPr lang="en-US" sz="1400" baseline="0" dirty="0" smtClean="0">
                          <a:effectLst/>
                          <a:latin typeface="+mn-lt"/>
                          <a:ea typeface="Calibri"/>
                          <a:cs typeface="Times New Roman"/>
                        </a:rPr>
                        <a:t> Admin. (Sedgwick)</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vMerge="1">
                  <a:txBody>
                    <a:bodyPr/>
                    <a:lstStyle/>
                    <a:p>
                      <a:endParaRPr lang="en-US"/>
                    </a:p>
                  </a:txBody>
                  <a:tcPr/>
                </a:tc>
              </a:tr>
              <a:tr h="251925">
                <a:tc vMerge="1">
                  <a:txBody>
                    <a:bodyPr/>
                    <a:lstStyle/>
                    <a:p>
                      <a:endParaRPr lang="en-US"/>
                    </a:p>
                  </a:txBody>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$2,613 Risk Control (RCI)</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vMerge="1">
                  <a:txBody>
                    <a:bodyPr/>
                    <a:lstStyle/>
                    <a:p>
                      <a:endParaRPr lang="en-US"/>
                    </a:p>
                  </a:txBody>
                  <a:tcPr/>
                </a:tc>
              </a:tr>
              <a:tr h="251925">
                <a:tc vMerge="1">
                  <a:txBody>
                    <a:bodyPr/>
                    <a:lstStyle/>
                    <a:p>
                      <a:endParaRPr lang="en-US"/>
                    </a:p>
                  </a:txBody>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$14,371 Off Shore Expense Deferral</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vMerge="1">
                  <a:txBody>
                    <a:bodyPr/>
                    <a:lstStyle/>
                    <a:p>
                      <a:endParaRPr lang="en-US"/>
                    </a:p>
                  </a:txBody>
                  <a:tcPr/>
                </a:tc>
              </a:tr>
              <a:tr h="251925">
                <a:tc vMerge="1">
                  <a:txBody>
                    <a:bodyPr/>
                    <a:lstStyle/>
                    <a:p>
                      <a:endParaRPr lang="en-US"/>
                    </a:p>
                  </a:txBody>
                  <a:tcPr/>
                </a:tc>
                <a:tc>
                  <a:txBody>
                    <a:bodyPr/>
                    <a:lstStyle/>
                    <a:p>
                      <a:pPr marL="0" marR="0" algn="l">
                        <a:lnSpc>
                          <a:spcPct val="115000"/>
                        </a:lnSpc>
                        <a:spcBef>
                          <a:spcPts val="100"/>
                        </a:spcBef>
                        <a:spcAft>
                          <a:spcPts val="100"/>
                        </a:spcAft>
                      </a:pPr>
                      <a:r>
                        <a:rPr lang="en-US" sz="1400" b="1" dirty="0" smtClean="0">
                          <a:effectLst/>
                          <a:latin typeface="+mn-lt"/>
                          <a:ea typeface="Calibri"/>
                          <a:cs typeface="Times New Roman"/>
                        </a:rPr>
                        <a:t>$82,828 Total Operating Costs</a:t>
                      </a:r>
                      <a:endParaRPr lang="en-US" sz="1400" b="1"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vMerge="1">
                  <a:txBody>
                    <a:bodyPr/>
                    <a:lstStyle/>
                    <a:p>
                      <a:endParaRPr lang="en-US"/>
                    </a:p>
                  </a:txBody>
                  <a:tcPr/>
                </a:tc>
              </a:tr>
              <a:tr h="268437">
                <a:tc>
                  <a:txBody>
                    <a:bodyPr/>
                    <a:lstStyle/>
                    <a:p>
                      <a:pPr algn="r"/>
                      <a:r>
                        <a:rPr lang="en-US" sz="1400" b="1" dirty="0" smtClean="0"/>
                        <a:t>State Surcharges &amp; Fees:</a:t>
                      </a:r>
                      <a:endParaRPr lang="en-US" sz="1400" dirty="0"/>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400" dirty="0" smtClean="0"/>
                        <a:t>$7,702</a:t>
                      </a:r>
                      <a:endParaRPr lang="en-US" sz="1400" dirty="0"/>
                    </a:p>
                  </a:txBody>
                  <a:tcPr marL="63941" marR="63941"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8437">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Captive Pay-In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algn="l">
                        <a:lnSpc>
                          <a:spcPct val="115000"/>
                        </a:lnSpc>
                        <a:spcBef>
                          <a:spcPts val="100"/>
                        </a:spcBef>
                        <a:spcAft>
                          <a:spcPts val="100"/>
                        </a:spcAft>
                      </a:pPr>
                      <a:r>
                        <a:rPr lang="en-US" sz="1400" dirty="0" smtClean="0">
                          <a:effectLst/>
                          <a:latin typeface="+mn-lt"/>
                          <a:ea typeface="Calibri"/>
                          <a:cs typeface="Times New Roman"/>
                        </a:rPr>
                        <a:t>$268,990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71979">
                <a:tc gridSpan="3">
                  <a:txBody>
                    <a:bodyPr/>
                    <a:lstStyle/>
                    <a:p>
                      <a:pPr marL="0" marR="0" algn="ctr">
                        <a:lnSpc>
                          <a:spcPct val="115000"/>
                        </a:lnSpc>
                        <a:spcBef>
                          <a:spcPts val="300"/>
                        </a:spcBef>
                        <a:spcAft>
                          <a:spcPts val="30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r>
            </a:tbl>
          </a:graphicData>
        </a:graphic>
      </p:graphicFrame>
    </p:spTree>
    <p:extLst>
      <p:ext uri="{BB962C8B-B14F-4D97-AF65-F5344CB8AC3E}">
        <p14:creationId xmlns:p14="http://schemas.microsoft.com/office/powerpoint/2010/main" val="42741120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Loss Example #1 (A Typical Year</a:t>
            </a:r>
            <a:r>
              <a:rPr lang="en-US" dirty="0" smtClean="0"/>
              <a:t>)</a:t>
            </a:r>
            <a:br>
              <a:rPr lang="en-US" dirty="0" smtClean="0"/>
            </a:br>
            <a:r>
              <a:rPr lang="en-US" sz="1800" dirty="0" smtClean="0"/>
              <a:t>$40,000 in claims less than $100,000 each</a:t>
            </a:r>
            <a:endParaRPr lang="en-US" sz="1800"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18</a:t>
            </a:fld>
            <a:endParaRPr lang="en-US" dirty="0"/>
          </a:p>
        </p:txBody>
      </p:sp>
      <p:graphicFrame>
        <p:nvGraphicFramePr>
          <p:cNvPr id="9" name="Table 8"/>
          <p:cNvGraphicFramePr>
            <a:graphicFrameLocks noGrp="1"/>
          </p:cNvGraphicFramePr>
          <p:nvPr>
            <p:extLst>
              <p:ext uri="{D42A27DB-BD31-4B8C-83A1-F6EECF244321}">
                <p14:modId xmlns:p14="http://schemas.microsoft.com/office/powerpoint/2010/main" val="496060069"/>
              </p:ext>
            </p:extLst>
          </p:nvPr>
        </p:nvGraphicFramePr>
        <p:xfrm>
          <a:off x="869580" y="1828800"/>
          <a:ext cx="7543800" cy="3905608"/>
        </p:xfrm>
        <a:graphic>
          <a:graphicData uri="http://schemas.openxmlformats.org/drawingml/2006/table">
            <a:tbl>
              <a:tblPr firstRow="1" firstCol="1" bandRow="1"/>
              <a:tblGrid>
                <a:gridCol w="4312020"/>
                <a:gridCol w="1544845"/>
                <a:gridCol w="1544845"/>
                <a:gridCol w="142090"/>
              </a:tblGrid>
              <a:tr h="261446">
                <a:tc>
                  <a:txBody>
                    <a:bodyPr/>
                    <a:lstStyle/>
                    <a:p>
                      <a:pPr marL="0" marR="0">
                        <a:lnSpc>
                          <a:spcPct val="115000"/>
                        </a:lnSpc>
                        <a:spcBef>
                          <a:spcPts val="100"/>
                        </a:spcBef>
                        <a:spcAft>
                          <a:spcPts val="100"/>
                        </a:spcAft>
                      </a:pPr>
                      <a:r>
                        <a:rPr lang="en-US" sz="1400" dirty="0">
                          <a:effectLst/>
                          <a:latin typeface="+mn-lt"/>
                          <a:ea typeface="Calibri"/>
                          <a:cs typeface="Times New Roman"/>
                        </a:rPr>
                        <a:t> </a:t>
                      </a: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A Fund</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B Fund</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Initial A Fund and B 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$126,098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$52,362</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Total Fund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$178,460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5361">
                <a:tc gridSpan="4">
                  <a:txBody>
                    <a:bodyPr/>
                    <a:lstStyle/>
                    <a:p>
                      <a:pPr marL="0" marR="0" algn="ctr">
                        <a:lnSpc>
                          <a:spcPct val="115000"/>
                        </a:lnSpc>
                        <a:spcBef>
                          <a:spcPts val="300"/>
                        </a:spcBef>
                        <a:spcAft>
                          <a:spcPts val="30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1. Covered </a:t>
                      </a:r>
                      <a:r>
                        <a:rPr lang="en-US" sz="1400" b="1" dirty="0">
                          <a:effectLst/>
                          <a:latin typeface="+mn-lt"/>
                          <a:ea typeface="Calibri"/>
                          <a:cs typeface="Times New Roman"/>
                        </a:rPr>
                        <a:t>Claims: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solidFill>
                            <a:srgbClr val="FF0000"/>
                          </a:solidFill>
                          <a:effectLst/>
                          <a:latin typeface="+mn-lt"/>
                          <a:ea typeface="Calibri"/>
                          <a:cs typeface="Times New Roman"/>
                        </a:rPr>
                        <a:t>($40,000</a:t>
                      </a:r>
                      <a:r>
                        <a:rPr lang="en-US" sz="1400" dirty="0">
                          <a:solidFill>
                            <a:srgbClr val="FF0000"/>
                          </a:solidFill>
                          <a:effectLst/>
                          <a:latin typeface="+mn-lt"/>
                          <a:ea typeface="Calibri"/>
                          <a:cs typeface="Times New Roman"/>
                        </a:rPr>
                        <a:t>)</a:t>
                      </a: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a:solidFill>
                            <a:srgbClr val="FF0000"/>
                          </a:solidFill>
                          <a:effectLst/>
                          <a:latin typeface="+mn-lt"/>
                          <a:ea typeface="Calibri"/>
                          <a:cs typeface="Times New Roman"/>
                        </a:rPr>
                        <a:t>($0)</a:t>
                      </a: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2. Balance</a:t>
                      </a:r>
                      <a:r>
                        <a:rPr lang="en-US" sz="1400" b="1" baseline="0" dirty="0" smtClean="0">
                          <a:effectLst/>
                          <a:latin typeface="+mn-lt"/>
                          <a:ea typeface="Calibri"/>
                          <a:cs typeface="Times New Roman"/>
                        </a:rPr>
                        <a:t> in </a:t>
                      </a:r>
                      <a:r>
                        <a:rPr lang="en-US" sz="1400" b="1" dirty="0" smtClean="0">
                          <a:effectLst/>
                          <a:latin typeface="+mn-lt"/>
                          <a:ea typeface="Calibri"/>
                          <a:cs typeface="Times New Roman"/>
                        </a:rPr>
                        <a:t>each </a:t>
                      </a:r>
                      <a:r>
                        <a:rPr lang="en-US" sz="1400" b="1" dirty="0">
                          <a:effectLst/>
                          <a:latin typeface="+mn-lt"/>
                          <a:ea typeface="Calibri"/>
                          <a:cs typeface="Times New Roman"/>
                        </a:rPr>
                        <a:t>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u="none" dirty="0" smtClean="0">
                          <a:effectLst/>
                          <a:latin typeface="+mn-lt"/>
                          <a:ea typeface="Calibri"/>
                          <a:cs typeface="Times New Roman"/>
                        </a:rPr>
                        <a:t>$86,098</a:t>
                      </a:r>
                      <a:endParaRPr lang="en-US" sz="1400" u="none"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u="none" dirty="0" smtClean="0">
                          <a:effectLst/>
                          <a:latin typeface="+mn-lt"/>
                          <a:ea typeface="Calibri"/>
                          <a:cs typeface="Times New Roman"/>
                        </a:rPr>
                        <a:t>$52,362</a:t>
                      </a:r>
                      <a:endParaRPr lang="en-US" sz="1400" u="none"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3. Total </a:t>
                      </a:r>
                      <a:r>
                        <a:rPr lang="en-US" sz="1400" b="1" dirty="0">
                          <a:effectLst/>
                          <a:latin typeface="+mn-lt"/>
                          <a:ea typeface="Calibri"/>
                          <a:cs typeface="Times New Roman"/>
                        </a:rPr>
                        <a:t>Dividend: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$138,460</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4. Estimated Interest (~6%</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u="none" dirty="0" smtClean="0">
                          <a:effectLst/>
                          <a:latin typeface="+mn-lt"/>
                          <a:ea typeface="Calibri"/>
                          <a:cs typeface="Times New Roman"/>
                        </a:rPr>
                        <a:t>$10,708</a:t>
                      </a:r>
                      <a:endParaRPr lang="en-US" sz="1400" u="none"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5. Risk Sharing (~5%</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($8,923)</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6. Tail Fund (~10%</a:t>
                      </a:r>
                      <a:r>
                        <a:rPr lang="en-US" sz="1400" b="1" baseline="0" dirty="0" smtClean="0">
                          <a:effectLst/>
                          <a:latin typeface="+mn-lt"/>
                          <a:ea typeface="Calibri"/>
                          <a:cs typeface="Times New Roman"/>
                        </a:rPr>
                        <a:t> of incurred claims)</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($4,000)</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7. Estimated Return:</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$136,245</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8. Initial </a:t>
                      </a:r>
                      <a:r>
                        <a:rPr lang="en-US" sz="1400" b="1" dirty="0">
                          <a:effectLst/>
                          <a:latin typeface="+mn-lt"/>
                          <a:ea typeface="Calibri"/>
                          <a:cs typeface="Times New Roman"/>
                        </a:rPr>
                        <a:t>Pay-In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$268,990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9. Net </a:t>
                      </a:r>
                      <a:r>
                        <a:rPr lang="en-US" sz="1400" b="1" dirty="0">
                          <a:effectLst/>
                          <a:latin typeface="+mn-lt"/>
                          <a:ea typeface="Calibri"/>
                          <a:cs typeface="Times New Roman"/>
                        </a:rPr>
                        <a:t>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$132,745</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3163">
                <a:tc gridSpan="3">
                  <a:txBody>
                    <a:bodyPr/>
                    <a:lstStyle/>
                    <a:p>
                      <a:pPr marL="0" marR="0" algn="ctr">
                        <a:lnSpc>
                          <a:spcPct val="115000"/>
                        </a:lnSpc>
                        <a:spcBef>
                          <a:spcPts val="0"/>
                        </a:spcBef>
                        <a:spcAft>
                          <a:spcPts val="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What Traditional Insurance Would Have 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$336,238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Savings: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61%</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bl>
          </a:graphicData>
        </a:graphic>
      </p:graphicFrame>
    </p:spTree>
    <p:extLst>
      <p:ext uri="{BB962C8B-B14F-4D97-AF65-F5344CB8AC3E}">
        <p14:creationId xmlns:p14="http://schemas.microsoft.com/office/powerpoint/2010/main" val="348247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1800" dirty="0" smtClean="0"/>
              <a:t>Risk Sharing will occur if:</a:t>
            </a:r>
          </a:p>
          <a:p>
            <a:pPr lvl="1"/>
            <a:r>
              <a:rPr lang="en-US" sz="1600" dirty="0" smtClean="0"/>
              <a:t>Losses exceed the B Fund premium</a:t>
            </a:r>
          </a:p>
          <a:p>
            <a:pPr lvl="1"/>
            <a:r>
              <a:rPr lang="en-US" sz="1600" dirty="0" smtClean="0"/>
              <a:t>Losses exceed 2 times the A Fund premium</a:t>
            </a:r>
          </a:p>
          <a:p>
            <a:r>
              <a:rPr lang="en-US" sz="1800" dirty="0" smtClean="0"/>
              <a:t>$1M claim will be split as follows:</a:t>
            </a:r>
          </a:p>
          <a:p>
            <a:pPr lvl="1"/>
            <a:r>
              <a:rPr lang="en-US" sz="1600" dirty="0" smtClean="0"/>
              <a:t>First $100,000 in the A Fund</a:t>
            </a:r>
          </a:p>
          <a:p>
            <a:pPr lvl="1"/>
            <a:r>
              <a:rPr lang="en-US" sz="1600" dirty="0" smtClean="0"/>
              <a:t>Next $300,000 in the B Fund</a:t>
            </a:r>
          </a:p>
          <a:p>
            <a:pPr lvl="1"/>
            <a:r>
              <a:rPr lang="en-US" sz="1600" dirty="0" smtClean="0"/>
              <a:t>Balance paid by reinsurers</a:t>
            </a:r>
          </a:p>
          <a:p>
            <a:r>
              <a:rPr lang="en-US" sz="1800" dirty="0" smtClean="0"/>
              <a:t>Your B Fund premium of $52,362 is also your cap for the B Fund</a:t>
            </a:r>
          </a:p>
          <a:p>
            <a:r>
              <a:rPr lang="en-US" sz="1800" dirty="0" smtClean="0"/>
              <a:t>Risk Sharing will be $247,638 ($300,000 minus $52,362)</a:t>
            </a:r>
          </a:p>
          <a:p>
            <a:r>
              <a:rPr lang="en-US" sz="1800" dirty="0" smtClean="0"/>
              <a:t>If A Fund has money left after all claims are paid, the balance will be used to offset the Risk Sharing</a:t>
            </a:r>
            <a:endParaRPr lang="en-US" sz="1800" dirty="0"/>
          </a:p>
        </p:txBody>
      </p:sp>
      <p:sp>
        <p:nvSpPr>
          <p:cNvPr id="3" name="Title 2"/>
          <p:cNvSpPr>
            <a:spLocks noGrp="1"/>
          </p:cNvSpPr>
          <p:nvPr>
            <p:ph type="title"/>
          </p:nvPr>
        </p:nvSpPr>
        <p:spPr/>
        <p:txBody>
          <a:bodyPr/>
          <a:lstStyle/>
          <a:p>
            <a:r>
              <a:rPr lang="en-US" dirty="0"/>
              <a:t>Loss Example </a:t>
            </a:r>
            <a:r>
              <a:rPr lang="en-US" dirty="0" smtClean="0"/>
              <a:t>#2 </a:t>
            </a:r>
            <a:r>
              <a:rPr lang="en-US" dirty="0"/>
              <a:t>(Catastrophe Year)</a:t>
            </a:r>
            <a:br>
              <a:rPr lang="en-US" dirty="0"/>
            </a:br>
            <a:r>
              <a:rPr lang="en-US" sz="1800" dirty="0" smtClean="0"/>
              <a:t>$20,000 </a:t>
            </a:r>
            <a:r>
              <a:rPr lang="en-US" sz="1800" dirty="0"/>
              <a:t>in claims less than $100,000 </a:t>
            </a:r>
            <a:r>
              <a:rPr lang="en-US" sz="1800" dirty="0" smtClean="0"/>
              <a:t>each plus a $1M claim</a:t>
            </a:r>
            <a:endParaRPr lang="en-US" sz="1800"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19</a:t>
            </a:fld>
            <a:endParaRPr lang="en-US" dirty="0"/>
          </a:p>
        </p:txBody>
      </p:sp>
    </p:spTree>
    <p:extLst>
      <p:ext uri="{BB962C8B-B14F-4D97-AF65-F5344CB8AC3E}">
        <p14:creationId xmlns:p14="http://schemas.microsoft.com/office/powerpoint/2010/main" val="24339445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Loss Example </a:t>
            </a:r>
            <a:r>
              <a:rPr lang="en-US" dirty="0" smtClean="0"/>
              <a:t>#2 </a:t>
            </a:r>
            <a:r>
              <a:rPr lang="en-US" dirty="0"/>
              <a:t>(Catastrophe Year)</a:t>
            </a:r>
            <a:r>
              <a:rPr lang="en-US" dirty="0" smtClean="0"/>
              <a:t/>
            </a:r>
            <a:br>
              <a:rPr lang="en-US" dirty="0" smtClean="0"/>
            </a:br>
            <a:r>
              <a:rPr lang="en-US" sz="1800" dirty="0" smtClean="0"/>
              <a:t>$20,000 in claims less than $100,000 each plus a $1M claim</a:t>
            </a:r>
            <a:endParaRPr lang="en-US" sz="1800"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20</a:t>
            </a:fld>
            <a:endParaRPr lang="en-US" dirty="0"/>
          </a:p>
        </p:txBody>
      </p:sp>
      <p:graphicFrame>
        <p:nvGraphicFramePr>
          <p:cNvPr id="9" name="Table 8"/>
          <p:cNvGraphicFramePr>
            <a:graphicFrameLocks noGrp="1"/>
          </p:cNvGraphicFramePr>
          <p:nvPr>
            <p:extLst>
              <p:ext uri="{D42A27DB-BD31-4B8C-83A1-F6EECF244321}">
                <p14:modId xmlns:p14="http://schemas.microsoft.com/office/powerpoint/2010/main" val="1664866131"/>
              </p:ext>
            </p:extLst>
          </p:nvPr>
        </p:nvGraphicFramePr>
        <p:xfrm>
          <a:off x="869580" y="1828800"/>
          <a:ext cx="7543800" cy="4428500"/>
        </p:xfrm>
        <a:graphic>
          <a:graphicData uri="http://schemas.openxmlformats.org/drawingml/2006/table">
            <a:tbl>
              <a:tblPr firstRow="1" firstCol="1" bandRow="1"/>
              <a:tblGrid>
                <a:gridCol w="4312020"/>
                <a:gridCol w="1544845"/>
                <a:gridCol w="1544845"/>
                <a:gridCol w="142090"/>
              </a:tblGrid>
              <a:tr h="261446">
                <a:tc>
                  <a:txBody>
                    <a:bodyPr/>
                    <a:lstStyle/>
                    <a:p>
                      <a:pPr marL="0" marR="0">
                        <a:lnSpc>
                          <a:spcPct val="115000"/>
                        </a:lnSpc>
                        <a:spcBef>
                          <a:spcPts val="100"/>
                        </a:spcBef>
                        <a:spcAft>
                          <a:spcPts val="100"/>
                        </a:spcAft>
                      </a:pPr>
                      <a:r>
                        <a:rPr lang="en-US" sz="1400" dirty="0">
                          <a:effectLst/>
                          <a:latin typeface="+mn-lt"/>
                          <a:ea typeface="Calibri"/>
                          <a:cs typeface="Times New Roman"/>
                        </a:rPr>
                        <a:t> </a:t>
                      </a: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A Fund</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B Fund</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Initial A Fund and B 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$126,098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$52,362</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Total Fund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$178,460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5361">
                <a:tc gridSpan="4">
                  <a:txBody>
                    <a:bodyPr/>
                    <a:lstStyle/>
                    <a:p>
                      <a:pPr marL="0" marR="0" algn="ctr">
                        <a:lnSpc>
                          <a:spcPct val="115000"/>
                        </a:lnSpc>
                        <a:spcBef>
                          <a:spcPts val="300"/>
                        </a:spcBef>
                        <a:spcAft>
                          <a:spcPts val="30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1. Covered </a:t>
                      </a:r>
                      <a:r>
                        <a:rPr lang="en-US" sz="1400" b="1" dirty="0">
                          <a:effectLst/>
                          <a:latin typeface="+mn-lt"/>
                          <a:ea typeface="Calibri"/>
                          <a:cs typeface="Times New Roman"/>
                        </a:rPr>
                        <a:t>Claims: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solidFill>
                            <a:srgbClr val="FF0000"/>
                          </a:solidFill>
                          <a:effectLst/>
                          <a:latin typeface="+mn-lt"/>
                          <a:ea typeface="Calibri"/>
                          <a:cs typeface="Times New Roman"/>
                        </a:rPr>
                        <a:t>($120,000</a:t>
                      </a:r>
                      <a:r>
                        <a:rPr lang="en-US" sz="1400" dirty="0">
                          <a:solidFill>
                            <a:srgbClr val="FF0000"/>
                          </a:solidFill>
                          <a:effectLst/>
                          <a:latin typeface="+mn-lt"/>
                          <a:ea typeface="Calibri"/>
                          <a:cs typeface="Times New Roman"/>
                        </a:rPr>
                        <a:t>)</a:t>
                      </a: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smtClean="0">
                          <a:solidFill>
                            <a:srgbClr val="FF0000"/>
                          </a:solidFill>
                          <a:effectLst/>
                          <a:latin typeface="+mn-lt"/>
                          <a:ea typeface="Calibri"/>
                          <a:cs typeface="Times New Roman"/>
                        </a:rPr>
                        <a:t>($52,362)</a:t>
                      </a:r>
                      <a:endParaRPr lang="en-US" sz="1400" dirty="0">
                        <a:solidFill>
                          <a:srgbClr val="FF0000"/>
                        </a:solidFill>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2. Balance</a:t>
                      </a:r>
                      <a:r>
                        <a:rPr lang="en-US" sz="1400" b="1" baseline="0" dirty="0" smtClean="0">
                          <a:effectLst/>
                          <a:latin typeface="+mn-lt"/>
                          <a:ea typeface="Calibri"/>
                          <a:cs typeface="Times New Roman"/>
                        </a:rPr>
                        <a:t> in </a:t>
                      </a:r>
                      <a:r>
                        <a:rPr lang="en-US" sz="1400" b="1" dirty="0" smtClean="0">
                          <a:effectLst/>
                          <a:latin typeface="+mn-lt"/>
                          <a:ea typeface="Calibri"/>
                          <a:cs typeface="Times New Roman"/>
                        </a:rPr>
                        <a:t>each </a:t>
                      </a:r>
                      <a:r>
                        <a:rPr lang="en-US" sz="1400" b="1" dirty="0">
                          <a:effectLst/>
                          <a:latin typeface="+mn-lt"/>
                          <a:ea typeface="Calibri"/>
                          <a:cs typeface="Times New Roman"/>
                        </a:rPr>
                        <a:t>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u="none" dirty="0" smtClean="0">
                          <a:effectLst/>
                          <a:latin typeface="+mn-lt"/>
                          <a:ea typeface="Calibri"/>
                          <a:cs typeface="Times New Roman"/>
                        </a:rPr>
                        <a:t>$6,098</a:t>
                      </a: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u="none" dirty="0" smtClean="0">
                          <a:effectLst/>
                          <a:latin typeface="+mn-lt"/>
                          <a:ea typeface="Calibri"/>
                          <a:cs typeface="Times New Roman"/>
                        </a:rPr>
                        <a:t>$0</a:t>
                      </a:r>
                      <a:endParaRPr lang="en-US" sz="1400" u="none"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3. Total </a:t>
                      </a:r>
                      <a:r>
                        <a:rPr lang="en-US" sz="1400" b="1" dirty="0">
                          <a:effectLst/>
                          <a:latin typeface="+mn-lt"/>
                          <a:ea typeface="Calibri"/>
                          <a:cs typeface="Times New Roman"/>
                        </a:rPr>
                        <a:t>Dividend: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$6,098</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4. Adjustment for Catastrophic</a:t>
                      </a:r>
                      <a:r>
                        <a:rPr lang="en-US" sz="1400" b="1" baseline="0" dirty="0" smtClean="0">
                          <a:effectLst/>
                          <a:latin typeface="+mn-lt"/>
                          <a:ea typeface="Calibri"/>
                          <a:cs typeface="Times New Roman"/>
                        </a:rPr>
                        <a:t> Loss</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($6,098)</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5. Adjusted Dividend:</a:t>
                      </a:r>
                      <a:endParaRPr lang="en-US" sz="1400" dirty="0" smtClean="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chemeClr val="tx1"/>
                          </a:solidFill>
                          <a:effectLst/>
                          <a:latin typeface="+mn-lt"/>
                          <a:ea typeface="Calibri"/>
                          <a:cs typeface="Times New Roman"/>
                        </a:rPr>
                        <a:t>$0</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6. Estimated Interest (~6%</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u="sng" dirty="0" smtClean="0">
                          <a:effectLst/>
                          <a:latin typeface="+mn-lt"/>
                          <a:ea typeface="Calibri"/>
                          <a:cs typeface="Times New Roman"/>
                        </a:rPr>
                        <a:t>$10,708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7. Risk Sharing (~5%</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($8,923)</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8. Tail Fund (~10%</a:t>
                      </a:r>
                      <a:r>
                        <a:rPr lang="en-US" sz="1400" b="1" baseline="0" dirty="0" smtClean="0">
                          <a:effectLst/>
                          <a:latin typeface="+mn-lt"/>
                          <a:ea typeface="Calibri"/>
                          <a:cs typeface="Times New Roman"/>
                        </a:rPr>
                        <a:t> of incurred claims)</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($42,000)</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9. Estimated Amount Due:</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($40,215)</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10. Initial </a:t>
                      </a:r>
                      <a:r>
                        <a:rPr lang="en-US" sz="1400" b="1" dirty="0">
                          <a:effectLst/>
                          <a:latin typeface="+mn-lt"/>
                          <a:ea typeface="Calibri"/>
                          <a:cs typeface="Times New Roman"/>
                        </a:rPr>
                        <a:t>Pay-In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$268,990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11. Net </a:t>
                      </a:r>
                      <a:r>
                        <a:rPr lang="en-US" sz="1400" b="1" dirty="0">
                          <a:effectLst/>
                          <a:latin typeface="+mn-lt"/>
                          <a:ea typeface="Calibri"/>
                          <a:cs typeface="Times New Roman"/>
                        </a:rPr>
                        <a:t>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$309,205</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3163">
                <a:tc gridSpan="3">
                  <a:txBody>
                    <a:bodyPr/>
                    <a:lstStyle/>
                    <a:p>
                      <a:pPr marL="0" marR="0" algn="ctr">
                        <a:lnSpc>
                          <a:spcPct val="115000"/>
                        </a:lnSpc>
                        <a:spcBef>
                          <a:spcPts val="0"/>
                        </a:spcBef>
                        <a:spcAft>
                          <a:spcPts val="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What Traditional Insurance Would Have 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$336,238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Savings: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bl>
          </a:graphicData>
        </a:graphic>
      </p:graphicFrame>
    </p:spTree>
    <p:extLst>
      <p:ext uri="{BB962C8B-B14F-4D97-AF65-F5344CB8AC3E}">
        <p14:creationId xmlns:p14="http://schemas.microsoft.com/office/powerpoint/2010/main" val="10830750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Loss Example </a:t>
            </a:r>
            <a:r>
              <a:rPr lang="en-US" dirty="0" smtClean="0"/>
              <a:t>#3 (High Frequency Year)</a:t>
            </a:r>
            <a:br>
              <a:rPr lang="en-US" dirty="0" smtClean="0"/>
            </a:br>
            <a:r>
              <a:rPr lang="en-US" sz="1800" dirty="0" smtClean="0"/>
              <a:t>$200,000 in claims less than $100,000 each</a:t>
            </a:r>
            <a:endParaRPr lang="en-US" sz="1800" dirty="0"/>
          </a:p>
        </p:txBody>
      </p:sp>
      <p:sp>
        <p:nvSpPr>
          <p:cNvPr id="4" name="Slide Number Placeholder 3"/>
          <p:cNvSpPr>
            <a:spLocks noGrp="1"/>
          </p:cNvSpPr>
          <p:nvPr>
            <p:ph type="sldNum" sz="quarter" idx="10"/>
          </p:nvPr>
        </p:nvSpPr>
        <p:spPr/>
        <p:txBody>
          <a:bodyPr/>
          <a:lstStyle/>
          <a:p>
            <a:pPr>
              <a:defRPr/>
            </a:pPr>
            <a:fld id="{0B9A7EEB-07A5-4AF2-AE91-BE3FA2FA8060}" type="slidenum">
              <a:rPr lang="en-US" smtClean="0"/>
              <a:pPr>
                <a:defRPr/>
              </a:pPr>
              <a:t>21</a:t>
            </a:fld>
            <a:endParaRPr lang="en-US" dirty="0"/>
          </a:p>
        </p:txBody>
      </p:sp>
      <p:graphicFrame>
        <p:nvGraphicFramePr>
          <p:cNvPr id="9" name="Table 8"/>
          <p:cNvGraphicFramePr>
            <a:graphicFrameLocks noGrp="1"/>
          </p:cNvGraphicFramePr>
          <p:nvPr>
            <p:extLst>
              <p:ext uri="{D42A27DB-BD31-4B8C-83A1-F6EECF244321}">
                <p14:modId xmlns:p14="http://schemas.microsoft.com/office/powerpoint/2010/main" val="4220192784"/>
              </p:ext>
            </p:extLst>
          </p:nvPr>
        </p:nvGraphicFramePr>
        <p:xfrm>
          <a:off x="869580" y="1828800"/>
          <a:ext cx="7543800" cy="3905608"/>
        </p:xfrm>
        <a:graphic>
          <a:graphicData uri="http://schemas.openxmlformats.org/drawingml/2006/table">
            <a:tbl>
              <a:tblPr firstRow="1" firstCol="1" bandRow="1"/>
              <a:tblGrid>
                <a:gridCol w="4312020"/>
                <a:gridCol w="1544845"/>
                <a:gridCol w="1544845"/>
                <a:gridCol w="142090"/>
              </a:tblGrid>
              <a:tr h="261446">
                <a:tc>
                  <a:txBody>
                    <a:bodyPr/>
                    <a:lstStyle/>
                    <a:p>
                      <a:pPr marL="0" marR="0">
                        <a:lnSpc>
                          <a:spcPct val="115000"/>
                        </a:lnSpc>
                        <a:spcBef>
                          <a:spcPts val="100"/>
                        </a:spcBef>
                        <a:spcAft>
                          <a:spcPts val="100"/>
                        </a:spcAft>
                      </a:pPr>
                      <a:r>
                        <a:rPr lang="en-US" sz="1400" dirty="0">
                          <a:effectLst/>
                          <a:latin typeface="+mn-lt"/>
                          <a:ea typeface="Calibri"/>
                          <a:cs typeface="Times New Roman"/>
                        </a:rPr>
                        <a:t> </a:t>
                      </a: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A Fund</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b="1" dirty="0">
                          <a:effectLst/>
                          <a:latin typeface="+mn-lt"/>
                          <a:ea typeface="Calibri"/>
                          <a:cs typeface="Times New Roman"/>
                        </a:rPr>
                        <a:t>B Fund</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Initial A Fund and B 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$126,098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$52,362</a:t>
                      </a:r>
                      <a:endParaRPr lang="en-US" sz="1400" dirty="0">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Total Fund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$178,460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5361">
                <a:tc gridSpan="4">
                  <a:txBody>
                    <a:bodyPr/>
                    <a:lstStyle/>
                    <a:p>
                      <a:pPr marL="0" marR="0" algn="ctr">
                        <a:lnSpc>
                          <a:spcPct val="115000"/>
                        </a:lnSpc>
                        <a:spcBef>
                          <a:spcPts val="300"/>
                        </a:spcBef>
                        <a:spcAft>
                          <a:spcPts val="30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1. Covered </a:t>
                      </a:r>
                      <a:r>
                        <a:rPr lang="en-US" sz="1400" b="1" dirty="0">
                          <a:effectLst/>
                          <a:latin typeface="+mn-lt"/>
                          <a:ea typeface="Calibri"/>
                          <a:cs typeface="Times New Roman"/>
                        </a:rPr>
                        <a:t>Claims: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100"/>
                        </a:spcBef>
                        <a:spcAft>
                          <a:spcPts val="100"/>
                        </a:spcAft>
                      </a:pPr>
                      <a:r>
                        <a:rPr lang="en-US" sz="1400" dirty="0" smtClean="0">
                          <a:solidFill>
                            <a:srgbClr val="FF0000"/>
                          </a:solidFill>
                          <a:effectLst/>
                          <a:latin typeface="+mn-lt"/>
                          <a:ea typeface="Calibri"/>
                          <a:cs typeface="Times New Roman"/>
                        </a:rPr>
                        <a:t>($200,000</a:t>
                      </a:r>
                      <a:r>
                        <a:rPr lang="en-US" sz="1400" dirty="0">
                          <a:solidFill>
                            <a:srgbClr val="FF0000"/>
                          </a:solidFill>
                          <a:effectLst/>
                          <a:latin typeface="+mn-lt"/>
                          <a:ea typeface="Calibri"/>
                          <a:cs typeface="Times New Roman"/>
                        </a:rPr>
                        <a:t>)</a:t>
                      </a: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a:noFill/>
                    </a:lnT>
                    <a:lnB w="12700" cap="flat" cmpd="sng" algn="ctr">
                      <a:solidFill>
                        <a:srgbClr val="BFBFBF"/>
                      </a:solidFill>
                      <a:prstDash val="solid"/>
                      <a:round/>
                      <a:headEnd type="none" w="med" len="med"/>
                      <a:tailEnd type="none" w="med" len="med"/>
                    </a:lnB>
                  </a:tcPr>
                </a:tc>
                <a:tc>
                  <a:txBody>
                    <a:bodyPr/>
                    <a:lstStyle/>
                    <a:p>
                      <a:pPr marL="0" marR="0" algn="ctr">
                        <a:lnSpc>
                          <a:spcPct val="115000"/>
                        </a:lnSpc>
                        <a:spcBef>
                          <a:spcPts val="100"/>
                        </a:spcBef>
                        <a:spcAft>
                          <a:spcPts val="100"/>
                        </a:spcAft>
                      </a:pPr>
                      <a:r>
                        <a:rPr lang="en-US" sz="1400" dirty="0" smtClean="0">
                          <a:solidFill>
                            <a:srgbClr val="FF0000"/>
                          </a:solidFill>
                          <a:effectLst/>
                          <a:latin typeface="+mn-lt"/>
                          <a:ea typeface="Calibri"/>
                          <a:cs typeface="Times New Roman"/>
                        </a:rPr>
                        <a:t>($0)</a:t>
                      </a:r>
                      <a:endParaRPr lang="en-US" sz="1400" dirty="0">
                        <a:solidFill>
                          <a:schemeClr val="tx1"/>
                        </a:solidFill>
                        <a:effectLst/>
                        <a:latin typeface="+mn-lt"/>
                        <a:ea typeface="Calibri"/>
                        <a:cs typeface="Times New Roman"/>
                      </a:endParaRPr>
                    </a:p>
                  </a:txBody>
                  <a:tcPr marL="63941" marR="63941" marT="0" marB="0">
                    <a:lnL w="12700" cap="flat" cmpd="sng" algn="ctr">
                      <a:solidFill>
                        <a:srgbClr val="BFBFBF"/>
                      </a:solid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2. Balance</a:t>
                      </a:r>
                      <a:r>
                        <a:rPr lang="en-US" sz="1400" b="1" baseline="0" dirty="0" smtClean="0">
                          <a:effectLst/>
                          <a:latin typeface="+mn-lt"/>
                          <a:ea typeface="Calibri"/>
                          <a:cs typeface="Times New Roman"/>
                        </a:rPr>
                        <a:t> in </a:t>
                      </a:r>
                      <a:r>
                        <a:rPr lang="en-US" sz="1400" b="1" dirty="0" smtClean="0">
                          <a:effectLst/>
                          <a:latin typeface="+mn-lt"/>
                          <a:ea typeface="Calibri"/>
                          <a:cs typeface="Times New Roman"/>
                        </a:rPr>
                        <a:t>each </a:t>
                      </a:r>
                      <a:r>
                        <a:rPr lang="en-US" sz="1400" b="1" dirty="0">
                          <a:effectLst/>
                          <a:latin typeface="+mn-lt"/>
                          <a:ea typeface="Calibri"/>
                          <a:cs typeface="Times New Roman"/>
                        </a:rPr>
                        <a:t>Fund:</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($73,902)</a:t>
                      </a:r>
                      <a:endParaRPr lang="en-US" sz="1400" u="none" dirty="0" smtClean="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chemeClr val="tx1"/>
                          </a:solidFill>
                          <a:effectLst/>
                          <a:latin typeface="+mn-lt"/>
                          <a:ea typeface="Calibri"/>
                          <a:cs typeface="Times New Roman"/>
                        </a:rPr>
                        <a:t>$52,362</a:t>
                      </a:r>
                    </a:p>
                  </a:txBody>
                  <a:tcPr marL="63941" marR="63941" marT="0" marB="0">
                    <a:lnL w="12700" cap="flat" cmpd="sng" algn="ctr">
                      <a:solidFill>
                        <a:srgbClr val="BFBFBF"/>
                      </a:solid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3. Adjustment for A</a:t>
                      </a:r>
                      <a:r>
                        <a:rPr lang="en-US" sz="1400" b="1" baseline="0" dirty="0" smtClean="0">
                          <a:effectLst/>
                          <a:latin typeface="+mn-lt"/>
                          <a:ea typeface="Calibri"/>
                          <a:cs typeface="Times New Roman"/>
                        </a:rPr>
                        <a:t> Fund Deficit Due</a:t>
                      </a:r>
                      <a:r>
                        <a:rPr lang="en-US" sz="1400" b="1" dirty="0" smtClean="0">
                          <a:effectLst/>
                          <a:latin typeface="+mn-lt"/>
                          <a:ea typeface="Calibri"/>
                          <a:cs typeface="Times New Roman"/>
                        </a:rPr>
                        <a:t>:</a:t>
                      </a:r>
                      <a:r>
                        <a:rPr lang="en-US" sz="1400" dirty="0" smtClean="0">
                          <a:effectLst/>
                          <a:latin typeface="+mn-lt"/>
                          <a:ea typeface="Calibri"/>
                          <a:cs typeface="Times New Roman"/>
                        </a:rPr>
                        <a:t> </a:t>
                      </a: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($73,902)</a:t>
                      </a:r>
                      <a:endParaRPr lang="en-US" sz="1400" u="none" dirty="0" smtClean="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4. Estimated Interest (~6%</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u="sng" dirty="0" smtClean="0">
                          <a:effectLst/>
                          <a:latin typeface="+mn-lt"/>
                          <a:ea typeface="Calibri"/>
                          <a:cs typeface="Times New Roman"/>
                        </a:rPr>
                        <a:t>$10,708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5. Risk Sharing (~5%</a:t>
                      </a:r>
                      <a:r>
                        <a:rPr lang="en-US" sz="1400" b="1" baseline="0" dirty="0" smtClean="0">
                          <a:effectLst/>
                          <a:latin typeface="+mn-lt"/>
                          <a:ea typeface="Calibri"/>
                          <a:cs typeface="Times New Roman"/>
                        </a:rPr>
                        <a:t> of total fund)</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($8,923)</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indent="0" algn="r" defTabSz="914400" rtl="0" eaLnBrk="1" fontAlgn="auto" latinLnBrk="0" hangingPunct="1">
                        <a:lnSpc>
                          <a:spcPct val="115000"/>
                        </a:lnSpc>
                        <a:spcBef>
                          <a:spcPts val="100"/>
                        </a:spcBef>
                        <a:spcAft>
                          <a:spcPts val="100"/>
                        </a:spcAft>
                        <a:buClrTx/>
                        <a:buSzTx/>
                        <a:buFontTx/>
                        <a:buNone/>
                        <a:tabLst/>
                        <a:defRPr/>
                      </a:pPr>
                      <a:r>
                        <a:rPr lang="en-US" sz="1400" b="1" dirty="0" smtClean="0">
                          <a:effectLst/>
                          <a:latin typeface="+mn-lt"/>
                          <a:ea typeface="Calibri"/>
                          <a:cs typeface="Times New Roman"/>
                        </a:rPr>
                        <a:t>6. Tail Fund (~10%</a:t>
                      </a:r>
                      <a:r>
                        <a:rPr lang="en-US" sz="1400" b="1" baseline="0" dirty="0" smtClean="0">
                          <a:effectLst/>
                          <a:latin typeface="+mn-lt"/>
                          <a:ea typeface="Calibri"/>
                          <a:cs typeface="Times New Roman"/>
                        </a:rPr>
                        <a:t> of incurred claims)</a:t>
                      </a:r>
                      <a:r>
                        <a:rPr lang="en-US" sz="1400" b="1" dirty="0" smtClean="0">
                          <a:effectLst/>
                          <a:latin typeface="+mn-lt"/>
                          <a:ea typeface="Calibri"/>
                          <a:cs typeface="Times New Roman"/>
                        </a:rPr>
                        <a:t>:</a:t>
                      </a:r>
                      <a:r>
                        <a:rPr lang="en-US" sz="1400" dirty="0" smtClean="0">
                          <a:effectLst/>
                          <a:latin typeface="+mn-lt"/>
                          <a:ea typeface="Calibri"/>
                          <a:cs typeface="Times New Roman"/>
                        </a:rPr>
                        <a:t> </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($20,000)</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endParaRPr lang="en-US" sz="1000" dirty="0">
                        <a:effectLst/>
                        <a:latin typeface="+mn-lt"/>
                        <a:ea typeface="Calibri"/>
                        <a:cs typeface="Times New Roman"/>
                      </a:endParaRP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7. Estimated Amount Due:</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indent="0" algn="ctr" defTabSz="914400" rtl="0" eaLnBrk="1" fontAlgn="auto" latinLnBrk="0" hangingPunct="1">
                        <a:lnSpc>
                          <a:spcPct val="115000"/>
                        </a:lnSpc>
                        <a:spcBef>
                          <a:spcPts val="100"/>
                        </a:spcBef>
                        <a:spcAft>
                          <a:spcPts val="100"/>
                        </a:spcAft>
                        <a:buClrTx/>
                        <a:buSzTx/>
                        <a:buFontTx/>
                        <a:buNone/>
                        <a:tabLst/>
                        <a:defRPr/>
                      </a:pPr>
                      <a:r>
                        <a:rPr lang="en-US" sz="1400" dirty="0" smtClean="0">
                          <a:solidFill>
                            <a:srgbClr val="FF0000"/>
                          </a:solidFill>
                          <a:effectLst/>
                          <a:latin typeface="+mn-lt"/>
                          <a:ea typeface="Calibri"/>
                          <a:cs typeface="Times New Roman"/>
                        </a:rPr>
                        <a:t>($39,755)</a:t>
                      </a: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8. Initial </a:t>
                      </a:r>
                      <a:r>
                        <a:rPr lang="en-US" sz="1400" b="1" dirty="0">
                          <a:effectLst/>
                          <a:latin typeface="+mn-lt"/>
                          <a:ea typeface="Calibri"/>
                          <a:cs typeface="Times New Roman"/>
                        </a:rPr>
                        <a:t>Pay-In Premium:</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$268,990</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9. Net </a:t>
                      </a:r>
                      <a:r>
                        <a:rPr lang="en-US" sz="1400" b="1" dirty="0">
                          <a:effectLst/>
                          <a:latin typeface="+mn-lt"/>
                          <a:ea typeface="Calibri"/>
                          <a:cs typeface="Times New Roman"/>
                        </a:rPr>
                        <a:t>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$308,745</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solidFill>
                      <a:schemeClr val="bg1">
                        <a:lumMod val="85000"/>
                      </a:schemeClr>
                    </a:solidFill>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63163">
                <a:tc gridSpan="3">
                  <a:txBody>
                    <a:bodyPr/>
                    <a:lstStyle/>
                    <a:p>
                      <a:pPr marL="0" marR="0" algn="ctr">
                        <a:lnSpc>
                          <a:spcPct val="115000"/>
                        </a:lnSpc>
                        <a:spcBef>
                          <a:spcPts val="0"/>
                        </a:spcBef>
                        <a:spcAft>
                          <a:spcPts val="0"/>
                        </a:spcAft>
                      </a:pPr>
                      <a:r>
                        <a:rPr lang="en-US" sz="400" dirty="0">
                          <a:effectLst/>
                          <a:latin typeface="+mn-lt"/>
                          <a:ea typeface="Calibri"/>
                          <a:cs typeface="Times New Roman"/>
                        </a:rPr>
                        <a:t> </a:t>
                      </a:r>
                      <a:endParaRPr lang="en-US" sz="1000" dirty="0">
                        <a:effectLst/>
                        <a:latin typeface="+mn-lt"/>
                        <a:ea typeface="Calibri"/>
                        <a:cs typeface="Times New Roman"/>
                      </a:endParaRPr>
                    </a:p>
                  </a:txBody>
                  <a:tcPr marL="63941" marR="63941" marT="0" marB="0">
                    <a:lnL>
                      <a:noFill/>
                    </a:lnL>
                    <a:lnR>
                      <a:noFill/>
                    </a:lnR>
                    <a:lnT>
                      <a:noFill/>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a:effectLst/>
                          <a:latin typeface="+mn-lt"/>
                          <a:ea typeface="Calibri"/>
                          <a:cs typeface="Times New Roman"/>
                        </a:rPr>
                        <a:t>What Traditional Insurance Would Have Cost:</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$336,238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a:noFill/>
                    </a:lnT>
                    <a:lnB w="12700" cap="flat" cmpd="sng" algn="ctr">
                      <a:solidFill>
                        <a:srgbClr val="BFBFBF"/>
                      </a:solidFill>
                      <a:prstDash val="solid"/>
                      <a:round/>
                      <a:headEnd type="none" w="med" len="med"/>
                      <a:tailEnd type="none" w="med" len="med"/>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r h="261446">
                <a:tc>
                  <a:txBody>
                    <a:bodyPr/>
                    <a:lstStyle/>
                    <a:p>
                      <a:pPr marL="0" marR="0" algn="r">
                        <a:lnSpc>
                          <a:spcPct val="115000"/>
                        </a:lnSpc>
                        <a:spcBef>
                          <a:spcPts val="100"/>
                        </a:spcBef>
                        <a:spcAft>
                          <a:spcPts val="100"/>
                        </a:spcAft>
                      </a:pPr>
                      <a:r>
                        <a:rPr lang="en-US" sz="1400" b="1" dirty="0" smtClean="0">
                          <a:effectLst/>
                          <a:latin typeface="+mn-lt"/>
                          <a:ea typeface="Calibri"/>
                          <a:cs typeface="Times New Roman"/>
                        </a:rPr>
                        <a:t>Savings:</a:t>
                      </a:r>
                      <a:endParaRPr lang="en-US" sz="1400" dirty="0">
                        <a:effectLst/>
                        <a:latin typeface="+mn-lt"/>
                        <a:ea typeface="Calibri"/>
                        <a:cs typeface="Times New Roman"/>
                      </a:endParaRPr>
                    </a:p>
                  </a:txBody>
                  <a:tcPr marL="63941" marR="63941" marT="0" marB="0">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marR="0" algn="ctr">
                        <a:lnSpc>
                          <a:spcPct val="115000"/>
                        </a:lnSpc>
                        <a:spcBef>
                          <a:spcPts val="100"/>
                        </a:spcBef>
                        <a:spcAft>
                          <a:spcPts val="100"/>
                        </a:spcAft>
                      </a:pPr>
                      <a:r>
                        <a:rPr lang="en-US" sz="1400" dirty="0" smtClean="0">
                          <a:effectLst/>
                          <a:latin typeface="+mn-lt"/>
                          <a:ea typeface="Calibri"/>
                          <a:cs typeface="Times New Roman"/>
                        </a:rPr>
                        <a:t>8%</a:t>
                      </a:r>
                      <a:endParaRPr lang="en-US" sz="1400" dirty="0">
                        <a:effectLst/>
                        <a:latin typeface="+mn-lt"/>
                        <a:ea typeface="Calibri"/>
                        <a:cs typeface="Times New Roman"/>
                      </a:endParaRPr>
                    </a:p>
                  </a:txBody>
                  <a:tcPr marL="63941" marR="63941" marT="0" marB="0">
                    <a:lnL w="12700" cap="flat" cmpd="sng" algn="ctr">
                      <a:noFill/>
                      <a:prstDash val="solid"/>
                      <a:round/>
                      <a:headEnd type="none" w="med" len="med"/>
                      <a:tailEnd type="none" w="med" len="med"/>
                    </a:lnL>
                    <a:lnR>
                      <a:noFill/>
                    </a:lnR>
                    <a:lnT w="12700" cap="flat" cmpd="sng" algn="ctr">
                      <a:solidFill>
                        <a:srgbClr val="BFBFBF"/>
                      </a:solidFill>
                      <a:prstDash val="solid"/>
                      <a:round/>
                      <a:headEnd type="none" w="med" len="med"/>
                      <a:tailEnd type="none" w="med" len="med"/>
                    </a:lnT>
                    <a:lnB>
                      <a:noFill/>
                    </a:lnB>
                  </a:tcPr>
                </a:tc>
                <a:tc hMerge="1">
                  <a:txBody>
                    <a:bodyPr/>
                    <a:lstStyle/>
                    <a:p>
                      <a:endParaRPr lang="en-US"/>
                    </a:p>
                  </a:txBody>
                  <a:tcPr/>
                </a:tc>
                <a:tc>
                  <a:txBody>
                    <a:bodyPr/>
                    <a:lstStyle/>
                    <a:p>
                      <a:pPr marL="0" marR="0">
                        <a:lnSpc>
                          <a:spcPct val="115000"/>
                        </a:lnSpc>
                        <a:spcBef>
                          <a:spcPts val="0"/>
                        </a:spcBef>
                        <a:spcAft>
                          <a:spcPts val="1000"/>
                        </a:spcAft>
                      </a:pPr>
                      <a:r>
                        <a:rPr lang="en-US" sz="1000" dirty="0">
                          <a:effectLst/>
                          <a:latin typeface="+mn-lt"/>
                          <a:ea typeface="Calibri"/>
                          <a:cs typeface="Times New Roman"/>
                        </a:rPr>
                        <a:t> </a:t>
                      </a:r>
                    </a:p>
                  </a:txBody>
                  <a:tcPr marL="0" marR="0" marT="0" marB="0" anchor="ctr">
                    <a:lnL>
                      <a:noFill/>
                    </a:lnL>
                    <a:lnR>
                      <a:noFill/>
                    </a:lnR>
                    <a:lnT>
                      <a:noFill/>
                    </a:lnT>
                    <a:lnB>
                      <a:noFill/>
                    </a:lnB>
                  </a:tcPr>
                </a:tc>
              </a:tr>
            </a:tbl>
          </a:graphicData>
        </a:graphic>
      </p:graphicFrame>
    </p:spTree>
    <p:extLst>
      <p:ext uri="{BB962C8B-B14F-4D97-AF65-F5344CB8AC3E}">
        <p14:creationId xmlns:p14="http://schemas.microsoft.com/office/powerpoint/2010/main" val="39435652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eaLnBrk="1" hangingPunct="1"/>
            <a:r>
              <a:rPr lang="en-US" dirty="0" smtClean="0"/>
              <a:t>Experience Adjustment Schedule</a:t>
            </a:r>
          </a:p>
        </p:txBody>
      </p:sp>
      <p:sp>
        <p:nvSpPr>
          <p:cNvPr id="26"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22</a:t>
            </a:fld>
            <a:endParaRPr lang="en-US" dirty="0"/>
          </a:p>
        </p:txBody>
      </p:sp>
      <p:sp>
        <p:nvSpPr>
          <p:cNvPr id="12" name="Content Placeholder 4"/>
          <p:cNvSpPr txBox="1">
            <a:spLocks/>
          </p:cNvSpPr>
          <p:nvPr/>
        </p:nvSpPr>
        <p:spPr>
          <a:xfrm>
            <a:off x="1219200" y="1828800"/>
            <a:ext cx="7543800" cy="4114800"/>
          </a:xfrm>
          <a:prstGeom prst="rect">
            <a:avLst/>
          </a:prstGeom>
        </p:spPr>
        <p:txBody>
          <a:bodyPr/>
          <a:lstStyle>
            <a:lvl1pPr marL="342900" indent="-342900" algn="l" defTabSz="684213" rtl="0" eaLnBrk="0" fontAlgn="base" hangingPunct="0">
              <a:spcBef>
                <a:spcPct val="50000"/>
              </a:spcBef>
              <a:spcAft>
                <a:spcPct val="0"/>
              </a:spcAft>
              <a:buClr>
                <a:srgbClr val="86001E"/>
              </a:buClr>
              <a:buSzPct val="70000"/>
              <a:buFont typeface="Wingdings 3" pitchFamily="18" charset="2"/>
              <a:buChar char=""/>
              <a:defRPr sz="2400">
                <a:solidFill>
                  <a:schemeClr val="tx1"/>
                </a:solidFill>
                <a:latin typeface="+mn-lt"/>
                <a:ea typeface="+mn-ea"/>
                <a:cs typeface="+mn-cs"/>
              </a:defRPr>
            </a:lvl1pPr>
            <a:lvl2pPr marL="576263" indent="-238125" algn="l" defTabSz="684213" rtl="0" eaLnBrk="0" fontAlgn="base" hangingPunct="0">
              <a:spcBef>
                <a:spcPct val="40000"/>
              </a:spcBef>
              <a:spcAft>
                <a:spcPct val="0"/>
              </a:spcAft>
              <a:buClr>
                <a:srgbClr val="86001E"/>
              </a:buClr>
              <a:buSzPct val="85000"/>
              <a:buFont typeface="Wingdings" pitchFamily="2" charset="2"/>
              <a:buChar char="§"/>
              <a:defRPr sz="2200">
                <a:solidFill>
                  <a:schemeClr val="tx1"/>
                </a:solidFill>
                <a:latin typeface="+mn-lt"/>
              </a:defRPr>
            </a:lvl2pPr>
            <a:lvl3pPr marL="801688" indent="-223838" algn="l" defTabSz="684213" rtl="0" eaLnBrk="0" fontAlgn="base" hangingPunct="0">
              <a:spcBef>
                <a:spcPct val="25000"/>
              </a:spcBef>
              <a:spcAft>
                <a:spcPct val="0"/>
              </a:spcAft>
              <a:buClr>
                <a:srgbClr val="86001E"/>
              </a:buClr>
              <a:buSzPct val="60000"/>
              <a:buFont typeface="Arial" charset="0"/>
              <a:buChar char="•"/>
              <a:defRPr sz="2200">
                <a:solidFill>
                  <a:schemeClr val="tx1"/>
                </a:solidFill>
                <a:latin typeface="+mn-lt"/>
              </a:defRPr>
            </a:lvl3pPr>
            <a:lvl4pPr marL="1150938" indent="-233363" algn="l" defTabSz="684213" rtl="0" eaLnBrk="0" fontAlgn="base" hangingPunct="0">
              <a:spcBef>
                <a:spcPct val="15000"/>
              </a:spcBef>
              <a:spcAft>
                <a:spcPct val="0"/>
              </a:spcAft>
              <a:buClr>
                <a:srgbClr val="86001E"/>
              </a:buClr>
              <a:buSzPct val="55000"/>
              <a:buFont typeface="Symbol" pitchFamily="18" charset="2"/>
              <a:buChar char=""/>
              <a:defRPr sz="2200">
                <a:solidFill>
                  <a:schemeClr val="tx1"/>
                </a:solidFill>
                <a:latin typeface="+mn-lt"/>
              </a:defRPr>
            </a:lvl4pPr>
            <a:lvl5pPr marL="1366838" indent="-219075" algn="l" defTabSz="684213" rtl="0" eaLnBrk="0" fontAlgn="base" hangingPunct="0">
              <a:spcBef>
                <a:spcPct val="5000"/>
              </a:spcBef>
              <a:spcAft>
                <a:spcPct val="0"/>
              </a:spcAft>
              <a:buClr>
                <a:srgbClr val="86001E"/>
              </a:buClr>
              <a:buSzPct val="50000"/>
              <a:buFont typeface="Wingdings" pitchFamily="2" charset="2"/>
              <a:buChar char=""/>
              <a:defRPr sz="2200">
                <a:solidFill>
                  <a:schemeClr val="tx1"/>
                </a:solidFill>
                <a:latin typeface="+mn-lt"/>
              </a:defRPr>
            </a:lvl5pPr>
            <a:lvl6pPr marL="17049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6pPr>
            <a:lvl7pPr marL="21621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7pPr>
            <a:lvl8pPr marL="26193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8pPr>
            <a:lvl9pPr marL="3076575" indent="-219075" algn="l" defTabSz="684213" rtl="0" fontAlgn="base">
              <a:spcBef>
                <a:spcPct val="5000"/>
              </a:spcBef>
              <a:spcAft>
                <a:spcPct val="0"/>
              </a:spcAft>
              <a:buClr>
                <a:srgbClr val="C0C0C0"/>
              </a:buClr>
              <a:buSzPct val="50000"/>
              <a:buFont typeface="Monotype Sorts" pitchFamily="2" charset="2"/>
              <a:buChar char="n"/>
              <a:defRPr sz="2200">
                <a:solidFill>
                  <a:schemeClr val="tx1"/>
                </a:solidFill>
                <a:latin typeface="+mn-lt"/>
              </a:defRPr>
            </a:lvl9pPr>
          </a:lstStyle>
          <a:p>
            <a:r>
              <a:rPr lang="en-US" sz="2200" kern="0" dirty="0" smtClean="0"/>
              <a:t>What happens if the first A Fund is exceeded?</a:t>
            </a:r>
            <a:endParaRPr lang="en-US" sz="2200" kern="0" dirty="0"/>
          </a:p>
        </p:txBody>
      </p:sp>
      <p:graphicFrame>
        <p:nvGraphicFramePr>
          <p:cNvPr id="13" name="Table 12"/>
          <p:cNvGraphicFramePr>
            <a:graphicFrameLocks noGrp="1"/>
          </p:cNvGraphicFramePr>
          <p:nvPr>
            <p:extLst>
              <p:ext uri="{D42A27DB-BD31-4B8C-83A1-F6EECF244321}">
                <p14:modId xmlns:p14="http://schemas.microsoft.com/office/powerpoint/2010/main" val="3282059913"/>
              </p:ext>
            </p:extLst>
          </p:nvPr>
        </p:nvGraphicFramePr>
        <p:xfrm>
          <a:off x="1066800" y="2453640"/>
          <a:ext cx="7543800" cy="3185160"/>
        </p:xfrm>
        <a:graphic>
          <a:graphicData uri="http://schemas.openxmlformats.org/drawingml/2006/table">
            <a:tbl>
              <a:tblPr firstRow="1" firstCol="1" bandRow="1"/>
              <a:tblGrid>
                <a:gridCol w="1571625"/>
                <a:gridCol w="1990725"/>
                <a:gridCol w="1990725"/>
                <a:gridCol w="1990725"/>
              </a:tblGrid>
              <a:tr h="381000">
                <a:tc>
                  <a:txBody>
                    <a:bodyPr/>
                    <a:lstStyle/>
                    <a:p>
                      <a:pPr marL="0" marR="0" algn="ctr">
                        <a:lnSpc>
                          <a:spcPct val="115000"/>
                        </a:lnSpc>
                        <a:spcBef>
                          <a:spcPts val="600"/>
                        </a:spcBef>
                        <a:spcAft>
                          <a:spcPts val="600"/>
                        </a:spcAft>
                      </a:pPr>
                      <a:r>
                        <a:rPr lang="en-US" sz="1600" b="1" dirty="0">
                          <a:effectLst/>
                          <a:latin typeface="+mn-lt"/>
                          <a:ea typeface="Calibri"/>
                          <a:cs typeface="Times New Roman"/>
                        </a:rPr>
                        <a:t>Year 1</a:t>
                      </a:r>
                      <a:endParaRPr lang="en-US" sz="1100" dirty="0">
                        <a:effectLst/>
                        <a:latin typeface="+mn-lt"/>
                        <a:ea typeface="Calibri"/>
                        <a:cs typeface="Times New Roman"/>
                      </a:endParaRPr>
                    </a:p>
                  </a:txBody>
                  <a:tcPr marL="68580" marR="68580" marT="0" marB="0" anchor="ctr">
                    <a:lnL>
                      <a:noFill/>
                    </a:lnL>
                    <a:lnR w="12700" cap="flat" cmpd="sng" algn="ctr">
                      <a:solidFill>
                        <a:srgbClr val="808080"/>
                      </a:solidFill>
                      <a:prstDash val="solid"/>
                      <a:round/>
                      <a:headEnd type="none" w="med" len="med"/>
                      <a:tailEnd type="none" w="med" len="med"/>
                    </a:lnR>
                    <a:lnT>
                      <a:noFill/>
                    </a:lnT>
                    <a:lnB w="12700" cap="flat" cmpd="sng" algn="ctr">
                      <a:solidFill>
                        <a:srgbClr val="808080"/>
                      </a:solidFill>
                      <a:prstDash val="solid"/>
                      <a:round/>
                      <a:headEnd type="none" w="med" len="med"/>
                      <a:tailEnd type="none" w="med" len="med"/>
                    </a:lnB>
                  </a:tcPr>
                </a:tc>
                <a:tc>
                  <a:txBody>
                    <a:bodyPr/>
                    <a:lstStyle/>
                    <a:p>
                      <a:pPr marL="0" marR="0" algn="ctr">
                        <a:lnSpc>
                          <a:spcPct val="115000"/>
                        </a:lnSpc>
                        <a:spcBef>
                          <a:spcPts val="600"/>
                        </a:spcBef>
                        <a:spcAft>
                          <a:spcPts val="600"/>
                        </a:spcAft>
                      </a:pPr>
                      <a:r>
                        <a:rPr lang="en-US" sz="1600" b="1" dirty="0">
                          <a:effectLst/>
                          <a:latin typeface="+mn-lt"/>
                          <a:ea typeface="Calibri"/>
                          <a:cs typeface="Times New Roman"/>
                        </a:rPr>
                        <a:t>Year 2</a:t>
                      </a:r>
                      <a:endParaRPr lang="en-US" sz="1100" dirty="0">
                        <a:effectLst/>
                        <a:latin typeface="+mn-lt"/>
                        <a:ea typeface="Calibri"/>
                        <a:cs typeface="Times New Roman"/>
                      </a:endParaRPr>
                    </a:p>
                  </a:txBody>
                  <a:tcPr marL="68580" marR="68580" marT="0" marB="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a:noFill/>
                    </a:lnT>
                    <a:lnB w="12700" cap="flat" cmpd="sng" algn="ctr">
                      <a:solidFill>
                        <a:srgbClr val="808080"/>
                      </a:solidFill>
                      <a:prstDash val="solid"/>
                      <a:round/>
                      <a:headEnd type="none" w="med" len="med"/>
                      <a:tailEnd type="none" w="med" len="med"/>
                    </a:lnB>
                  </a:tcPr>
                </a:tc>
                <a:tc>
                  <a:txBody>
                    <a:bodyPr/>
                    <a:lstStyle/>
                    <a:p>
                      <a:pPr marL="0" marR="0" algn="ctr">
                        <a:lnSpc>
                          <a:spcPct val="115000"/>
                        </a:lnSpc>
                        <a:spcBef>
                          <a:spcPts val="600"/>
                        </a:spcBef>
                        <a:spcAft>
                          <a:spcPts val="600"/>
                        </a:spcAft>
                      </a:pPr>
                      <a:r>
                        <a:rPr lang="en-US" sz="1600" b="1" dirty="0">
                          <a:effectLst/>
                          <a:latin typeface="+mn-lt"/>
                          <a:ea typeface="Calibri"/>
                          <a:cs typeface="Times New Roman"/>
                        </a:rPr>
                        <a:t>Year 3</a:t>
                      </a:r>
                      <a:endParaRPr lang="en-US" sz="1100" dirty="0">
                        <a:effectLst/>
                        <a:latin typeface="+mn-lt"/>
                        <a:ea typeface="Calibri"/>
                        <a:cs typeface="Times New Roman"/>
                      </a:endParaRPr>
                    </a:p>
                  </a:txBody>
                  <a:tcPr marL="68580" marR="68580" marT="0" marB="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a:noFill/>
                    </a:lnT>
                    <a:lnB w="12700" cap="flat" cmpd="sng" algn="ctr">
                      <a:solidFill>
                        <a:srgbClr val="808080"/>
                      </a:solidFill>
                      <a:prstDash val="solid"/>
                      <a:round/>
                      <a:headEnd type="none" w="med" len="med"/>
                      <a:tailEnd type="none" w="med" len="med"/>
                    </a:lnB>
                  </a:tcPr>
                </a:tc>
                <a:tc>
                  <a:txBody>
                    <a:bodyPr/>
                    <a:lstStyle/>
                    <a:p>
                      <a:pPr marL="0" marR="0" algn="ctr">
                        <a:lnSpc>
                          <a:spcPct val="115000"/>
                        </a:lnSpc>
                        <a:spcBef>
                          <a:spcPts val="600"/>
                        </a:spcBef>
                        <a:spcAft>
                          <a:spcPts val="600"/>
                        </a:spcAft>
                      </a:pPr>
                      <a:r>
                        <a:rPr lang="en-US" sz="1600" b="1" dirty="0">
                          <a:effectLst/>
                          <a:latin typeface="+mn-lt"/>
                          <a:ea typeface="Calibri"/>
                          <a:cs typeface="Times New Roman"/>
                        </a:rPr>
                        <a:t>Year 4</a:t>
                      </a:r>
                      <a:endParaRPr lang="en-US" sz="1100" dirty="0">
                        <a:effectLst/>
                        <a:latin typeface="+mn-lt"/>
                        <a:ea typeface="Calibri"/>
                        <a:cs typeface="Times New Roman"/>
                      </a:endParaRPr>
                    </a:p>
                  </a:txBody>
                  <a:tcPr marL="68580" marR="68580" marT="0" marB="0" anchor="ctr">
                    <a:lnL w="12700" cap="flat" cmpd="sng" algn="ctr">
                      <a:solidFill>
                        <a:srgbClr val="808080"/>
                      </a:solidFill>
                      <a:prstDash val="solid"/>
                      <a:round/>
                      <a:headEnd type="none" w="med" len="med"/>
                      <a:tailEnd type="none" w="med" len="med"/>
                    </a:lnL>
                    <a:lnR>
                      <a:noFill/>
                    </a:lnR>
                    <a:lnT>
                      <a:noFill/>
                    </a:lnT>
                    <a:lnB w="12700" cap="flat" cmpd="sng" algn="ctr">
                      <a:solidFill>
                        <a:srgbClr val="808080"/>
                      </a:solidFill>
                      <a:prstDash val="solid"/>
                      <a:round/>
                      <a:headEnd type="none" w="med" len="med"/>
                      <a:tailEnd type="none" w="med" len="med"/>
                    </a:lnB>
                  </a:tcPr>
                </a:tc>
              </a:tr>
              <a:tr h="2006091">
                <a:tc>
                  <a:txBody>
                    <a:bodyPr/>
                    <a:lstStyle/>
                    <a:p>
                      <a:pPr marL="0" marR="0" algn="ctr">
                        <a:lnSpc>
                          <a:spcPct val="115000"/>
                        </a:lnSpc>
                        <a:spcBef>
                          <a:spcPts val="0"/>
                        </a:spcBef>
                        <a:spcAft>
                          <a:spcPts val="0"/>
                        </a:spcAft>
                      </a:pPr>
                      <a:endParaRPr lang="en-US" sz="800" dirty="0">
                        <a:effectLst/>
                        <a:latin typeface="+mn-lt"/>
                        <a:ea typeface="Calibri"/>
                        <a:cs typeface="Times New Roman"/>
                      </a:endParaRPr>
                    </a:p>
                    <a:p>
                      <a:pPr marL="0" marR="0" algn="ctr">
                        <a:lnSpc>
                          <a:spcPct val="115000"/>
                        </a:lnSpc>
                        <a:spcBef>
                          <a:spcPts val="0"/>
                        </a:spcBef>
                        <a:spcAft>
                          <a:spcPts val="0"/>
                        </a:spcAft>
                      </a:pPr>
                      <a:r>
                        <a:rPr lang="en-US" sz="1600" dirty="0">
                          <a:effectLst/>
                          <a:latin typeface="+mn-lt"/>
                          <a:ea typeface="Calibri"/>
                          <a:cs typeface="Times New Roman"/>
                        </a:rPr>
                        <a:t> </a:t>
                      </a:r>
                      <a:r>
                        <a:rPr lang="en-US" sz="1600" b="1" dirty="0" smtClean="0">
                          <a:effectLst/>
                          <a:latin typeface="+mn-lt"/>
                          <a:ea typeface="Calibri"/>
                          <a:cs typeface="Times New Roman"/>
                        </a:rPr>
                        <a:t>Example:             </a:t>
                      </a:r>
                      <a:r>
                        <a:rPr lang="en-US" sz="1600" dirty="0" smtClean="0">
                          <a:effectLst/>
                          <a:latin typeface="+mn-lt"/>
                          <a:ea typeface="Calibri"/>
                          <a:cs typeface="Times New Roman"/>
                        </a:rPr>
                        <a:t>A </a:t>
                      </a:r>
                      <a:r>
                        <a:rPr lang="en-US" sz="1600" dirty="0">
                          <a:effectLst/>
                          <a:latin typeface="+mn-lt"/>
                          <a:ea typeface="Calibri"/>
                          <a:cs typeface="Times New Roman"/>
                        </a:rPr>
                        <a:t>Fund Claims</a:t>
                      </a:r>
                      <a:endParaRPr lang="en-US" sz="1100" dirty="0">
                        <a:effectLst/>
                        <a:latin typeface="+mn-lt"/>
                        <a:ea typeface="Calibri"/>
                        <a:cs typeface="Times New Roman"/>
                      </a:endParaRPr>
                    </a:p>
                    <a:p>
                      <a:pPr marL="0" marR="0" algn="ctr">
                        <a:lnSpc>
                          <a:spcPct val="115000"/>
                        </a:lnSpc>
                        <a:spcBef>
                          <a:spcPts val="0"/>
                        </a:spcBef>
                        <a:spcAft>
                          <a:spcPts val="0"/>
                        </a:spcAft>
                      </a:pPr>
                      <a:r>
                        <a:rPr lang="en-US" sz="1600" dirty="0" smtClean="0">
                          <a:effectLst/>
                          <a:latin typeface="+mn-lt"/>
                          <a:ea typeface="Calibri"/>
                          <a:cs typeface="Times New Roman"/>
                        </a:rPr>
                        <a:t>exceed the initial A Fund premium </a:t>
                      </a:r>
                      <a:endParaRPr lang="en-US" sz="1100" dirty="0">
                        <a:effectLst/>
                        <a:latin typeface="+mn-lt"/>
                        <a:ea typeface="Calibri"/>
                        <a:cs typeface="Times New Roman"/>
                      </a:endParaRPr>
                    </a:p>
                    <a:p>
                      <a:pPr marL="0" marR="0" indent="0" algn="ctr" defTabSz="914400" rtl="0" eaLnBrk="1" fontAlgn="auto" latinLnBrk="0" hangingPunct="1">
                        <a:lnSpc>
                          <a:spcPct val="115000"/>
                        </a:lnSpc>
                        <a:spcBef>
                          <a:spcPts val="0"/>
                        </a:spcBef>
                        <a:spcAft>
                          <a:spcPts val="0"/>
                        </a:spcAft>
                        <a:buClrTx/>
                        <a:buSzTx/>
                        <a:buFontTx/>
                        <a:buNone/>
                        <a:tabLst/>
                        <a:defRPr/>
                      </a:pPr>
                      <a:r>
                        <a:rPr lang="en-US" sz="1600" dirty="0" smtClean="0">
                          <a:effectLst/>
                          <a:latin typeface="+mn-lt"/>
                          <a:ea typeface="Calibri"/>
                          <a:cs typeface="Times New Roman"/>
                        </a:rPr>
                        <a:t>by </a:t>
                      </a:r>
                      <a:r>
                        <a:rPr lang="en-US" sz="1600" b="1" dirty="0" smtClean="0">
                          <a:solidFill>
                            <a:srgbClr val="800000"/>
                          </a:solidFill>
                          <a:effectLst/>
                          <a:latin typeface="+mn-lt"/>
                          <a:ea typeface="Calibri"/>
                          <a:cs typeface="Times New Roman"/>
                        </a:rPr>
                        <a:t>$75,000 </a:t>
                      </a:r>
                      <a:r>
                        <a:rPr lang="en-US" sz="1600" b="0" dirty="0" smtClean="0">
                          <a:solidFill>
                            <a:schemeClr val="tx1"/>
                          </a:solidFill>
                          <a:effectLst/>
                          <a:latin typeface="+mn-lt"/>
                          <a:ea typeface="Calibri"/>
                          <a:cs typeface="Times New Roman"/>
                        </a:rPr>
                        <a:t>resulting</a:t>
                      </a:r>
                      <a:r>
                        <a:rPr lang="en-US" sz="1600" b="0" baseline="0" dirty="0" smtClean="0">
                          <a:solidFill>
                            <a:schemeClr val="tx1"/>
                          </a:solidFill>
                          <a:effectLst/>
                          <a:latin typeface="+mn-lt"/>
                          <a:ea typeface="Calibri"/>
                          <a:cs typeface="Times New Roman"/>
                        </a:rPr>
                        <a:t> in an experience adjustment</a:t>
                      </a:r>
                    </a:p>
                    <a:p>
                      <a:pPr marL="0" marR="0" indent="0" algn="ctr" defTabSz="914400" rtl="0" eaLnBrk="1" fontAlgn="auto" latinLnBrk="0" hangingPunct="1">
                        <a:lnSpc>
                          <a:spcPct val="115000"/>
                        </a:lnSpc>
                        <a:spcBef>
                          <a:spcPts val="0"/>
                        </a:spcBef>
                        <a:spcAft>
                          <a:spcPts val="0"/>
                        </a:spcAft>
                        <a:buClrTx/>
                        <a:buSzTx/>
                        <a:buFontTx/>
                        <a:buNone/>
                        <a:tabLst/>
                        <a:defRPr/>
                      </a:pPr>
                      <a:endParaRPr lang="en-US" sz="800" b="1" dirty="0">
                        <a:effectLst/>
                        <a:latin typeface="+mn-lt"/>
                        <a:ea typeface="Calibri"/>
                        <a:cs typeface="Times New Roman"/>
                      </a:endParaRPr>
                    </a:p>
                  </a:txBody>
                  <a:tcPr marL="68580" marR="68580" marT="0" marB="0">
                    <a:lnL>
                      <a:noFill/>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a:noFill/>
                    </a:lnB>
                  </a:tcPr>
                </a:tc>
                <a:tc>
                  <a:txBody>
                    <a:bodyPr/>
                    <a:lstStyle/>
                    <a:p>
                      <a:pPr marL="0" marR="0" algn="ctr">
                        <a:lnSpc>
                          <a:spcPct val="115000"/>
                        </a:lnSpc>
                        <a:spcBef>
                          <a:spcPts val="0"/>
                        </a:spcBef>
                        <a:spcAft>
                          <a:spcPts val="0"/>
                        </a:spcAft>
                      </a:pPr>
                      <a:endParaRPr lang="en-US" sz="800" b="1" dirty="0" smtClean="0">
                        <a:solidFill>
                          <a:srgbClr val="C00000"/>
                        </a:solidFill>
                        <a:effectLst/>
                        <a:latin typeface="+mn-lt"/>
                        <a:ea typeface="Calibri"/>
                        <a:cs typeface="Times New Roman"/>
                      </a:endParaRPr>
                    </a:p>
                    <a:p>
                      <a:pPr marL="0" marR="0" algn="ctr">
                        <a:lnSpc>
                          <a:spcPct val="115000"/>
                        </a:lnSpc>
                        <a:spcBef>
                          <a:spcPts val="0"/>
                        </a:spcBef>
                        <a:spcAft>
                          <a:spcPts val="0"/>
                        </a:spcAft>
                      </a:pPr>
                      <a:r>
                        <a:rPr lang="en-US" sz="1600" b="1" dirty="0" smtClean="0">
                          <a:solidFill>
                            <a:srgbClr val="800000"/>
                          </a:solidFill>
                          <a:effectLst/>
                          <a:latin typeface="+mn-lt"/>
                          <a:ea typeface="Calibri"/>
                          <a:cs typeface="Times New Roman"/>
                        </a:rPr>
                        <a:t>50</a:t>
                      </a:r>
                      <a:r>
                        <a:rPr lang="en-US" sz="1600" b="1" dirty="0">
                          <a:solidFill>
                            <a:srgbClr val="800000"/>
                          </a:solidFill>
                          <a:effectLst/>
                          <a:latin typeface="+mn-lt"/>
                          <a:ea typeface="Calibri"/>
                          <a:cs typeface="Times New Roman"/>
                        </a:rPr>
                        <a:t>% </a:t>
                      </a:r>
                      <a:r>
                        <a:rPr lang="en-US" sz="1600" dirty="0">
                          <a:effectLst/>
                          <a:latin typeface="+mn-lt"/>
                          <a:ea typeface="Calibri"/>
                          <a:cs typeface="Times New Roman"/>
                        </a:rPr>
                        <a:t/>
                      </a:r>
                      <a:br>
                        <a:rPr lang="en-US" sz="1600" dirty="0">
                          <a:effectLst/>
                          <a:latin typeface="+mn-lt"/>
                          <a:ea typeface="Calibri"/>
                          <a:cs typeface="Times New Roman"/>
                        </a:rPr>
                      </a:br>
                      <a:r>
                        <a:rPr lang="en-US" sz="1600" dirty="0">
                          <a:effectLst/>
                          <a:latin typeface="+mn-lt"/>
                          <a:ea typeface="Calibri"/>
                          <a:cs typeface="Times New Roman"/>
                        </a:rPr>
                        <a:t>of </a:t>
                      </a:r>
                      <a:r>
                        <a:rPr lang="en-US" sz="1600" dirty="0" smtClean="0">
                          <a:effectLst/>
                          <a:latin typeface="+mn-lt"/>
                          <a:ea typeface="Calibri"/>
                          <a:cs typeface="Times New Roman"/>
                        </a:rPr>
                        <a:t>experience</a:t>
                      </a:r>
                      <a:r>
                        <a:rPr lang="en-US" sz="1600" baseline="0" dirty="0" smtClean="0">
                          <a:effectLst/>
                          <a:latin typeface="+mn-lt"/>
                          <a:ea typeface="Calibri"/>
                          <a:cs typeface="Times New Roman"/>
                        </a:rPr>
                        <a:t> </a:t>
                      </a:r>
                      <a:r>
                        <a:rPr lang="en-US" sz="1600" dirty="0" smtClean="0">
                          <a:effectLst/>
                          <a:latin typeface="+mn-lt"/>
                          <a:ea typeface="Calibri"/>
                          <a:cs typeface="Times New Roman"/>
                        </a:rPr>
                        <a:t>adjustment;</a:t>
                      </a:r>
                      <a:r>
                        <a:rPr lang="en-US" sz="1600" baseline="0" dirty="0" smtClean="0">
                          <a:effectLst/>
                          <a:latin typeface="+mn-lt"/>
                          <a:ea typeface="Calibri"/>
                          <a:cs typeface="Times New Roman"/>
                        </a:rPr>
                        <a:t> </a:t>
                      </a:r>
                      <a:r>
                        <a:rPr lang="en-US" sz="1600" dirty="0" smtClean="0">
                          <a:effectLst/>
                          <a:latin typeface="+mn-lt"/>
                          <a:ea typeface="Calibri"/>
                          <a:cs typeface="Times New Roman"/>
                        </a:rPr>
                        <a:t>$9,375</a:t>
                      </a:r>
                      <a:r>
                        <a:rPr lang="en-US" sz="1600" baseline="0" dirty="0" smtClean="0">
                          <a:effectLst/>
                          <a:latin typeface="+mn-lt"/>
                          <a:ea typeface="Calibri"/>
                          <a:cs typeface="Times New Roman"/>
                        </a:rPr>
                        <a:t>                       </a:t>
                      </a:r>
                      <a:r>
                        <a:rPr lang="en-US" sz="1600" dirty="0" smtClean="0">
                          <a:effectLst/>
                          <a:latin typeface="+mn-lt"/>
                          <a:ea typeface="Calibri"/>
                          <a:cs typeface="Times New Roman"/>
                        </a:rPr>
                        <a:t>paid each quarter</a:t>
                      </a:r>
                    </a:p>
                    <a:p>
                      <a:pPr marL="0" marR="0" algn="ctr">
                        <a:lnSpc>
                          <a:spcPct val="115000"/>
                        </a:lnSpc>
                        <a:spcBef>
                          <a:spcPts val="0"/>
                        </a:spcBef>
                        <a:spcAft>
                          <a:spcPts val="0"/>
                        </a:spcAft>
                      </a:pPr>
                      <a:endParaRPr lang="en-US" sz="1600" dirty="0" smtClean="0">
                        <a:effectLst/>
                        <a:latin typeface="+mn-lt"/>
                        <a:ea typeface="Calibri"/>
                        <a:cs typeface="Times New Roman"/>
                      </a:endParaRPr>
                    </a:p>
                    <a:p>
                      <a:pPr marL="0" marR="0" algn="ctr">
                        <a:lnSpc>
                          <a:spcPct val="115000"/>
                        </a:lnSpc>
                        <a:spcBef>
                          <a:spcPts val="0"/>
                        </a:spcBef>
                        <a:spcAft>
                          <a:spcPts val="0"/>
                        </a:spcAft>
                      </a:pPr>
                      <a:r>
                        <a:rPr lang="en-US" sz="1600" dirty="0" smtClean="0">
                          <a:effectLst/>
                          <a:latin typeface="+mn-lt"/>
                          <a:ea typeface="Calibri"/>
                          <a:cs typeface="Times New Roman"/>
                        </a:rPr>
                        <a:t>Remaining Balance</a:t>
                      </a:r>
                      <a:endParaRPr lang="en-US" sz="1600" dirty="0">
                        <a:effectLst/>
                        <a:latin typeface="+mn-lt"/>
                        <a:ea typeface="Calibri"/>
                        <a:cs typeface="Times New Roman"/>
                      </a:endParaRPr>
                    </a:p>
                    <a:p>
                      <a:pPr marL="0" marR="0" algn="ctr">
                        <a:lnSpc>
                          <a:spcPct val="115000"/>
                        </a:lnSpc>
                        <a:spcBef>
                          <a:spcPts val="0"/>
                        </a:spcBef>
                        <a:spcAft>
                          <a:spcPts val="0"/>
                        </a:spcAft>
                      </a:pPr>
                      <a:r>
                        <a:rPr lang="en-US" sz="1600" b="1" dirty="0" smtClean="0">
                          <a:effectLst/>
                          <a:latin typeface="+mn-lt"/>
                          <a:ea typeface="Calibri"/>
                          <a:cs typeface="Times New Roman"/>
                        </a:rPr>
                        <a:t>$75,000 </a:t>
                      </a:r>
                      <a:endParaRPr lang="en-US" sz="1600" b="1" dirty="0">
                        <a:effectLst/>
                        <a:latin typeface="+mn-lt"/>
                        <a:ea typeface="Calibri"/>
                        <a:cs typeface="Times New Roman"/>
                      </a:endParaRPr>
                    </a:p>
                    <a:p>
                      <a:pPr marL="0" marR="502920" algn="r">
                        <a:lnSpc>
                          <a:spcPct val="115000"/>
                        </a:lnSpc>
                        <a:spcBef>
                          <a:spcPts val="0"/>
                        </a:spcBef>
                        <a:spcAft>
                          <a:spcPts val="0"/>
                        </a:spcAft>
                      </a:pPr>
                      <a:r>
                        <a:rPr lang="en-US" sz="1600" b="1" u="sng" dirty="0" smtClean="0">
                          <a:effectLst/>
                          <a:latin typeface="+mn-lt"/>
                          <a:ea typeface="Calibri"/>
                          <a:cs typeface="Times New Roman"/>
                        </a:rPr>
                        <a:t>- 37,500</a:t>
                      </a:r>
                      <a:endParaRPr lang="en-US" sz="1600" b="1" dirty="0">
                        <a:effectLst/>
                        <a:latin typeface="+mn-lt"/>
                        <a:ea typeface="Calibri"/>
                        <a:cs typeface="Times New Roman"/>
                      </a:endParaRPr>
                    </a:p>
                    <a:p>
                      <a:pPr marL="0" marR="502920" algn="r">
                        <a:lnSpc>
                          <a:spcPct val="115000"/>
                        </a:lnSpc>
                        <a:spcBef>
                          <a:spcPts val="0"/>
                        </a:spcBef>
                        <a:spcAft>
                          <a:spcPts val="0"/>
                        </a:spcAft>
                      </a:pPr>
                      <a:r>
                        <a:rPr lang="en-US" sz="1600" b="1" dirty="0" smtClean="0">
                          <a:solidFill>
                            <a:srgbClr val="C00000"/>
                          </a:solidFill>
                          <a:effectLst/>
                          <a:latin typeface="+mn-lt"/>
                          <a:ea typeface="Calibri"/>
                          <a:cs typeface="Times New Roman"/>
                        </a:rPr>
                        <a:t> </a:t>
                      </a:r>
                      <a:r>
                        <a:rPr lang="en-US" sz="1600" b="1" dirty="0" smtClean="0">
                          <a:solidFill>
                            <a:srgbClr val="800000"/>
                          </a:solidFill>
                          <a:effectLst/>
                          <a:latin typeface="+mn-lt"/>
                          <a:ea typeface="Calibri"/>
                          <a:cs typeface="Times New Roman"/>
                        </a:rPr>
                        <a:t>$37,500</a:t>
                      </a:r>
                      <a:endParaRPr lang="en-US" sz="1600" dirty="0">
                        <a:solidFill>
                          <a:srgbClr val="800000"/>
                        </a:solidFill>
                        <a:effectLst/>
                        <a:latin typeface="+mn-lt"/>
                        <a:ea typeface="Calibri"/>
                        <a:cs typeface="Times New Roman"/>
                      </a:endParaRPr>
                    </a:p>
                  </a:txBody>
                  <a:tcPr marL="68580" marR="68580" marT="0" marB="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a:noFill/>
                    </a:lnB>
                  </a:tcPr>
                </a:tc>
                <a:tc>
                  <a:txBody>
                    <a:bodyPr/>
                    <a:lstStyle/>
                    <a:p>
                      <a:pPr marL="0" marR="0" algn="ctr">
                        <a:lnSpc>
                          <a:spcPct val="115000"/>
                        </a:lnSpc>
                        <a:spcBef>
                          <a:spcPts val="0"/>
                        </a:spcBef>
                        <a:spcAft>
                          <a:spcPts val="0"/>
                        </a:spcAft>
                      </a:pPr>
                      <a:endParaRPr lang="en-US" sz="800" b="1" dirty="0" smtClean="0">
                        <a:solidFill>
                          <a:srgbClr val="C00000"/>
                        </a:solidFill>
                        <a:effectLst/>
                        <a:latin typeface="+mn-lt"/>
                        <a:ea typeface="Calibri"/>
                        <a:cs typeface="Times New Roman"/>
                      </a:endParaRPr>
                    </a:p>
                    <a:p>
                      <a:pPr marL="0" marR="0" algn="ctr">
                        <a:lnSpc>
                          <a:spcPct val="115000"/>
                        </a:lnSpc>
                        <a:spcBef>
                          <a:spcPts val="0"/>
                        </a:spcBef>
                        <a:spcAft>
                          <a:spcPts val="0"/>
                        </a:spcAft>
                      </a:pPr>
                      <a:r>
                        <a:rPr lang="en-US" sz="1600" b="1" dirty="0" smtClean="0">
                          <a:solidFill>
                            <a:srgbClr val="800000"/>
                          </a:solidFill>
                          <a:effectLst/>
                          <a:latin typeface="+mn-lt"/>
                          <a:ea typeface="Calibri"/>
                          <a:cs typeface="Times New Roman"/>
                        </a:rPr>
                        <a:t>30</a:t>
                      </a:r>
                      <a:r>
                        <a:rPr lang="en-US" sz="1600" b="1" dirty="0">
                          <a:solidFill>
                            <a:srgbClr val="800000"/>
                          </a:solidFill>
                          <a:effectLst/>
                          <a:latin typeface="+mn-lt"/>
                          <a:ea typeface="Calibri"/>
                          <a:cs typeface="Times New Roman"/>
                        </a:rPr>
                        <a:t>% </a:t>
                      </a:r>
                      <a:r>
                        <a:rPr lang="en-US" sz="1600" dirty="0">
                          <a:solidFill>
                            <a:srgbClr val="800000"/>
                          </a:solidFill>
                          <a:effectLst/>
                          <a:latin typeface="+mn-lt"/>
                          <a:ea typeface="Calibri"/>
                          <a:cs typeface="Times New Roman"/>
                        </a:rPr>
                        <a:t/>
                      </a:r>
                      <a:br>
                        <a:rPr lang="en-US" sz="1600" dirty="0">
                          <a:solidFill>
                            <a:srgbClr val="800000"/>
                          </a:solidFill>
                          <a:effectLst/>
                          <a:latin typeface="+mn-lt"/>
                          <a:ea typeface="Calibri"/>
                          <a:cs typeface="Times New Roman"/>
                        </a:rPr>
                      </a:br>
                      <a:r>
                        <a:rPr lang="en-US" sz="1600" dirty="0" smtClean="0">
                          <a:effectLst/>
                          <a:latin typeface="+mn-lt"/>
                          <a:ea typeface="Calibri"/>
                          <a:cs typeface="Times New Roman"/>
                        </a:rPr>
                        <a:t>of experience</a:t>
                      </a:r>
                      <a:r>
                        <a:rPr lang="en-US" sz="1600" baseline="0" dirty="0" smtClean="0">
                          <a:effectLst/>
                          <a:latin typeface="+mn-lt"/>
                          <a:ea typeface="Calibri"/>
                          <a:cs typeface="Times New Roman"/>
                        </a:rPr>
                        <a:t> </a:t>
                      </a:r>
                      <a:r>
                        <a:rPr lang="en-US" sz="1600" dirty="0" smtClean="0">
                          <a:effectLst/>
                          <a:latin typeface="+mn-lt"/>
                          <a:ea typeface="Calibri"/>
                          <a:cs typeface="Times New Roman"/>
                        </a:rPr>
                        <a:t>adjustment; $5,625              paid each quarter</a:t>
                      </a:r>
                    </a:p>
                    <a:p>
                      <a:pPr marL="0" marR="0" algn="ctr">
                        <a:lnSpc>
                          <a:spcPct val="115000"/>
                        </a:lnSpc>
                        <a:spcBef>
                          <a:spcPts val="0"/>
                        </a:spcBef>
                        <a:spcAft>
                          <a:spcPts val="0"/>
                        </a:spcAft>
                      </a:pPr>
                      <a:endParaRPr lang="en-US" sz="1600" dirty="0" smtClean="0">
                        <a:effectLst/>
                        <a:latin typeface="+mn-lt"/>
                        <a:ea typeface="Calibri"/>
                        <a:cs typeface="Times New Roman"/>
                      </a:endParaRPr>
                    </a:p>
                    <a:p>
                      <a:pPr marL="0" marR="0" indent="0" algn="ctr" defTabSz="914400" rtl="0" eaLnBrk="1" fontAlgn="auto" latinLnBrk="0" hangingPunct="1">
                        <a:lnSpc>
                          <a:spcPct val="115000"/>
                        </a:lnSpc>
                        <a:spcBef>
                          <a:spcPts val="0"/>
                        </a:spcBef>
                        <a:spcAft>
                          <a:spcPts val="0"/>
                        </a:spcAft>
                        <a:buClrTx/>
                        <a:buSzTx/>
                        <a:buFontTx/>
                        <a:buNone/>
                        <a:tabLst/>
                        <a:defRPr/>
                      </a:pPr>
                      <a:r>
                        <a:rPr lang="en-US" sz="1600" dirty="0" smtClean="0">
                          <a:effectLst/>
                          <a:latin typeface="+mn-lt"/>
                          <a:ea typeface="Calibri"/>
                          <a:cs typeface="Times New Roman"/>
                        </a:rPr>
                        <a:t>Remaining Balance</a:t>
                      </a:r>
                    </a:p>
                    <a:p>
                      <a:pPr marL="0" marR="480060" algn="r">
                        <a:lnSpc>
                          <a:spcPct val="115000"/>
                        </a:lnSpc>
                        <a:spcBef>
                          <a:spcPts val="0"/>
                        </a:spcBef>
                        <a:spcAft>
                          <a:spcPts val="0"/>
                        </a:spcAft>
                      </a:pPr>
                      <a:r>
                        <a:rPr lang="en-US" sz="1600" b="1" dirty="0" smtClean="0">
                          <a:effectLst/>
                          <a:latin typeface="+mn-lt"/>
                          <a:ea typeface="Calibri"/>
                          <a:cs typeface="Times New Roman"/>
                        </a:rPr>
                        <a:t>$37,500</a:t>
                      </a:r>
                      <a:endParaRPr lang="en-US" sz="1600" b="1" dirty="0">
                        <a:effectLst/>
                        <a:latin typeface="+mn-lt"/>
                        <a:ea typeface="Calibri"/>
                        <a:cs typeface="Times New Roman"/>
                      </a:endParaRPr>
                    </a:p>
                    <a:p>
                      <a:pPr marL="0" marR="480060" algn="r">
                        <a:lnSpc>
                          <a:spcPct val="115000"/>
                        </a:lnSpc>
                        <a:spcBef>
                          <a:spcPts val="0"/>
                        </a:spcBef>
                        <a:spcAft>
                          <a:spcPts val="0"/>
                        </a:spcAft>
                      </a:pPr>
                      <a:r>
                        <a:rPr lang="en-US" sz="1600" b="1" u="sng" dirty="0" smtClean="0">
                          <a:effectLst/>
                          <a:latin typeface="+mn-lt"/>
                          <a:ea typeface="Calibri"/>
                          <a:cs typeface="Times New Roman"/>
                        </a:rPr>
                        <a:t>-22,500</a:t>
                      </a:r>
                      <a:endParaRPr lang="en-US" sz="1600" b="1" dirty="0">
                        <a:effectLst/>
                        <a:latin typeface="+mn-lt"/>
                        <a:ea typeface="Calibri"/>
                        <a:cs typeface="Times New Roman"/>
                      </a:endParaRPr>
                    </a:p>
                    <a:p>
                      <a:pPr marL="0" marR="480060" algn="r">
                        <a:lnSpc>
                          <a:spcPct val="115000"/>
                        </a:lnSpc>
                        <a:spcBef>
                          <a:spcPts val="0"/>
                        </a:spcBef>
                        <a:spcAft>
                          <a:spcPts val="0"/>
                        </a:spcAft>
                      </a:pPr>
                      <a:r>
                        <a:rPr lang="en-US" sz="1600" b="1" dirty="0" smtClean="0">
                          <a:solidFill>
                            <a:srgbClr val="800000"/>
                          </a:solidFill>
                          <a:effectLst/>
                          <a:latin typeface="+mn-lt"/>
                          <a:ea typeface="Calibri"/>
                          <a:cs typeface="Times New Roman"/>
                        </a:rPr>
                        <a:t>$15,000</a:t>
                      </a:r>
                      <a:endParaRPr lang="en-US" sz="1600" dirty="0">
                        <a:solidFill>
                          <a:srgbClr val="800000"/>
                        </a:solidFill>
                        <a:effectLst/>
                        <a:latin typeface="+mn-lt"/>
                        <a:ea typeface="Calibri"/>
                        <a:cs typeface="Times New Roman"/>
                      </a:endParaRPr>
                    </a:p>
                  </a:txBody>
                  <a:tcPr marL="68580" marR="68580" marT="0" marB="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a:noFill/>
                    </a:lnB>
                  </a:tcPr>
                </a:tc>
                <a:tc>
                  <a:txBody>
                    <a:bodyPr/>
                    <a:lstStyle/>
                    <a:p>
                      <a:pPr marL="0" marR="0" algn="ctr">
                        <a:lnSpc>
                          <a:spcPct val="115000"/>
                        </a:lnSpc>
                        <a:spcBef>
                          <a:spcPts val="0"/>
                        </a:spcBef>
                        <a:spcAft>
                          <a:spcPts val="0"/>
                        </a:spcAft>
                      </a:pPr>
                      <a:endParaRPr lang="en-US" sz="800" b="1" dirty="0" smtClean="0">
                        <a:solidFill>
                          <a:srgbClr val="C00000"/>
                        </a:solidFill>
                        <a:effectLst/>
                        <a:latin typeface="+mn-lt"/>
                        <a:ea typeface="Calibri"/>
                        <a:cs typeface="Times New Roman"/>
                      </a:endParaRPr>
                    </a:p>
                    <a:p>
                      <a:pPr marL="0" marR="0" algn="ctr">
                        <a:lnSpc>
                          <a:spcPct val="115000"/>
                        </a:lnSpc>
                        <a:spcBef>
                          <a:spcPts val="0"/>
                        </a:spcBef>
                        <a:spcAft>
                          <a:spcPts val="0"/>
                        </a:spcAft>
                      </a:pPr>
                      <a:r>
                        <a:rPr lang="en-US" sz="1600" b="1" dirty="0" smtClean="0">
                          <a:solidFill>
                            <a:srgbClr val="800000"/>
                          </a:solidFill>
                          <a:effectLst/>
                          <a:latin typeface="+mn-lt"/>
                          <a:ea typeface="Calibri"/>
                          <a:cs typeface="Times New Roman"/>
                        </a:rPr>
                        <a:t>20</a:t>
                      </a:r>
                      <a:r>
                        <a:rPr lang="en-US" sz="1600" b="1" dirty="0">
                          <a:solidFill>
                            <a:srgbClr val="800000"/>
                          </a:solidFill>
                          <a:effectLst/>
                          <a:latin typeface="+mn-lt"/>
                          <a:ea typeface="Calibri"/>
                          <a:cs typeface="Times New Roman"/>
                        </a:rPr>
                        <a:t>% </a:t>
                      </a:r>
                      <a:r>
                        <a:rPr lang="en-US" sz="1600" dirty="0">
                          <a:effectLst/>
                          <a:latin typeface="+mn-lt"/>
                          <a:ea typeface="Calibri"/>
                          <a:cs typeface="Times New Roman"/>
                        </a:rPr>
                        <a:t/>
                      </a:r>
                      <a:br>
                        <a:rPr lang="en-US" sz="1600" dirty="0">
                          <a:effectLst/>
                          <a:latin typeface="+mn-lt"/>
                          <a:ea typeface="Calibri"/>
                          <a:cs typeface="Times New Roman"/>
                        </a:rPr>
                      </a:br>
                      <a:r>
                        <a:rPr lang="en-US" sz="1600" dirty="0">
                          <a:effectLst/>
                          <a:latin typeface="+mn-lt"/>
                          <a:ea typeface="Calibri"/>
                          <a:cs typeface="Times New Roman"/>
                        </a:rPr>
                        <a:t> </a:t>
                      </a:r>
                      <a:r>
                        <a:rPr lang="en-US" sz="1600" dirty="0" smtClean="0">
                          <a:effectLst/>
                          <a:latin typeface="+mn-lt"/>
                          <a:ea typeface="Calibri"/>
                          <a:cs typeface="Times New Roman"/>
                        </a:rPr>
                        <a:t>of experience</a:t>
                      </a:r>
                      <a:r>
                        <a:rPr lang="en-US" sz="1600" baseline="0" dirty="0" smtClean="0">
                          <a:effectLst/>
                          <a:latin typeface="+mn-lt"/>
                          <a:ea typeface="Calibri"/>
                          <a:cs typeface="Times New Roman"/>
                        </a:rPr>
                        <a:t> </a:t>
                      </a:r>
                      <a:r>
                        <a:rPr lang="en-US" sz="1600" dirty="0" smtClean="0">
                          <a:effectLst/>
                          <a:latin typeface="+mn-lt"/>
                          <a:ea typeface="Calibri"/>
                          <a:cs typeface="Times New Roman"/>
                        </a:rPr>
                        <a:t>adjustment; $3,750              paid each quarter</a:t>
                      </a:r>
                    </a:p>
                    <a:p>
                      <a:pPr marL="0" marR="0" algn="ctr">
                        <a:lnSpc>
                          <a:spcPct val="115000"/>
                        </a:lnSpc>
                        <a:spcBef>
                          <a:spcPts val="0"/>
                        </a:spcBef>
                        <a:spcAft>
                          <a:spcPts val="0"/>
                        </a:spcAft>
                      </a:pPr>
                      <a:endParaRPr lang="en-US" sz="1600" dirty="0" smtClean="0">
                        <a:effectLst/>
                        <a:latin typeface="+mn-lt"/>
                        <a:ea typeface="Calibri"/>
                        <a:cs typeface="Times New Roman"/>
                      </a:endParaRPr>
                    </a:p>
                    <a:p>
                      <a:pPr marL="0" marR="0" indent="0" algn="ctr" defTabSz="914400" rtl="0" eaLnBrk="1" fontAlgn="auto" latinLnBrk="0" hangingPunct="1">
                        <a:lnSpc>
                          <a:spcPct val="115000"/>
                        </a:lnSpc>
                        <a:spcBef>
                          <a:spcPts val="0"/>
                        </a:spcBef>
                        <a:spcAft>
                          <a:spcPts val="0"/>
                        </a:spcAft>
                        <a:buClrTx/>
                        <a:buSzTx/>
                        <a:buFontTx/>
                        <a:buNone/>
                        <a:tabLst/>
                        <a:defRPr/>
                      </a:pPr>
                      <a:r>
                        <a:rPr lang="en-US" sz="1600" dirty="0" smtClean="0">
                          <a:effectLst/>
                          <a:latin typeface="+mn-lt"/>
                          <a:ea typeface="Calibri"/>
                          <a:cs typeface="Times New Roman"/>
                        </a:rPr>
                        <a:t>Remaining Balance</a:t>
                      </a:r>
                    </a:p>
                    <a:p>
                      <a:pPr marL="0" marR="0" algn="ctr">
                        <a:lnSpc>
                          <a:spcPct val="115000"/>
                        </a:lnSpc>
                        <a:spcBef>
                          <a:spcPts val="0"/>
                        </a:spcBef>
                        <a:spcAft>
                          <a:spcPts val="0"/>
                        </a:spcAft>
                      </a:pPr>
                      <a:r>
                        <a:rPr lang="en-US" sz="1600" dirty="0" smtClean="0">
                          <a:effectLst/>
                          <a:latin typeface="+mn-lt"/>
                          <a:ea typeface="Calibri"/>
                          <a:cs typeface="Times New Roman"/>
                        </a:rPr>
                        <a:t>  </a:t>
                      </a:r>
                      <a:r>
                        <a:rPr lang="en-US" sz="1600" dirty="0">
                          <a:effectLst/>
                          <a:latin typeface="+mn-lt"/>
                          <a:ea typeface="Calibri"/>
                          <a:cs typeface="Times New Roman"/>
                        </a:rPr>
                        <a:t> </a:t>
                      </a:r>
                      <a:r>
                        <a:rPr lang="en-US" sz="1600" b="1" dirty="0" smtClean="0">
                          <a:effectLst/>
                          <a:latin typeface="+mn-lt"/>
                          <a:ea typeface="Calibri"/>
                          <a:cs typeface="Times New Roman"/>
                        </a:rPr>
                        <a:t>$15,000</a:t>
                      </a:r>
                      <a:endParaRPr lang="en-US" sz="1600" b="1" dirty="0">
                        <a:effectLst/>
                        <a:latin typeface="+mn-lt"/>
                        <a:ea typeface="Calibri"/>
                        <a:cs typeface="Times New Roman"/>
                      </a:endParaRPr>
                    </a:p>
                    <a:p>
                      <a:pPr marL="0" marR="457200" algn="r">
                        <a:lnSpc>
                          <a:spcPct val="115000"/>
                        </a:lnSpc>
                        <a:spcBef>
                          <a:spcPts val="0"/>
                        </a:spcBef>
                        <a:spcAft>
                          <a:spcPts val="0"/>
                        </a:spcAft>
                      </a:pPr>
                      <a:r>
                        <a:rPr lang="en-US" sz="1600" b="1" u="sng" dirty="0" smtClean="0">
                          <a:effectLst/>
                          <a:latin typeface="+mn-lt"/>
                          <a:ea typeface="Calibri"/>
                          <a:cs typeface="Times New Roman"/>
                        </a:rPr>
                        <a:t>-15,000</a:t>
                      </a:r>
                      <a:endParaRPr lang="en-US" sz="1600" b="1" dirty="0">
                        <a:effectLst/>
                        <a:latin typeface="+mn-lt"/>
                        <a:ea typeface="Calibri"/>
                        <a:cs typeface="Times New Roman"/>
                      </a:endParaRPr>
                    </a:p>
                    <a:p>
                      <a:pPr marL="0" marR="457200" algn="r">
                        <a:lnSpc>
                          <a:spcPct val="115000"/>
                        </a:lnSpc>
                        <a:spcBef>
                          <a:spcPts val="0"/>
                        </a:spcBef>
                        <a:spcAft>
                          <a:spcPts val="0"/>
                        </a:spcAft>
                      </a:pPr>
                      <a:r>
                        <a:rPr lang="en-US" sz="1600" b="1" dirty="0">
                          <a:solidFill>
                            <a:srgbClr val="800000"/>
                          </a:solidFill>
                          <a:effectLst/>
                          <a:latin typeface="+mn-lt"/>
                          <a:ea typeface="Calibri"/>
                          <a:cs typeface="Times New Roman"/>
                        </a:rPr>
                        <a:t>$</a:t>
                      </a:r>
                      <a:r>
                        <a:rPr lang="en-US" sz="1600" b="1" dirty="0" smtClean="0">
                          <a:solidFill>
                            <a:srgbClr val="800000"/>
                          </a:solidFill>
                          <a:effectLst/>
                          <a:latin typeface="+mn-lt"/>
                          <a:ea typeface="Calibri"/>
                          <a:cs typeface="Times New Roman"/>
                        </a:rPr>
                        <a:t>0</a:t>
                      </a:r>
                      <a:endParaRPr lang="en-US" sz="1600" dirty="0">
                        <a:solidFill>
                          <a:srgbClr val="800000"/>
                        </a:solidFill>
                        <a:effectLst/>
                        <a:latin typeface="+mn-lt"/>
                        <a:ea typeface="Calibri"/>
                        <a:cs typeface="Times New Roman"/>
                      </a:endParaRPr>
                    </a:p>
                  </a:txBody>
                  <a:tcPr marL="68580" marR="68580" marT="0" marB="0">
                    <a:lnL w="12700" cap="flat" cmpd="sng" algn="ctr">
                      <a:solidFill>
                        <a:srgbClr val="808080"/>
                      </a:solidFill>
                      <a:prstDash val="solid"/>
                      <a:round/>
                      <a:headEnd type="none" w="med" len="med"/>
                      <a:tailEnd type="none" w="med" len="med"/>
                    </a:lnL>
                    <a:lnR>
                      <a:noFill/>
                    </a:lnR>
                    <a:lnT w="12700" cap="flat" cmpd="sng" algn="ctr">
                      <a:solidFill>
                        <a:srgbClr val="808080"/>
                      </a:solidFill>
                      <a:prstDash val="solid"/>
                      <a:round/>
                      <a:headEnd type="none" w="med" len="med"/>
                      <a:tailEnd type="none" w="med" len="med"/>
                    </a:lnT>
                    <a:lnB>
                      <a:noFill/>
                    </a:lnB>
                  </a:tcPr>
                </a:tc>
              </a:tr>
            </a:tbl>
          </a:graphicData>
        </a:graphic>
      </p:graphicFrame>
    </p:spTree>
    <p:extLst>
      <p:ext uri="{BB962C8B-B14F-4D97-AF65-F5344CB8AC3E}">
        <p14:creationId xmlns:p14="http://schemas.microsoft.com/office/powerpoint/2010/main" val="342554984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sz="quarter"/>
          </p:nvPr>
        </p:nvSpPr>
        <p:spPr>
          <a:xfrm>
            <a:off x="1600200" y="1611313"/>
            <a:ext cx="7162800" cy="593368"/>
          </a:xfrm>
        </p:spPr>
        <p:txBody>
          <a:bodyPr/>
          <a:lstStyle/>
          <a:p>
            <a:r>
              <a:rPr lang="en-US" dirty="0" smtClean="0"/>
              <a:t>What is my investment?</a:t>
            </a:r>
            <a:endParaRPr lang="en-US" dirty="0"/>
          </a:p>
        </p:txBody>
      </p:sp>
    </p:spTree>
    <p:extLst>
      <p:ext uri="{BB962C8B-B14F-4D97-AF65-F5344CB8AC3E}">
        <p14:creationId xmlns:p14="http://schemas.microsoft.com/office/powerpoint/2010/main" val="392998666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pPr eaLnBrk="1" hangingPunct="1"/>
            <a:r>
              <a:rPr lang="en-US" dirty="0" smtClean="0"/>
              <a:t>Collateral</a:t>
            </a:r>
          </a:p>
        </p:txBody>
      </p:sp>
      <p:grpSp>
        <p:nvGrpSpPr>
          <p:cNvPr id="38915" name="Group 3"/>
          <p:cNvGrpSpPr>
            <a:grpSpLocks/>
          </p:cNvGrpSpPr>
          <p:nvPr/>
        </p:nvGrpSpPr>
        <p:grpSpPr bwMode="auto">
          <a:xfrm>
            <a:off x="4254500" y="2574925"/>
            <a:ext cx="3670300" cy="3216275"/>
            <a:chOff x="3352" y="1328"/>
            <a:chExt cx="2008" cy="2026"/>
          </a:xfrm>
        </p:grpSpPr>
        <p:sp>
          <p:nvSpPr>
            <p:cNvPr id="38923" name="AutoShape 4"/>
            <p:cNvSpPr>
              <a:spLocks noChangeArrowheads="1"/>
            </p:cNvSpPr>
            <p:nvPr/>
          </p:nvSpPr>
          <p:spPr bwMode="auto">
            <a:xfrm>
              <a:off x="3361" y="3136"/>
              <a:ext cx="1990" cy="218"/>
            </a:xfrm>
            <a:prstGeom prst="roundRect">
              <a:avLst>
                <a:gd name="adj" fmla="val 13611"/>
              </a:avLst>
            </a:prstGeom>
            <a:gradFill rotWithShape="0">
              <a:gsLst>
                <a:gs pos="0">
                  <a:srgbClr val="4D4D4D"/>
                </a:gs>
                <a:gs pos="100000">
                  <a:srgbClr val="FFFFFF">
                    <a:alpha val="0"/>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8924" name="Rectangle 5"/>
            <p:cNvSpPr>
              <a:spLocks noChangeArrowheads="1"/>
            </p:cNvSpPr>
            <p:nvPr/>
          </p:nvSpPr>
          <p:spPr bwMode="auto">
            <a:xfrm>
              <a:off x="3352" y="1328"/>
              <a:ext cx="2008" cy="1920"/>
            </a:xfrm>
            <a:prstGeom prst="rect">
              <a:avLst/>
            </a:prstGeom>
            <a:gradFill rotWithShape="1">
              <a:gsLst>
                <a:gs pos="0">
                  <a:schemeClr val="bg1">
                    <a:alpha val="0"/>
                  </a:schemeClr>
                </a:gs>
                <a:gs pos="100000">
                  <a:srgbClr val="C0C0C0"/>
                </a:gs>
              </a:gsLst>
              <a:lin ang="5400000" scaled="1"/>
            </a:gra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grpSp>
      <p:grpSp>
        <p:nvGrpSpPr>
          <p:cNvPr id="38916" name="Group 6"/>
          <p:cNvGrpSpPr>
            <a:grpSpLocks/>
          </p:cNvGrpSpPr>
          <p:nvPr/>
        </p:nvGrpSpPr>
        <p:grpSpPr bwMode="auto">
          <a:xfrm>
            <a:off x="1538288" y="2574925"/>
            <a:ext cx="2479675" cy="3216275"/>
            <a:chOff x="753" y="1328"/>
            <a:chExt cx="1322" cy="2026"/>
          </a:xfrm>
        </p:grpSpPr>
        <p:sp>
          <p:nvSpPr>
            <p:cNvPr id="38921" name="AutoShape 7"/>
            <p:cNvSpPr>
              <a:spLocks noChangeArrowheads="1"/>
            </p:cNvSpPr>
            <p:nvPr/>
          </p:nvSpPr>
          <p:spPr bwMode="auto">
            <a:xfrm>
              <a:off x="753" y="3136"/>
              <a:ext cx="1302" cy="218"/>
            </a:xfrm>
            <a:prstGeom prst="roundRect">
              <a:avLst>
                <a:gd name="adj" fmla="val 13611"/>
              </a:avLst>
            </a:prstGeom>
            <a:gradFill rotWithShape="0">
              <a:gsLst>
                <a:gs pos="0">
                  <a:srgbClr val="4D4D4D"/>
                </a:gs>
                <a:gs pos="100000">
                  <a:srgbClr val="FFFFFF">
                    <a:alpha val="0"/>
                  </a:srgbClr>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8922" name="Rectangle 8"/>
            <p:cNvSpPr>
              <a:spLocks noChangeArrowheads="1"/>
            </p:cNvSpPr>
            <p:nvPr/>
          </p:nvSpPr>
          <p:spPr bwMode="auto">
            <a:xfrm>
              <a:off x="773" y="1328"/>
              <a:ext cx="1302" cy="1920"/>
            </a:xfrm>
            <a:prstGeom prst="rect">
              <a:avLst/>
            </a:prstGeom>
            <a:gradFill rotWithShape="1">
              <a:gsLst>
                <a:gs pos="0">
                  <a:schemeClr val="bg1">
                    <a:alpha val="0"/>
                  </a:schemeClr>
                </a:gs>
                <a:gs pos="100000">
                  <a:srgbClr val="C0C0C0"/>
                </a:gs>
              </a:gsLst>
              <a:lin ang="5400000" scaled="1"/>
            </a:gra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grpSp>
      <p:sp>
        <p:nvSpPr>
          <p:cNvPr id="38917" name="Rectangle 9"/>
          <p:cNvSpPr>
            <a:spLocks noChangeArrowheads="1"/>
          </p:cNvSpPr>
          <p:nvPr/>
        </p:nvSpPr>
        <p:spPr bwMode="auto">
          <a:xfrm>
            <a:off x="1674813" y="2205038"/>
            <a:ext cx="2192337"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17961" dir="2700000" algn="ctr" rotWithShape="0">
                    <a:srgbClr val="000000"/>
                  </a:outerShdw>
                </a:effectLst>
              </a14:hiddenEffects>
            </a:ext>
          </a:extLst>
        </p:spPr>
        <p:txBody>
          <a:bodyPr lIns="90488" tIns="44450" rIns="90488" bIns="44450">
            <a:spAutoFit/>
          </a:bodyPr>
          <a:lstStyle/>
          <a:p>
            <a:pPr algn="ctr" eaLnBrk="0" hangingPunct="0">
              <a:buClr>
                <a:schemeClr val="hlink"/>
              </a:buClr>
              <a:buSzPct val="75000"/>
              <a:buFont typeface="Wingdings" pitchFamily="2" charset="2"/>
              <a:buNone/>
            </a:pPr>
            <a:r>
              <a:rPr lang="en-US" b="1" dirty="0">
                <a:solidFill>
                  <a:srgbClr val="800000"/>
                </a:solidFill>
              </a:rPr>
              <a:t>Collateral</a:t>
            </a:r>
          </a:p>
        </p:txBody>
      </p:sp>
      <p:sp>
        <p:nvSpPr>
          <p:cNvPr id="38918" name="Rectangle 10"/>
          <p:cNvSpPr>
            <a:spLocks noChangeArrowheads="1"/>
          </p:cNvSpPr>
          <p:nvPr/>
        </p:nvSpPr>
        <p:spPr bwMode="auto">
          <a:xfrm>
            <a:off x="1503363" y="2879725"/>
            <a:ext cx="2486025" cy="976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17961" dir="2700000" algn="ctr" rotWithShape="0">
                    <a:srgbClr val="000000"/>
                  </a:outerShdw>
                </a:effectLst>
              </a14:hiddenEffects>
            </a:ext>
          </a:extLst>
        </p:spPr>
        <p:txBody>
          <a:bodyPr lIns="90488" tIns="44450" rIns="90488" bIns="44450">
            <a:spAutoFit/>
          </a:bodyPr>
          <a:lstStyle/>
          <a:p>
            <a:pPr algn="ctr" eaLnBrk="0" hangingPunct="0">
              <a:lnSpc>
                <a:spcPct val="120000"/>
              </a:lnSpc>
              <a:buClr>
                <a:schemeClr val="hlink"/>
              </a:buClr>
              <a:buSzPct val="75000"/>
              <a:buFont typeface="Wingdings" pitchFamily="2" charset="2"/>
              <a:buNone/>
            </a:pPr>
            <a:r>
              <a:rPr lang="en-US" b="0" dirty="0" smtClean="0">
                <a:solidFill>
                  <a:schemeClr val="tx1"/>
                </a:solidFill>
              </a:rPr>
              <a:t>Cash and/or</a:t>
            </a:r>
            <a:endParaRPr lang="en-US" b="0" dirty="0">
              <a:solidFill>
                <a:schemeClr val="tx1"/>
              </a:solidFill>
            </a:endParaRPr>
          </a:p>
          <a:p>
            <a:pPr algn="ctr" eaLnBrk="0" hangingPunct="0">
              <a:lnSpc>
                <a:spcPct val="120000"/>
              </a:lnSpc>
              <a:buClr>
                <a:schemeClr val="hlink"/>
              </a:buClr>
              <a:buSzPct val="75000"/>
              <a:buFont typeface="Wingdings" pitchFamily="2" charset="2"/>
              <a:buNone/>
            </a:pPr>
            <a:r>
              <a:rPr lang="en-US" b="0" dirty="0">
                <a:solidFill>
                  <a:schemeClr val="tx1"/>
                </a:solidFill>
              </a:rPr>
              <a:t>Letters of credit</a:t>
            </a:r>
          </a:p>
        </p:txBody>
      </p:sp>
      <p:sp>
        <p:nvSpPr>
          <p:cNvPr id="38919" name="Rectangle 11"/>
          <p:cNvSpPr>
            <a:spLocks noChangeArrowheads="1"/>
          </p:cNvSpPr>
          <p:nvPr/>
        </p:nvSpPr>
        <p:spPr bwMode="auto">
          <a:xfrm>
            <a:off x="4375150" y="2205038"/>
            <a:ext cx="334010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17961" dir="2700000" algn="ctr" rotWithShape="0">
                    <a:srgbClr val="000000"/>
                  </a:outerShdw>
                </a:effectLst>
              </a14:hiddenEffects>
            </a:ext>
          </a:extLst>
        </p:spPr>
        <p:txBody>
          <a:bodyPr lIns="90488" tIns="44450" rIns="90488" bIns="44450">
            <a:spAutoFit/>
          </a:bodyPr>
          <a:lstStyle/>
          <a:p>
            <a:pPr algn="ctr" eaLnBrk="0" hangingPunct="0">
              <a:buClr>
                <a:schemeClr val="hlink"/>
              </a:buClr>
              <a:buSzPct val="75000"/>
              <a:buFont typeface="Wingdings" pitchFamily="2" charset="2"/>
              <a:buNone/>
            </a:pPr>
            <a:r>
              <a:rPr lang="en-US" b="1" dirty="0">
                <a:solidFill>
                  <a:srgbClr val="800000"/>
                </a:solidFill>
              </a:rPr>
              <a:t>Collateral Functions</a:t>
            </a:r>
          </a:p>
        </p:txBody>
      </p:sp>
      <p:sp>
        <p:nvSpPr>
          <p:cNvPr id="38920" name="Rectangle 12"/>
          <p:cNvSpPr>
            <a:spLocks noChangeArrowheads="1"/>
          </p:cNvSpPr>
          <p:nvPr/>
        </p:nvSpPr>
        <p:spPr bwMode="auto">
          <a:xfrm>
            <a:off x="4260850" y="2879725"/>
            <a:ext cx="3638550" cy="2544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17961" dir="2700000" algn="ctr" rotWithShape="0">
                    <a:srgbClr val="000000"/>
                  </a:outerShdw>
                </a:effectLst>
              </a14:hiddenEffects>
            </a:ext>
          </a:extLst>
        </p:spPr>
        <p:txBody>
          <a:bodyPr lIns="90488" tIns="44450" rIns="90488" bIns="44450">
            <a:spAutoFit/>
          </a:bodyPr>
          <a:lstStyle/>
          <a:p>
            <a:pPr algn="ctr"/>
            <a:r>
              <a:rPr lang="en-US" sz="2300" b="0" dirty="0">
                <a:solidFill>
                  <a:schemeClr val="tx1"/>
                </a:solidFill>
              </a:rPr>
              <a:t>Member to member obligations</a:t>
            </a:r>
            <a:br>
              <a:rPr lang="en-US" sz="2300" b="0" dirty="0">
                <a:solidFill>
                  <a:schemeClr val="tx1"/>
                </a:solidFill>
              </a:rPr>
            </a:br>
            <a:endParaRPr lang="en-US" sz="2300" b="0" dirty="0">
              <a:solidFill>
                <a:schemeClr val="tx1"/>
              </a:solidFill>
            </a:endParaRPr>
          </a:p>
          <a:p>
            <a:pPr algn="ctr"/>
            <a:r>
              <a:rPr lang="en-US" sz="2300" b="0" dirty="0">
                <a:solidFill>
                  <a:schemeClr val="tx1"/>
                </a:solidFill>
              </a:rPr>
              <a:t>Capitalizes the captive</a:t>
            </a:r>
            <a:br>
              <a:rPr lang="en-US" sz="2300" b="0" dirty="0">
                <a:solidFill>
                  <a:schemeClr val="tx1"/>
                </a:solidFill>
              </a:rPr>
            </a:br>
            <a:endParaRPr lang="en-US" sz="2300" b="0" dirty="0">
              <a:solidFill>
                <a:schemeClr val="tx1"/>
              </a:solidFill>
            </a:endParaRPr>
          </a:p>
          <a:p>
            <a:pPr algn="ctr"/>
            <a:r>
              <a:rPr lang="en-US" sz="2300" b="0" dirty="0">
                <a:solidFill>
                  <a:schemeClr val="tx1"/>
                </a:solidFill>
              </a:rPr>
              <a:t>Collateralize policy-</a:t>
            </a:r>
            <a:br>
              <a:rPr lang="en-US" sz="2300" b="0" dirty="0">
                <a:solidFill>
                  <a:schemeClr val="tx1"/>
                </a:solidFill>
              </a:rPr>
            </a:br>
            <a:r>
              <a:rPr lang="en-US" sz="2300" b="0" dirty="0">
                <a:solidFill>
                  <a:schemeClr val="tx1"/>
                </a:solidFill>
              </a:rPr>
              <a:t>issuing </a:t>
            </a:r>
            <a:r>
              <a:rPr lang="en-US" sz="2300" dirty="0" smtClean="0">
                <a:solidFill>
                  <a:schemeClr val="tx1"/>
                </a:solidFill>
              </a:rPr>
              <a:t>insurer</a:t>
            </a:r>
            <a:endParaRPr lang="en-US" sz="2300" b="0" dirty="0">
              <a:solidFill>
                <a:schemeClr val="tx1"/>
              </a:solidFill>
            </a:endParaRPr>
          </a:p>
        </p:txBody>
      </p:sp>
      <p:sp>
        <p:nvSpPr>
          <p:cNvPr id="14"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24</a:t>
            </a:fld>
            <a:endParaRPr lang="en-US" dirty="0"/>
          </a:p>
        </p:txBody>
      </p:sp>
    </p:spTree>
    <p:extLst>
      <p:ext uri="{BB962C8B-B14F-4D97-AF65-F5344CB8AC3E}">
        <p14:creationId xmlns:p14="http://schemas.microsoft.com/office/powerpoint/2010/main" val="21672718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940" name="Group 4"/>
          <p:cNvGrpSpPr>
            <a:grpSpLocks/>
          </p:cNvGrpSpPr>
          <p:nvPr/>
        </p:nvGrpSpPr>
        <p:grpSpPr bwMode="auto">
          <a:xfrm>
            <a:off x="3597276" y="2223835"/>
            <a:ext cx="2328863" cy="2592388"/>
            <a:chOff x="2062" y="1586"/>
            <a:chExt cx="1467" cy="1633"/>
          </a:xfrm>
        </p:grpSpPr>
        <p:sp>
          <p:nvSpPr>
            <p:cNvPr id="39961" name="Text Box 8"/>
            <p:cNvSpPr txBox="1">
              <a:spLocks noChangeArrowheads="1"/>
            </p:cNvSpPr>
            <p:nvPr/>
          </p:nvSpPr>
          <p:spPr bwMode="auto">
            <a:xfrm>
              <a:off x="2466"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2</a:t>
              </a:r>
            </a:p>
          </p:txBody>
        </p:sp>
        <p:sp>
          <p:nvSpPr>
            <p:cNvPr id="39957" name="Freeform 9"/>
            <p:cNvSpPr>
              <a:spLocks/>
            </p:cNvSpPr>
            <p:nvPr/>
          </p:nvSpPr>
          <p:spPr bwMode="auto">
            <a:xfrm>
              <a:off x="2525"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sp>
          <p:nvSpPr>
            <p:cNvPr id="39958" name="Rectangle 10"/>
            <p:cNvSpPr>
              <a:spLocks noChangeArrowheads="1"/>
            </p:cNvSpPr>
            <p:nvPr/>
          </p:nvSpPr>
          <p:spPr bwMode="auto">
            <a:xfrm>
              <a:off x="2062" y="2696"/>
              <a:ext cx="1467" cy="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2</a:t>
              </a:r>
              <a:r>
                <a:rPr lang="en-US" b="0" baseline="30000" dirty="0">
                  <a:solidFill>
                    <a:schemeClr val="tx1"/>
                  </a:solidFill>
                  <a:latin typeface="+mn-lt"/>
                </a:rPr>
                <a:t>nd</a:t>
              </a:r>
              <a:r>
                <a:rPr lang="en-US" b="0" dirty="0">
                  <a:solidFill>
                    <a:schemeClr val="tx1"/>
                  </a:solidFill>
                  <a:latin typeface="+mn-lt"/>
                </a:rPr>
                <a:t> year</a:t>
              </a:r>
            </a:p>
          </p:txBody>
        </p:sp>
      </p:grpSp>
      <p:grpSp>
        <p:nvGrpSpPr>
          <p:cNvPr id="39942" name="Group 12"/>
          <p:cNvGrpSpPr>
            <a:grpSpLocks/>
          </p:cNvGrpSpPr>
          <p:nvPr/>
        </p:nvGrpSpPr>
        <p:grpSpPr bwMode="auto">
          <a:xfrm>
            <a:off x="990600" y="2223835"/>
            <a:ext cx="2260601" cy="2592388"/>
            <a:chOff x="420" y="1586"/>
            <a:chExt cx="1424" cy="1633"/>
          </a:xfrm>
        </p:grpSpPr>
        <p:sp>
          <p:nvSpPr>
            <p:cNvPr id="39955" name="Text Box 16"/>
            <p:cNvSpPr txBox="1">
              <a:spLocks noChangeArrowheads="1"/>
            </p:cNvSpPr>
            <p:nvPr/>
          </p:nvSpPr>
          <p:spPr bwMode="auto">
            <a:xfrm>
              <a:off x="790"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1</a:t>
              </a:r>
            </a:p>
          </p:txBody>
        </p:sp>
        <p:sp>
          <p:nvSpPr>
            <p:cNvPr id="39951" name="Rectangle 17"/>
            <p:cNvSpPr>
              <a:spLocks noChangeArrowheads="1"/>
            </p:cNvSpPr>
            <p:nvPr/>
          </p:nvSpPr>
          <p:spPr bwMode="auto">
            <a:xfrm>
              <a:off x="420" y="2696"/>
              <a:ext cx="1424" cy="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1</a:t>
              </a:r>
              <a:r>
                <a:rPr lang="en-US" b="0" baseline="30000" dirty="0">
                  <a:solidFill>
                    <a:schemeClr val="tx1"/>
                  </a:solidFill>
                  <a:latin typeface="+mn-lt"/>
                </a:rPr>
                <a:t>st</a:t>
              </a:r>
              <a:r>
                <a:rPr lang="en-US" b="0" dirty="0">
                  <a:solidFill>
                    <a:schemeClr val="tx1"/>
                  </a:solidFill>
                  <a:latin typeface="+mn-lt"/>
                </a:rPr>
                <a:t> year</a:t>
              </a:r>
            </a:p>
          </p:txBody>
        </p:sp>
        <p:sp>
          <p:nvSpPr>
            <p:cNvPr id="39952" name="Freeform 18"/>
            <p:cNvSpPr>
              <a:spLocks/>
            </p:cNvSpPr>
            <p:nvPr/>
          </p:nvSpPr>
          <p:spPr bwMode="auto">
            <a:xfrm>
              <a:off x="853"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grpSp>
      <p:grpSp>
        <p:nvGrpSpPr>
          <p:cNvPr id="39943" name="Group 19"/>
          <p:cNvGrpSpPr>
            <a:grpSpLocks/>
          </p:cNvGrpSpPr>
          <p:nvPr/>
        </p:nvGrpSpPr>
        <p:grpSpPr bwMode="auto">
          <a:xfrm>
            <a:off x="6275384" y="2223835"/>
            <a:ext cx="2284411" cy="2592388"/>
            <a:chOff x="3749" y="1586"/>
            <a:chExt cx="1439" cy="1633"/>
          </a:xfrm>
        </p:grpSpPr>
        <p:sp>
          <p:nvSpPr>
            <p:cNvPr id="39945" name="Text Box 23"/>
            <p:cNvSpPr txBox="1">
              <a:spLocks noChangeArrowheads="1"/>
            </p:cNvSpPr>
            <p:nvPr/>
          </p:nvSpPr>
          <p:spPr bwMode="auto">
            <a:xfrm>
              <a:off x="4142"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3</a:t>
              </a:r>
            </a:p>
          </p:txBody>
        </p:sp>
        <p:sp>
          <p:nvSpPr>
            <p:cNvPr id="39946" name="Rectangle 24"/>
            <p:cNvSpPr>
              <a:spLocks noChangeArrowheads="1"/>
            </p:cNvSpPr>
            <p:nvPr/>
          </p:nvSpPr>
          <p:spPr bwMode="auto">
            <a:xfrm>
              <a:off x="3749" y="2696"/>
              <a:ext cx="1439" cy="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3</a:t>
              </a:r>
              <a:r>
                <a:rPr lang="en-US" b="0" baseline="30000" dirty="0">
                  <a:solidFill>
                    <a:schemeClr val="tx1"/>
                  </a:solidFill>
                  <a:latin typeface="+mn-lt"/>
                </a:rPr>
                <a:t>rd</a:t>
              </a:r>
              <a:r>
                <a:rPr lang="en-US" b="0" dirty="0">
                  <a:solidFill>
                    <a:schemeClr val="tx1"/>
                  </a:solidFill>
                  <a:latin typeface="+mn-lt"/>
                </a:rPr>
                <a:t> year</a:t>
              </a:r>
            </a:p>
          </p:txBody>
        </p:sp>
        <p:sp>
          <p:nvSpPr>
            <p:cNvPr id="39947" name="Freeform 25"/>
            <p:cNvSpPr>
              <a:spLocks/>
            </p:cNvSpPr>
            <p:nvPr/>
          </p:nvSpPr>
          <p:spPr bwMode="auto">
            <a:xfrm>
              <a:off x="4205"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grpSp>
      <p:sp>
        <p:nvSpPr>
          <p:cNvPr id="3" name="Title 2"/>
          <p:cNvSpPr>
            <a:spLocks noGrp="1"/>
          </p:cNvSpPr>
          <p:nvPr>
            <p:ph type="title"/>
          </p:nvPr>
        </p:nvSpPr>
        <p:spPr/>
        <p:txBody>
          <a:bodyPr/>
          <a:lstStyle/>
          <a:p>
            <a:r>
              <a:rPr lang="en-US" dirty="0" smtClean="0"/>
              <a:t>Collateral Requirements</a:t>
            </a:r>
            <a:endParaRPr lang="en-US" dirty="0"/>
          </a:p>
        </p:txBody>
      </p:sp>
      <p:sp>
        <p:nvSpPr>
          <p:cNvPr id="17" name="Rectangle 11"/>
          <p:cNvSpPr>
            <a:spLocks noChangeArrowheads="1"/>
          </p:cNvSpPr>
          <p:nvPr/>
        </p:nvSpPr>
        <p:spPr bwMode="auto">
          <a:xfrm>
            <a:off x="0" y="5634315"/>
            <a:ext cx="9144000" cy="4003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ct val="70000"/>
              </a:lnSpc>
              <a:spcBef>
                <a:spcPct val="50000"/>
              </a:spcBef>
              <a:buSzPct val="75000"/>
              <a:buFont typeface="Times" pitchFamily="18" charset="0"/>
              <a:buNone/>
            </a:pPr>
            <a:r>
              <a:rPr lang="en-US" sz="2800" b="0" dirty="0">
                <a:solidFill>
                  <a:schemeClr val="tx1"/>
                </a:solidFill>
                <a:latin typeface="+mn-lt"/>
              </a:rPr>
              <a:t>Total = 2 X average A </a:t>
            </a:r>
            <a:r>
              <a:rPr lang="en-US" sz="2800" b="0" dirty="0" smtClean="0">
                <a:solidFill>
                  <a:schemeClr val="tx1"/>
                </a:solidFill>
                <a:latin typeface="+mn-lt"/>
              </a:rPr>
              <a:t>Fund</a:t>
            </a:r>
            <a:endParaRPr lang="en-US" sz="2800" b="1" dirty="0">
              <a:solidFill>
                <a:schemeClr val="tx1"/>
              </a:solidFill>
              <a:latin typeface="+mn-lt"/>
            </a:endParaRPr>
          </a:p>
        </p:txBody>
      </p:sp>
      <p:sp>
        <p:nvSpPr>
          <p:cNvPr id="18"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25</a:t>
            </a:fld>
            <a:endParaRPr lang="en-US" dirty="0"/>
          </a:p>
        </p:txBody>
      </p:sp>
    </p:spTree>
    <p:extLst>
      <p:ext uri="{BB962C8B-B14F-4D97-AF65-F5344CB8AC3E}">
        <p14:creationId xmlns:p14="http://schemas.microsoft.com/office/powerpoint/2010/main" val="184147414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940" name="Group 4"/>
          <p:cNvGrpSpPr>
            <a:grpSpLocks/>
          </p:cNvGrpSpPr>
          <p:nvPr/>
        </p:nvGrpSpPr>
        <p:grpSpPr bwMode="auto">
          <a:xfrm>
            <a:off x="3597276" y="2223835"/>
            <a:ext cx="2328863" cy="3116264"/>
            <a:chOff x="2062" y="1586"/>
            <a:chExt cx="1467" cy="1963"/>
          </a:xfrm>
        </p:grpSpPr>
        <p:sp>
          <p:nvSpPr>
            <p:cNvPr id="39961" name="Text Box 8"/>
            <p:cNvSpPr txBox="1">
              <a:spLocks noChangeArrowheads="1"/>
            </p:cNvSpPr>
            <p:nvPr/>
          </p:nvSpPr>
          <p:spPr bwMode="auto">
            <a:xfrm>
              <a:off x="2466"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2</a:t>
              </a:r>
            </a:p>
          </p:txBody>
        </p:sp>
        <p:sp>
          <p:nvSpPr>
            <p:cNvPr id="39957" name="Freeform 9"/>
            <p:cNvSpPr>
              <a:spLocks/>
            </p:cNvSpPr>
            <p:nvPr/>
          </p:nvSpPr>
          <p:spPr bwMode="auto">
            <a:xfrm>
              <a:off x="2525"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sp>
          <p:nvSpPr>
            <p:cNvPr id="39958" name="Rectangle 10"/>
            <p:cNvSpPr>
              <a:spLocks noChangeArrowheads="1"/>
            </p:cNvSpPr>
            <p:nvPr/>
          </p:nvSpPr>
          <p:spPr bwMode="auto">
            <a:xfrm>
              <a:off x="2062" y="2696"/>
              <a:ext cx="1467" cy="8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2</a:t>
              </a:r>
              <a:r>
                <a:rPr lang="en-US" b="0" baseline="30000" dirty="0">
                  <a:solidFill>
                    <a:schemeClr val="tx1"/>
                  </a:solidFill>
                  <a:latin typeface="+mn-lt"/>
                </a:rPr>
                <a:t>nd</a:t>
              </a:r>
              <a:r>
                <a:rPr lang="en-US" b="0" dirty="0">
                  <a:solidFill>
                    <a:schemeClr val="tx1"/>
                  </a:solidFill>
                  <a:latin typeface="+mn-lt"/>
                </a:rPr>
                <a:t> </a:t>
              </a:r>
              <a:r>
                <a:rPr lang="en-US" b="0" dirty="0" smtClean="0">
                  <a:solidFill>
                    <a:schemeClr val="tx1"/>
                  </a:solidFill>
                  <a:latin typeface="+mn-lt"/>
                </a:rPr>
                <a:t>year</a:t>
              </a:r>
            </a:p>
            <a:p>
              <a:pPr algn="ctr">
                <a:spcBef>
                  <a:spcPts val="1200"/>
                </a:spcBef>
              </a:pPr>
              <a:r>
                <a:rPr lang="en-US" b="1" dirty="0" smtClean="0">
                  <a:solidFill>
                    <a:schemeClr val="tx1"/>
                  </a:solidFill>
                  <a:latin typeface="+mn-lt"/>
                </a:rPr>
                <a:t>$100,000</a:t>
              </a:r>
              <a:endParaRPr lang="en-US" b="1" dirty="0">
                <a:solidFill>
                  <a:schemeClr val="tx1"/>
                </a:solidFill>
                <a:latin typeface="+mn-lt"/>
              </a:endParaRPr>
            </a:p>
          </p:txBody>
        </p:sp>
      </p:grpSp>
      <p:sp>
        <p:nvSpPr>
          <p:cNvPr id="39941" name="Rectangle 11"/>
          <p:cNvSpPr>
            <a:spLocks noChangeArrowheads="1"/>
          </p:cNvSpPr>
          <p:nvPr/>
        </p:nvSpPr>
        <p:spPr bwMode="auto">
          <a:xfrm>
            <a:off x="0" y="5634315"/>
            <a:ext cx="9144000" cy="4003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ct val="70000"/>
              </a:lnSpc>
              <a:spcBef>
                <a:spcPct val="50000"/>
              </a:spcBef>
              <a:buSzPct val="75000"/>
              <a:buFont typeface="Times" pitchFamily="18" charset="0"/>
              <a:buNone/>
            </a:pPr>
            <a:r>
              <a:rPr lang="en-US" sz="2800" b="0" dirty="0">
                <a:solidFill>
                  <a:schemeClr val="tx1"/>
                </a:solidFill>
                <a:latin typeface="+mn-lt"/>
              </a:rPr>
              <a:t>Total = 2 X average A </a:t>
            </a:r>
            <a:r>
              <a:rPr lang="en-US" sz="2800" b="0" dirty="0" smtClean="0">
                <a:solidFill>
                  <a:schemeClr val="tx1"/>
                </a:solidFill>
                <a:latin typeface="+mn-lt"/>
              </a:rPr>
              <a:t>Fund = </a:t>
            </a:r>
            <a:r>
              <a:rPr lang="en-US" sz="2800" b="1" dirty="0" smtClean="0">
                <a:solidFill>
                  <a:schemeClr val="tx1"/>
                </a:solidFill>
                <a:latin typeface="+mn-lt"/>
              </a:rPr>
              <a:t>$300,000</a:t>
            </a:r>
            <a:endParaRPr lang="en-US" sz="2800" b="1" dirty="0">
              <a:solidFill>
                <a:schemeClr val="tx1"/>
              </a:solidFill>
              <a:latin typeface="+mn-lt"/>
            </a:endParaRPr>
          </a:p>
        </p:txBody>
      </p:sp>
      <p:grpSp>
        <p:nvGrpSpPr>
          <p:cNvPr id="39942" name="Group 12"/>
          <p:cNvGrpSpPr>
            <a:grpSpLocks/>
          </p:cNvGrpSpPr>
          <p:nvPr/>
        </p:nvGrpSpPr>
        <p:grpSpPr bwMode="auto">
          <a:xfrm>
            <a:off x="990600" y="2223835"/>
            <a:ext cx="2260601" cy="3116264"/>
            <a:chOff x="420" y="1586"/>
            <a:chExt cx="1424" cy="1963"/>
          </a:xfrm>
        </p:grpSpPr>
        <p:sp>
          <p:nvSpPr>
            <p:cNvPr id="39955" name="Text Box 16"/>
            <p:cNvSpPr txBox="1">
              <a:spLocks noChangeArrowheads="1"/>
            </p:cNvSpPr>
            <p:nvPr/>
          </p:nvSpPr>
          <p:spPr bwMode="auto">
            <a:xfrm>
              <a:off x="790"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1</a:t>
              </a:r>
            </a:p>
          </p:txBody>
        </p:sp>
        <p:sp>
          <p:nvSpPr>
            <p:cNvPr id="39951" name="Rectangle 17"/>
            <p:cNvSpPr>
              <a:spLocks noChangeArrowheads="1"/>
            </p:cNvSpPr>
            <p:nvPr/>
          </p:nvSpPr>
          <p:spPr bwMode="auto">
            <a:xfrm>
              <a:off x="420" y="2696"/>
              <a:ext cx="1424" cy="8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1</a:t>
              </a:r>
              <a:r>
                <a:rPr lang="en-US" b="0" baseline="30000" dirty="0">
                  <a:solidFill>
                    <a:schemeClr val="tx1"/>
                  </a:solidFill>
                  <a:latin typeface="+mn-lt"/>
                </a:rPr>
                <a:t>st</a:t>
              </a:r>
              <a:r>
                <a:rPr lang="en-US" b="0" dirty="0">
                  <a:solidFill>
                    <a:schemeClr val="tx1"/>
                  </a:solidFill>
                  <a:latin typeface="+mn-lt"/>
                </a:rPr>
                <a:t> </a:t>
              </a:r>
              <a:r>
                <a:rPr lang="en-US" b="0" dirty="0" smtClean="0">
                  <a:solidFill>
                    <a:schemeClr val="tx1"/>
                  </a:solidFill>
                  <a:latin typeface="+mn-lt"/>
                </a:rPr>
                <a:t>year</a:t>
              </a:r>
            </a:p>
            <a:p>
              <a:pPr algn="ctr">
                <a:spcBef>
                  <a:spcPts val="1200"/>
                </a:spcBef>
              </a:pPr>
              <a:r>
                <a:rPr lang="en-US" b="1" dirty="0" smtClean="0">
                  <a:solidFill>
                    <a:schemeClr val="tx1"/>
                  </a:solidFill>
                  <a:latin typeface="+mn-lt"/>
                </a:rPr>
                <a:t>$100,000</a:t>
              </a:r>
              <a:endParaRPr lang="en-US" b="1" dirty="0">
                <a:solidFill>
                  <a:schemeClr val="tx1"/>
                </a:solidFill>
                <a:latin typeface="+mn-lt"/>
              </a:endParaRPr>
            </a:p>
          </p:txBody>
        </p:sp>
        <p:sp>
          <p:nvSpPr>
            <p:cNvPr id="39952" name="Freeform 18"/>
            <p:cNvSpPr>
              <a:spLocks/>
            </p:cNvSpPr>
            <p:nvPr/>
          </p:nvSpPr>
          <p:spPr bwMode="auto">
            <a:xfrm>
              <a:off x="853"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grpSp>
      <p:grpSp>
        <p:nvGrpSpPr>
          <p:cNvPr id="39943" name="Group 19"/>
          <p:cNvGrpSpPr>
            <a:grpSpLocks/>
          </p:cNvGrpSpPr>
          <p:nvPr/>
        </p:nvGrpSpPr>
        <p:grpSpPr bwMode="auto">
          <a:xfrm>
            <a:off x="6275384" y="2223835"/>
            <a:ext cx="2284411" cy="3116264"/>
            <a:chOff x="3749" y="1586"/>
            <a:chExt cx="1439" cy="1963"/>
          </a:xfrm>
        </p:grpSpPr>
        <p:sp>
          <p:nvSpPr>
            <p:cNvPr id="39945" name="Text Box 23"/>
            <p:cNvSpPr txBox="1">
              <a:spLocks noChangeArrowheads="1"/>
            </p:cNvSpPr>
            <p:nvPr/>
          </p:nvSpPr>
          <p:spPr bwMode="auto">
            <a:xfrm>
              <a:off x="4142" y="1586"/>
              <a:ext cx="688" cy="29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sz="2400" b="1">
                  <a:solidFill>
                    <a:schemeClr val="tx1"/>
                  </a:solidFill>
                  <a:latin typeface="Times New Roman" pitchFamily="18" charset="0"/>
                </a:defRPr>
              </a:lvl1pPr>
              <a:lvl2pPr marL="742950" indent="-285750" eaLnBrk="0" hangingPunct="0">
                <a:defRPr sz="2400" b="1">
                  <a:solidFill>
                    <a:schemeClr val="tx1"/>
                  </a:solidFill>
                  <a:latin typeface="Times New Roman" pitchFamily="18" charset="0"/>
                </a:defRPr>
              </a:lvl2pPr>
              <a:lvl3pPr marL="1143000" indent="-228600" eaLnBrk="0" hangingPunct="0">
                <a:defRPr sz="2400" b="1">
                  <a:solidFill>
                    <a:schemeClr val="tx1"/>
                  </a:solidFill>
                  <a:latin typeface="Times New Roman" pitchFamily="18" charset="0"/>
                </a:defRPr>
              </a:lvl3pPr>
              <a:lvl4pPr marL="1600200" indent="-228600" eaLnBrk="0" hangingPunct="0">
                <a:defRPr sz="2400" b="1">
                  <a:solidFill>
                    <a:schemeClr val="tx1"/>
                  </a:solidFill>
                  <a:latin typeface="Times New Roman" pitchFamily="18" charset="0"/>
                </a:defRPr>
              </a:lvl4pPr>
              <a:lvl5pPr marL="2057400" indent="-228600" eaLnBrk="0" hangingPunct="0">
                <a:defRPr sz="2400" b="1">
                  <a:solidFill>
                    <a:schemeClr val="tx1"/>
                  </a:solidFill>
                  <a:latin typeface="Times New Roman" pitchFamily="18" charset="0"/>
                </a:defRPr>
              </a:lvl5pPr>
              <a:lvl6pPr marL="2514600" indent="-228600" eaLnBrk="0" fontAlgn="base" hangingPunct="0">
                <a:spcBef>
                  <a:spcPct val="0"/>
                </a:spcBef>
                <a:spcAft>
                  <a:spcPct val="0"/>
                </a:spcAft>
                <a:defRPr sz="2400" b="1">
                  <a:solidFill>
                    <a:schemeClr val="tx1"/>
                  </a:solidFill>
                  <a:latin typeface="Times New Roman" pitchFamily="18" charset="0"/>
                </a:defRPr>
              </a:lvl6pPr>
              <a:lvl7pPr marL="2971800" indent="-228600" eaLnBrk="0" fontAlgn="base" hangingPunct="0">
                <a:spcBef>
                  <a:spcPct val="0"/>
                </a:spcBef>
                <a:spcAft>
                  <a:spcPct val="0"/>
                </a:spcAft>
                <a:defRPr sz="2400" b="1">
                  <a:solidFill>
                    <a:schemeClr val="tx1"/>
                  </a:solidFill>
                  <a:latin typeface="Times New Roman" pitchFamily="18" charset="0"/>
                </a:defRPr>
              </a:lvl7pPr>
              <a:lvl8pPr marL="3429000" indent="-228600" eaLnBrk="0" fontAlgn="base" hangingPunct="0">
                <a:spcBef>
                  <a:spcPct val="0"/>
                </a:spcBef>
                <a:spcAft>
                  <a:spcPct val="0"/>
                </a:spcAft>
                <a:defRPr sz="2400" b="1">
                  <a:solidFill>
                    <a:schemeClr val="tx1"/>
                  </a:solidFill>
                  <a:latin typeface="Times New Roman" pitchFamily="18" charset="0"/>
                </a:defRPr>
              </a:lvl8pPr>
              <a:lvl9pPr marL="3886200" indent="-228600" eaLnBrk="0" fontAlgn="base" hangingPunct="0">
                <a:spcBef>
                  <a:spcPct val="0"/>
                </a:spcBef>
                <a:spcAft>
                  <a:spcPct val="0"/>
                </a:spcAft>
                <a:defRPr sz="2400" b="1">
                  <a:solidFill>
                    <a:schemeClr val="tx1"/>
                  </a:solidFill>
                  <a:latin typeface="Times New Roman" pitchFamily="18" charset="0"/>
                </a:defRPr>
              </a:lvl9pPr>
            </a:lstStyle>
            <a:p>
              <a:pPr eaLnBrk="1" hangingPunct="1"/>
              <a:r>
                <a:rPr lang="en-US" dirty="0">
                  <a:latin typeface="+mn-lt"/>
                </a:rPr>
                <a:t>Year 3</a:t>
              </a:r>
            </a:p>
          </p:txBody>
        </p:sp>
        <p:sp>
          <p:nvSpPr>
            <p:cNvPr id="39946" name="Rectangle 24"/>
            <p:cNvSpPr>
              <a:spLocks noChangeArrowheads="1"/>
            </p:cNvSpPr>
            <p:nvPr/>
          </p:nvSpPr>
          <p:spPr bwMode="auto">
            <a:xfrm>
              <a:off x="3749" y="2696"/>
              <a:ext cx="1439" cy="8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b="1" dirty="0">
                  <a:solidFill>
                    <a:srgbClr val="800000"/>
                  </a:solidFill>
                  <a:latin typeface="+mn-lt"/>
                </a:rPr>
                <a:t>2/3</a:t>
              </a:r>
              <a:r>
                <a:rPr lang="en-US" b="1" baseline="30000" dirty="0">
                  <a:solidFill>
                    <a:srgbClr val="800000"/>
                  </a:solidFill>
                  <a:latin typeface="+mn-lt"/>
                </a:rPr>
                <a:t>rd</a:t>
              </a:r>
              <a:r>
                <a:rPr lang="en-US" b="1" dirty="0">
                  <a:solidFill>
                    <a:srgbClr val="800000"/>
                  </a:solidFill>
                  <a:latin typeface="+mn-lt"/>
                </a:rPr>
                <a:t>’s</a:t>
              </a:r>
              <a:r>
                <a:rPr lang="en-US" b="0" dirty="0">
                  <a:solidFill>
                    <a:schemeClr val="tx1"/>
                  </a:solidFill>
                  <a:latin typeface="+mn-lt"/>
                </a:rPr>
                <a:t> of </a:t>
              </a:r>
              <a:br>
                <a:rPr lang="en-US" b="0" dirty="0">
                  <a:solidFill>
                    <a:schemeClr val="tx1"/>
                  </a:solidFill>
                  <a:latin typeface="+mn-lt"/>
                </a:rPr>
              </a:br>
              <a:r>
                <a:rPr lang="en-US" b="0" dirty="0">
                  <a:solidFill>
                    <a:schemeClr val="tx1"/>
                  </a:solidFill>
                  <a:latin typeface="+mn-lt"/>
                </a:rPr>
                <a:t>A Fund 3</a:t>
              </a:r>
              <a:r>
                <a:rPr lang="en-US" b="0" baseline="30000" dirty="0">
                  <a:solidFill>
                    <a:schemeClr val="tx1"/>
                  </a:solidFill>
                  <a:latin typeface="+mn-lt"/>
                </a:rPr>
                <a:t>rd</a:t>
              </a:r>
              <a:r>
                <a:rPr lang="en-US" b="0" dirty="0">
                  <a:solidFill>
                    <a:schemeClr val="tx1"/>
                  </a:solidFill>
                  <a:latin typeface="+mn-lt"/>
                </a:rPr>
                <a:t> </a:t>
              </a:r>
              <a:r>
                <a:rPr lang="en-US" b="0" dirty="0" smtClean="0">
                  <a:solidFill>
                    <a:schemeClr val="tx1"/>
                  </a:solidFill>
                  <a:latin typeface="+mn-lt"/>
                </a:rPr>
                <a:t>year</a:t>
              </a:r>
            </a:p>
            <a:p>
              <a:pPr algn="ctr">
                <a:spcBef>
                  <a:spcPts val="1200"/>
                </a:spcBef>
              </a:pPr>
              <a:r>
                <a:rPr lang="en-US" b="1" dirty="0" smtClean="0">
                  <a:solidFill>
                    <a:schemeClr val="tx1"/>
                  </a:solidFill>
                  <a:latin typeface="+mn-lt"/>
                </a:rPr>
                <a:t>$100,000</a:t>
              </a:r>
              <a:endParaRPr lang="en-US" b="1" dirty="0">
                <a:solidFill>
                  <a:schemeClr val="tx1"/>
                </a:solidFill>
                <a:latin typeface="+mn-lt"/>
              </a:endParaRPr>
            </a:p>
          </p:txBody>
        </p:sp>
        <p:sp>
          <p:nvSpPr>
            <p:cNvPr id="39947" name="Freeform 25"/>
            <p:cNvSpPr>
              <a:spLocks/>
            </p:cNvSpPr>
            <p:nvPr/>
          </p:nvSpPr>
          <p:spPr bwMode="auto">
            <a:xfrm>
              <a:off x="4205" y="2026"/>
              <a:ext cx="514" cy="552"/>
            </a:xfrm>
            <a:custGeom>
              <a:avLst/>
              <a:gdLst>
                <a:gd name="T0" fmla="*/ 1762397 w 324"/>
                <a:gd name="T1" fmla="*/ 0 h 348"/>
                <a:gd name="T2" fmla="*/ 0 w 324"/>
                <a:gd name="T3" fmla="*/ 1756594 h 348"/>
                <a:gd name="T4" fmla="*/ 1775448 w 324"/>
                <a:gd name="T5" fmla="*/ 3542189 h 348"/>
                <a:gd name="T6" fmla="*/ 3301106 w 324"/>
                <a:gd name="T7" fmla="*/ 2641580 h 348"/>
                <a:gd name="T8" fmla="*/ 1775448 w 324"/>
                <a:gd name="T9" fmla="*/ 1770418 h 348"/>
                <a:gd name="T10" fmla="*/ 1762397 w 324"/>
                <a:gd name="T11" fmla="*/ 0 h 3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24" h="348">
                  <a:moveTo>
                    <a:pt x="173" y="0"/>
                  </a:moveTo>
                  <a:cubicBezTo>
                    <a:pt x="77" y="0"/>
                    <a:pt x="0" y="77"/>
                    <a:pt x="0" y="173"/>
                  </a:cubicBezTo>
                  <a:cubicBezTo>
                    <a:pt x="0" y="270"/>
                    <a:pt x="77" y="348"/>
                    <a:pt x="174" y="348"/>
                  </a:cubicBezTo>
                  <a:cubicBezTo>
                    <a:pt x="236" y="347"/>
                    <a:pt x="293" y="314"/>
                    <a:pt x="324" y="260"/>
                  </a:cubicBezTo>
                  <a:lnTo>
                    <a:pt x="174" y="174"/>
                  </a:lnTo>
                  <a:lnTo>
                    <a:pt x="173" y="0"/>
                  </a:lnTo>
                  <a:close/>
                </a:path>
              </a:pathLst>
            </a:custGeom>
            <a:solidFill>
              <a:srgbClr val="800000"/>
            </a:solidFill>
            <a:ln>
              <a:noFill/>
            </a:ln>
            <a:extLst>
              <a:ext uri="{91240B29-F687-4F45-9708-019B960494DF}">
                <a14:hiddenLine xmlns:a14="http://schemas.microsoft.com/office/drawing/2010/main" w="9525">
                  <a:solidFill>
                    <a:srgbClr val="000000"/>
                  </a:solidFill>
                  <a:prstDash val="solid"/>
                  <a:round/>
                  <a:headEnd/>
                  <a:tailEnd/>
                </a14:hiddenLine>
              </a:ext>
            </a:extLst>
          </p:spPr>
          <p:txBody>
            <a:bodyPr/>
            <a:lstStyle/>
            <a:p>
              <a:endParaRPr lang="en-US" dirty="0">
                <a:solidFill>
                  <a:schemeClr val="tx1"/>
                </a:solidFill>
                <a:latin typeface="+mn-lt"/>
              </a:endParaRPr>
            </a:p>
          </p:txBody>
        </p:sp>
      </p:grpSp>
      <p:sp>
        <p:nvSpPr>
          <p:cNvPr id="3" name="Title 2"/>
          <p:cNvSpPr>
            <a:spLocks noGrp="1"/>
          </p:cNvSpPr>
          <p:nvPr>
            <p:ph type="title"/>
          </p:nvPr>
        </p:nvSpPr>
        <p:spPr/>
        <p:txBody>
          <a:bodyPr/>
          <a:lstStyle/>
          <a:p>
            <a:r>
              <a:rPr lang="en-US" dirty="0" smtClean="0"/>
              <a:t>Collateral Requirements</a:t>
            </a:r>
            <a:endParaRPr lang="en-US" dirty="0"/>
          </a:p>
        </p:txBody>
      </p:sp>
      <p:sp>
        <p:nvSpPr>
          <p:cNvPr id="18" name="Rectangle 11"/>
          <p:cNvSpPr>
            <a:spLocks noChangeArrowheads="1"/>
          </p:cNvSpPr>
          <p:nvPr/>
        </p:nvSpPr>
        <p:spPr bwMode="auto">
          <a:xfrm>
            <a:off x="0" y="1767127"/>
            <a:ext cx="9144000" cy="4003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lnSpc>
                <a:spcPct val="70000"/>
              </a:lnSpc>
              <a:spcBef>
                <a:spcPct val="50000"/>
              </a:spcBef>
              <a:buSzPct val="75000"/>
              <a:buFont typeface="Times" pitchFamily="18" charset="0"/>
              <a:buNone/>
            </a:pPr>
            <a:r>
              <a:rPr lang="en-US" sz="2800" b="0" dirty="0" smtClean="0">
                <a:solidFill>
                  <a:schemeClr val="tx1"/>
                </a:solidFill>
                <a:latin typeface="+mn-lt"/>
              </a:rPr>
              <a:t>Assumes A Fund equals $150,000 Each Year</a:t>
            </a:r>
            <a:endParaRPr lang="en-US" sz="2800" b="0" dirty="0">
              <a:solidFill>
                <a:schemeClr val="tx1"/>
              </a:solidFill>
              <a:latin typeface="+mn-lt"/>
            </a:endParaRPr>
          </a:p>
        </p:txBody>
      </p:sp>
      <p:sp>
        <p:nvSpPr>
          <p:cNvPr id="19"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26</a:t>
            </a:fld>
            <a:endParaRPr lang="en-US" dirty="0"/>
          </a:p>
        </p:txBody>
      </p:sp>
    </p:spTree>
    <p:extLst>
      <p:ext uri="{BB962C8B-B14F-4D97-AF65-F5344CB8AC3E}">
        <p14:creationId xmlns:p14="http://schemas.microsoft.com/office/powerpoint/2010/main" val="3650678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288925" indent="-288925">
              <a:tabLst>
                <a:tab pos="1203325" algn="l"/>
              </a:tabLst>
            </a:pPr>
            <a:r>
              <a:rPr lang="en-US" sz="1800" b="1" dirty="0" smtClean="0"/>
              <a:t>One:</a:t>
            </a:r>
            <a:r>
              <a:rPr lang="en-US" sz="1800" b="1" dirty="0"/>
              <a:t>	</a:t>
            </a:r>
            <a:r>
              <a:rPr lang="en-US" sz="1800" dirty="0" smtClean="0"/>
              <a:t>Initial premium and taxes paid quarterly</a:t>
            </a:r>
          </a:p>
          <a:p>
            <a:pPr marL="288925" indent="-288925">
              <a:spcBef>
                <a:spcPts val="0"/>
              </a:spcBef>
              <a:buNone/>
              <a:tabLst>
                <a:tab pos="1203325" algn="l"/>
              </a:tabLst>
            </a:pPr>
            <a:r>
              <a:rPr lang="en-US" sz="1800" dirty="0"/>
              <a:t>	</a:t>
            </a:r>
            <a:r>
              <a:rPr lang="en-US" sz="1800" dirty="0" smtClean="0"/>
              <a:t>	Purchase initial share of stock</a:t>
            </a:r>
          </a:p>
          <a:p>
            <a:pPr marL="288925" indent="-288925">
              <a:spcBef>
                <a:spcPts val="0"/>
              </a:spcBef>
              <a:buNone/>
              <a:tabLst>
                <a:tab pos="1203325" algn="l"/>
              </a:tabLst>
            </a:pPr>
            <a:r>
              <a:rPr lang="en-US" sz="1800" dirty="0" smtClean="0"/>
              <a:t>		Provide collateral (cash or LOC) over three years</a:t>
            </a:r>
          </a:p>
          <a:p>
            <a:pPr marL="288925" indent="-288925">
              <a:tabLst>
                <a:tab pos="1203325" algn="l"/>
              </a:tabLst>
            </a:pPr>
            <a:r>
              <a:rPr lang="en-US" sz="1800" b="1" dirty="0" smtClean="0"/>
              <a:t>Two:</a:t>
            </a:r>
            <a:r>
              <a:rPr lang="en-US" sz="1800" dirty="0" smtClean="0"/>
              <a:t> 	Policies are audited based on exposure</a:t>
            </a:r>
            <a:endParaRPr lang="en-US" sz="1800" b="1" dirty="0" smtClean="0"/>
          </a:p>
          <a:p>
            <a:pPr marL="288925" indent="-288925">
              <a:tabLst>
                <a:tab pos="1203325" algn="l"/>
              </a:tabLst>
            </a:pPr>
            <a:r>
              <a:rPr lang="en-US" sz="1800" b="1" dirty="0" smtClean="0"/>
              <a:t>Three: 	</a:t>
            </a:r>
            <a:r>
              <a:rPr lang="en-US" sz="1800" dirty="0" smtClean="0"/>
              <a:t>Three years after the policy expiration date partial dividends</a:t>
            </a:r>
            <a:r>
              <a:rPr lang="en-US" sz="1800" dirty="0"/>
              <a:t> </a:t>
            </a:r>
            <a:r>
              <a:rPr lang="en-US" sz="1800" dirty="0" smtClean="0"/>
              <a:t>	based on group and individual loss experience will be declared 	and paid</a:t>
            </a:r>
          </a:p>
          <a:p>
            <a:pPr marL="288925" indent="-288925">
              <a:tabLst>
                <a:tab pos="1203325" algn="l"/>
              </a:tabLst>
            </a:pPr>
            <a:r>
              <a:rPr lang="en-US" sz="1800" b="1" dirty="0" smtClean="0"/>
              <a:t>Four: 	</a:t>
            </a:r>
            <a:r>
              <a:rPr lang="en-US" sz="1800" dirty="0" smtClean="0"/>
              <a:t>After several years all dividends will be paid</a:t>
            </a:r>
          </a:p>
          <a:p>
            <a:pPr marL="288925" indent="-288925">
              <a:tabLst>
                <a:tab pos="1203325" algn="l"/>
              </a:tabLst>
            </a:pPr>
            <a:r>
              <a:rPr lang="en-US" sz="1800" b="1" dirty="0" smtClean="0"/>
              <a:t>Five:	</a:t>
            </a:r>
            <a:r>
              <a:rPr lang="en-US" sz="1800" dirty="0" smtClean="0"/>
              <a:t>The policy year will be closed and a payment will be made to 	the Tail Fund</a:t>
            </a:r>
          </a:p>
          <a:p>
            <a:pPr marL="346075" indent="0">
              <a:buNone/>
            </a:pPr>
            <a:r>
              <a:rPr lang="en-US" sz="1800" b="1" dirty="0" smtClean="0"/>
              <a:t>Note: </a:t>
            </a:r>
            <a:r>
              <a:rPr lang="en-US" sz="1800" dirty="0" smtClean="0"/>
              <a:t>If your loss experience is poor, it will affect your dividend—might not get one. Experience adjustments for poor loss experience can occur as soon as the second year but are spread over several years.</a:t>
            </a:r>
            <a:endParaRPr lang="en-US" sz="1800" b="1" dirty="0" smtClean="0"/>
          </a:p>
        </p:txBody>
      </p:sp>
      <p:sp>
        <p:nvSpPr>
          <p:cNvPr id="3" name="Title 2"/>
          <p:cNvSpPr>
            <a:spLocks noGrp="1"/>
          </p:cNvSpPr>
          <p:nvPr>
            <p:ph type="title"/>
          </p:nvPr>
        </p:nvSpPr>
        <p:spPr/>
        <p:txBody>
          <a:bodyPr/>
          <a:lstStyle/>
          <a:p>
            <a:r>
              <a:rPr lang="en-US" dirty="0" smtClean="0"/>
              <a:t>Program Overview / Timing</a:t>
            </a:r>
            <a:endParaRPr lang="en-US" dirty="0"/>
          </a:p>
        </p:txBody>
      </p:sp>
      <p:sp>
        <p:nvSpPr>
          <p:cNvPr id="5"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27</a:t>
            </a:fld>
            <a:endParaRPr lang="en-US" dirty="0"/>
          </a:p>
        </p:txBody>
      </p:sp>
    </p:spTree>
    <p:extLst>
      <p:ext uri="{BB962C8B-B14F-4D97-AF65-F5344CB8AC3E}">
        <p14:creationId xmlns:p14="http://schemas.microsoft.com/office/powerpoint/2010/main" val="87271637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Cash Flow for a Single Policy Year</a:t>
            </a:r>
            <a:endParaRPr lang="en-US" dirty="0"/>
          </a:p>
        </p:txBody>
      </p:sp>
      <p:graphicFrame>
        <p:nvGraphicFramePr>
          <p:cNvPr id="11" name="Table 10"/>
          <p:cNvGraphicFramePr>
            <a:graphicFrameLocks noGrp="1"/>
          </p:cNvGraphicFramePr>
          <p:nvPr>
            <p:extLst>
              <p:ext uri="{D42A27DB-BD31-4B8C-83A1-F6EECF244321}">
                <p14:modId xmlns:p14="http://schemas.microsoft.com/office/powerpoint/2010/main" val="2098609331"/>
              </p:ext>
            </p:extLst>
          </p:nvPr>
        </p:nvGraphicFramePr>
        <p:xfrm>
          <a:off x="1066800" y="1807543"/>
          <a:ext cx="7238999" cy="3998122"/>
        </p:xfrm>
        <a:graphic>
          <a:graphicData uri="http://schemas.openxmlformats.org/drawingml/2006/table">
            <a:tbl>
              <a:tblPr firstRow="1" firstCol="1" bandRow="1"/>
              <a:tblGrid>
                <a:gridCol w="849690"/>
                <a:gridCol w="826710"/>
                <a:gridCol w="990600"/>
                <a:gridCol w="990600"/>
                <a:gridCol w="931031"/>
                <a:gridCol w="745369"/>
                <a:gridCol w="1066800"/>
                <a:gridCol w="838199"/>
              </a:tblGrid>
              <a:tr h="511971">
                <a:tc>
                  <a:txBody>
                    <a:bodyPr/>
                    <a:lstStyle/>
                    <a:p>
                      <a:pPr marL="0" marR="0" algn="ctr">
                        <a:lnSpc>
                          <a:spcPct val="115000"/>
                        </a:lnSpc>
                        <a:spcBef>
                          <a:spcPts val="0"/>
                        </a:spcBef>
                        <a:spcAft>
                          <a:spcPts val="0"/>
                        </a:spcAft>
                      </a:pPr>
                      <a:r>
                        <a:rPr lang="en-US" sz="1200" b="1" dirty="0">
                          <a:effectLst/>
                          <a:latin typeface="+mn-lt"/>
                          <a:ea typeface="Calibri"/>
                          <a:cs typeface="Times New Roman"/>
                        </a:rPr>
                        <a:t>Year</a:t>
                      </a:r>
                      <a:endParaRPr lang="en-US" sz="1200" dirty="0">
                        <a:effectLst/>
                        <a:latin typeface="+mn-lt"/>
                        <a:ea typeface="Calibri"/>
                        <a:cs typeface="Times New Roman"/>
                      </a:endParaRPr>
                    </a:p>
                  </a:txBody>
                  <a:tcPr marL="68580" marR="68580" marT="0" marB="0" anchor="b">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Premium</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smtClean="0">
                          <a:effectLst/>
                          <a:latin typeface="+mn-lt"/>
                          <a:ea typeface="Calibri"/>
                          <a:cs typeface="Times New Roman"/>
                        </a:rPr>
                        <a:t>Experience</a:t>
                      </a:r>
                      <a:r>
                        <a:rPr lang="en-US" sz="1200" b="1" baseline="0" dirty="0" smtClean="0">
                          <a:effectLst/>
                          <a:latin typeface="+mn-lt"/>
                          <a:ea typeface="Calibri"/>
                          <a:cs typeface="Times New Roman"/>
                        </a:rPr>
                        <a:t> </a:t>
                      </a:r>
                      <a:r>
                        <a:rPr lang="en-US" sz="1200" b="1" dirty="0" smtClean="0">
                          <a:effectLst/>
                          <a:latin typeface="+mn-lt"/>
                          <a:ea typeface="Calibri"/>
                          <a:cs typeface="Times New Roman"/>
                        </a:rPr>
                        <a:t>Adjustment</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Dividend</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Risk Sharing</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Stock</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Collateral</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b="1" dirty="0">
                          <a:effectLst/>
                          <a:latin typeface="+mn-lt"/>
                          <a:ea typeface="Calibri"/>
                          <a:cs typeface="Times New Roman"/>
                        </a:rPr>
                        <a:t>Tail-Fund</a:t>
                      </a:r>
                      <a:endParaRPr lang="en-US" sz="1200" dirty="0">
                        <a:effectLst/>
                        <a:latin typeface="+mn-lt"/>
                        <a:ea typeface="Calibri"/>
                        <a:cs typeface="Times New Roman"/>
                      </a:endParaRPr>
                    </a:p>
                  </a:txBody>
                  <a:tcPr marL="68580" marR="68580" marT="0" marB="0" anchor="b">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80618">
                <a:tc>
                  <a:txBody>
                    <a:bodyPr/>
                    <a:lstStyle/>
                    <a:p>
                      <a:pPr marL="0" marR="0" algn="ctr">
                        <a:lnSpc>
                          <a:spcPct val="115000"/>
                        </a:lnSpc>
                        <a:spcBef>
                          <a:spcPts val="0"/>
                        </a:spcBef>
                        <a:spcAft>
                          <a:spcPts val="0"/>
                        </a:spcAft>
                      </a:pPr>
                      <a:r>
                        <a:rPr lang="en-US" sz="1200" dirty="0">
                          <a:effectLst/>
                          <a:latin typeface="+mn-lt"/>
                          <a:ea typeface="Calibri"/>
                          <a:cs typeface="Times New Roman"/>
                        </a:rPr>
                        <a:t>One</a:t>
                      </a: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smtClean="0">
                          <a:effectLst/>
                          <a:latin typeface="+mn-lt"/>
                          <a:ea typeface="Calibri"/>
                          <a:cs typeface="Times New Roman"/>
                        </a:rPr>
                        <a:t>Quarterly</a:t>
                      </a:r>
                      <a:endParaRPr lang="en-US" sz="1200" dirty="0">
                        <a:effectLst/>
                        <a:latin typeface="+mn-lt"/>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$36,000</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2/3 of A Fund</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68046">
                <a:tc>
                  <a:txBody>
                    <a:bodyPr/>
                    <a:lstStyle/>
                    <a:p>
                      <a:pPr marL="0" marR="0" algn="ctr">
                        <a:lnSpc>
                          <a:spcPct val="115000"/>
                        </a:lnSpc>
                        <a:spcBef>
                          <a:spcPts val="0"/>
                        </a:spcBef>
                        <a:spcAft>
                          <a:spcPts val="0"/>
                        </a:spcAft>
                      </a:pPr>
                      <a:r>
                        <a:rPr lang="en-US" sz="1200" dirty="0">
                          <a:effectLst/>
                          <a:latin typeface="+mn-lt"/>
                          <a:ea typeface="Calibri"/>
                          <a:cs typeface="Times New Roman"/>
                        </a:rPr>
                        <a:t>Two</a:t>
                      </a: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6">
                  <a:txBody>
                    <a:bodyPr/>
                    <a:lstStyle/>
                    <a:p>
                      <a:pPr marL="0" marR="0" algn="ctr">
                        <a:lnSpc>
                          <a:spcPct val="115000"/>
                        </a:lnSpc>
                        <a:spcBef>
                          <a:spcPts val="0"/>
                        </a:spcBef>
                        <a:spcAft>
                          <a:spcPts val="0"/>
                        </a:spcAft>
                      </a:pPr>
                      <a:endParaRPr lang="en-US" sz="8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If </a:t>
                      </a:r>
                      <a:r>
                        <a:rPr lang="en-US" sz="1200" dirty="0">
                          <a:effectLst/>
                          <a:latin typeface="+mn-lt"/>
                          <a:ea typeface="Calibri"/>
                          <a:cs typeface="Times New Roman"/>
                        </a:rPr>
                        <a:t>A Fund is exceeded, 50% is collected </a:t>
                      </a:r>
                      <a:r>
                        <a:rPr lang="en-US" sz="1200" dirty="0" smtClean="0">
                          <a:effectLst/>
                          <a:latin typeface="+mn-lt"/>
                          <a:ea typeface="Calibri"/>
                          <a:cs typeface="Times New Roman"/>
                        </a:rPr>
                        <a:t>the next year</a:t>
                      </a:r>
                      <a:r>
                        <a:rPr lang="en-US" sz="1200" dirty="0">
                          <a:effectLst/>
                          <a:latin typeface="+mn-lt"/>
                          <a:ea typeface="Calibri"/>
                          <a:cs typeface="Times New Roman"/>
                        </a:rPr>
                        <a:t>, 30% the </a:t>
                      </a:r>
                      <a:r>
                        <a:rPr lang="en-US" sz="1200" dirty="0" smtClean="0">
                          <a:effectLst/>
                          <a:latin typeface="+mn-lt"/>
                          <a:ea typeface="Calibri"/>
                          <a:cs typeface="Times New Roman"/>
                        </a:rPr>
                        <a:t>next year </a:t>
                      </a:r>
                      <a:r>
                        <a:rPr lang="en-US" sz="1200" dirty="0">
                          <a:effectLst/>
                          <a:latin typeface="+mn-lt"/>
                          <a:ea typeface="Calibri"/>
                          <a:cs typeface="Times New Roman"/>
                        </a:rPr>
                        <a:t>and 20% in the third </a:t>
                      </a:r>
                      <a:r>
                        <a:rPr lang="en-US" sz="1200" dirty="0" smtClean="0">
                          <a:effectLst/>
                          <a:latin typeface="+mn-lt"/>
                          <a:ea typeface="Calibri"/>
                          <a:cs typeface="Times New Roman"/>
                        </a:rPr>
                        <a:t>year</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2/3 of A Fund</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68046">
                <a:tc>
                  <a:txBody>
                    <a:bodyPr/>
                    <a:lstStyle/>
                    <a:p>
                      <a:pPr marL="0" marR="0" algn="ctr">
                        <a:lnSpc>
                          <a:spcPct val="115000"/>
                        </a:lnSpc>
                        <a:spcBef>
                          <a:spcPts val="0"/>
                        </a:spcBef>
                        <a:spcAft>
                          <a:spcPts val="0"/>
                        </a:spcAft>
                      </a:pPr>
                      <a:r>
                        <a:rPr lang="en-US" sz="1200" dirty="0">
                          <a:effectLst/>
                          <a:latin typeface="+mn-lt"/>
                          <a:ea typeface="Calibri"/>
                          <a:cs typeface="Times New Roman"/>
                        </a:rPr>
                        <a:t>Three</a:t>
                      </a: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a:p>
                  </a:txBody>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2/3 of A Fund</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68046">
                <a:tc>
                  <a:txBody>
                    <a:bodyPr/>
                    <a:lstStyle/>
                    <a:p>
                      <a:pPr marL="0" marR="0" algn="ctr">
                        <a:lnSpc>
                          <a:spcPct val="115000"/>
                        </a:lnSpc>
                        <a:spcBef>
                          <a:spcPts val="0"/>
                        </a:spcBef>
                        <a:spcAft>
                          <a:spcPts val="0"/>
                        </a:spcAft>
                      </a:pPr>
                      <a:r>
                        <a:rPr lang="en-US" sz="1200" dirty="0">
                          <a:effectLst/>
                          <a:latin typeface="+mn-lt"/>
                          <a:ea typeface="Calibri"/>
                          <a:cs typeface="Times New Roman"/>
                        </a:rPr>
                        <a:t>Four</a:t>
                      </a: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a:p>
                  </a:txBody>
                  <a:tcPr/>
                </a:tc>
                <a:tc rowSpan="4">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If</a:t>
                      </a:r>
                      <a:r>
                        <a:rPr lang="en-US" sz="1200" baseline="0" dirty="0" smtClean="0">
                          <a:effectLst/>
                          <a:latin typeface="+mn-lt"/>
                          <a:ea typeface="Calibri"/>
                          <a:cs typeface="Times New Roman"/>
                        </a:rPr>
                        <a:t> applicable, p</a:t>
                      </a:r>
                      <a:r>
                        <a:rPr lang="en-US" sz="1200" dirty="0" smtClean="0">
                          <a:effectLst/>
                          <a:latin typeface="+mn-lt"/>
                          <a:ea typeface="Calibri"/>
                          <a:cs typeface="Times New Roman"/>
                        </a:rPr>
                        <a:t>ayments </a:t>
                      </a:r>
                      <a:r>
                        <a:rPr lang="en-US" sz="1200" dirty="0">
                          <a:effectLst/>
                          <a:latin typeface="+mn-lt"/>
                          <a:ea typeface="Calibri"/>
                          <a:cs typeface="Times New Roman"/>
                        </a:rPr>
                        <a:t>begin in year four; normally spread over several </a:t>
                      </a:r>
                      <a:r>
                        <a:rPr lang="en-US" sz="1200" dirty="0" smtClean="0">
                          <a:effectLst/>
                          <a:latin typeface="+mn-lt"/>
                          <a:ea typeface="Calibri"/>
                          <a:cs typeface="Times New Roman"/>
                        </a:rPr>
                        <a:t>years</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rowSpan="4">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Begins in year four; historical amount </a:t>
                      </a:r>
                      <a:r>
                        <a:rPr lang="en-US" sz="1200" dirty="0">
                          <a:effectLst/>
                          <a:latin typeface="+mn-lt"/>
                          <a:ea typeface="Calibri"/>
                          <a:cs typeface="Times New Roman"/>
                        </a:rPr>
                        <a:t>is </a:t>
                      </a:r>
                      <a:r>
                        <a:rPr lang="en-US" sz="1200" dirty="0" smtClean="0">
                          <a:effectLst/>
                          <a:latin typeface="+mn-lt"/>
                          <a:ea typeface="Calibri"/>
                          <a:cs typeface="Times New Roman"/>
                        </a:rPr>
                        <a:t>5.3%</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Maintain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68046">
                <a:tc>
                  <a:txBody>
                    <a:bodyPr/>
                    <a:lstStyle/>
                    <a:p>
                      <a:pPr marL="0" marR="0" algn="ctr">
                        <a:lnSpc>
                          <a:spcPct val="115000"/>
                        </a:lnSpc>
                        <a:spcBef>
                          <a:spcPts val="0"/>
                        </a:spcBef>
                        <a:spcAft>
                          <a:spcPts val="0"/>
                        </a:spcAft>
                      </a:pPr>
                      <a:r>
                        <a:rPr lang="en-US" sz="1200" dirty="0">
                          <a:effectLst/>
                          <a:latin typeface="+mn-lt"/>
                          <a:ea typeface="Calibri"/>
                          <a:cs typeface="Times New Roman"/>
                        </a:rPr>
                        <a:t>Five</a:t>
                      </a: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Maintain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68046">
                <a:tc>
                  <a:txBody>
                    <a:bodyPr/>
                    <a:lstStyle/>
                    <a:p>
                      <a:pPr marL="0" marR="0" algn="ctr">
                        <a:lnSpc>
                          <a:spcPct val="115000"/>
                        </a:lnSpc>
                        <a:spcBef>
                          <a:spcPts val="0"/>
                        </a:spcBef>
                        <a:spcAft>
                          <a:spcPts val="0"/>
                        </a:spcAft>
                      </a:pPr>
                      <a:r>
                        <a:rPr lang="en-US" sz="1200" dirty="0" smtClean="0">
                          <a:effectLst/>
                          <a:latin typeface="+mn-lt"/>
                          <a:ea typeface="Calibri"/>
                          <a:cs typeface="Times New Roman"/>
                        </a:rPr>
                        <a:t>Six</a:t>
                      </a:r>
                      <a:endParaRPr lang="en-US" sz="1200" dirty="0">
                        <a:effectLst/>
                        <a:latin typeface="+mn-lt"/>
                        <a:ea typeface="Calibri"/>
                        <a:cs typeface="Times New Roman"/>
                      </a:endParaRPr>
                    </a:p>
                  </a:txBody>
                  <a:tcPr marL="68580" marR="6858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Maintain</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US" sz="1200" dirty="0">
                          <a:effectLst/>
                          <a:latin typeface="+mn-lt"/>
                          <a:ea typeface="Calibri"/>
                          <a:cs typeface="Times New Roman"/>
                        </a:rPr>
                        <a:t>N/A</a:t>
                      </a:r>
                    </a:p>
                  </a:txBody>
                  <a:tcPr marL="68580" marR="6858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265303">
                <a:tc>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Seven</a:t>
                      </a:r>
                      <a:endParaRPr lang="en-US" sz="1200" dirty="0">
                        <a:effectLst/>
                        <a:latin typeface="+mn-lt"/>
                        <a:ea typeface="Calibri"/>
                        <a:cs typeface="Times New Roman"/>
                      </a:endParaRPr>
                    </a:p>
                  </a:txBody>
                  <a:tcPr marL="68580" marR="68580" marT="0" marB="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N/A</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N/A</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Maintain</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200" dirty="0" smtClean="0">
                        <a:effectLst/>
                        <a:latin typeface="+mn-lt"/>
                        <a:ea typeface="Calibri"/>
                        <a:cs typeface="Times New Roman"/>
                      </a:endParaRPr>
                    </a:p>
                    <a:p>
                      <a:pPr marL="0" marR="0" algn="ctr">
                        <a:lnSpc>
                          <a:spcPct val="115000"/>
                        </a:lnSpc>
                        <a:spcBef>
                          <a:spcPts val="0"/>
                        </a:spcBef>
                        <a:spcAft>
                          <a:spcPts val="0"/>
                        </a:spcAft>
                      </a:pPr>
                      <a:r>
                        <a:rPr lang="en-US" sz="1200" dirty="0" smtClean="0">
                          <a:effectLst/>
                          <a:latin typeface="+mn-lt"/>
                          <a:ea typeface="Calibri"/>
                          <a:cs typeface="Times New Roman"/>
                        </a:rPr>
                        <a:t>Offsets</a:t>
                      </a:r>
                      <a:r>
                        <a:rPr lang="en-US" sz="1200" baseline="0" dirty="0" smtClean="0">
                          <a:effectLst/>
                          <a:latin typeface="+mn-lt"/>
                          <a:ea typeface="Calibri"/>
                          <a:cs typeface="Times New Roman"/>
                        </a:rPr>
                        <a:t> final dividend</a:t>
                      </a:r>
                      <a:endParaRPr lang="en-US" sz="1200" dirty="0">
                        <a:effectLst/>
                        <a:latin typeface="+mn-lt"/>
                        <a:ea typeface="Calibri"/>
                        <a:cs typeface="Times New Roman"/>
                      </a:endParaRPr>
                    </a:p>
                  </a:txBody>
                  <a:tcPr marL="68580" marR="68580" marT="0" marB="0">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r>
            </a:tbl>
          </a:graphicData>
        </a:graphic>
      </p:graphicFrame>
      <p:sp>
        <p:nvSpPr>
          <p:cNvPr id="13" name="Rectangle 12"/>
          <p:cNvSpPr/>
          <p:nvPr/>
        </p:nvSpPr>
        <p:spPr bwMode="auto">
          <a:xfrm>
            <a:off x="314739" y="1676400"/>
            <a:ext cx="8534400" cy="228600"/>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15" name="Rectangle 14"/>
          <p:cNvSpPr/>
          <p:nvPr/>
        </p:nvSpPr>
        <p:spPr bwMode="auto">
          <a:xfrm>
            <a:off x="695739" y="5233982"/>
            <a:ext cx="7772400" cy="785261"/>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2400" b="0" i="0" u="none" strike="noStrike" cap="none" normalizeH="0" baseline="0" dirty="0" smtClean="0">
              <a:ln>
                <a:noFill/>
              </a:ln>
              <a:solidFill>
                <a:schemeClr val="bg2"/>
              </a:solidFill>
              <a:effectLst/>
              <a:latin typeface="News Gothic" pitchFamily="34" charset="0"/>
            </a:endParaRPr>
          </a:p>
        </p:txBody>
      </p:sp>
      <p:sp>
        <p:nvSpPr>
          <p:cNvPr id="16" name="Rectangle 15"/>
          <p:cNvSpPr/>
          <p:nvPr/>
        </p:nvSpPr>
        <p:spPr bwMode="auto">
          <a:xfrm>
            <a:off x="1047864" y="5366332"/>
            <a:ext cx="7010400" cy="342900"/>
          </a:xfrm>
          <a:prstGeom prst="rect">
            <a:avLst/>
          </a:prstGeom>
          <a:no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defTabSz="914400" rtl="0" eaLnBrk="1" fontAlgn="base" latinLnBrk="0" hangingPunct="1">
              <a:lnSpc>
                <a:spcPct val="100000"/>
              </a:lnSpc>
              <a:spcBef>
                <a:spcPts val="600"/>
              </a:spcBef>
              <a:spcAft>
                <a:spcPct val="0"/>
              </a:spcAft>
              <a:buClrTx/>
              <a:buSzTx/>
              <a:buFontTx/>
              <a:buNone/>
              <a:tabLst/>
            </a:pPr>
            <a:r>
              <a:rPr kumimoji="0" lang="en-US" sz="1400" b="1" i="0" u="none" strike="noStrike" cap="none" normalizeH="0" baseline="0" dirty="0" smtClean="0">
                <a:ln>
                  <a:noFill/>
                </a:ln>
                <a:solidFill>
                  <a:schemeClr val="tx1"/>
                </a:solidFill>
                <a:effectLst/>
              </a:rPr>
              <a:t>Maximu</a:t>
            </a:r>
            <a:r>
              <a:rPr lang="en-US" sz="1400" b="1" dirty="0" smtClean="0">
                <a:solidFill>
                  <a:schemeClr val="tx1"/>
                </a:solidFill>
              </a:rPr>
              <a:t>m</a:t>
            </a:r>
            <a:r>
              <a:rPr lang="en-US" sz="1400" dirty="0" smtClean="0">
                <a:solidFill>
                  <a:schemeClr val="tx1"/>
                </a:solidFill>
              </a:rPr>
              <a:t> is Pay-In Premium (subject to exposure audit) plus one additional A Fund.</a:t>
            </a:r>
          </a:p>
          <a:p>
            <a:pPr marL="0" marR="0" indent="0" defTabSz="914400" rtl="0" eaLnBrk="1" fontAlgn="base" latinLnBrk="0" hangingPunct="1">
              <a:lnSpc>
                <a:spcPct val="100000"/>
              </a:lnSpc>
              <a:spcBef>
                <a:spcPts val="600"/>
              </a:spcBef>
              <a:spcAft>
                <a:spcPct val="0"/>
              </a:spcAft>
              <a:buClrTx/>
              <a:buSzTx/>
              <a:buFontTx/>
              <a:buNone/>
              <a:tabLst/>
            </a:pPr>
            <a:r>
              <a:rPr kumimoji="0" lang="en-US" sz="1400" b="0" i="0" u="none" strike="noStrike" cap="none" normalizeH="0" baseline="0" dirty="0" smtClean="0">
                <a:ln>
                  <a:noFill/>
                </a:ln>
                <a:solidFill>
                  <a:schemeClr val="tx1"/>
                </a:solidFill>
                <a:effectLst/>
              </a:rPr>
              <a:t>Payment of dividends and close out of a policy year are</a:t>
            </a:r>
            <a:r>
              <a:rPr kumimoji="0" lang="en-US" sz="1400" b="0" i="0" u="none" strike="noStrike" cap="none" normalizeH="0" dirty="0" smtClean="0">
                <a:ln>
                  <a:noFill/>
                </a:ln>
                <a:solidFill>
                  <a:schemeClr val="tx1"/>
                </a:solidFill>
                <a:effectLst/>
              </a:rPr>
              <a:t> decided upon by committee members and are subject to change.</a:t>
            </a:r>
            <a:endParaRPr kumimoji="0" lang="en-US" sz="1400" b="0" i="0" u="none" strike="noStrike" cap="none" normalizeH="0" baseline="0" dirty="0" smtClean="0">
              <a:ln>
                <a:noFill/>
              </a:ln>
              <a:solidFill>
                <a:schemeClr val="tx1"/>
              </a:solidFill>
              <a:effectLst/>
            </a:endParaRPr>
          </a:p>
        </p:txBody>
      </p:sp>
      <p:sp>
        <p:nvSpPr>
          <p:cNvPr id="8"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28</a:t>
            </a:fld>
            <a:endParaRPr lang="en-US" dirty="0"/>
          </a:p>
        </p:txBody>
      </p:sp>
    </p:spTree>
    <p:extLst>
      <p:ext uri="{BB962C8B-B14F-4D97-AF65-F5344CB8AC3E}">
        <p14:creationId xmlns:p14="http://schemas.microsoft.com/office/powerpoint/2010/main" val="361345772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dirty="0"/>
              <a:t>Commonly Asked Questions</a:t>
            </a:r>
            <a:endParaRPr lang="en-US" dirty="0" smtClean="0"/>
          </a:p>
        </p:txBody>
      </p:sp>
      <p:sp>
        <p:nvSpPr>
          <p:cNvPr id="6" name="Content Placeholder 3"/>
          <p:cNvSpPr>
            <a:spLocks noGrp="1"/>
          </p:cNvSpPr>
          <p:nvPr>
            <p:ph idx="1"/>
          </p:nvPr>
        </p:nvSpPr>
        <p:spPr>
          <a:xfrm>
            <a:off x="1219200" y="1828800"/>
            <a:ext cx="7543800" cy="4114800"/>
          </a:xfrm>
        </p:spPr>
        <p:txBody>
          <a:bodyPr/>
          <a:lstStyle/>
          <a:p>
            <a:pPr>
              <a:spcBef>
                <a:spcPts val="700"/>
              </a:spcBef>
            </a:pPr>
            <a:r>
              <a:rPr lang="en-US" sz="1600" b="1" dirty="0" smtClean="0"/>
              <a:t>Who can own the share of stock?</a:t>
            </a:r>
            <a:endParaRPr lang="en-US" sz="1600" b="1" dirty="0"/>
          </a:p>
          <a:p>
            <a:pPr lvl="1">
              <a:spcBef>
                <a:spcPts val="700"/>
              </a:spcBef>
            </a:pPr>
            <a:r>
              <a:rPr lang="en-US" sz="1400" dirty="0" smtClean="0"/>
              <a:t>Your company or individuals you select</a:t>
            </a:r>
          </a:p>
          <a:p>
            <a:pPr>
              <a:spcBef>
                <a:spcPts val="700"/>
              </a:spcBef>
            </a:pPr>
            <a:r>
              <a:rPr lang="en-US" sz="1600" b="1" dirty="0" smtClean="0"/>
              <a:t>How do voting rights work?</a:t>
            </a:r>
            <a:endParaRPr lang="en-US" sz="1600" b="1" dirty="0"/>
          </a:p>
          <a:p>
            <a:pPr lvl="1">
              <a:spcBef>
                <a:spcPts val="700"/>
              </a:spcBef>
            </a:pPr>
            <a:r>
              <a:rPr lang="en-US" sz="1400" dirty="0" smtClean="0"/>
              <a:t>One share per member company; each share gets one vote</a:t>
            </a:r>
          </a:p>
          <a:p>
            <a:pPr>
              <a:spcBef>
                <a:spcPts val="700"/>
              </a:spcBef>
            </a:pPr>
            <a:r>
              <a:rPr lang="en-US" sz="1600" b="1" dirty="0" smtClean="0"/>
              <a:t>How are decisions made for the captive?</a:t>
            </a:r>
          </a:p>
          <a:p>
            <a:pPr lvl="1">
              <a:spcBef>
                <a:spcPts val="700"/>
              </a:spcBef>
            </a:pPr>
            <a:r>
              <a:rPr lang="en-US" sz="1400" dirty="0" smtClean="0"/>
              <a:t>All decisions are made by captive members, not service providers</a:t>
            </a:r>
          </a:p>
          <a:p>
            <a:pPr>
              <a:spcBef>
                <a:spcPts val="700"/>
              </a:spcBef>
            </a:pPr>
            <a:r>
              <a:rPr lang="en-US" sz="1600" b="1" dirty="0" smtClean="0"/>
              <a:t>Why the Cayman Islands?</a:t>
            </a:r>
          </a:p>
          <a:p>
            <a:pPr lvl="1">
              <a:spcBef>
                <a:spcPts val="700"/>
              </a:spcBef>
            </a:pPr>
            <a:r>
              <a:rPr lang="en-US" sz="1400" dirty="0" smtClean="0"/>
              <a:t>Long history as a captive domicile and favorable tax environment</a:t>
            </a:r>
          </a:p>
          <a:p>
            <a:pPr>
              <a:spcBef>
                <a:spcPts val="700"/>
              </a:spcBef>
            </a:pPr>
            <a:r>
              <a:rPr lang="en-US" sz="1600" b="1" dirty="0" smtClean="0"/>
              <a:t>Where are my loss funds and other cash invested?</a:t>
            </a:r>
          </a:p>
          <a:p>
            <a:pPr lvl="1">
              <a:spcBef>
                <a:spcPts val="700"/>
              </a:spcBef>
            </a:pPr>
            <a:r>
              <a:rPr lang="en-US" sz="1400" dirty="0" smtClean="0"/>
              <a:t>The </a:t>
            </a:r>
            <a:r>
              <a:rPr lang="en-US" sz="1400" b="1" dirty="0" smtClean="0"/>
              <a:t>Captive Investors Fund </a:t>
            </a:r>
            <a:r>
              <a:rPr lang="en-US" sz="1400" dirty="0" smtClean="0"/>
              <a:t>with $1.7B in assets; life of fund return of almost 6%</a:t>
            </a:r>
          </a:p>
          <a:p>
            <a:pPr>
              <a:spcBef>
                <a:spcPts val="700"/>
              </a:spcBef>
            </a:pPr>
            <a:r>
              <a:rPr lang="en-US" sz="1600" b="1" dirty="0" smtClean="0"/>
              <a:t>Are the premiums tax deductible?</a:t>
            </a:r>
          </a:p>
          <a:p>
            <a:pPr lvl="1">
              <a:spcBef>
                <a:spcPts val="700"/>
              </a:spcBef>
            </a:pPr>
            <a:r>
              <a:rPr lang="en-US" sz="1400" dirty="0" smtClean="0"/>
              <a:t>Yes, the same as with traditional insurance</a:t>
            </a:r>
          </a:p>
          <a:p>
            <a:pPr>
              <a:spcBef>
                <a:spcPts val="700"/>
              </a:spcBef>
            </a:pPr>
            <a:r>
              <a:rPr lang="en-US" sz="1600" b="1" dirty="0" smtClean="0"/>
              <a:t>Is there a penalty to leave?</a:t>
            </a:r>
          </a:p>
          <a:p>
            <a:pPr lvl="1">
              <a:spcBef>
                <a:spcPts val="700"/>
              </a:spcBef>
            </a:pPr>
            <a:r>
              <a:rPr lang="en-US" sz="1400" dirty="0" smtClean="0"/>
              <a:t>No</a:t>
            </a:r>
            <a:endParaRPr lang="en-US" sz="1400" dirty="0"/>
          </a:p>
        </p:txBody>
      </p:sp>
      <p:sp>
        <p:nvSpPr>
          <p:cNvPr id="7"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29</a:t>
            </a:fld>
            <a:endParaRPr lang="en-US" dirty="0"/>
          </a:p>
        </p:txBody>
      </p:sp>
    </p:spTree>
    <p:extLst>
      <p:ext uri="{BB962C8B-B14F-4D97-AF65-F5344CB8AC3E}">
        <p14:creationId xmlns:p14="http://schemas.microsoft.com/office/powerpoint/2010/main" val="11480531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1026"/>
          <p:cNvSpPr>
            <a:spLocks noGrp="1" noChangeArrowheads="1"/>
          </p:cNvSpPr>
          <p:nvPr>
            <p:ph type="title"/>
          </p:nvPr>
        </p:nvSpPr>
        <p:spPr/>
        <p:txBody>
          <a:bodyPr/>
          <a:lstStyle/>
          <a:p>
            <a:pPr eaLnBrk="1" hangingPunct="1"/>
            <a:r>
              <a:rPr lang="en-US" dirty="0" smtClean="0"/>
              <a:t>Fundamental Benefits</a:t>
            </a:r>
          </a:p>
        </p:txBody>
      </p:sp>
      <p:sp>
        <p:nvSpPr>
          <p:cNvPr id="41987" name="Rectangle 1027"/>
          <p:cNvSpPr>
            <a:spLocks noGrp="1" noChangeArrowheads="1"/>
          </p:cNvSpPr>
          <p:nvPr>
            <p:ph type="body" idx="1"/>
          </p:nvPr>
        </p:nvSpPr>
        <p:spPr/>
        <p:txBody>
          <a:bodyPr/>
          <a:lstStyle/>
          <a:p>
            <a:pPr eaLnBrk="1" hangingPunct="1"/>
            <a:r>
              <a:rPr lang="en-US" dirty="0" smtClean="0"/>
              <a:t>Minimize impact of insurance market cycles</a:t>
            </a:r>
          </a:p>
          <a:p>
            <a:pPr eaLnBrk="1" hangingPunct="1"/>
            <a:r>
              <a:rPr lang="en-US" dirty="0" smtClean="0"/>
              <a:t>Control over program design and fellow insureds</a:t>
            </a:r>
          </a:p>
          <a:p>
            <a:pPr eaLnBrk="1" hangingPunct="1"/>
            <a:r>
              <a:rPr lang="en-US" dirty="0" smtClean="0"/>
              <a:t>Premium based on your losses, not insurer rates</a:t>
            </a:r>
          </a:p>
          <a:p>
            <a:pPr eaLnBrk="1" hangingPunct="1"/>
            <a:r>
              <a:rPr lang="en-US" dirty="0" smtClean="0"/>
              <a:t>Significant Savings vs. traditional insurance</a:t>
            </a:r>
          </a:p>
          <a:p>
            <a:pPr eaLnBrk="1" hangingPunct="1"/>
            <a:r>
              <a:rPr lang="en-US" dirty="0" smtClean="0"/>
              <a:t>Join the Developing </a:t>
            </a:r>
            <a:r>
              <a:rPr lang="en-US" dirty="0"/>
              <a:t>trend: Thousands of insureds and billions in premium are headed in this </a:t>
            </a:r>
            <a:r>
              <a:rPr lang="en-US" dirty="0" smtClean="0"/>
              <a:t>direction</a:t>
            </a:r>
          </a:p>
          <a:p>
            <a:pPr lvl="1" eaLnBrk="1" hangingPunct="1"/>
            <a:r>
              <a:rPr lang="en-US" sz="2000" dirty="0" smtClean="0">
                <a:solidFill>
                  <a:srgbClr val="800000"/>
                </a:solidFill>
              </a:rPr>
              <a:t>As the good risks leave traditional insurance, premiums will have to increase on those left behind</a:t>
            </a:r>
            <a:endParaRPr lang="en-US" sz="2000" dirty="0">
              <a:solidFill>
                <a:srgbClr val="800000"/>
              </a:solidFill>
            </a:endParaRPr>
          </a:p>
          <a:p>
            <a:pPr eaLnBrk="1" hangingPunct="1"/>
            <a:endParaRPr lang="en-US" dirty="0" smtClean="0"/>
          </a:p>
        </p:txBody>
      </p:sp>
      <p:sp>
        <p:nvSpPr>
          <p:cNvPr id="6" name="Slide Number Placeholder 3"/>
          <p:cNvSpPr>
            <a:spLocks noGrp="1"/>
          </p:cNvSpPr>
          <p:nvPr>
            <p:ph type="sldNum" sz="quarter" idx="10"/>
          </p:nvPr>
        </p:nvSpPr>
        <p:spPr>
          <a:xfrm>
            <a:off x="7543800" y="6477000"/>
            <a:ext cx="1219200" cy="228600"/>
          </a:xfrm>
        </p:spPr>
        <p:txBody>
          <a:bodyPr/>
          <a:lstStyle/>
          <a:p>
            <a:pPr>
              <a:defRPr/>
            </a:pPr>
            <a:fld id="{0B9A7EEB-07A5-4AF2-AE91-BE3FA2FA8060}" type="slidenum">
              <a:rPr lang="en-US" smtClean="0"/>
              <a:pPr>
                <a:defRPr/>
              </a:pPr>
              <a:t>30</a:t>
            </a:fld>
            <a:endParaRPr lang="en-US" dirty="0"/>
          </a:p>
        </p:txBody>
      </p:sp>
    </p:spTree>
    <p:extLst>
      <p:ext uri="{BB962C8B-B14F-4D97-AF65-F5344CB8AC3E}">
        <p14:creationId xmlns:p14="http://schemas.microsoft.com/office/powerpoint/2010/main" val="25773730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Questions</a:t>
            </a:r>
            <a:endParaRPr lang="en-US" dirty="0"/>
          </a:p>
        </p:txBody>
      </p:sp>
      <p:sp>
        <p:nvSpPr>
          <p:cNvPr id="6" name="Rectangle 61"/>
          <p:cNvSpPr>
            <a:spLocks noChangeArrowheads="1"/>
          </p:cNvSpPr>
          <p:nvPr/>
        </p:nvSpPr>
        <p:spPr bwMode="auto">
          <a:xfrm>
            <a:off x="0" y="2667000"/>
            <a:ext cx="9143999" cy="2031325"/>
          </a:xfrm>
          <a:prstGeom prst="rect">
            <a:avLst/>
          </a:prstGeom>
          <a:noFill/>
          <a:ln w="12700">
            <a:noFill/>
            <a:miter lim="800000"/>
            <a:headEnd type="none" w="sm" len="sm"/>
            <a:tailEnd type="none" w="sm" len="sm"/>
          </a:ln>
        </p:spPr>
        <p:txBody>
          <a:bodyPr wrap="square">
            <a:spAutoFit/>
          </a:bodyPr>
          <a:lstStyle/>
          <a:p>
            <a:pPr algn="ctr">
              <a:spcBef>
                <a:spcPts val="1200"/>
              </a:spcBef>
              <a:spcAft>
                <a:spcPts val="0"/>
              </a:spcAft>
              <a:buClr>
                <a:schemeClr val="bg1"/>
              </a:buClr>
              <a:buSzPct val="25000"/>
              <a:buFont typeface="Monotype Sorts" pitchFamily="2" charset="2"/>
              <a:buNone/>
            </a:pPr>
            <a:r>
              <a:rPr lang="en-US" b="1" dirty="0" smtClean="0">
                <a:solidFill>
                  <a:srgbClr val="004B65"/>
                </a:solidFill>
              </a:rPr>
              <a:t>Greyling </a:t>
            </a:r>
            <a:r>
              <a:rPr lang="en-US" b="1" dirty="0">
                <a:solidFill>
                  <a:srgbClr val="004B65"/>
                </a:solidFill>
              </a:rPr>
              <a:t>Insurance </a:t>
            </a:r>
            <a:r>
              <a:rPr lang="en-US" b="1" dirty="0" smtClean="0">
                <a:solidFill>
                  <a:srgbClr val="004B65"/>
                </a:solidFill>
              </a:rPr>
              <a:t>Brokerage</a:t>
            </a:r>
            <a:endParaRPr lang="en-US" b="1" dirty="0">
              <a:solidFill>
                <a:srgbClr val="004B65"/>
              </a:solidFill>
            </a:endParaRPr>
          </a:p>
          <a:p>
            <a:pPr algn="ctr">
              <a:spcBef>
                <a:spcPts val="1200"/>
              </a:spcBef>
              <a:spcAft>
                <a:spcPts val="0"/>
              </a:spcAft>
              <a:buClr>
                <a:schemeClr val="bg1"/>
              </a:buClr>
              <a:buSzPct val="25000"/>
              <a:buFont typeface="Monotype Sorts" pitchFamily="2" charset="2"/>
              <a:buNone/>
            </a:pPr>
            <a:r>
              <a:rPr lang="en-US" dirty="0" smtClean="0">
                <a:solidFill>
                  <a:schemeClr val="tx1"/>
                </a:solidFill>
              </a:rPr>
              <a:t>Atlanta | St. Louis | Tampa</a:t>
            </a:r>
          </a:p>
          <a:p>
            <a:pPr algn="ctr">
              <a:spcBef>
                <a:spcPts val="1200"/>
              </a:spcBef>
              <a:spcAft>
                <a:spcPts val="0"/>
              </a:spcAft>
              <a:buClr>
                <a:schemeClr val="bg1"/>
              </a:buClr>
              <a:buSzPct val="25000"/>
              <a:buFont typeface="Monotype Sorts" pitchFamily="2" charset="2"/>
              <a:buNone/>
            </a:pPr>
            <a:r>
              <a:rPr lang="en-US" dirty="0" smtClean="0">
                <a:solidFill>
                  <a:schemeClr val="tx1"/>
                </a:solidFill>
              </a:rPr>
              <a:t>(877) 908-5619</a:t>
            </a:r>
          </a:p>
          <a:p>
            <a:pPr algn="ctr">
              <a:spcBef>
                <a:spcPts val="1200"/>
              </a:spcBef>
              <a:spcAft>
                <a:spcPts val="0"/>
              </a:spcAft>
              <a:buClr>
                <a:schemeClr val="bg1"/>
              </a:buClr>
              <a:buSzPct val="25000"/>
              <a:buFont typeface="Monotype Sorts" pitchFamily="2" charset="2"/>
              <a:buNone/>
            </a:pPr>
            <a:r>
              <a:rPr lang="en-US" dirty="0" smtClean="0">
                <a:solidFill>
                  <a:srgbClr val="004B65"/>
                </a:solidFill>
              </a:rPr>
              <a:t>www.greyling.com</a:t>
            </a:r>
          </a:p>
        </p:txBody>
      </p:sp>
    </p:spTree>
    <p:extLst>
      <p:ext uri="{BB962C8B-B14F-4D97-AF65-F5344CB8AC3E}">
        <p14:creationId xmlns:p14="http://schemas.microsoft.com/office/powerpoint/2010/main" val="983808204"/>
      </p:ext>
    </p:extLst>
  </p:cSld>
  <p:clrMapOvr>
    <a:masterClrMapping/>
  </p:clrMapOvr>
  <p:timing>
    <p:tnLst>
      <p:par>
        <p:cTn id="1" dur="indefinite" restart="never" nodeType="tmRoot"/>
      </p:par>
    </p:tnLst>
  </p:timing>
</p:sld>
</file>

<file path=ppt/theme/theme1.xml><?xml version="1.0" encoding="utf-8"?>
<a:theme xmlns:a="http://schemas.openxmlformats.org/drawingml/2006/main" name="ACE limited bbar">
  <a:themeElements>
    <a:clrScheme name="ACE limited bbar 1">
      <a:dk1>
        <a:srgbClr val="000000"/>
      </a:dk1>
      <a:lt1>
        <a:srgbClr val="FFFFFF"/>
      </a:lt1>
      <a:dk2>
        <a:srgbClr val="81CFEC"/>
      </a:dk2>
      <a:lt2>
        <a:srgbClr val="3A5959"/>
      </a:lt2>
      <a:accent1>
        <a:srgbClr val="70BC1F"/>
      </a:accent1>
      <a:accent2>
        <a:srgbClr val="F0AF00"/>
      </a:accent2>
      <a:accent3>
        <a:srgbClr val="FFFFFF"/>
      </a:accent3>
      <a:accent4>
        <a:srgbClr val="000000"/>
      </a:accent4>
      <a:accent5>
        <a:srgbClr val="BBDAAB"/>
      </a:accent5>
      <a:accent6>
        <a:srgbClr val="D99E00"/>
      </a:accent6>
      <a:hlink>
        <a:srgbClr val="A41128"/>
      </a:hlink>
      <a:folHlink>
        <a:srgbClr val="005C79"/>
      </a:folHlink>
    </a:clrScheme>
    <a:fontScheme name="ACE limited bbar">
      <a:majorFont>
        <a:latin typeface="News Gothic"/>
        <a:ea typeface=""/>
        <a:cs typeface=""/>
      </a:majorFont>
      <a:minorFont>
        <a:latin typeface="News Gothic"/>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2"/>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chemeClr val="bg2"/>
            </a:solidFill>
            <a:effectLst/>
            <a:latin typeface="News Gothic"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2"/>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smtClean="0">
            <a:ln>
              <a:noFill/>
            </a:ln>
            <a:solidFill>
              <a:schemeClr val="bg2"/>
            </a:solidFill>
            <a:effectLst/>
            <a:latin typeface="News Gothic" pitchFamily="34" charset="0"/>
          </a:defRPr>
        </a:defPPr>
      </a:lstStyle>
    </a:lnDef>
  </a:objectDefaults>
  <a:extraClrSchemeLst>
    <a:extraClrScheme>
      <a:clrScheme name="ACE limited bbar 1">
        <a:dk1>
          <a:srgbClr val="000000"/>
        </a:dk1>
        <a:lt1>
          <a:srgbClr val="FFFFFF"/>
        </a:lt1>
        <a:dk2>
          <a:srgbClr val="81CFEC"/>
        </a:dk2>
        <a:lt2>
          <a:srgbClr val="3A5959"/>
        </a:lt2>
        <a:accent1>
          <a:srgbClr val="70BC1F"/>
        </a:accent1>
        <a:accent2>
          <a:srgbClr val="F0AF00"/>
        </a:accent2>
        <a:accent3>
          <a:srgbClr val="FFFFFF"/>
        </a:accent3>
        <a:accent4>
          <a:srgbClr val="000000"/>
        </a:accent4>
        <a:accent5>
          <a:srgbClr val="BBDAAB"/>
        </a:accent5>
        <a:accent6>
          <a:srgbClr val="D99E00"/>
        </a:accent6>
        <a:hlink>
          <a:srgbClr val="A41128"/>
        </a:hlink>
        <a:folHlink>
          <a:srgbClr val="005C79"/>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C:\WINNT\Profiles\Production\Desktop\ace powerpoint v2\ACE limited bbar.pot</Template>
  <TotalTime>6271</TotalTime>
  <Pages>16</Pages>
  <Words>1882</Words>
  <Application>Microsoft Office PowerPoint</Application>
  <PresentationFormat>On-screen Show (4:3)</PresentationFormat>
  <Paragraphs>503</Paragraphs>
  <Slides>31</Slides>
  <Notes>12</Notes>
  <HiddenSlides>0</HiddenSlides>
  <MMClips>0</MMClips>
  <ScaleCrop>false</ScaleCrop>
  <HeadingPairs>
    <vt:vector size="4" baseType="variant">
      <vt:variant>
        <vt:lpstr>Theme</vt:lpstr>
      </vt:variant>
      <vt:variant>
        <vt:i4>1</vt:i4>
      </vt:variant>
      <vt:variant>
        <vt:lpstr>Slide Titles</vt:lpstr>
      </vt:variant>
      <vt:variant>
        <vt:i4>31</vt:i4>
      </vt:variant>
    </vt:vector>
  </HeadingPairs>
  <TitlesOfParts>
    <vt:vector size="32" baseType="lpstr">
      <vt:lpstr>ACE limited bbar</vt:lpstr>
      <vt:lpstr>Group Captive Insurance for Engineers</vt:lpstr>
      <vt:lpstr>Why consider Group Captives?</vt:lpstr>
      <vt:lpstr>Cost Impact Study of Group Captives</vt:lpstr>
      <vt:lpstr>Types of Captives</vt:lpstr>
      <vt:lpstr>Evolution Insurance Company, Ltd.</vt:lpstr>
      <vt:lpstr>Evolution Insurance Company, Ltd.</vt:lpstr>
      <vt:lpstr>Engineering Firms in Group Captive </vt:lpstr>
      <vt:lpstr>Who is Captive Resources?</vt:lpstr>
      <vt:lpstr>Why Are Your Costs Lower? Recapturing Previously Lost Dollars</vt:lpstr>
      <vt:lpstr>Insurance Coverages</vt:lpstr>
      <vt:lpstr>Program Design</vt:lpstr>
      <vt:lpstr>Program Design Coverage: General Liability, Workers Compensation/Employers Liability and Business Auto</vt:lpstr>
      <vt:lpstr>Captive Service Providers</vt:lpstr>
      <vt:lpstr>Funding for Losses</vt:lpstr>
      <vt:lpstr>Premium</vt:lpstr>
      <vt:lpstr>Captive Program</vt:lpstr>
      <vt:lpstr>Captive Program – Sample Funds Breakdown for KPFF</vt:lpstr>
      <vt:lpstr>Loss Example #1 (A Typical Year) $40,000 in claims less than $100,000 each</vt:lpstr>
      <vt:lpstr>Loss Example #2 (Catastrophe Year) $20,000 in claims less than $100,000 each plus a $1M claim</vt:lpstr>
      <vt:lpstr>Loss Example #2 (Catastrophe Year) $20,000 in claims less than $100,000 each plus a $1M claim</vt:lpstr>
      <vt:lpstr>Loss Example #3 (High Frequency Year) $200,000 in claims less than $100,000 each</vt:lpstr>
      <vt:lpstr>Experience Adjustment Schedule</vt:lpstr>
      <vt:lpstr>What is my investment?</vt:lpstr>
      <vt:lpstr>Collateral</vt:lpstr>
      <vt:lpstr>Collateral Requirements</vt:lpstr>
      <vt:lpstr>Collateral Requirements</vt:lpstr>
      <vt:lpstr>Program Overview / Timing</vt:lpstr>
      <vt:lpstr>Cash Flow for a Single Policy Year</vt:lpstr>
      <vt:lpstr>Commonly Asked Questions</vt:lpstr>
      <vt:lpstr>Fundamental Benefits</vt:lpstr>
      <vt:lpstr>Questions</vt:lpstr>
    </vt:vector>
  </TitlesOfParts>
  <Company>Interbrand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Slide Title</dc:title>
  <dc:creator>Production</dc:creator>
  <cp:lastModifiedBy>Matias Ormaza</cp:lastModifiedBy>
  <cp:revision>523</cp:revision>
  <cp:lastPrinted>2013-05-01T23:58:14Z</cp:lastPrinted>
  <dcterms:created xsi:type="dcterms:W3CDTF">2002-03-25T16:57:57Z</dcterms:created>
  <dcterms:modified xsi:type="dcterms:W3CDTF">2016-07-13T15:14:39Z</dcterms:modified>
</cp:coreProperties>
</file>