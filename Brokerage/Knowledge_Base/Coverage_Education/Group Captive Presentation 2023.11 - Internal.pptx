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7"/>
  </p:notesMasterIdLst>
  <p:sldIdLst>
    <p:sldId id="365" r:id="rId2"/>
    <p:sldId id="340" r:id="rId3"/>
    <p:sldId id="341" r:id="rId4"/>
    <p:sldId id="342" r:id="rId5"/>
    <p:sldId id="343" r:id="rId6"/>
    <p:sldId id="363" r:id="rId7"/>
    <p:sldId id="354" r:id="rId8"/>
    <p:sldId id="346" r:id="rId9"/>
    <p:sldId id="366" r:id="rId10"/>
    <p:sldId id="347" r:id="rId11"/>
    <p:sldId id="316" r:id="rId12"/>
    <p:sldId id="287" r:id="rId13"/>
    <p:sldId id="360" r:id="rId14"/>
    <p:sldId id="367" r:id="rId15"/>
    <p:sldId id="300" r:id="rId16"/>
    <p:sldId id="376" r:id="rId17"/>
    <p:sldId id="357" r:id="rId18"/>
    <p:sldId id="372" r:id="rId19"/>
    <p:sldId id="377" r:id="rId20"/>
    <p:sldId id="373" r:id="rId21"/>
    <p:sldId id="374" r:id="rId22"/>
    <p:sldId id="379" r:id="rId23"/>
    <p:sldId id="375" r:id="rId24"/>
    <p:sldId id="378" r:id="rId25"/>
    <p:sldId id="353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7619F"/>
    <a:srgbClr val="FFFFFF"/>
    <a:srgbClr val="AD5366"/>
    <a:srgbClr val="FFD85B"/>
    <a:srgbClr val="FFCC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 Premium Breakdown</c:v>
                </c:pt>
              </c:strCache>
            </c:strRef>
          </c:tx>
          <c:dPt>
            <c:idx val="0"/>
            <c:bubble3D val="0"/>
            <c:spPr>
              <a:solidFill>
                <a:srgbClr val="1B365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90E-40FE-A2BB-BAFA1292C53E}"/>
              </c:ext>
            </c:extLst>
          </c:dPt>
          <c:dPt>
            <c:idx val="1"/>
            <c:bubble3D val="0"/>
            <c:spPr>
              <a:solidFill>
                <a:srgbClr val="2DA2BF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90E-40FE-A2BB-BAFA1292C53E}"/>
              </c:ext>
            </c:extLst>
          </c:dPt>
          <c:dPt>
            <c:idx val="2"/>
            <c:bubble3D val="0"/>
            <c:spPr>
              <a:solidFill>
                <a:srgbClr val="DA1F2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90E-40FE-A2BB-BAFA1292C53E}"/>
              </c:ext>
            </c:extLst>
          </c:dPt>
          <c:dPt>
            <c:idx val="3"/>
            <c:bubble3D val="0"/>
            <c:spPr>
              <a:solidFill>
                <a:srgbClr val="EB641B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E90E-40FE-A2BB-BAFA1292C53E}"/>
              </c:ext>
            </c:extLst>
          </c:dPt>
          <c:dPt>
            <c:idx val="4"/>
            <c:bubble3D val="0"/>
            <c:spPr>
              <a:solidFill>
                <a:srgbClr val="F5C542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E90E-40FE-A2BB-BAFA1292C53E}"/>
              </c:ext>
            </c:extLst>
          </c:dPt>
          <c:dPt>
            <c:idx val="5"/>
            <c:bubble3D val="0"/>
            <c:spPr>
              <a:solidFill>
                <a:srgbClr val="4CAF50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E90E-40FE-A2BB-BAFA1292C53E}"/>
              </c:ext>
            </c:extLst>
          </c:dPt>
          <c:cat>
            <c:strRef>
              <c:f>Sheet1!$A$2:$A$7</c:f>
              <c:strCache>
                <c:ptCount val="6"/>
                <c:pt idx="0">
                  <c:v>Loss Funds</c:v>
                </c:pt>
                <c:pt idx="1">
                  <c:v>Reinsurance</c:v>
                </c:pt>
                <c:pt idx="2">
                  <c:v>Fronting Costs</c:v>
                </c:pt>
                <c:pt idx="3">
                  <c:v>Claims Admin</c:v>
                </c:pt>
                <c:pt idx="4">
                  <c:v>Risk Control</c:v>
                </c:pt>
                <c:pt idx="5">
                  <c:v>Off Shore Expense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0.65</c:v>
                </c:pt>
                <c:pt idx="1">
                  <c:v>0.13</c:v>
                </c:pt>
                <c:pt idx="2">
                  <c:v>0.11</c:v>
                </c:pt>
                <c:pt idx="3">
                  <c:v>0.04</c:v>
                </c:pt>
                <c:pt idx="4">
                  <c:v>0.01</c:v>
                </c:pt>
                <c:pt idx="5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90-4090-ABE4-7C6F747936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 rot="0" spcFirstLastPara="1" vertOverflow="ellipsis" wrap="square" anchor="ctr" anchorCtr="1"/>
        <a:lstStyle/>
        <a:p>
          <a:pPr>
            <a:defRPr sz="1200" b="0">
              <a:solidFill>
                <a:srgbClr val="1B365D"/>
              </a:solidFill>
              <a:latin typeface="Noto Sans"/>
            </a:defRPr>
          </a:pPr>
          <a:endParaRPr lang="en-US"/>
        </a:p>
      </c:txPr>
    </c:legend>
    <c:plotVisOnly val="1"/>
    <c:dispBlanksAs val="gap"/>
    <c:showDLblsOverMax val="0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0.02703</cdr:x>
      <cdr:y>0</cdr:y>
    </cdr:from>
    <cdr:to>
      <cdr:x>0.45946</cdr:x>
      <cdr:y>0.07341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1415983-362A-5A07-7798-B4DF6097A879}"/>
            </a:ext>
          </a:extLst>
        </cdr:cNvPr>
        <cdr:cNvSpPr txBox="1"/>
      </cdr:nvSpPr>
      <cdr:spPr>
        <a:xfrm xmlns:a="http://schemas.openxmlformats.org/drawingml/2006/main">
          <a:off x="228600" y="0"/>
          <a:ext cx="3657600" cy="3579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dirty="0"/>
            <a:t>Percents vary by captive.</a:t>
          </a:r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07B48A4-2327-4BA0-AD45-3868B7BE30E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44721B7-D38D-4693-A552-96C6CCA6D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86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01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78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4721B7-D38D-4693-A552-96C6CCA6D7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7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A9A1A78-3A58-43CA-91F1-9FBC5616D6D9}" type="slidenum">
              <a:rPr lang="en-US" altLang="en-US" smtClean="0">
                <a:cs typeface="Arial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616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989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51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200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14276EA-FDA3-47BB-AA94-4DBB72E842B2}" type="datetime1">
              <a:rPr lang="en-US" smtClean="0"/>
              <a:t>4/29/2026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063E0-8C03-49A1-B067-B8112EF5FEFB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D6DC-184E-4AC6-AD6E-78D6E636BE92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1C83-AECC-49B2-B91F-555D13E48256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90EB1-8943-43D4-8DC3-7FBEC94E5CB3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143EE-DDD5-423D-B42A-0A63CBC0CD37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1FCA-24B4-47E0-BB3C-F9CB5D18BDDB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851FF39-0F71-4DA3-81F2-9A7D3BC073AD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8D7E055-8CFA-4F86-AE7E-86B3AC667AAA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6B49-AFAB-4CEE-876E-6F2C97D8947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E5C-0FB9-4C84-A66A-7F74D36716A9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A96354A-A543-4887-AE82-142E3B081393}" type="datetime1">
              <a:rPr lang="en-US" smtClean="0"/>
              <a:t>4/29/2026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Confidential &amp; Privileged Non-Public Information - 2019 EPIC Insurance Brokers &amp; Consultants, Inc.  Use, disclosure, dissemination, distribution or reproduction is not authorized.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FF78752-CBAD-4919-9765-854D19DDF578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TopHairline"/>
          <p:cNvSpPr/>
          <p:nvPr userDrawn="1"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randMark"/>
          <p:cNvSpPr/>
          <p:nvPr userDrawn="1"/>
        </p:nvSpPr>
        <p:spPr>
          <a:xfrm>
            <a:off x="0" y="0"/>
            <a:ext cx="304800" cy="152400"/>
          </a:xfrm>
          <a:prstGeom prst="rect">
            <a:avLst/>
          </a:prstGeom>
          <a:solidFill>
            <a:srgbClr val="2DA2B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rgbClr val="1B365D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rgbClr val="1B365D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rgbClr val="1B365D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rgbClr val="1B365D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rgbClr val="1B365D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rgbClr val="1B365D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rgbClr val="1B365D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rgbClr val="1B365D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rgbClr val="1B365D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rgbClr val="1B365D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1142999"/>
          </a:xfrm>
        </p:spPr>
        <p:txBody>
          <a:bodyPr/>
          <a:lstStyle/>
          <a:p>
            <a:pPr algn="l"/>
            <a:r>
              <a:rPr lang="en-US" sz="6000" b="1" dirty="0">
                <a:solidFill>
                  <a:schemeClr val="dk1"/>
                </a:solidFill>
              </a:rPr>
              <a:t>Captives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905000"/>
            <a:ext cx="6400800" cy="76200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accent1"/>
                </a:solidFill>
              </a:rPr>
              <a:t>An Introduction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</a:t>
            </a:fld>
            <a:endParaRPr lang="en-US"/>
          </a:p>
        </p:txBody>
      </p:sp>
      <p:pic>
        <p:nvPicPr>
          <p:cNvPr id="11" name="Graphic 11" descr="Crane hero 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30480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chemeClr val="dk1"/>
                </a:solidFill>
              </a:rPr>
              <a:t>A captive is an </a:t>
            </a:r>
            <a:r>
              <a:rPr lang="en-US" sz="2800" b="1" dirty="0">
                <a:solidFill>
                  <a:schemeClr val="accent2"/>
                </a:solidFill>
              </a:rPr>
              <a:t>insurance company</a:t>
            </a:r>
            <a:r>
              <a:rPr lang="en-US" sz="2800" dirty="0">
                <a:solidFill>
                  <a:schemeClr val="dk1"/>
                </a:solidFill>
              </a:rPr>
              <a:t> owned and controlled by the businesses it insures.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chemeClr val="dk2"/>
                </a:solidFill>
              </a:rPr>
              <a:t>Instead of paying premiums to a traditional carrier, owners pool risk together and capture the underwriting profit and investment income that would otherwise belong to the insurer.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Captive?</a:t>
            </a:r>
          </a:p>
        </p:txBody>
      </p:sp>
    </p:spTree>
    <p:extLst>
      <p:ext uri="{BB962C8B-B14F-4D97-AF65-F5344CB8AC3E}">
        <p14:creationId xmlns:p14="http://schemas.microsoft.com/office/powerpoint/2010/main" val="84423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dirty="0"/>
              <a:t>Captives have existed since the 1950s and have grown rapidly over the past three decades.</a:t>
            </a:r>
          </a:p>
          <a:p>
            <a:pPr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dirty="0"/>
              <a:t>Today there are </a:t>
            </a:r>
            <a:r>
              <a:rPr lang="en-US" sz="1800" b="1" dirty="0">
                <a:solidFill>
                  <a:schemeClr val="accent2"/>
                </a:solidFill>
              </a:rPr>
              <a:t>6,500+ captives</a:t>
            </a:r>
            <a:r>
              <a:rPr lang="en-US" sz="1800" dirty="0"/>
              <a:t> writing </a:t>
            </a:r>
            <a:r>
              <a:rPr lang="en-US" sz="1800" b="1" dirty="0">
                <a:solidFill>
                  <a:schemeClr val="accent2"/>
                </a:solidFill>
              </a:rPr>
              <a:t>$200B+ in premium</a:t>
            </a:r>
            <a:r>
              <a:rPr lang="en-US" sz="1800" dirty="0"/>
              <a:t> worldwide.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Group Captives</a:t>
            </a:r>
          </a:p>
        </p:txBody>
      </p:sp>
    </p:spTree>
    <p:extLst>
      <p:ext uri="{BB962C8B-B14F-4D97-AF65-F5344CB8AC3E}">
        <p14:creationId xmlns:p14="http://schemas.microsoft.com/office/powerpoint/2010/main" val="319692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Lower costs, better cash flow.</a:t>
            </a:r>
            <a:r>
              <a:rPr lang="en-US" sz="1600" dirty="0"/>
              <a:t> Premiums reflect your loss experience, not the broader market.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Insulation from market swings.</a:t>
            </a:r>
            <a:r>
              <a:rPr lang="en-US" sz="1600" dirty="0"/>
              <a:t> Owners control their insurance destiny rather than ride hard-market cycles.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Direct claim control.</a:t>
            </a:r>
            <a:r>
              <a:rPr lang="en-US" sz="1600" dirty="0"/>
              <a:t> Members participate in claims decisions, not just receive notices.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Best-in-class peer group.</a:t>
            </a:r>
            <a:r>
              <a:rPr lang="en-US" sz="1600" dirty="0"/>
              <a:t> Members share safety, risk, and claims practices that compound over time.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Elevated risk management.</a:t>
            </a:r>
            <a:r>
              <a:rPr lang="en-US" sz="1600" dirty="0"/>
              <a:t> Captive participation forces a more disciplined safety culture.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Insurance becomes an investment.</a:t>
            </a:r>
            <a:r>
              <a:rPr lang="en-US" sz="1600" dirty="0"/>
              <a:t> Underwriting profit and investment income flow back to owners, not the carrier.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a Group Captive:</a:t>
            </a:r>
          </a:p>
        </p:txBody>
      </p:sp>
    </p:spTree>
    <p:extLst>
      <p:ext uri="{BB962C8B-B14F-4D97-AF65-F5344CB8AC3E}">
        <p14:creationId xmlns:p14="http://schemas.microsoft.com/office/powerpoint/2010/main" val="285882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Lower pay-in premium</a:t>
            </a:r>
            <a:r>
              <a:rPr lang="en-US" sz="1600" dirty="0"/>
              <a:t> tied directly to your loss experience.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Fully tax-deductible</a:t>
            </a:r>
            <a:r>
              <a:rPr lang="en-US" sz="1600" dirty="0"/>
              <a:t> at the operating-company level.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Investment income</a:t>
            </a:r>
            <a:r>
              <a:rPr lang="en-US" sz="1600" dirty="0"/>
              <a:t> earned on loss funds and collateral.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Dividends</a:t>
            </a:r>
            <a:r>
              <a:rPr lang="en-US" sz="1600" dirty="0"/>
              <a:t> can be paid to individuals, trusts, or entities outside the corporation.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Transparent premium calculation</a:t>
            </a:r>
            <a:r>
              <a:rPr lang="en-US" sz="1600" dirty="0"/>
              <a:t> — no black-box rate increases.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Predictable cash flow</a:t>
            </a:r>
            <a:r>
              <a:rPr lang="en-US" sz="1600" dirty="0"/>
              <a:t> without large single-period spikes.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Policies close five years post-expiration</a:t>
            </a:r>
            <a:r>
              <a:rPr lang="en-US" sz="1600" dirty="0"/>
              <a:t>, returning unused funds to owners.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Advantages of a Group Captive:</a:t>
            </a:r>
          </a:p>
        </p:txBody>
      </p:sp>
    </p:spTree>
    <p:extLst>
      <p:ext uri="{BB962C8B-B14F-4D97-AF65-F5344CB8AC3E}">
        <p14:creationId xmlns:p14="http://schemas.microsoft.com/office/powerpoint/2010/main" val="342268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 panose="020B0604020202020204" pitchFamily="34" charset="0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Best-in-class operator    </a:t>
            </a:r>
            <a:r>
              <a:rPr lang="en-US" sz="1400" dirty="0"/>
              <a:t>tough class doesn't disqualify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Financially strong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Better-than-average loss ratios    </a:t>
            </a:r>
            <a:r>
              <a:rPr lang="en-US" sz="1400" dirty="0"/>
              <a:t>5-year track record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Strong safety culture    </a:t>
            </a:r>
            <a:r>
              <a:rPr lang="en-US" sz="1400" dirty="0"/>
              <a:t>backed by leadership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$200K+ in qualifying premium    </a:t>
            </a:r>
            <a:r>
              <a:rPr lang="en-US" sz="1400" dirty="0"/>
              <a:t>WC, GL, or Auto</a:t>
            </a:r>
          </a:p>
          <a:p>
            <a:pPr marL="285750" indent="-285750">
              <a:lnSpc>
                <a:spcPct val="100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No catastrophic exposures    </a:t>
            </a:r>
            <a:r>
              <a:rPr lang="en-US" sz="1400" dirty="0"/>
              <a:t>unless separately insurable</a:t>
            </a:r>
          </a:p>
          <a:p>
            <a:pPr marL="285750" indent="-285750">
              <a:lnSpc>
                <a:spcPct val="100000"/>
              </a:lnSpc>
              <a:buClr>
                <a:schemeClr val="accent2"/>
              </a:buClr>
              <a:buFont typeface="Arial"/>
              <a:buChar char="■"/>
            </a:pPr>
            <a:r>
              <a:rPr lang="en-US" sz="1600" b="1" dirty="0">
                <a:solidFill>
                  <a:schemeClr val="accent2"/>
                </a:solidFill>
              </a:rPr>
              <a:t>Profit mindset    </a:t>
            </a:r>
            <a:r>
              <a:rPr lang="en-US" sz="1400" dirty="0"/>
              <a:t>insurance as investment, not expense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companies should be considering a Group Captive?</a:t>
            </a:r>
          </a:p>
        </p:txBody>
      </p:sp>
    </p:spTree>
    <p:extLst>
      <p:ext uri="{BB962C8B-B14F-4D97-AF65-F5344CB8AC3E}">
        <p14:creationId xmlns:p14="http://schemas.microsoft.com/office/powerpoint/2010/main" val="126247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324966-8B64-2C89-42CF-DB3AE0072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7</a:t>
            </a:fld>
            <a:endParaRPr lang="en-US"/>
          </a:p>
        </p:txBody>
      </p:sp>
      <p:sp>
        <p:nvSpPr>
          <p:cNvPr id="13314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Types of Captives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AB9433-9755-4BB5-B769-A9D3C1C0F3F6}"/>
              </a:ext>
            </a:extLst>
          </p:cNvPr>
          <p:cNvSpPr/>
          <p:nvPr/>
        </p:nvSpPr>
        <p:spPr>
          <a:xfrm>
            <a:off x="3556000" y="1651000"/>
            <a:ext cx="2032000" cy="457200"/>
          </a:xfrm>
          <a:prstGeom prst="round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Captive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37ABF2-C10C-4217-9A58-561416C08551}"/>
              </a:ext>
            </a:extLst>
          </p:cNvPr>
          <p:cNvSpPr/>
          <p:nvPr/>
        </p:nvSpPr>
        <p:spPr>
          <a:xfrm>
            <a:off x="4445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Single Parent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3BF2D2-A455-42EB-A41A-1C2B8B6A0028}"/>
              </a:ext>
            </a:extLst>
          </p:cNvPr>
          <p:cNvSpPr/>
          <p:nvPr/>
        </p:nvSpPr>
        <p:spPr>
          <a:xfrm>
            <a:off x="21590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Group Captive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14C6C1-5150-477B-BAA3-DEE5BC6CE86A}"/>
              </a:ext>
            </a:extLst>
          </p:cNvPr>
          <p:cNvSpPr/>
          <p:nvPr/>
        </p:nvSpPr>
        <p:spPr>
          <a:xfrm>
            <a:off x="38735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Rent-a-Captive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CC3F73-914A-48AC-8322-7F14AE06EA76}"/>
              </a:ext>
            </a:extLst>
          </p:cNvPr>
          <p:cNvSpPr/>
          <p:nvPr/>
        </p:nvSpPr>
        <p:spPr>
          <a:xfrm>
            <a:off x="55880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Agency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D13C6D-2FF9-4082-8276-F584F3F048B2}"/>
              </a:ext>
            </a:extLst>
          </p:cNvPr>
          <p:cNvSpPr/>
          <p:nvPr/>
        </p:nvSpPr>
        <p:spPr>
          <a:xfrm>
            <a:off x="7302500" y="2794000"/>
            <a:ext cx="1397000" cy="558800"/>
          </a:xfrm>
          <a:prstGeom prst="round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Micro
(831(b))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2E0C06-F725-4AEC-A01A-57C79BD94CD8}"/>
              </a:ext>
            </a:extLst>
          </p:cNvPr>
          <p:cNvSpPr/>
          <p:nvPr/>
        </p:nvSpPr>
        <p:spPr>
          <a:xfrm>
            <a:off x="4565650" y="21082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63BE9E-DAC9-48F1-828E-42AF36BA026B}"/>
              </a:ext>
            </a:extLst>
          </p:cNvPr>
          <p:cNvSpPr/>
          <p:nvPr/>
        </p:nvSpPr>
        <p:spPr>
          <a:xfrm>
            <a:off x="1143000" y="2444750"/>
            <a:ext cx="6858000" cy="127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01FD1D-28C3-417A-9EA5-DE7E34320570}"/>
              </a:ext>
            </a:extLst>
          </p:cNvPr>
          <p:cNvSpPr/>
          <p:nvPr/>
        </p:nvSpPr>
        <p:spPr>
          <a:xfrm>
            <a:off x="11366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F5536A-690F-4F11-B8AB-7047F24196B3}"/>
              </a:ext>
            </a:extLst>
          </p:cNvPr>
          <p:cNvSpPr/>
          <p:nvPr/>
        </p:nvSpPr>
        <p:spPr>
          <a:xfrm>
            <a:off x="28511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642D0F-9202-4551-A684-8B1D6D1986FB}"/>
              </a:ext>
            </a:extLst>
          </p:cNvPr>
          <p:cNvSpPr/>
          <p:nvPr/>
        </p:nvSpPr>
        <p:spPr>
          <a:xfrm>
            <a:off x="45656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F11C02-A205-44AF-8FFB-F6E93EC930CC}"/>
              </a:ext>
            </a:extLst>
          </p:cNvPr>
          <p:cNvSpPr/>
          <p:nvPr/>
        </p:nvSpPr>
        <p:spPr>
          <a:xfrm>
            <a:off x="62801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7E6306-26EE-4475-AF6D-3A1866AA220A}"/>
              </a:ext>
            </a:extLst>
          </p:cNvPr>
          <p:cNvSpPr/>
          <p:nvPr/>
        </p:nvSpPr>
        <p:spPr>
          <a:xfrm>
            <a:off x="7994650" y="2451100"/>
            <a:ext cx="12700" cy="3429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608E1D-9848-4322-81EB-F75F9DC4F237}"/>
              </a:ext>
            </a:extLst>
          </p:cNvPr>
          <p:cNvSpPr/>
          <p:nvPr/>
        </p:nvSpPr>
        <p:spPr>
          <a:xfrm>
            <a:off x="1892300" y="4064000"/>
            <a:ext cx="1651000" cy="482600"/>
          </a:xfrm>
          <a:prstGeom prst="roundRect">
            <a:avLst/>
          </a:prstGeom>
          <a:solidFill>
            <a:srgbClr val="FFFFFF"/>
          </a:solidFill>
          <a:ln w="12700" cap="flat" cmpd="thickThin" algn="ctr">
            <a:solidFill>
              <a:srgbClr val="1B365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Homogeneous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3CCBD22-C00A-4C5B-8B27-DB1A012D0625}"/>
              </a:ext>
            </a:extLst>
          </p:cNvPr>
          <p:cNvSpPr/>
          <p:nvPr/>
        </p:nvSpPr>
        <p:spPr>
          <a:xfrm>
            <a:off x="3746500" y="4064000"/>
            <a:ext cx="1651000" cy="482600"/>
          </a:xfrm>
          <a:prstGeom prst="roundRect">
            <a:avLst/>
          </a:prstGeom>
          <a:solidFill>
            <a:srgbClr val="FFFFFF"/>
          </a:solidFill>
          <a:ln w="12700" cap="flat" cmpd="thickThin" algn="ctr">
            <a:solidFill>
              <a:srgbClr val="1B365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Heterogeneous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507461-AA02-4606-B174-86277DCC2E86}"/>
              </a:ext>
            </a:extLst>
          </p:cNvPr>
          <p:cNvSpPr/>
          <p:nvPr/>
        </p:nvSpPr>
        <p:spPr>
          <a:xfrm>
            <a:off x="5600700" y="4064000"/>
            <a:ext cx="1651000" cy="482600"/>
          </a:xfrm>
          <a:prstGeom prst="roundRect">
            <a:avLst/>
          </a:prstGeom>
          <a:solidFill>
            <a:srgbClr val="FFFFFF"/>
          </a:solidFill>
          <a:ln w="12700" cap="flat" cmpd="thickThin" algn="ctr">
            <a:solidFill>
              <a:srgbClr val="1B365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Medical Stop Loss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E17CF5-3FE4-48F6-9E84-876BE75F1D02}"/>
              </a:ext>
            </a:extLst>
          </p:cNvPr>
          <p:cNvSpPr/>
          <p:nvPr/>
        </p:nvSpPr>
        <p:spPr>
          <a:xfrm>
            <a:off x="2851150" y="3352800"/>
            <a:ext cx="12700" cy="3556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399AFC-4198-40F5-AA9C-B25A0EA6D4AF}"/>
              </a:ext>
            </a:extLst>
          </p:cNvPr>
          <p:cNvSpPr/>
          <p:nvPr/>
        </p:nvSpPr>
        <p:spPr>
          <a:xfrm>
            <a:off x="2717800" y="3702050"/>
            <a:ext cx="3708400" cy="127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C20F08-C59C-4EE6-8AEF-1A9162CDF1D7}"/>
              </a:ext>
            </a:extLst>
          </p:cNvPr>
          <p:cNvSpPr/>
          <p:nvPr/>
        </p:nvSpPr>
        <p:spPr>
          <a:xfrm>
            <a:off x="2711450" y="3708400"/>
            <a:ext cx="12700" cy="3556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1F0D3A-E860-4F96-ACCF-7E8399CD63F1}"/>
              </a:ext>
            </a:extLst>
          </p:cNvPr>
          <p:cNvSpPr/>
          <p:nvPr/>
        </p:nvSpPr>
        <p:spPr>
          <a:xfrm>
            <a:off x="4565650" y="3708400"/>
            <a:ext cx="12700" cy="3556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7E1AE4-768E-4AF9-B004-0322BEB4F921}"/>
              </a:ext>
            </a:extLst>
          </p:cNvPr>
          <p:cNvSpPr/>
          <p:nvPr/>
        </p:nvSpPr>
        <p:spPr>
          <a:xfrm>
            <a:off x="6419850" y="3708400"/>
            <a:ext cx="12700" cy="3556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AD5564-5A1A-4713-A1AB-447CC0C72D67}"/>
              </a:ext>
            </a:extLst>
          </p:cNvPr>
          <p:cNvSpPr txBox="1"/>
          <p:nvPr/>
        </p:nvSpPr>
        <p:spPr>
          <a:xfrm>
            <a:off x="457200" y="5588000"/>
            <a:ext cx="82296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i="1" dirty="0">
                <a:solidFill>
                  <a:schemeClr val="dk2"/>
                </a:solidFill>
              </a:rPr>
              <a:t>This overview focuses primarily on Group Captives.</a:t>
            </a:r>
          </a:p>
        </p:txBody>
      </p:sp>
    </p:spTree>
    <p:extLst>
      <p:ext uri="{BB962C8B-B14F-4D97-AF65-F5344CB8AC3E}">
        <p14:creationId xmlns:p14="http://schemas.microsoft.com/office/powerpoint/2010/main" val="293930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One WC rate</a:t>
            </a:r>
            <a:r>
              <a:rPr lang="en-US" sz="1800" dirty="0"/>
              <a:t> for all classifications across all states.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One GL rate</a:t>
            </a:r>
            <a:r>
              <a:rPr lang="en-US" sz="1800" dirty="0"/>
              <a:t> for all exposures across all states.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One Auto Liability and one Physical Damage rate</a:t>
            </a:r>
            <a:r>
              <a:rPr lang="en-US" sz="1800" dirty="0"/>
              <a:t> for the entire fleet.</a:t>
            </a:r>
          </a:p>
          <a:p>
            <a:pPr>
              <a:lnSpc>
                <a:spcPct val="115000"/>
              </a:lnSpc>
              <a:spcBef>
                <a:spcPts val="1500"/>
              </a:spcBef>
              <a:buNone/>
            </a:pPr>
            <a:r>
              <a:rPr lang="en-US" sz="1500" i="1" dirty="0">
                <a:solidFill>
                  <a:schemeClr val="dk2"/>
                </a:solidFill>
              </a:rPr>
              <a:t>One transparent calculation across the entire program — no surprise renewals, no class-code games.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Rating Structure</a:t>
            </a:r>
          </a:p>
        </p:txBody>
      </p:sp>
    </p:spTree>
    <p:extLst>
      <p:ext uri="{BB962C8B-B14F-4D97-AF65-F5344CB8AC3E}">
        <p14:creationId xmlns:p14="http://schemas.microsoft.com/office/powerpoint/2010/main" val="363277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dk1"/>
                </a:solidFill>
              </a:rPr>
              <a:t>Group Captive Categories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9</a:t>
            </a:fld>
            <a:endParaRPr lang="en-US"/>
          </a:p>
        </p:txBody>
      </p:sp>
      <p:pic>
        <p:nvPicPr>
          <p:cNvPr id="8" name="Graphic 8" descr="Blueprint divi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0" y="889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Capitalization:</a:t>
            </a:r>
            <a:r>
              <a:rPr lang="en-US" sz="1700" dirty="0"/>
              <a:t> $36,000 one-time investment.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Premiums &amp; assessments</a:t>
            </a:r>
            <a:r>
              <a:rPr lang="en-US" sz="1700" dirty="0"/>
              <a:t> paid quarterly and on time.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Maintain financial strength</a:t>
            </a:r>
            <a:r>
              <a:rPr lang="en-US" sz="1700" dirty="0"/>
              <a:t> consistent with captive standards.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Drive a strong safety culture</a:t>
            </a:r>
            <a:r>
              <a:rPr lang="en-US" sz="1700" dirty="0"/>
              <a:t> with continuous improvement.</a:t>
            </a:r>
          </a:p>
          <a:p>
            <a:pPr marL="228600" indent="-22860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2"/>
                </a:solidFill>
              </a:rPr>
              <a:t>Active participation:</a:t>
            </a:r>
            <a:r>
              <a:rPr lang="en-US" sz="1700" dirty="0"/>
              <a:t> 1–2 board meetings (offshore), 1 risk-control workshop (domestic), and semi-annual claim reviews (telephonic).</a:t>
            </a:r>
          </a:p>
          <a:p>
            <a:pPr marL="228600">
              <a:lnSpc>
                <a:spcPct val="115000"/>
              </a:lnSpc>
              <a:buNone/>
            </a:pPr>
            <a:r>
              <a:rPr lang="en-US" sz="1400" i="1" dirty="0">
                <a:solidFill>
                  <a:schemeClr val="dk2"/>
                </a:solidFill>
              </a:rPr>
              <a:t>Some captives reimburse member travel post-meeting.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Member’s Obligations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425371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4FBF11-D3C2-5ED2-1788-8E5ED2FD8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Domestic Captive Manager</a:t>
            </a:r>
          </a:p>
          <a:p>
            <a:pPr marL="603504" lvl="2" indent="0">
              <a:buNone/>
            </a:pPr>
            <a:r>
              <a:rPr lang="en-US" dirty="0"/>
              <a:t>Captive Resources, Inc. </a:t>
            </a:r>
          </a:p>
          <a:p>
            <a:endParaRPr lang="en-US" dirty="0"/>
          </a:p>
          <a:p>
            <a:r>
              <a:rPr lang="en-US" dirty="0"/>
              <a:t>Cayman Islands Captive Manager </a:t>
            </a:r>
          </a:p>
          <a:p>
            <a:pPr marL="603504" lvl="2" indent="0">
              <a:buNone/>
            </a:pPr>
            <a:r>
              <a:rPr lang="en-US" dirty="0"/>
              <a:t>Kensington Management</a:t>
            </a:r>
          </a:p>
          <a:p>
            <a:endParaRPr lang="en-US" dirty="0"/>
          </a:p>
          <a:p>
            <a:r>
              <a:rPr lang="en-US" dirty="0"/>
              <a:t>Fronting Carrier </a:t>
            </a:r>
          </a:p>
          <a:p>
            <a:pPr marL="603504" lvl="2" indent="0">
              <a:buNone/>
            </a:pPr>
            <a:r>
              <a:rPr lang="en-US" sz="1900" dirty="0"/>
              <a:t>AIG, Zurich</a:t>
            </a:r>
          </a:p>
          <a:p>
            <a:endParaRPr lang="en-US" dirty="0"/>
          </a:p>
          <a:p>
            <a:r>
              <a:rPr lang="en-US" dirty="0"/>
              <a:t>Reinsurance</a:t>
            </a:r>
          </a:p>
          <a:p>
            <a:endParaRPr lang="en-US" dirty="0"/>
          </a:p>
          <a:p>
            <a:r>
              <a:rPr lang="en-US" dirty="0"/>
              <a:t>Third Party Administrator </a:t>
            </a:r>
          </a:p>
          <a:p>
            <a:pPr marL="603504" lvl="2" indent="0">
              <a:buNone/>
            </a:pPr>
            <a:r>
              <a:rPr lang="en-US" dirty="0"/>
              <a:t>Sedgwick, Gallagher Basset, Zurich</a:t>
            </a:r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37232-6451-1940-D306-8DB89DED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916E05-F0BC-D3A1-FEDF-5427C799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Who</a:t>
            </a:r>
          </a:p>
        </p:txBody>
      </p:sp>
    </p:spTree>
    <p:extLst>
      <p:ext uri="{BB962C8B-B14F-4D97-AF65-F5344CB8AC3E}">
        <p14:creationId xmlns:p14="http://schemas.microsoft.com/office/powerpoint/2010/main" val="24295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12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Specific Excess Insurance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972CA-7779-479C-8DE5-181DFF59833A}"/>
              </a:ext>
            </a:extLst>
          </p:cNvPr>
          <p:cNvSpPr txBox="1"/>
          <p:nvPr/>
        </p:nvSpPr>
        <p:spPr>
          <a:xfrm>
            <a:off x="1892300" y="17526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Workers' Comp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777DA-7989-44EA-84E4-3382F9FB35BC}"/>
              </a:ext>
            </a:extLst>
          </p:cNvPr>
          <p:cNvSpPr txBox="1"/>
          <p:nvPr/>
        </p:nvSpPr>
        <p:spPr>
          <a:xfrm>
            <a:off x="3746500" y="17526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General Liability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F910F-EEB4-4355-A8CC-E2E1FDAFBDCE}"/>
              </a:ext>
            </a:extLst>
          </p:cNvPr>
          <p:cNvSpPr txBox="1"/>
          <p:nvPr/>
        </p:nvSpPr>
        <p:spPr>
          <a:xfrm>
            <a:off x="5600700" y="17526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Auto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B126B4-E5F1-4211-B26A-20B7397BF794}"/>
              </a:ext>
            </a:extLst>
          </p:cNvPr>
          <p:cNvSpPr/>
          <p:nvPr/>
        </p:nvSpPr>
        <p:spPr>
          <a:xfrm>
            <a:off x="1892300" y="2159000"/>
            <a:ext cx="5359400" cy="762000"/>
          </a:xfrm>
          <a:prstGeom prst="rect">
            <a:avLst/>
          </a:prstGeom>
          <a:solidFill>
            <a:srgbClr val="94A3B8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Umbrella / Excess Liability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110386-BBAA-4795-9327-740A94974EFF}"/>
              </a:ext>
            </a:extLst>
          </p:cNvPr>
          <p:cNvSpPr/>
          <p:nvPr/>
        </p:nvSpPr>
        <p:spPr>
          <a:xfrm>
            <a:off x="1892300" y="3048000"/>
            <a:ext cx="1651000" cy="1651000"/>
          </a:xfrm>
          <a:prstGeom prst="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Statutory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537D6F-2253-4BF4-BBBF-A7729394A2AD}"/>
              </a:ext>
            </a:extLst>
          </p:cNvPr>
          <p:cNvSpPr/>
          <p:nvPr/>
        </p:nvSpPr>
        <p:spPr>
          <a:xfrm>
            <a:off x="3746500" y="3048000"/>
            <a:ext cx="1651000" cy="1651000"/>
          </a:xfrm>
          <a:prstGeom prst="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$1M Limit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AFEDC-6A78-45C9-B2A1-7FCA04B13A4C}"/>
              </a:ext>
            </a:extLst>
          </p:cNvPr>
          <p:cNvSpPr/>
          <p:nvPr/>
        </p:nvSpPr>
        <p:spPr>
          <a:xfrm>
            <a:off x="5600700" y="3048000"/>
            <a:ext cx="1651000" cy="1651000"/>
          </a:xfrm>
          <a:prstGeom prst="rect">
            <a:avLst/>
          </a:prstGeom>
          <a:solidFill>
            <a:srgbClr val="2DA2BF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$1M Limit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4199E3-7912-4073-A4A0-73A8C80A79D2}"/>
              </a:ext>
            </a:extLst>
          </p:cNvPr>
          <p:cNvSpPr txBox="1"/>
          <p:nvPr/>
        </p:nvSpPr>
        <p:spPr>
          <a:xfrm>
            <a:off x="457200" y="3149600"/>
            <a:ext cx="1333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Specific Excess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BD02C-DBA6-440E-A3E0-D3D7B8E86308}"/>
              </a:ext>
            </a:extLst>
          </p:cNvPr>
          <p:cNvSpPr txBox="1"/>
          <p:nvPr/>
        </p:nvSpPr>
        <p:spPr>
          <a:xfrm>
            <a:off x="457200" y="3479800"/>
            <a:ext cx="1333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i="1">
                <a:solidFill>
                  <a:srgbClr val="0F1F3A"/>
                </a:solidFill>
                <a:latin typeface="Noto Sans"/>
                <a:ea typeface="Noto Sans"/>
                <a:cs typeface="Noto Sans"/>
              </a:rPr>
              <a:t>Carrier covers losses above the captive retention up to policy limits.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BB392D-6F5B-45FB-BA56-DB87D99B68F0}"/>
              </a:ext>
            </a:extLst>
          </p:cNvPr>
          <p:cNvSpPr/>
          <p:nvPr/>
        </p:nvSpPr>
        <p:spPr>
          <a:xfrm>
            <a:off x="1892300" y="4826000"/>
            <a:ext cx="5359400" cy="1016000"/>
          </a:xfrm>
          <a:prstGeom prst="rect">
            <a:avLst/>
          </a:prstGeom>
          <a:solidFill>
            <a:srgbClr val="1B365D"/>
          </a:solidFill>
          <a:ln w="55000" cap="flat" cmpd="thickThin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Captive Retention
$300,000 – $500,000 per occurrence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06350-417A-4622-B690-533596846888}"/>
              </a:ext>
            </a:extLst>
          </p:cNvPr>
          <p:cNvSpPr/>
          <p:nvPr/>
        </p:nvSpPr>
        <p:spPr>
          <a:xfrm>
            <a:off x="7404100" y="3302000"/>
            <a:ext cx="1143000" cy="889000"/>
          </a:xfrm>
          <a:prstGeom prst="rect">
            <a:avLst/>
          </a:prstGeom>
          <a:solidFill>
            <a:srgbClr val="F0F4F8"/>
          </a:solidFill>
          <a:ln w="12700" cap="flat" cmpd="thickThin" algn="ctr">
            <a:solidFill>
              <a:srgbClr val="1B365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1B365D"/>
                </a:solidFill>
                <a:latin typeface="Noto Sans"/>
                <a:ea typeface="Noto Sans"/>
                <a:cs typeface="Noto Sans"/>
              </a:rPr>
              <a:t>Basket &amp; Clash
Included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E7E44-B64B-4D38-900B-A20A4D57EB92}"/>
              </a:ext>
            </a:extLst>
          </p:cNvPr>
          <p:cNvSpPr txBox="1"/>
          <p:nvPr/>
        </p:nvSpPr>
        <p:spPr>
          <a:xfrm>
            <a:off x="457200" y="5842000"/>
            <a:ext cx="822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0F1F3A"/>
                </a:solidFill>
                <a:latin typeface="Noto Sans"/>
                <a:ea typeface="Noto Sans"/>
                <a:cs typeface="Noto Sans"/>
              </a:rPr>
              <a:t>Some captives have increased primary Auto and/or GL limits to $2M.</a:t>
            </a:r>
          </a:p>
        </p:txBody>
      </p:sp>
    </p:spTree>
    <p:extLst>
      <p:ext uri="{BB962C8B-B14F-4D97-AF65-F5344CB8AC3E}">
        <p14:creationId xmlns:p14="http://schemas.microsoft.com/office/powerpoint/2010/main" val="168634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728696"/>
              </p:ext>
            </p:extLst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Group Captive Premium Breakdown</a:t>
            </a:r>
          </a:p>
        </p:txBody>
      </p:sp>
    </p:spTree>
    <p:extLst>
      <p:ext uri="{BB962C8B-B14F-4D97-AF65-F5344CB8AC3E}">
        <p14:creationId xmlns:p14="http://schemas.microsoft.com/office/powerpoint/2010/main" val="237008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400" b="1" dirty="0">
                <a:solidFill>
                  <a:schemeClr val="dk1"/>
                </a:solidFill>
              </a:rPr>
              <a:t>How Premiums Are Calculated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14</a:t>
            </a:fld>
            <a:endParaRPr lang="en-US"/>
          </a:p>
        </p:txBody>
      </p:sp>
      <p:pic>
        <p:nvPicPr>
          <p:cNvPr id="8" name="Graphic 8" descr="Architecture divi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0" y="889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12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16681" y="1818106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Sample Member</a:t>
            </a: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1568977" y="2396090"/>
            <a:ext cx="6145212" cy="332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C6136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Loss Forecast:			$400,000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Fixed Costs:			</a:t>
            </a:r>
            <a:r>
              <a:rPr lang="en-US" altLang="en-US" sz="2800" u="sng" dirty="0">
                <a:latin typeface="Times New Roman" panose="02020603050405020304" pitchFamily="18" charset="0"/>
              </a:rPr>
              <a:t>$192,000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Premium:				$592,000</a:t>
            </a:r>
          </a:p>
          <a:p>
            <a:pPr>
              <a:lnSpc>
                <a:spcPct val="150000"/>
              </a:lnSpc>
            </a:pP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		</a:t>
            </a:r>
            <a:endParaRPr lang="en-US" altLang="en-US" sz="2800" u="sng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		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50181" y="4782388"/>
            <a:ext cx="63198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728" indent="0">
              <a:buNone/>
            </a:pPr>
            <a:r>
              <a:rPr lang="en-US" u="sng" dirty="0"/>
              <a:t>Loss Forecast </a:t>
            </a:r>
            <a:r>
              <a:rPr lang="en-US" dirty="0"/>
              <a:t>– Developed by independent actuary based on a member’s own 5 years of losses and exposures by line of coverage.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10EF9-D6CA-7F4F-2B7C-F61A9B174D14}"/>
              </a:ext>
            </a:extLst>
          </p:cNvPr>
          <p:cNvSpPr txBox="1"/>
          <p:nvPr/>
        </p:nvSpPr>
        <p:spPr>
          <a:xfrm>
            <a:off x="1447800" y="304800"/>
            <a:ext cx="622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IT WORKS - Financially</a:t>
            </a:r>
          </a:p>
        </p:txBody>
      </p:sp>
    </p:spTree>
    <p:extLst>
      <p:ext uri="{BB962C8B-B14F-4D97-AF65-F5344CB8AC3E}">
        <p14:creationId xmlns:p14="http://schemas.microsoft.com/office/powerpoint/2010/main" val="2494225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Funding Structure</a:t>
            </a:r>
          </a:p>
        </p:txBody>
      </p:sp>
      <p:sp>
        <p:nvSpPr>
          <p:cNvPr id="32771" name="Rectangle 13"/>
          <p:cNvSpPr>
            <a:spLocks noChangeArrowheads="1"/>
          </p:cNvSpPr>
          <p:nvPr/>
        </p:nvSpPr>
        <p:spPr bwMode="auto">
          <a:xfrm>
            <a:off x="5334000" y="1289050"/>
            <a:ext cx="3111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 dirty="0">
              <a:solidFill>
                <a:schemeClr val="accent1"/>
              </a:solidFill>
            </a:endParaRPr>
          </a:p>
        </p:txBody>
      </p:sp>
      <p:sp>
        <p:nvSpPr>
          <p:cNvPr id="32772" name="Rectangle 14"/>
          <p:cNvSpPr>
            <a:spLocks noChangeArrowheads="1"/>
          </p:cNvSpPr>
          <p:nvPr/>
        </p:nvSpPr>
        <p:spPr bwMode="auto">
          <a:xfrm>
            <a:off x="492919" y="1157039"/>
            <a:ext cx="35226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600" b="0" dirty="0">
                <a:solidFill>
                  <a:schemeClr val="bg1"/>
                </a:solidFill>
              </a:rPr>
              <a:t>Loss forecast =</a:t>
            </a:r>
            <a:r>
              <a:rPr lang="en-US" altLang="en-US" sz="2600" dirty="0">
                <a:solidFill>
                  <a:schemeClr val="bg1"/>
                </a:solidFill>
              </a:rPr>
              <a:t> $400,000</a:t>
            </a:r>
          </a:p>
        </p:txBody>
      </p:sp>
      <p:sp>
        <p:nvSpPr>
          <p:cNvPr id="32773" name="Rectangle 25"/>
          <p:cNvSpPr>
            <a:spLocks noChangeArrowheads="1"/>
          </p:cNvSpPr>
          <p:nvPr/>
        </p:nvSpPr>
        <p:spPr bwMode="auto">
          <a:xfrm>
            <a:off x="910609" y="2667000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$400,001</a:t>
            </a:r>
          </a:p>
        </p:txBody>
      </p:sp>
      <p:sp>
        <p:nvSpPr>
          <p:cNvPr id="32774" name="Rectangle 26"/>
          <p:cNvSpPr>
            <a:spLocks noChangeArrowheads="1"/>
          </p:cNvSpPr>
          <p:nvPr/>
        </p:nvSpPr>
        <p:spPr bwMode="auto">
          <a:xfrm>
            <a:off x="910609" y="3138488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$400,000</a:t>
            </a:r>
          </a:p>
        </p:txBody>
      </p:sp>
      <p:sp>
        <p:nvSpPr>
          <p:cNvPr id="32775" name="Rectangle 27"/>
          <p:cNvSpPr>
            <a:spLocks noChangeArrowheads="1"/>
          </p:cNvSpPr>
          <p:nvPr/>
        </p:nvSpPr>
        <p:spPr bwMode="auto">
          <a:xfrm>
            <a:off x="943947" y="3952875"/>
            <a:ext cx="104836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$100,001</a:t>
            </a:r>
          </a:p>
        </p:txBody>
      </p:sp>
      <p:sp>
        <p:nvSpPr>
          <p:cNvPr id="32776" name="Rectangle 28"/>
          <p:cNvSpPr>
            <a:spLocks noChangeArrowheads="1"/>
          </p:cNvSpPr>
          <p:nvPr/>
        </p:nvSpPr>
        <p:spPr bwMode="auto">
          <a:xfrm>
            <a:off x="916895" y="4352925"/>
            <a:ext cx="1048430" cy="951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$100,000</a:t>
            </a:r>
          </a:p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$0</a:t>
            </a:r>
          </a:p>
        </p:txBody>
      </p:sp>
      <p:sp>
        <p:nvSpPr>
          <p:cNvPr id="32777" name="Rectangle 29"/>
          <p:cNvSpPr>
            <a:spLocks noChangeArrowheads="1"/>
          </p:cNvSpPr>
          <p:nvPr/>
        </p:nvSpPr>
        <p:spPr bwMode="auto">
          <a:xfrm>
            <a:off x="1493838" y="5697538"/>
            <a:ext cx="180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/>
          </a:p>
        </p:txBody>
      </p:sp>
      <p:sp>
        <p:nvSpPr>
          <p:cNvPr id="32778" name="Line 30"/>
          <p:cNvSpPr>
            <a:spLocks noChangeShapeType="1"/>
          </p:cNvSpPr>
          <p:nvPr/>
        </p:nvSpPr>
        <p:spPr bwMode="auto">
          <a:xfrm>
            <a:off x="937904" y="3105150"/>
            <a:ext cx="993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779" name="Line 31"/>
          <p:cNvSpPr>
            <a:spLocks noChangeShapeType="1"/>
          </p:cNvSpPr>
          <p:nvPr/>
        </p:nvSpPr>
        <p:spPr bwMode="auto">
          <a:xfrm>
            <a:off x="942975" y="4303713"/>
            <a:ext cx="993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780" name="Line 41"/>
          <p:cNvSpPr>
            <a:spLocks noChangeShapeType="1"/>
          </p:cNvSpPr>
          <p:nvPr/>
        </p:nvSpPr>
        <p:spPr bwMode="auto">
          <a:xfrm>
            <a:off x="6756400" y="5537200"/>
            <a:ext cx="1333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2781" name="Group 42"/>
          <p:cNvGrpSpPr>
            <a:grpSpLocks/>
          </p:cNvGrpSpPr>
          <p:nvPr/>
        </p:nvGrpSpPr>
        <p:grpSpPr bwMode="auto">
          <a:xfrm>
            <a:off x="2233613" y="2035175"/>
            <a:ext cx="3438525" cy="1019175"/>
            <a:chOff x="1521" y="1626"/>
            <a:chExt cx="2731" cy="659"/>
          </a:xfrm>
          <a:gradFill>
            <a:gsLst>
              <a:gs pos="0">
                <a:srgbClr val="F5C542"/>
              </a:gs>
              <a:gs pos="100000">
                <a:srgbClr val="2DA2BF"/>
              </a:gs>
              <a:gs pos="100000">
                <a:srgbClr val="1B365D"/>
              </a:gs>
            </a:gsLst>
            <a:lin ang="5400000" scaled="0"/>
          </a:gradFill>
        </p:grpSpPr>
        <p:sp>
          <p:nvSpPr>
            <p:cNvPr id="629803" name="Rectangle 43"/>
            <p:cNvSpPr>
              <a:spLocks noChangeArrowheads="1"/>
            </p:cNvSpPr>
            <p:nvPr/>
          </p:nvSpPr>
          <p:spPr bwMode="auto">
            <a:xfrm>
              <a:off x="1524" y="1626"/>
              <a:ext cx="2728" cy="659"/>
            </a:xfrm>
            <a:prstGeom prst="rect">
              <a:avLst/>
            </a:prstGeom>
            <a:solidFill>
              <a:srgbClr val="F5C54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9" name="Text Box 44"/>
            <p:cNvSpPr txBox="1">
              <a:spLocks noChangeArrowheads="1"/>
            </p:cNvSpPr>
            <p:nvPr/>
          </p:nvSpPr>
          <p:spPr bwMode="auto">
            <a:xfrm>
              <a:off x="1521" y="1801"/>
              <a:ext cx="2719" cy="316"/>
            </a:xfrm>
            <a:prstGeom prst="rect">
              <a:avLst/>
            </a:prstGeom>
            <a:solidFill>
              <a:srgbClr val="F5C54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Reinsurance</a:t>
              </a:r>
            </a:p>
          </p:txBody>
        </p:sp>
      </p:grpSp>
      <p:grpSp>
        <p:nvGrpSpPr>
          <p:cNvPr id="32782" name="Group 45"/>
          <p:cNvGrpSpPr>
            <a:grpSpLocks/>
          </p:cNvGrpSpPr>
          <p:nvPr/>
        </p:nvGrpSpPr>
        <p:grpSpPr bwMode="auto">
          <a:xfrm>
            <a:off x="2254250" y="3228975"/>
            <a:ext cx="3432175" cy="1019175"/>
            <a:chOff x="1516" y="2362"/>
            <a:chExt cx="2728" cy="659"/>
          </a:xfrm>
          <a:gradFill>
            <a:gsLst>
              <a:gs pos="0">
                <a:srgbClr val="EAF4F8"/>
              </a:gs>
              <a:gs pos="50000">
                <a:srgbClr val="2DA2BF"/>
              </a:gs>
              <a:gs pos="100000">
                <a:srgbClr val="1B365D"/>
              </a:gs>
            </a:gsLst>
            <a:lin ang="5400000" scaled="0"/>
          </a:gradFill>
        </p:grpSpPr>
        <p:sp>
          <p:nvSpPr>
            <p:cNvPr id="629806" name="Rectangle 46"/>
            <p:cNvSpPr>
              <a:spLocks noChangeArrowheads="1"/>
            </p:cNvSpPr>
            <p:nvPr/>
          </p:nvSpPr>
          <p:spPr bwMode="auto">
            <a:xfrm>
              <a:off x="1516" y="2362"/>
              <a:ext cx="2728" cy="65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7" name="Text Box 47"/>
            <p:cNvSpPr txBox="1">
              <a:spLocks noChangeArrowheads="1"/>
            </p:cNvSpPr>
            <p:nvPr/>
          </p:nvSpPr>
          <p:spPr bwMode="auto">
            <a:xfrm>
              <a:off x="1521" y="2398"/>
              <a:ext cx="2718" cy="4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B Fund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/>
                <a:t>(Captive Shock Loss Layer)</a:t>
              </a:r>
            </a:p>
          </p:txBody>
        </p:sp>
      </p:grpSp>
      <p:grpSp>
        <p:nvGrpSpPr>
          <p:cNvPr id="32783" name="Group 32"/>
          <p:cNvGrpSpPr>
            <a:grpSpLocks/>
          </p:cNvGrpSpPr>
          <p:nvPr/>
        </p:nvGrpSpPr>
        <p:grpSpPr bwMode="auto">
          <a:xfrm>
            <a:off x="5524502" y="3365500"/>
            <a:ext cx="2449514" cy="492125"/>
            <a:chOff x="3400" y="2536"/>
            <a:chExt cx="1543" cy="310"/>
          </a:xfrm>
        </p:grpSpPr>
        <p:sp>
          <p:nvSpPr>
            <p:cNvPr id="32793" name="Rectangle 33"/>
            <p:cNvSpPr>
              <a:spLocks noChangeArrowheads="1"/>
            </p:cNvSpPr>
            <p:nvPr/>
          </p:nvSpPr>
          <p:spPr bwMode="auto">
            <a:xfrm>
              <a:off x="4144" y="2536"/>
              <a:ext cx="79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$70,000</a:t>
              </a:r>
            </a:p>
          </p:txBody>
        </p:sp>
        <p:sp>
          <p:nvSpPr>
            <p:cNvPr id="32794" name="Oval 34"/>
            <p:cNvSpPr>
              <a:spLocks noChangeArrowheads="1"/>
            </p:cNvSpPr>
            <p:nvPr/>
          </p:nvSpPr>
          <p:spPr bwMode="auto">
            <a:xfrm>
              <a:off x="3400" y="2616"/>
              <a:ext cx="160" cy="1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2795" name="Line 35"/>
            <p:cNvSpPr>
              <a:spLocks noChangeShapeType="1"/>
            </p:cNvSpPr>
            <p:nvPr/>
          </p:nvSpPr>
          <p:spPr bwMode="auto">
            <a:xfrm>
              <a:off x="3472" y="2688"/>
              <a:ext cx="65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784" name="Group 48"/>
          <p:cNvGrpSpPr>
            <a:grpSpLocks/>
          </p:cNvGrpSpPr>
          <p:nvPr/>
        </p:nvGrpSpPr>
        <p:grpSpPr bwMode="auto">
          <a:xfrm>
            <a:off x="2279650" y="4411663"/>
            <a:ext cx="3432175" cy="1184275"/>
            <a:chOff x="1508" y="3098"/>
            <a:chExt cx="2728" cy="765"/>
          </a:xfrm>
          <a:gradFill>
            <a:gsLst>
              <a:gs pos="0">
                <a:srgbClr val="EAF4F8"/>
              </a:gs>
              <a:gs pos="50000">
                <a:srgbClr val="2DA2BF"/>
              </a:gs>
              <a:gs pos="100000">
                <a:srgbClr val="1B365D"/>
              </a:gs>
            </a:gsLst>
            <a:lin ang="5400000" scaled="0"/>
          </a:gradFill>
        </p:grpSpPr>
        <p:sp>
          <p:nvSpPr>
            <p:cNvPr id="32790" name="AutoShape 49"/>
            <p:cNvSpPr>
              <a:spLocks noChangeArrowheads="1"/>
            </p:cNvSpPr>
            <p:nvPr/>
          </p:nvSpPr>
          <p:spPr bwMode="auto">
            <a:xfrm>
              <a:off x="1603" y="3701"/>
              <a:ext cx="2536" cy="162"/>
            </a:xfrm>
            <a:prstGeom prst="roundRect">
              <a:avLst>
                <a:gd name="adj" fmla="val 13611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629810" name="Rectangle 50"/>
            <p:cNvSpPr>
              <a:spLocks noChangeArrowheads="1"/>
            </p:cNvSpPr>
            <p:nvPr/>
          </p:nvSpPr>
          <p:spPr bwMode="auto">
            <a:xfrm>
              <a:off x="1508" y="3098"/>
              <a:ext cx="2728" cy="65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792" name="Text Box 51"/>
            <p:cNvSpPr txBox="1">
              <a:spLocks noChangeArrowheads="1"/>
            </p:cNvSpPr>
            <p:nvPr/>
          </p:nvSpPr>
          <p:spPr bwMode="auto">
            <a:xfrm>
              <a:off x="1513" y="3137"/>
              <a:ext cx="2718" cy="4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A Fund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/>
                <a:t>(Captive Frequency Loss Layer)</a:t>
              </a:r>
            </a:p>
          </p:txBody>
        </p:sp>
      </p:grpSp>
      <p:grpSp>
        <p:nvGrpSpPr>
          <p:cNvPr id="32785" name="Group 36"/>
          <p:cNvGrpSpPr>
            <a:grpSpLocks/>
          </p:cNvGrpSpPr>
          <p:nvPr/>
        </p:nvGrpSpPr>
        <p:grpSpPr bwMode="auto">
          <a:xfrm>
            <a:off x="5575304" y="4597400"/>
            <a:ext cx="2533652" cy="492125"/>
            <a:chOff x="3400" y="3272"/>
            <a:chExt cx="1596" cy="310"/>
          </a:xfrm>
        </p:grpSpPr>
        <p:grpSp>
          <p:nvGrpSpPr>
            <p:cNvPr id="32786" name="Group 37"/>
            <p:cNvGrpSpPr>
              <a:grpSpLocks/>
            </p:cNvGrpSpPr>
            <p:nvPr/>
          </p:nvGrpSpPr>
          <p:grpSpPr bwMode="auto">
            <a:xfrm>
              <a:off x="3400" y="3352"/>
              <a:ext cx="640" cy="160"/>
              <a:chOff x="3400" y="3352"/>
              <a:chExt cx="640" cy="160"/>
            </a:xfrm>
          </p:grpSpPr>
          <p:sp>
            <p:nvSpPr>
              <p:cNvPr id="32788" name="Oval 38"/>
              <p:cNvSpPr>
                <a:spLocks noChangeArrowheads="1"/>
              </p:cNvSpPr>
              <p:nvPr/>
            </p:nvSpPr>
            <p:spPr bwMode="auto">
              <a:xfrm>
                <a:off x="3400" y="3352"/>
                <a:ext cx="160" cy="16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30000"/>
                  </a:spcBef>
                  <a:buClr>
                    <a:schemeClr val="hlink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spcBef>
                    <a:spcPct val="3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spcBef>
                    <a:spcPct val="30000"/>
                  </a:spcBef>
                  <a:buChar char="•"/>
                  <a:defRPr sz="22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789" name="Line 39"/>
              <p:cNvSpPr>
                <a:spLocks noChangeShapeType="1"/>
              </p:cNvSpPr>
              <p:nvPr/>
            </p:nvSpPr>
            <p:spPr bwMode="auto">
              <a:xfrm>
                <a:off x="3472" y="3424"/>
                <a:ext cx="5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787" name="Rectangle 40"/>
            <p:cNvSpPr>
              <a:spLocks noChangeArrowheads="1"/>
            </p:cNvSpPr>
            <p:nvPr/>
          </p:nvSpPr>
          <p:spPr bwMode="auto">
            <a:xfrm>
              <a:off x="4040" y="3272"/>
              <a:ext cx="95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30000"/>
                </a:spcBef>
                <a:buClr>
                  <a:schemeClr val="hlink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3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30000"/>
                </a:spcBef>
                <a:buChar char="•"/>
                <a:defRPr sz="22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600" dirty="0">
                  <a:solidFill>
                    <a:schemeClr val="bg1"/>
                  </a:solidFill>
                </a:rPr>
                <a:t> $330,000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8790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Yearly Maximum Premium </a:t>
            </a:r>
          </a:p>
        </p:txBody>
      </p:sp>
      <p:sp>
        <p:nvSpPr>
          <p:cNvPr id="32771" name="Rectangle 13"/>
          <p:cNvSpPr>
            <a:spLocks noChangeArrowheads="1"/>
          </p:cNvSpPr>
          <p:nvPr/>
        </p:nvSpPr>
        <p:spPr bwMode="auto">
          <a:xfrm>
            <a:off x="5334000" y="1289050"/>
            <a:ext cx="3111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 dirty="0">
              <a:solidFill>
                <a:schemeClr val="accent1"/>
              </a:solidFill>
            </a:endParaRPr>
          </a:p>
        </p:txBody>
      </p:sp>
      <p:sp>
        <p:nvSpPr>
          <p:cNvPr id="32777" name="Rectangle 29"/>
          <p:cNvSpPr>
            <a:spLocks noChangeArrowheads="1"/>
          </p:cNvSpPr>
          <p:nvPr/>
        </p:nvSpPr>
        <p:spPr bwMode="auto">
          <a:xfrm>
            <a:off x="1493838" y="5697538"/>
            <a:ext cx="180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endParaRPr lang="en-US" altLang="en-US" sz="2000" dirty="0"/>
          </a:p>
        </p:txBody>
      </p:sp>
      <p:sp>
        <p:nvSpPr>
          <p:cNvPr id="32780" name="Line 41"/>
          <p:cNvSpPr>
            <a:spLocks noChangeShapeType="1"/>
          </p:cNvSpPr>
          <p:nvPr/>
        </p:nvSpPr>
        <p:spPr bwMode="auto">
          <a:xfrm>
            <a:off x="6756400" y="5537200"/>
            <a:ext cx="1333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57200" y="1417638"/>
            <a:ext cx="83820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2800" b="1" u="sng" dirty="0">
                <a:solidFill>
                  <a:schemeClr val="bg1"/>
                </a:solidFill>
              </a:rPr>
              <a:t>Pay-In Premium</a:t>
            </a:r>
          </a:p>
          <a:p>
            <a:pPr algn="ctr"/>
            <a:endParaRPr lang="en-US" sz="2800" b="1" u="sng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A Fund+ B Fund + Fixed Costs</a:t>
            </a: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b="1" u="sng" dirty="0">
                <a:solidFill>
                  <a:srgbClr val="0000FF"/>
                </a:solidFill>
              </a:rPr>
              <a:t>Maximum</a:t>
            </a:r>
            <a:r>
              <a:rPr lang="en-US" sz="2800" b="1" u="sng" dirty="0">
                <a:solidFill>
                  <a:schemeClr val="bg1"/>
                </a:solidFill>
              </a:rPr>
              <a:t> Premium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A Fund + B Fund + Fixed Costs </a:t>
            </a:r>
          </a:p>
          <a:p>
            <a:pPr algn="ctr"/>
            <a:r>
              <a:rPr lang="en-US" sz="2800" b="1" dirty="0">
                <a:solidFill>
                  <a:srgbClr val="0000FF"/>
                </a:solidFill>
              </a:rPr>
              <a:t>+ one additional A Fund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endParaRPr lang="en-US" sz="1600" dirty="0">
              <a:solidFill>
                <a:srgbClr val="0000FF"/>
              </a:solidFill>
            </a:endParaRPr>
          </a:p>
          <a:p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598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4594225" y="2209800"/>
            <a:ext cx="3503613" cy="237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 sz="2000">
              <a:latin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</a:rPr>
              <a:t>LOSS FORECAST = $400,000</a:t>
            </a:r>
          </a:p>
          <a:p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A Fund	$330,000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B Fund	</a:t>
            </a: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$  70,000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Total		$400,000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Sample Member</a:t>
            </a:r>
          </a:p>
        </p:txBody>
      </p:sp>
      <p:sp>
        <p:nvSpPr>
          <p:cNvPr id="17412" name="Line 5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grpSp>
        <p:nvGrpSpPr>
          <p:cNvPr id="73751" name="Group 23"/>
          <p:cNvGrpSpPr>
            <a:grpSpLocks/>
          </p:cNvGrpSpPr>
          <p:nvPr/>
        </p:nvGrpSpPr>
        <p:grpSpPr bwMode="auto">
          <a:xfrm>
            <a:off x="1206500" y="2819400"/>
            <a:ext cx="1146175" cy="2679700"/>
            <a:chOff x="748" y="1796"/>
            <a:chExt cx="722" cy="1688"/>
          </a:xfrm>
        </p:grpSpPr>
        <p:sp>
          <p:nvSpPr>
            <p:cNvPr id="17423" name="Rectangle 7"/>
            <p:cNvSpPr>
              <a:spLocks noChangeArrowheads="1"/>
            </p:cNvSpPr>
            <p:nvPr/>
          </p:nvSpPr>
          <p:spPr bwMode="auto">
            <a:xfrm>
              <a:off x="74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7424" name="Rectangle 8"/>
            <p:cNvSpPr>
              <a:spLocks noChangeArrowheads="1"/>
            </p:cNvSpPr>
            <p:nvPr/>
          </p:nvSpPr>
          <p:spPr bwMode="auto">
            <a:xfrm>
              <a:off x="74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7425" name="Rectangle 9"/>
            <p:cNvSpPr>
              <a:spLocks noChangeArrowheads="1"/>
            </p:cNvSpPr>
            <p:nvPr/>
          </p:nvSpPr>
          <p:spPr bwMode="auto">
            <a:xfrm>
              <a:off x="75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7426" name="Rectangle 10"/>
            <p:cNvSpPr>
              <a:spLocks noChangeArrowheads="1"/>
            </p:cNvSpPr>
            <p:nvPr/>
          </p:nvSpPr>
          <p:spPr bwMode="auto">
            <a:xfrm>
              <a:off x="74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7427" name="Rectangle 11"/>
            <p:cNvSpPr>
              <a:spLocks noChangeArrowheads="1"/>
            </p:cNvSpPr>
            <p:nvPr/>
          </p:nvSpPr>
          <p:spPr bwMode="auto">
            <a:xfrm>
              <a:off x="105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7428" name="Line 12"/>
            <p:cNvSpPr>
              <a:spLocks noChangeShapeType="1"/>
            </p:cNvSpPr>
            <p:nvPr/>
          </p:nvSpPr>
          <p:spPr bwMode="auto">
            <a:xfrm>
              <a:off x="98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Line 13"/>
            <p:cNvSpPr>
              <a:spLocks noChangeShapeType="1"/>
            </p:cNvSpPr>
            <p:nvPr/>
          </p:nvSpPr>
          <p:spPr bwMode="auto">
            <a:xfrm>
              <a:off x="98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742" name="Group 14"/>
          <p:cNvGrpSpPr>
            <a:grpSpLocks/>
          </p:cNvGrpSpPr>
          <p:nvPr/>
        </p:nvGrpSpPr>
        <p:grpSpPr bwMode="auto">
          <a:xfrm>
            <a:off x="2503488" y="4175125"/>
            <a:ext cx="1763712" cy="1462088"/>
            <a:chOff x="1577" y="2630"/>
            <a:chExt cx="1111" cy="921"/>
          </a:xfrm>
        </p:grpSpPr>
        <p:pic>
          <p:nvPicPr>
            <p:cNvPr id="17421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2" name="Text Box 16"/>
            <p:cNvSpPr txBox="1">
              <a:spLocks noChangeAspect="1" noChangeArrowheads="1"/>
            </p:cNvSpPr>
            <p:nvPr/>
          </p:nvSpPr>
          <p:spPr bwMode="auto">
            <a:xfrm>
              <a:off x="163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3745" name="Group 17"/>
          <p:cNvGrpSpPr>
            <a:grpSpLocks/>
          </p:cNvGrpSpPr>
          <p:nvPr/>
        </p:nvGrpSpPr>
        <p:grpSpPr bwMode="auto">
          <a:xfrm>
            <a:off x="2503488" y="2940050"/>
            <a:ext cx="1763712" cy="1462088"/>
            <a:chOff x="1577" y="1852"/>
            <a:chExt cx="1111" cy="921"/>
          </a:xfrm>
        </p:grpSpPr>
        <p:pic>
          <p:nvPicPr>
            <p:cNvPr id="17419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0" name="Text Box 19"/>
            <p:cNvSpPr txBox="1">
              <a:spLocks noChangeAspect="1" noChangeArrowheads="1"/>
            </p:cNvSpPr>
            <p:nvPr/>
          </p:nvSpPr>
          <p:spPr bwMode="auto">
            <a:xfrm>
              <a:off x="163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3748" name="Group 20"/>
          <p:cNvGrpSpPr>
            <a:grpSpLocks/>
          </p:cNvGrpSpPr>
          <p:nvPr/>
        </p:nvGrpSpPr>
        <p:grpSpPr bwMode="auto">
          <a:xfrm>
            <a:off x="2503488" y="1704975"/>
            <a:ext cx="1763712" cy="1462088"/>
            <a:chOff x="1577" y="1074"/>
            <a:chExt cx="1111" cy="921"/>
          </a:xfrm>
        </p:grpSpPr>
        <p:pic>
          <p:nvPicPr>
            <p:cNvPr id="17417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8" name="Text Box 22"/>
            <p:cNvSpPr txBox="1">
              <a:spLocks noChangeAspect="1" noChangeArrowheads="1"/>
            </p:cNvSpPr>
            <p:nvPr/>
          </p:nvSpPr>
          <p:spPr bwMode="auto">
            <a:xfrm>
              <a:off x="163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0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#1</a:t>
            </a:r>
          </a:p>
        </p:txBody>
      </p:sp>
      <p:sp>
        <p:nvSpPr>
          <p:cNvPr id="18435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3962400" y="1600200"/>
            <a:ext cx="49466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40433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4038600" y="3962400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39624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75785" name="Rectangle 9"/>
          <p:cNvSpPr>
            <a:spLocks noChangeArrowheads="1"/>
          </p:cNvSpPr>
          <p:nvPr/>
        </p:nvSpPr>
        <p:spPr bwMode="auto">
          <a:xfrm>
            <a:off x="3962400" y="4448175"/>
            <a:ext cx="463550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- 215,000</a:t>
            </a:r>
            <a:r>
              <a:rPr lang="en-US" altLang="en-US" sz="2000">
                <a:latin typeface="Times New Roman" panose="02020603050405020304" pitchFamily="18" charset="0"/>
              </a:rPr>
              <a:t>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$115,000 Remaining Balance</a:t>
            </a:r>
          </a:p>
          <a:p>
            <a:pPr eaLnBrk="1">
              <a:lnSpc>
                <a:spcPct val="110000"/>
              </a:lnSpc>
            </a:pP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5803" name="Group 27"/>
          <p:cNvGrpSpPr>
            <a:grpSpLocks/>
          </p:cNvGrpSpPr>
          <p:nvPr/>
        </p:nvGrpSpPr>
        <p:grpSpPr bwMode="auto">
          <a:xfrm>
            <a:off x="730250" y="2851150"/>
            <a:ext cx="1146175" cy="2679700"/>
            <a:chOff x="460" y="1796"/>
            <a:chExt cx="722" cy="1688"/>
          </a:xfrm>
        </p:grpSpPr>
        <p:sp>
          <p:nvSpPr>
            <p:cNvPr id="18451" name="Rectangle 11"/>
            <p:cNvSpPr>
              <a:spLocks noChangeArrowheads="1"/>
            </p:cNvSpPr>
            <p:nvPr/>
          </p:nvSpPr>
          <p:spPr bwMode="auto">
            <a:xfrm>
              <a:off x="461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8452" name="Rectangle 12"/>
            <p:cNvSpPr>
              <a:spLocks noChangeArrowheads="1"/>
            </p:cNvSpPr>
            <p:nvPr/>
          </p:nvSpPr>
          <p:spPr bwMode="auto">
            <a:xfrm>
              <a:off x="461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8453" name="Rectangle 13"/>
            <p:cNvSpPr>
              <a:spLocks noChangeArrowheads="1"/>
            </p:cNvSpPr>
            <p:nvPr/>
          </p:nvSpPr>
          <p:spPr bwMode="auto">
            <a:xfrm>
              <a:off x="466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8454" name="Rectangle 14"/>
            <p:cNvSpPr>
              <a:spLocks noChangeArrowheads="1"/>
            </p:cNvSpPr>
            <p:nvPr/>
          </p:nvSpPr>
          <p:spPr bwMode="auto">
            <a:xfrm>
              <a:off x="460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8455" name="Rectangle 15"/>
            <p:cNvSpPr>
              <a:spLocks noChangeArrowheads="1"/>
            </p:cNvSpPr>
            <p:nvPr/>
          </p:nvSpPr>
          <p:spPr bwMode="auto">
            <a:xfrm>
              <a:off x="768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8456" name="Line 16"/>
            <p:cNvSpPr>
              <a:spLocks noChangeShapeType="1"/>
            </p:cNvSpPr>
            <p:nvPr/>
          </p:nvSpPr>
          <p:spPr bwMode="auto">
            <a:xfrm>
              <a:off x="696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17"/>
            <p:cNvSpPr>
              <a:spLocks noChangeShapeType="1"/>
            </p:cNvSpPr>
            <p:nvPr/>
          </p:nvSpPr>
          <p:spPr bwMode="auto">
            <a:xfrm>
              <a:off x="696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794" name="Group 18"/>
          <p:cNvGrpSpPr>
            <a:grpSpLocks/>
          </p:cNvGrpSpPr>
          <p:nvPr/>
        </p:nvGrpSpPr>
        <p:grpSpPr bwMode="auto">
          <a:xfrm>
            <a:off x="2046288" y="4175125"/>
            <a:ext cx="1763712" cy="1462088"/>
            <a:chOff x="1289" y="2630"/>
            <a:chExt cx="1111" cy="921"/>
          </a:xfrm>
        </p:grpSpPr>
        <p:pic>
          <p:nvPicPr>
            <p:cNvPr id="18449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0" name="Text Box 20"/>
            <p:cNvSpPr txBox="1">
              <a:spLocks noChangeAspect="1" noChangeArrowheads="1"/>
            </p:cNvSpPr>
            <p:nvPr/>
          </p:nvSpPr>
          <p:spPr bwMode="auto">
            <a:xfrm>
              <a:off x="1345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5797" name="Group 21"/>
          <p:cNvGrpSpPr>
            <a:grpSpLocks/>
          </p:cNvGrpSpPr>
          <p:nvPr/>
        </p:nvGrpSpPr>
        <p:grpSpPr bwMode="auto">
          <a:xfrm>
            <a:off x="2046288" y="2940050"/>
            <a:ext cx="1763712" cy="1462088"/>
            <a:chOff x="1289" y="1852"/>
            <a:chExt cx="1111" cy="921"/>
          </a:xfrm>
        </p:grpSpPr>
        <p:pic>
          <p:nvPicPr>
            <p:cNvPr id="18447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8" name="Text Box 23"/>
            <p:cNvSpPr txBox="1">
              <a:spLocks noChangeAspect="1" noChangeArrowheads="1"/>
            </p:cNvSpPr>
            <p:nvPr/>
          </p:nvSpPr>
          <p:spPr bwMode="auto">
            <a:xfrm>
              <a:off x="1345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5800" name="Group 24"/>
          <p:cNvGrpSpPr>
            <a:grpSpLocks/>
          </p:cNvGrpSpPr>
          <p:nvPr/>
        </p:nvGrpSpPr>
        <p:grpSpPr bwMode="auto">
          <a:xfrm>
            <a:off x="2046288" y="1704975"/>
            <a:ext cx="1763712" cy="1462088"/>
            <a:chOff x="1289" y="1074"/>
            <a:chExt cx="1111" cy="921"/>
          </a:xfrm>
        </p:grpSpPr>
        <p:pic>
          <p:nvPicPr>
            <p:cNvPr id="18445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Text Box 26"/>
            <p:cNvSpPr txBox="1">
              <a:spLocks noChangeAspect="1" noChangeArrowheads="1"/>
            </p:cNvSpPr>
            <p:nvPr/>
          </p:nvSpPr>
          <p:spPr bwMode="auto">
            <a:xfrm>
              <a:off x="1345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3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 autoUpdateAnimBg="0"/>
      <p:bldP spid="75782" grpId="0" animBg="1" autoUpdateAnimBg="0"/>
      <p:bldP spid="75783" grpId="0" animBg="1" autoUpdateAnimBg="0"/>
      <p:bldP spid="75784" grpId="0" autoUpdateAnimBg="0"/>
      <p:bldP spid="7578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32766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3276600" y="4448175"/>
            <a:ext cx="4819650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- 100,000</a:t>
            </a:r>
            <a:r>
              <a:rPr lang="en-US" altLang="en-US" sz="2000"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$  15,000 New Balance</a:t>
            </a:r>
            <a:endParaRPr lang="en-US" altLang="en-US" sz="2000" i="1">
              <a:latin typeface="Times New Roman" panose="02020603050405020304" pitchFamily="18" charset="0"/>
            </a:endParaRPr>
          </a:p>
        </p:txBody>
      </p:sp>
      <p:grpSp>
        <p:nvGrpSpPr>
          <p:cNvPr id="77851" name="Group 27"/>
          <p:cNvGrpSpPr>
            <a:grpSpLocks/>
          </p:cNvGrpSpPr>
          <p:nvPr/>
        </p:nvGrpSpPr>
        <p:grpSpPr bwMode="auto">
          <a:xfrm>
            <a:off x="44450" y="2851150"/>
            <a:ext cx="1146175" cy="2679700"/>
            <a:chOff x="28" y="1796"/>
            <a:chExt cx="722" cy="1688"/>
          </a:xfrm>
        </p:grpSpPr>
        <p:sp>
          <p:nvSpPr>
            <p:cNvPr id="19475" name="Rectangle 11"/>
            <p:cNvSpPr>
              <a:spLocks noChangeArrowheads="1"/>
            </p:cNvSpPr>
            <p:nvPr/>
          </p:nvSpPr>
          <p:spPr bwMode="auto">
            <a:xfrm>
              <a:off x="2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19476" name="Rectangle 12"/>
            <p:cNvSpPr>
              <a:spLocks noChangeArrowheads="1"/>
            </p:cNvSpPr>
            <p:nvPr/>
          </p:nvSpPr>
          <p:spPr bwMode="auto">
            <a:xfrm>
              <a:off x="2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19477" name="Rectangle 13"/>
            <p:cNvSpPr>
              <a:spLocks noChangeArrowheads="1"/>
            </p:cNvSpPr>
            <p:nvPr/>
          </p:nvSpPr>
          <p:spPr bwMode="auto">
            <a:xfrm>
              <a:off x="3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19478" name="Rectangle 14"/>
            <p:cNvSpPr>
              <a:spLocks noChangeArrowheads="1"/>
            </p:cNvSpPr>
            <p:nvPr/>
          </p:nvSpPr>
          <p:spPr bwMode="auto">
            <a:xfrm>
              <a:off x="2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19479" name="Rectangle 15"/>
            <p:cNvSpPr>
              <a:spLocks noChangeArrowheads="1"/>
            </p:cNvSpPr>
            <p:nvPr/>
          </p:nvSpPr>
          <p:spPr bwMode="auto">
            <a:xfrm>
              <a:off x="33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19480" name="Line 16"/>
            <p:cNvSpPr>
              <a:spLocks noChangeShapeType="1"/>
            </p:cNvSpPr>
            <p:nvPr/>
          </p:nvSpPr>
          <p:spPr bwMode="auto">
            <a:xfrm>
              <a:off x="26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Line 17"/>
            <p:cNvSpPr>
              <a:spLocks noChangeShapeType="1"/>
            </p:cNvSpPr>
            <p:nvPr/>
          </p:nvSpPr>
          <p:spPr bwMode="auto">
            <a:xfrm>
              <a:off x="26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842" name="Group 18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19473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4" name="Text Box 20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77845" name="Group 21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19471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2" name="Text Box 23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77848" name="Group 24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19469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0" name="Text Box 26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77860" name="Rectangle 36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77861" name="Rectangle 37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7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1" grpId="0" animBg="1" autoUpdateAnimBg="0"/>
      <p:bldP spid="77832" grpId="0" autoUpdateAnimBg="0"/>
      <p:bldP spid="77833" grpId="0" autoUpdateAnimBg="0"/>
      <p:bldP spid="77860" grpId="0" autoUpdateAnimBg="0"/>
      <p:bldP spid="77861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20483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20485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grpSp>
        <p:nvGrpSpPr>
          <p:cNvPr id="20486" name="Group 17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20506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7" name="Text Box 19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20487" name="Group 20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20504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Text Box 22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20488" name="Group 23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20502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3" name="Text Box 25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20489" name="Rectangle 26"/>
          <p:cNvSpPr>
            <a:spLocks noChangeArrowheads="1"/>
          </p:cNvSpPr>
          <p:nvPr/>
        </p:nvSpPr>
        <p:spPr bwMode="auto">
          <a:xfrm>
            <a:off x="3276600" y="2844800"/>
            <a:ext cx="3221038" cy="109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latin typeface="Times New Roman" panose="02020603050405020304" pitchFamily="18" charset="0"/>
              </a:rPr>
              <a:t>-   70,000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              0 Ending Balance</a:t>
            </a:r>
            <a:endParaRPr lang="en-US" altLang="en-US" sz="2000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0" name="Rectangle 27"/>
          <p:cNvSpPr>
            <a:spLocks noChangeArrowheads="1"/>
          </p:cNvSpPr>
          <p:nvPr/>
        </p:nvSpPr>
        <p:spPr bwMode="auto">
          <a:xfrm>
            <a:off x="3276600" y="4448175"/>
            <a:ext cx="477837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- 100,000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15,000 New Balance</a:t>
            </a:r>
          </a:p>
        </p:txBody>
      </p:sp>
      <p:grpSp>
        <p:nvGrpSpPr>
          <p:cNvPr id="20491" name="Group 30"/>
          <p:cNvGrpSpPr>
            <a:grpSpLocks/>
          </p:cNvGrpSpPr>
          <p:nvPr/>
        </p:nvGrpSpPr>
        <p:grpSpPr bwMode="auto">
          <a:xfrm>
            <a:off x="44450" y="2851150"/>
            <a:ext cx="1146175" cy="2679700"/>
            <a:chOff x="28" y="1796"/>
            <a:chExt cx="722" cy="1688"/>
          </a:xfrm>
        </p:grpSpPr>
        <p:sp>
          <p:nvSpPr>
            <p:cNvPr id="20495" name="Rectangle 31"/>
            <p:cNvSpPr>
              <a:spLocks noChangeArrowheads="1"/>
            </p:cNvSpPr>
            <p:nvPr/>
          </p:nvSpPr>
          <p:spPr bwMode="auto">
            <a:xfrm>
              <a:off x="29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20496" name="Rectangle 32"/>
            <p:cNvSpPr>
              <a:spLocks noChangeArrowheads="1"/>
            </p:cNvSpPr>
            <p:nvPr/>
          </p:nvSpPr>
          <p:spPr bwMode="auto">
            <a:xfrm>
              <a:off x="29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20497" name="Rectangle 33"/>
            <p:cNvSpPr>
              <a:spLocks noChangeArrowheads="1"/>
            </p:cNvSpPr>
            <p:nvPr/>
          </p:nvSpPr>
          <p:spPr bwMode="auto">
            <a:xfrm>
              <a:off x="34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20498" name="Rectangle 34"/>
            <p:cNvSpPr>
              <a:spLocks noChangeArrowheads="1"/>
            </p:cNvSpPr>
            <p:nvPr/>
          </p:nvSpPr>
          <p:spPr bwMode="auto">
            <a:xfrm>
              <a:off x="28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20499" name="Rectangle 35"/>
            <p:cNvSpPr>
              <a:spLocks noChangeArrowheads="1"/>
            </p:cNvSpPr>
            <p:nvPr/>
          </p:nvSpPr>
          <p:spPr bwMode="auto">
            <a:xfrm>
              <a:off x="336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20500" name="Line 36"/>
            <p:cNvSpPr>
              <a:spLocks noChangeShapeType="1"/>
            </p:cNvSpPr>
            <p:nvPr/>
          </p:nvSpPr>
          <p:spPr bwMode="auto">
            <a:xfrm>
              <a:off x="264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Line 37"/>
            <p:cNvSpPr>
              <a:spLocks noChangeShapeType="1"/>
            </p:cNvSpPr>
            <p:nvPr/>
          </p:nvSpPr>
          <p:spPr bwMode="auto">
            <a:xfrm>
              <a:off x="264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2" name="Rectangle 39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78888" name="Rectangle 40"/>
          <p:cNvSpPr>
            <a:spLocks noChangeArrowheads="1"/>
          </p:cNvSpPr>
          <p:nvPr/>
        </p:nvSpPr>
        <p:spPr bwMode="auto">
          <a:xfrm>
            <a:off x="7474295" y="2139030"/>
            <a:ext cx="1405835" cy="2521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Catastrophe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Claim: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$300,000</a:t>
            </a:r>
          </a:p>
          <a:p>
            <a:pPr algn="ctr">
              <a:defRPr/>
            </a:pPr>
            <a:r>
              <a:rPr lang="en-US" altLang="en-US" sz="2000" b="0" dirty="0">
                <a:solidFill>
                  <a:srgbClr val="0000FF"/>
                </a:solidFill>
                <a:latin typeface="Times New Roman" pitchFamily="18" charset="0"/>
              </a:rPr>
              <a:t>  </a:t>
            </a:r>
            <a:r>
              <a:rPr lang="en-US" altLang="en-US" sz="2000" u="sng" dirty="0">
                <a:solidFill>
                  <a:srgbClr val="0000FF"/>
                </a:solidFill>
                <a:latin typeface="Times New Roman" pitchFamily="18" charset="0"/>
              </a:rPr>
              <a:t>-   70,000</a:t>
            </a:r>
            <a:endParaRPr lang="en-US" altLang="en-US" sz="2000" dirty="0">
              <a:solidFill>
                <a:srgbClr val="0000FF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solidFill>
                  <a:srgbClr val="0000FF"/>
                </a:solidFill>
                <a:latin typeface="Times New Roman" pitchFamily="18" charset="0"/>
              </a:rPr>
              <a:t>   $230,000</a:t>
            </a:r>
          </a:p>
          <a:p>
            <a:pPr algn="ctr">
              <a:defRPr/>
            </a:pPr>
            <a:endParaRPr lang="en-US" altLang="en-US" sz="2000" u="sng" dirty="0"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latin typeface="Times New Roman" pitchFamily="18" charset="0"/>
              </a:rPr>
              <a:t>  </a:t>
            </a:r>
            <a:endParaRPr lang="en-US" altLang="en-US" sz="2000" u="sng" dirty="0"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</a:t>
            </a:r>
          </a:p>
        </p:txBody>
      </p:sp>
      <p:sp>
        <p:nvSpPr>
          <p:cNvPr id="78890" name="Line 42"/>
          <p:cNvSpPr>
            <a:spLocks noChangeShapeType="1"/>
          </p:cNvSpPr>
          <p:nvPr/>
        </p:nvSpPr>
        <p:spPr bwMode="auto">
          <a:xfrm flipV="1">
            <a:off x="3200400" y="3200400"/>
            <a:ext cx="0" cy="1981200"/>
          </a:xfrm>
          <a:prstGeom prst="line">
            <a:avLst/>
          </a:prstGeom>
          <a:noFill/>
          <a:ln w="25400">
            <a:solidFill>
              <a:srgbClr val="1B365D"/>
            </a:solidFill>
            <a:round/>
            <a:headEnd/>
            <a:tailEnd type="stealth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9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9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#2</a:t>
            </a:r>
          </a:p>
        </p:txBody>
      </p:sp>
      <p:sp>
        <p:nvSpPr>
          <p:cNvPr id="21507" name="Line 4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3276600" y="1600200"/>
            <a:ext cx="495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$215,000 of Total Claims less than $100,000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and a $1,000,000 Catastrophe Claim.</a:t>
            </a:r>
          </a:p>
        </p:txBody>
      </p:sp>
      <p:sp>
        <p:nvSpPr>
          <p:cNvPr id="21509" name="Rectangle 7"/>
          <p:cNvSpPr>
            <a:spLocks noChangeArrowheads="1"/>
          </p:cNvSpPr>
          <p:nvPr/>
        </p:nvSpPr>
        <p:spPr bwMode="auto">
          <a:xfrm>
            <a:off x="3357563" y="39909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21510" name="Rectangle 8"/>
          <p:cNvSpPr>
            <a:spLocks noChangeArrowheads="1"/>
          </p:cNvSpPr>
          <p:nvPr/>
        </p:nvSpPr>
        <p:spPr bwMode="auto">
          <a:xfrm>
            <a:off x="46038" y="2851150"/>
            <a:ext cx="1144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$400,001</a:t>
            </a:r>
          </a:p>
        </p:txBody>
      </p:sp>
      <p:sp>
        <p:nvSpPr>
          <p:cNvPr id="21511" name="Rectangle 9"/>
          <p:cNvSpPr>
            <a:spLocks noChangeArrowheads="1"/>
          </p:cNvSpPr>
          <p:nvPr/>
        </p:nvSpPr>
        <p:spPr bwMode="auto">
          <a:xfrm>
            <a:off x="46038" y="3305175"/>
            <a:ext cx="1144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$400,000</a:t>
            </a:r>
          </a:p>
        </p:txBody>
      </p:sp>
      <p:sp>
        <p:nvSpPr>
          <p:cNvPr id="21512" name="Rectangle 10"/>
          <p:cNvSpPr>
            <a:spLocks noChangeArrowheads="1"/>
          </p:cNvSpPr>
          <p:nvPr/>
        </p:nvSpPr>
        <p:spPr bwMode="auto">
          <a:xfrm>
            <a:off x="53975" y="3917950"/>
            <a:ext cx="11334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$100,001</a:t>
            </a:r>
          </a:p>
        </p:txBody>
      </p:sp>
      <p:sp>
        <p:nvSpPr>
          <p:cNvPr id="21513" name="Rectangle 11"/>
          <p:cNvSpPr>
            <a:spLocks noChangeArrowheads="1"/>
          </p:cNvSpPr>
          <p:nvPr/>
        </p:nvSpPr>
        <p:spPr bwMode="auto">
          <a:xfrm>
            <a:off x="44450" y="4375150"/>
            <a:ext cx="11334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$100,000</a:t>
            </a:r>
          </a:p>
        </p:txBody>
      </p:sp>
      <p:sp>
        <p:nvSpPr>
          <p:cNvPr id="21514" name="Rectangle 12"/>
          <p:cNvSpPr>
            <a:spLocks noChangeArrowheads="1"/>
          </p:cNvSpPr>
          <p:nvPr/>
        </p:nvSpPr>
        <p:spPr bwMode="auto">
          <a:xfrm>
            <a:off x="533400" y="5137150"/>
            <a:ext cx="434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$0</a:t>
            </a:r>
          </a:p>
        </p:txBody>
      </p:sp>
      <p:sp>
        <p:nvSpPr>
          <p:cNvPr id="21515" name="Line 13"/>
          <p:cNvSpPr>
            <a:spLocks noChangeShapeType="1"/>
          </p:cNvSpPr>
          <p:nvPr/>
        </p:nvSpPr>
        <p:spPr bwMode="auto">
          <a:xfrm>
            <a:off x="419100" y="3236913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4"/>
          <p:cNvSpPr>
            <a:spLocks noChangeShapeType="1"/>
          </p:cNvSpPr>
          <p:nvPr/>
        </p:nvSpPr>
        <p:spPr bwMode="auto">
          <a:xfrm>
            <a:off x="419100" y="429577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17" name="Group 15"/>
          <p:cNvGrpSpPr>
            <a:grpSpLocks/>
          </p:cNvGrpSpPr>
          <p:nvPr/>
        </p:nvGrpSpPr>
        <p:grpSpPr bwMode="auto">
          <a:xfrm>
            <a:off x="1360488" y="4175125"/>
            <a:ext cx="1763712" cy="1462088"/>
            <a:chOff x="857" y="2630"/>
            <a:chExt cx="1111" cy="921"/>
          </a:xfrm>
        </p:grpSpPr>
        <p:pic>
          <p:nvPicPr>
            <p:cNvPr id="21529" name="Picture 1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30" name="Text Box 17"/>
            <p:cNvSpPr txBox="1">
              <a:spLocks noChangeAspect="1" noChangeArrowheads="1"/>
            </p:cNvSpPr>
            <p:nvPr/>
          </p:nvSpPr>
          <p:spPr bwMode="auto">
            <a:xfrm>
              <a:off x="913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grpSp>
        <p:nvGrpSpPr>
          <p:cNvPr id="21518" name="Group 18"/>
          <p:cNvGrpSpPr>
            <a:grpSpLocks/>
          </p:cNvGrpSpPr>
          <p:nvPr/>
        </p:nvGrpSpPr>
        <p:grpSpPr bwMode="auto">
          <a:xfrm>
            <a:off x="1360488" y="2940050"/>
            <a:ext cx="1763712" cy="1462088"/>
            <a:chOff x="857" y="1852"/>
            <a:chExt cx="1111" cy="921"/>
          </a:xfrm>
        </p:grpSpPr>
        <p:pic>
          <p:nvPicPr>
            <p:cNvPr id="21527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8" name="Text Box 20"/>
            <p:cNvSpPr txBox="1">
              <a:spLocks noChangeAspect="1" noChangeArrowheads="1"/>
            </p:cNvSpPr>
            <p:nvPr/>
          </p:nvSpPr>
          <p:spPr bwMode="auto">
            <a:xfrm>
              <a:off x="913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21519" name="Group 21"/>
          <p:cNvGrpSpPr>
            <a:grpSpLocks/>
          </p:cNvGrpSpPr>
          <p:nvPr/>
        </p:nvGrpSpPr>
        <p:grpSpPr bwMode="auto">
          <a:xfrm>
            <a:off x="1360488" y="1704975"/>
            <a:ext cx="1763712" cy="1462088"/>
            <a:chOff x="857" y="1074"/>
            <a:chExt cx="1111" cy="921"/>
          </a:xfrm>
        </p:grpSpPr>
        <p:pic>
          <p:nvPicPr>
            <p:cNvPr id="21525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6" name="Text Box 23"/>
            <p:cNvSpPr txBox="1">
              <a:spLocks noChangeAspect="1" noChangeArrowheads="1"/>
            </p:cNvSpPr>
            <p:nvPr/>
          </p:nvSpPr>
          <p:spPr bwMode="auto">
            <a:xfrm>
              <a:off x="913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21520" name="Rectangle 27"/>
          <p:cNvSpPr>
            <a:spLocks noChangeArrowheads="1"/>
          </p:cNvSpPr>
          <p:nvPr/>
        </p:nvSpPr>
        <p:spPr bwMode="auto">
          <a:xfrm>
            <a:off x="3276600" y="2844800"/>
            <a:ext cx="3221038" cy="109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u="sng">
                <a:solidFill>
                  <a:schemeClr val="tx1"/>
                </a:solidFill>
                <a:latin typeface="Times New Roman" panose="02020603050405020304" pitchFamily="18" charset="0"/>
              </a:rPr>
              <a:t>-   70,000</a:t>
            </a:r>
          </a:p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            0 Ending Balance</a:t>
            </a:r>
          </a:p>
        </p:txBody>
      </p:sp>
      <p:sp>
        <p:nvSpPr>
          <p:cNvPr id="21521" name="Rectangle 28"/>
          <p:cNvSpPr>
            <a:spLocks noChangeArrowheads="1"/>
          </p:cNvSpPr>
          <p:nvPr/>
        </p:nvSpPr>
        <p:spPr bwMode="auto">
          <a:xfrm>
            <a:off x="3298825" y="4448175"/>
            <a:ext cx="47783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- 215,000 Total Claims Less than $100,000</a:t>
            </a:r>
          </a:p>
          <a:p>
            <a:pPr>
              <a:lnSpc>
                <a:spcPct val="110000"/>
              </a:lnSpc>
            </a:pPr>
            <a:r>
              <a:rPr lang="en-US" altLang="en-US" sz="2000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- 100,000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1st $100,000 of Catastrophe Loss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$  15,000 New Balance</a:t>
            </a:r>
          </a:p>
          <a:p>
            <a:r>
              <a:rPr lang="en-US" altLang="en-US" sz="2000" u="sng" dirty="0">
                <a:latin typeface="Times New Roman" panose="02020603050405020304" pitchFamily="18" charset="0"/>
              </a:rPr>
              <a:t>-   15,000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Add’l</a:t>
            </a:r>
            <a:r>
              <a:rPr lang="en-US" altLang="en-US" sz="2000" dirty="0">
                <a:latin typeface="Times New Roman" panose="02020603050405020304" pitchFamily="18" charset="0"/>
              </a:rPr>
              <a:t> for Cat. Loss</a:t>
            </a:r>
          </a:p>
          <a:p>
            <a:r>
              <a:rPr lang="en-US" altLang="en-US" sz="2000" dirty="0">
                <a:latin typeface="Times New Roman" panose="02020603050405020304" pitchFamily="18" charset="0"/>
              </a:rPr>
              <a:t>             0 Ending Balance</a:t>
            </a:r>
            <a:endParaRPr lang="en-US" altLang="en-US" sz="20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901" name="Rectangle 29"/>
          <p:cNvSpPr>
            <a:spLocks noChangeArrowheads="1"/>
          </p:cNvSpPr>
          <p:nvPr/>
        </p:nvSpPr>
        <p:spPr bwMode="auto">
          <a:xfrm>
            <a:off x="7526682" y="1988108"/>
            <a:ext cx="1405835" cy="3167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Catastrophe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Claim: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$300,000</a:t>
            </a: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</a:t>
            </a:r>
            <a:r>
              <a:rPr lang="en-US" altLang="en-US" sz="2000" u="sng" dirty="0">
                <a:solidFill>
                  <a:schemeClr val="tx1"/>
                </a:solidFill>
                <a:latin typeface="Times New Roman" pitchFamily="18" charset="0"/>
              </a:rPr>
              <a:t>-  70,000</a:t>
            </a:r>
            <a:endParaRPr lang="en-US" altLang="en-US" sz="2000" dirty="0">
              <a:solidFill>
                <a:schemeClr val="tx1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solidFill>
                  <a:schemeClr val="tx1"/>
                </a:solidFill>
                <a:latin typeface="Times New Roman" pitchFamily="18" charset="0"/>
              </a:rPr>
              <a:t>  $230,000</a:t>
            </a:r>
          </a:p>
          <a:p>
            <a:pPr algn="ctr">
              <a:defRPr/>
            </a:pPr>
            <a:r>
              <a:rPr lang="en-US" altLang="en-US" sz="2000" u="sng" dirty="0">
                <a:solidFill>
                  <a:srgbClr val="0000FF"/>
                </a:solidFill>
                <a:latin typeface="Times New Roman" pitchFamily="18" charset="0"/>
              </a:rPr>
              <a:t>-    15,000</a:t>
            </a:r>
          </a:p>
          <a:p>
            <a:pPr algn="ctr">
              <a:defRPr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  $215,000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Risk Shared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By Other</a:t>
            </a:r>
          </a:p>
          <a:p>
            <a:pPr algn="ctr">
              <a:defRPr/>
            </a:pPr>
            <a:r>
              <a:rPr lang="en-US" altLang="en-US" sz="1400" i="1" dirty="0">
                <a:solidFill>
                  <a:srgbClr val="FF0000"/>
                </a:solidFill>
                <a:latin typeface="Times New Roman" pitchFamily="18" charset="0"/>
              </a:rPr>
              <a:t>Members</a:t>
            </a:r>
            <a:endParaRPr lang="en-US" altLang="en-US" sz="1200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ctr">
              <a:defRPr/>
            </a:pPr>
            <a:r>
              <a:rPr lang="en-US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</a:t>
            </a:r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>
            <a:off x="3200400" y="3048000"/>
            <a:ext cx="0" cy="2895600"/>
          </a:xfrm>
          <a:prstGeom prst="line">
            <a:avLst/>
          </a:prstGeom>
          <a:noFill/>
          <a:ln w="25400">
            <a:solidFill>
              <a:srgbClr val="1B365D"/>
            </a:solidFill>
            <a:round/>
            <a:headEnd/>
            <a:tailEnd type="stealth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1524" name="Rectangle 33"/>
          <p:cNvSpPr>
            <a:spLocks noChangeArrowheads="1"/>
          </p:cNvSpPr>
          <p:nvPr/>
        </p:nvSpPr>
        <p:spPr bwMode="auto">
          <a:xfrm>
            <a:off x="33575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rgbClr val="1B365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9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0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2198688" y="4175125"/>
            <a:ext cx="1763712" cy="1462088"/>
            <a:chOff x="1385" y="2630"/>
            <a:chExt cx="1111" cy="921"/>
          </a:xfrm>
        </p:grpSpPr>
        <p:pic>
          <p:nvPicPr>
            <p:cNvPr id="225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2630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53" name="Text Box 5"/>
            <p:cNvSpPr txBox="1">
              <a:spLocks noChangeAspect="1" noChangeArrowheads="1"/>
            </p:cNvSpPr>
            <p:nvPr/>
          </p:nvSpPr>
          <p:spPr bwMode="auto">
            <a:xfrm>
              <a:off x="1441" y="3072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A FUND</a:t>
              </a:r>
            </a:p>
          </p:txBody>
        </p:sp>
      </p:grpSp>
      <p:sp>
        <p:nvSpPr>
          <p:cNvPr id="22531" name="Rectangle 6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  <a:latin typeface="Times New Roman" panose="02020603050405020304" pitchFamily="18" charset="0"/>
              </a:rPr>
              <a:t>Loss Example #3</a:t>
            </a:r>
          </a:p>
        </p:txBody>
      </p:sp>
      <p:sp>
        <p:nvSpPr>
          <p:cNvPr id="22532" name="Line 7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4114800" y="1600200"/>
            <a:ext cx="49530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$480,000 of Total Claims less than $100,000.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195763" y="2403475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B Fund Accounting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4191000" y="3962400"/>
            <a:ext cx="3759200" cy="292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A Fund Accounting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4114800" y="2844800"/>
            <a:ext cx="3221038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  70,000 Beginning Balance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4114800" y="4448175"/>
            <a:ext cx="345122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$330,000 Beginning Balance</a:t>
            </a:r>
          </a:p>
          <a:p>
            <a:r>
              <a:rPr lang="en-US" altLang="en-US" sz="1800" b="0" u="sng">
                <a:latin typeface="Times New Roman" panose="02020603050405020304" pitchFamily="18" charset="0"/>
              </a:rPr>
              <a:t> </a:t>
            </a:r>
            <a:r>
              <a:rPr lang="en-US" altLang="en-US" sz="2000" u="sng">
                <a:latin typeface="Times New Roman" panose="02020603050405020304" pitchFamily="18" charset="0"/>
              </a:rPr>
              <a:t>- 480,000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 - 150,000</a:t>
            </a:r>
          </a:p>
          <a:p>
            <a:r>
              <a:rPr lang="en-US" altLang="en-US" sz="2000" u="sng">
                <a:latin typeface="Times New Roman" panose="02020603050405020304" pitchFamily="18" charset="0"/>
              </a:rPr>
              <a:t>+ 150,000</a:t>
            </a:r>
            <a:r>
              <a:rPr lang="en-US" altLang="en-US" sz="2000">
                <a:latin typeface="Times New Roman" panose="02020603050405020304" pitchFamily="18" charset="0"/>
              </a:rPr>
              <a:t> A Fund Adjustment</a:t>
            </a:r>
          </a:p>
          <a:p>
            <a:r>
              <a:rPr lang="en-US" altLang="en-US" sz="2000">
                <a:latin typeface="Times New Roman" panose="02020603050405020304" pitchFamily="18" charset="0"/>
              </a:rPr>
              <a:t>              0 Ending Balance</a:t>
            </a:r>
            <a:endParaRPr lang="en-US" altLang="en-US" sz="2000">
              <a:solidFill>
                <a:srgbClr val="FFCC18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221" name="Group 29"/>
          <p:cNvGrpSpPr>
            <a:grpSpLocks/>
          </p:cNvGrpSpPr>
          <p:nvPr/>
        </p:nvGrpSpPr>
        <p:grpSpPr bwMode="auto">
          <a:xfrm>
            <a:off x="882650" y="2851150"/>
            <a:ext cx="1146175" cy="2679700"/>
            <a:chOff x="556" y="1796"/>
            <a:chExt cx="722" cy="1688"/>
          </a:xfrm>
        </p:grpSpPr>
        <p:sp>
          <p:nvSpPr>
            <p:cNvPr id="22545" name="Rectangle 14"/>
            <p:cNvSpPr>
              <a:spLocks noChangeArrowheads="1"/>
            </p:cNvSpPr>
            <p:nvPr/>
          </p:nvSpPr>
          <p:spPr bwMode="auto">
            <a:xfrm>
              <a:off x="557" y="1796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$400,001</a:t>
              </a:r>
            </a:p>
          </p:txBody>
        </p:sp>
        <p:sp>
          <p:nvSpPr>
            <p:cNvPr id="22546" name="Rectangle 15"/>
            <p:cNvSpPr>
              <a:spLocks noChangeArrowheads="1"/>
            </p:cNvSpPr>
            <p:nvPr/>
          </p:nvSpPr>
          <p:spPr bwMode="auto">
            <a:xfrm>
              <a:off x="557" y="2082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$400,000</a:t>
              </a:r>
            </a:p>
          </p:txBody>
        </p:sp>
        <p:sp>
          <p:nvSpPr>
            <p:cNvPr id="22547" name="Rectangle 16"/>
            <p:cNvSpPr>
              <a:spLocks noChangeArrowheads="1"/>
            </p:cNvSpPr>
            <p:nvPr/>
          </p:nvSpPr>
          <p:spPr bwMode="auto">
            <a:xfrm>
              <a:off x="562" y="2468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$100,001</a:t>
              </a:r>
            </a:p>
          </p:txBody>
        </p:sp>
        <p:sp>
          <p:nvSpPr>
            <p:cNvPr id="22548" name="Rectangle 17"/>
            <p:cNvSpPr>
              <a:spLocks noChangeArrowheads="1"/>
            </p:cNvSpPr>
            <p:nvPr/>
          </p:nvSpPr>
          <p:spPr bwMode="auto">
            <a:xfrm>
              <a:off x="556" y="2756"/>
              <a:ext cx="71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$100,000</a:t>
              </a:r>
            </a:p>
          </p:txBody>
        </p:sp>
        <p:sp>
          <p:nvSpPr>
            <p:cNvPr id="22549" name="Rectangle 18"/>
            <p:cNvSpPr>
              <a:spLocks noChangeArrowheads="1"/>
            </p:cNvSpPr>
            <p:nvPr/>
          </p:nvSpPr>
          <p:spPr bwMode="auto">
            <a:xfrm>
              <a:off x="864" y="3236"/>
              <a:ext cx="27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r"/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$0</a:t>
              </a:r>
            </a:p>
          </p:txBody>
        </p:sp>
        <p:sp>
          <p:nvSpPr>
            <p:cNvPr id="22550" name="Line 19"/>
            <p:cNvSpPr>
              <a:spLocks noChangeShapeType="1"/>
            </p:cNvSpPr>
            <p:nvPr/>
          </p:nvSpPr>
          <p:spPr bwMode="auto">
            <a:xfrm>
              <a:off x="792" y="20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20"/>
            <p:cNvSpPr>
              <a:spLocks noChangeShapeType="1"/>
            </p:cNvSpPr>
            <p:nvPr/>
          </p:nvSpPr>
          <p:spPr bwMode="auto">
            <a:xfrm>
              <a:off x="792" y="270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13" name="Group 21"/>
          <p:cNvGrpSpPr>
            <a:grpSpLocks/>
          </p:cNvGrpSpPr>
          <p:nvPr/>
        </p:nvGrpSpPr>
        <p:grpSpPr bwMode="auto">
          <a:xfrm>
            <a:off x="2198688" y="2940050"/>
            <a:ext cx="1763712" cy="1462088"/>
            <a:chOff x="1385" y="1852"/>
            <a:chExt cx="1111" cy="921"/>
          </a:xfrm>
        </p:grpSpPr>
        <p:pic>
          <p:nvPicPr>
            <p:cNvPr id="22543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1852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4" name="Text Box 23"/>
            <p:cNvSpPr txBox="1">
              <a:spLocks noChangeAspect="1" noChangeArrowheads="1"/>
            </p:cNvSpPr>
            <p:nvPr/>
          </p:nvSpPr>
          <p:spPr bwMode="auto">
            <a:xfrm>
              <a:off x="1441" y="2294"/>
              <a:ext cx="7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 FUND</a:t>
              </a:r>
            </a:p>
          </p:txBody>
        </p:sp>
      </p:grpSp>
      <p:grpSp>
        <p:nvGrpSpPr>
          <p:cNvPr id="8216" name="Group 24"/>
          <p:cNvGrpSpPr>
            <a:grpSpLocks/>
          </p:cNvGrpSpPr>
          <p:nvPr/>
        </p:nvGrpSpPr>
        <p:grpSpPr bwMode="auto">
          <a:xfrm>
            <a:off x="2198688" y="1704975"/>
            <a:ext cx="1763712" cy="1462088"/>
            <a:chOff x="1385" y="1074"/>
            <a:chExt cx="1111" cy="921"/>
          </a:xfrm>
        </p:grpSpPr>
        <p:pic>
          <p:nvPicPr>
            <p:cNvPr id="22541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1074"/>
              <a:ext cx="111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2" name="Text Box 26"/>
            <p:cNvSpPr txBox="1">
              <a:spLocks noChangeAspect="1" noChangeArrowheads="1"/>
            </p:cNvSpPr>
            <p:nvPr/>
          </p:nvSpPr>
          <p:spPr bwMode="auto">
            <a:xfrm>
              <a:off x="1441" y="1515"/>
              <a:ext cx="77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DA2B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05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 anchor="ctr">
              <a:spAutoFit/>
            </a:bodyPr>
            <a:lstStyle>
              <a:lvl1pPr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1B365D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Reins.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9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autoUpdateAnimBg="0"/>
      <p:bldP spid="8201" grpId="0" animBg="1" autoUpdateAnimBg="0"/>
      <p:bldP spid="8202" grpId="0" animBg="1" autoUpdateAnimBg="0"/>
      <p:bldP spid="8203" grpId="0" autoUpdateAnimBg="0"/>
      <p:bldP spid="820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4"/>
          <p:cNvSpPr>
            <a:spLocks noChangeAspect="1" noChangeArrowheads="1"/>
          </p:cNvSpPr>
          <p:nvPr/>
        </p:nvSpPr>
        <p:spPr bwMode="auto">
          <a:xfrm>
            <a:off x="609600" y="2163763"/>
            <a:ext cx="1862138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t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$600,000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Premium Paid</a:t>
            </a:r>
          </a:p>
          <a:p>
            <a:pPr algn="ctr"/>
            <a:endParaRPr lang="en-US" altLang="en-US" sz="1800">
              <a:solidFill>
                <a:schemeClr val="bg1"/>
              </a:solidFill>
            </a:endParaRP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A Fund Claims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Exceed A Fund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Contributions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by $150,000</a:t>
            </a:r>
          </a:p>
        </p:txBody>
      </p:sp>
      <p:sp>
        <p:nvSpPr>
          <p:cNvPr id="23556" name="Rectangle 5"/>
          <p:cNvSpPr>
            <a:spLocks noChangeAspect="1" noChangeArrowheads="1"/>
          </p:cNvSpPr>
          <p:nvPr/>
        </p:nvSpPr>
        <p:spPr bwMode="auto">
          <a:xfrm>
            <a:off x="609600" y="1828800"/>
            <a:ext cx="1844675" cy="334963"/>
          </a:xfrm>
          <a:prstGeom prst="rect">
            <a:avLst/>
          </a:prstGeom>
          <a:solidFill>
            <a:srgbClr val="1B365D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YEAR 1</a:t>
            </a:r>
          </a:p>
        </p:txBody>
      </p:sp>
      <p:pic>
        <p:nvPicPr>
          <p:cNvPr id="2355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63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Rectangle 8"/>
          <p:cNvSpPr>
            <a:spLocks noChangeAspect="1" noChangeArrowheads="1"/>
          </p:cNvSpPr>
          <p:nvPr/>
        </p:nvSpPr>
        <p:spPr bwMode="auto">
          <a:xfrm>
            <a:off x="2620963" y="2163763"/>
            <a:ext cx="1862137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t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50% of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Experience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Adjustment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(Paid Quarterly)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$150,000</a:t>
            </a:r>
          </a:p>
          <a:p>
            <a:pPr algn="ctr"/>
            <a:r>
              <a:rPr lang="en-US" altLang="en-US" sz="1800" u="sng" dirty="0">
                <a:solidFill>
                  <a:schemeClr val="bg1"/>
                </a:solidFill>
              </a:rPr>
              <a:t>-75,000</a:t>
            </a:r>
            <a:endParaRPr lang="en-US" altLang="en-US" sz="1800" dirty="0">
              <a:solidFill>
                <a:schemeClr val="bg1"/>
              </a:solidFill>
            </a:endParaRP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$75,000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(Remaining</a:t>
            </a:r>
          </a:p>
          <a:p>
            <a:pPr algn="ctr"/>
            <a:r>
              <a:rPr lang="en-US" altLang="en-US" sz="1800" dirty="0">
                <a:solidFill>
                  <a:schemeClr val="bg1"/>
                </a:solidFill>
              </a:rPr>
              <a:t>Balance)</a:t>
            </a:r>
          </a:p>
        </p:txBody>
      </p:sp>
      <p:sp>
        <p:nvSpPr>
          <p:cNvPr id="23559" name="Rectangle 9"/>
          <p:cNvSpPr>
            <a:spLocks noChangeAspect="1" noChangeArrowheads="1"/>
          </p:cNvSpPr>
          <p:nvPr/>
        </p:nvSpPr>
        <p:spPr bwMode="auto">
          <a:xfrm>
            <a:off x="2620963" y="1828800"/>
            <a:ext cx="1844675" cy="334963"/>
          </a:xfrm>
          <a:prstGeom prst="rect">
            <a:avLst/>
          </a:prstGeom>
          <a:solidFill>
            <a:srgbClr val="1B365D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YEAR 2</a:t>
            </a:r>
          </a:p>
        </p:txBody>
      </p:sp>
      <p:pic>
        <p:nvPicPr>
          <p:cNvPr id="2356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0" y="2163763"/>
            <a:ext cx="1860550" cy="3521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Rectangle 12"/>
          <p:cNvSpPr>
            <a:spLocks noChangeAspect="1" noChangeArrowheads="1"/>
          </p:cNvSpPr>
          <p:nvPr/>
        </p:nvSpPr>
        <p:spPr bwMode="auto">
          <a:xfrm>
            <a:off x="4616450" y="2163763"/>
            <a:ext cx="1862138" cy="3489325"/>
          </a:xfrm>
          <a:prstGeom prst="rect">
            <a:avLst/>
          </a:prstGeom>
          <a:solidFill>
            <a:schemeClr val="tx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t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80% of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Experience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Adjustment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Due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(Paid Quarterly)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$100,000</a:t>
            </a:r>
          </a:p>
          <a:p>
            <a:pPr algn="ctr"/>
            <a:r>
              <a:rPr lang="en-US" altLang="en-US" sz="1800" u="sng">
                <a:solidFill>
                  <a:schemeClr val="bg1"/>
                </a:solidFill>
              </a:rPr>
              <a:t>-45,000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$30,000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(Remaining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</a:rPr>
              <a:t>Balance)</a:t>
            </a:r>
          </a:p>
        </p:txBody>
      </p:sp>
      <p:sp>
        <p:nvSpPr>
          <p:cNvPr id="23562" name="Rectangle 13"/>
          <p:cNvSpPr>
            <a:spLocks noChangeAspect="1" noChangeArrowheads="1"/>
          </p:cNvSpPr>
          <p:nvPr/>
        </p:nvSpPr>
        <p:spPr bwMode="auto">
          <a:xfrm>
            <a:off x="4616450" y="1828800"/>
            <a:ext cx="1844675" cy="334963"/>
          </a:xfrm>
          <a:prstGeom prst="rect">
            <a:avLst/>
          </a:prstGeom>
          <a:solidFill>
            <a:srgbClr val="1B365D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YEAR 3</a:t>
            </a:r>
          </a:p>
        </p:txBody>
      </p:sp>
      <p:pic>
        <p:nvPicPr>
          <p:cNvPr id="89102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2163763"/>
            <a:ext cx="1860550" cy="3521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03" name="Rectangle 15"/>
          <p:cNvSpPr>
            <a:spLocks noChangeAspect="1" noChangeArrowheads="1"/>
          </p:cNvSpPr>
          <p:nvPr/>
        </p:nvSpPr>
        <p:spPr bwMode="auto">
          <a:xfrm>
            <a:off x="6627813" y="2163763"/>
            <a:ext cx="1862137" cy="348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DA2B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t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chemeClr val="tx1"/>
                </a:solidFill>
              </a:rPr>
              <a:t>100% of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Experience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Adjustment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Due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(Paid Quarterly)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$30,000</a:t>
            </a:r>
          </a:p>
          <a:p>
            <a:pPr algn="ctr"/>
            <a:r>
              <a:rPr lang="en-US" altLang="en-US" sz="1800" u="sng">
                <a:solidFill>
                  <a:schemeClr val="tx1"/>
                </a:solidFill>
              </a:rPr>
              <a:t>-30,000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(Remaining</a:t>
            </a:r>
          </a:p>
          <a:p>
            <a:pPr algn="ctr"/>
            <a:r>
              <a:rPr lang="en-US" altLang="en-US" sz="1800">
                <a:solidFill>
                  <a:schemeClr val="tx1"/>
                </a:solidFill>
              </a:rPr>
              <a:t>Balance)</a:t>
            </a:r>
          </a:p>
        </p:txBody>
      </p:sp>
      <p:sp>
        <p:nvSpPr>
          <p:cNvPr id="89104" name="Rectangle 16"/>
          <p:cNvSpPr>
            <a:spLocks noChangeAspect="1" noChangeArrowheads="1"/>
          </p:cNvSpPr>
          <p:nvPr/>
        </p:nvSpPr>
        <p:spPr bwMode="auto">
          <a:xfrm>
            <a:off x="6627813" y="1828800"/>
            <a:ext cx="1844675" cy="334963"/>
          </a:xfrm>
          <a:prstGeom prst="rect">
            <a:avLst/>
          </a:prstGeom>
          <a:solidFill>
            <a:srgbClr val="F5C542"/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solidFill>
                  <a:srgbClr val="1B365D"/>
                </a:solidFill>
              </a:rPr>
              <a:t>YEAR 4</a:t>
            </a:r>
          </a:p>
        </p:txBody>
      </p:sp>
      <p:sp>
        <p:nvSpPr>
          <p:cNvPr id="23566" name="Rectangle 21"/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1B365D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en-US" altLang="en-US" sz="4500" b="0" i="1">
                <a:solidFill>
                  <a:schemeClr val="tx1"/>
                </a:solidFill>
              </a:rPr>
              <a:t>Experience Adjustment Schedule</a:t>
            </a:r>
          </a:p>
        </p:txBody>
      </p:sp>
      <p:sp>
        <p:nvSpPr>
          <p:cNvPr id="23567" name="Line 22"/>
          <p:cNvSpPr>
            <a:spLocks noChangeShapeType="1"/>
          </p:cNvSpPr>
          <p:nvPr/>
        </p:nvSpPr>
        <p:spPr bwMode="auto">
          <a:xfrm>
            <a:off x="762000" y="990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05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4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3" grpId="0" autoUpdateAnimBg="0"/>
      <p:bldP spid="89104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No corporate, capital gains, or income tax.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/>
              <a:t>World's </a:t>
            </a:r>
            <a:r>
              <a:rPr lang="en-US" sz="1800" b="1" dirty="0">
                <a:solidFill>
                  <a:schemeClr val="accent2"/>
                </a:solidFill>
              </a:rPr>
              <a:t>5th-largest financial center</a:t>
            </a:r>
            <a:r>
              <a:rPr lang="en-US" sz="1800" dirty="0"/>
              <a:t> with 220+ banks and a mature infrastructure.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2nd-largest captive domicile</a:t>
            </a:r>
            <a:r>
              <a:rPr lang="en-US" sz="1800" dirty="0"/>
              <a:t> in the world.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/>
              <a:t>Business-friendly regulatory environment.</a:t>
            </a: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/>
              <a:t>Stable political environment with strong legal infrastructure.</a:t>
            </a:r>
          </a:p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rPr lang="en-US" sz="1800" dirty="0"/>
              <a:t>High standard of living for ongoing operations.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78752-CBAD-4919-9765-854D19DDF578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Cayman Islands?</a:t>
            </a:r>
          </a:p>
        </p:txBody>
      </p:sp>
    </p:spTree>
    <p:extLst>
      <p:ext uri="{BB962C8B-B14F-4D97-AF65-F5344CB8AC3E}">
        <p14:creationId xmlns:p14="http://schemas.microsoft.com/office/powerpoint/2010/main" val="1711495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 [1777470152509]">
  <a:themeElements>
    <a:clrScheme name="Concourse">
      <a:dk1>
        <a:srgbClr val="1B365D"/>
      </a:dk1>
      <a:lt1>
        <a:srgbClr val="FFFFFF"/>
      </a:lt1>
      <a:dk2>
        <a:srgbClr val="0F1F3A"/>
      </a:dk2>
      <a:lt2>
        <a:srgbClr val="F0F4F8"/>
      </a:lt2>
      <a:accent1>
        <a:srgbClr val="1B365D"/>
      </a:accent1>
      <a:accent2>
        <a:srgbClr val="2DA2BF"/>
      </a:accent2>
      <a:accent3>
        <a:srgbClr val="DA1F28"/>
      </a:accent3>
      <a:accent4>
        <a:srgbClr val="EB641B"/>
      </a:accent4>
      <a:accent5>
        <a:srgbClr val="39639D"/>
      </a:accent5>
      <a:accent6>
        <a:srgbClr val="474B78"/>
      </a:accent6>
      <a:hlink>
        <a:srgbClr val="0563C1"/>
      </a:hlink>
      <a:folHlink>
        <a:srgbClr val="954F72"/>
      </a:folHlink>
    </a:clrScheme>
    <a:fontScheme name="Concours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1BEF1E-BB09-494D-B646-9CBCE5B14B7F}">
  <we:reference id="wa200010001" version="1.0.0.0" store="en-US" storeType="OMEX"/>
  <we:alternateReferences>
    <we:reference id="WA200010001" version="1.0.0.0" store="" storeType="OMEX"/>
  </we:alternateReferences>
  <we:properties>
    <we:property name="claude.fileId" value="&quot;c516770a-0186-4a2d-bf3f-0a106fc8a2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13229</TotalTime>
  <Words>1305</Words>
  <Application>Microsoft Office PowerPoint</Application>
  <PresentationFormat>On-screen Show (4:3)</PresentationFormat>
  <Paragraphs>327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Noto Sans</vt:lpstr>
      <vt:lpstr>Times New Roman</vt:lpstr>
      <vt:lpstr>Verdana</vt:lpstr>
      <vt:lpstr>Wingdings 2</vt:lpstr>
      <vt:lpstr>Wingdings 3</vt:lpstr>
      <vt:lpstr>Concourse [1777470152509]</vt:lpstr>
      <vt:lpstr>Captives 101</vt:lpstr>
      <vt:lpstr>What is a Captive?</vt:lpstr>
      <vt:lpstr>Overview of Group Captives</vt:lpstr>
      <vt:lpstr>Benefits of a Group Captive:</vt:lpstr>
      <vt:lpstr>Financial Advantages of a Group Captive:</vt:lpstr>
      <vt:lpstr>Which companies should be considering a Group Captive?</vt:lpstr>
      <vt:lpstr>Types of Captives</vt:lpstr>
      <vt:lpstr>Simple Rating Structure</vt:lpstr>
      <vt:lpstr>Group Captive Categories</vt:lpstr>
      <vt:lpstr>Member’s Obligations &amp; Responsibilities</vt:lpstr>
      <vt:lpstr>Who’s Who</vt:lpstr>
      <vt:lpstr>Specific Excess Insurance</vt:lpstr>
      <vt:lpstr>Group Captive Premium Breakdown</vt:lpstr>
      <vt:lpstr>How Premiums Are Calculated</vt:lpstr>
      <vt:lpstr>PowerPoint Presentation</vt:lpstr>
      <vt:lpstr>Funding Structure</vt:lpstr>
      <vt:lpstr>Yearly Maximum Premium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Cayman Islands?</vt:lpstr>
    </vt:vector>
  </TitlesOfParts>
  <Company>Edgewood Partners Insurance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Captives</dc:title>
  <dc:creator>Jan Zewe</dc:creator>
  <cp:lastModifiedBy>aaron lavespere</cp:lastModifiedBy>
  <cp:revision>86</cp:revision>
  <cp:lastPrinted>2022-10-18T12:05:32Z</cp:lastPrinted>
  <dcterms:created xsi:type="dcterms:W3CDTF">2018-02-18T20:29:21Z</dcterms:created>
  <dcterms:modified xsi:type="dcterms:W3CDTF">2026-04-29T17:48:28Z</dcterms:modified>
</cp:coreProperties>
</file>