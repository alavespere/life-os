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9" r:id="rId3"/>
    <p:sldId id="261" r:id="rId4"/>
    <p:sldId id="258"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46514-AB8C-BD1C-0620-411699EBB3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2543876-E547-1403-644F-A4FE790BAD9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E3F2C59-D3B5-2760-2A44-DAFA20D8071C}"/>
              </a:ext>
            </a:extLst>
          </p:cNvPr>
          <p:cNvSpPr>
            <a:spLocks noGrp="1"/>
          </p:cNvSpPr>
          <p:nvPr>
            <p:ph type="dt" sz="half" idx="10"/>
          </p:nvPr>
        </p:nvSpPr>
        <p:spPr/>
        <p:txBody>
          <a:bodyPr/>
          <a:lstStyle/>
          <a:p>
            <a:fld id="{1E2420D6-EAB3-4B66-A87E-D792F7E94936}" type="datetimeFigureOut">
              <a:rPr lang="en-US" smtClean="0"/>
              <a:t>12/17/2022</a:t>
            </a:fld>
            <a:endParaRPr lang="en-US"/>
          </a:p>
        </p:txBody>
      </p:sp>
      <p:sp>
        <p:nvSpPr>
          <p:cNvPr id="5" name="Footer Placeholder 4">
            <a:extLst>
              <a:ext uri="{FF2B5EF4-FFF2-40B4-BE49-F238E27FC236}">
                <a16:creationId xmlns:a16="http://schemas.microsoft.com/office/drawing/2014/main" id="{004A397E-B93D-4E0F-60E8-A52369AE3C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C33352-2ECA-A37D-137B-F1B988F5D65F}"/>
              </a:ext>
            </a:extLst>
          </p:cNvPr>
          <p:cNvSpPr>
            <a:spLocks noGrp="1"/>
          </p:cNvSpPr>
          <p:nvPr>
            <p:ph type="sldNum" sz="quarter" idx="12"/>
          </p:nvPr>
        </p:nvSpPr>
        <p:spPr/>
        <p:txBody>
          <a:bodyPr/>
          <a:lstStyle/>
          <a:p>
            <a:fld id="{11A7A117-6245-4577-A370-63B21419AEBA}" type="slidenum">
              <a:rPr lang="en-US" smtClean="0"/>
              <a:t>‹#›</a:t>
            </a:fld>
            <a:endParaRPr lang="en-US"/>
          </a:p>
        </p:txBody>
      </p:sp>
    </p:spTree>
    <p:extLst>
      <p:ext uri="{BB962C8B-B14F-4D97-AF65-F5344CB8AC3E}">
        <p14:creationId xmlns:p14="http://schemas.microsoft.com/office/powerpoint/2010/main" val="3909071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D36210-1839-EA2B-E265-38305E8F644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7A2DD56-B438-49DA-093C-8D75385A563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D5AE0A-8FC8-9DB1-99CC-C2A9A9E0A3E0}"/>
              </a:ext>
            </a:extLst>
          </p:cNvPr>
          <p:cNvSpPr>
            <a:spLocks noGrp="1"/>
          </p:cNvSpPr>
          <p:nvPr>
            <p:ph type="dt" sz="half" idx="10"/>
          </p:nvPr>
        </p:nvSpPr>
        <p:spPr/>
        <p:txBody>
          <a:bodyPr/>
          <a:lstStyle/>
          <a:p>
            <a:fld id="{1E2420D6-EAB3-4B66-A87E-D792F7E94936}" type="datetimeFigureOut">
              <a:rPr lang="en-US" smtClean="0"/>
              <a:t>12/17/2022</a:t>
            </a:fld>
            <a:endParaRPr lang="en-US"/>
          </a:p>
        </p:txBody>
      </p:sp>
      <p:sp>
        <p:nvSpPr>
          <p:cNvPr id="5" name="Footer Placeholder 4">
            <a:extLst>
              <a:ext uri="{FF2B5EF4-FFF2-40B4-BE49-F238E27FC236}">
                <a16:creationId xmlns:a16="http://schemas.microsoft.com/office/drawing/2014/main" id="{6858314D-BD17-66FF-92E9-15909F9C2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FB2C95-CBE6-0656-FE73-2CD1EFDE921F}"/>
              </a:ext>
            </a:extLst>
          </p:cNvPr>
          <p:cNvSpPr>
            <a:spLocks noGrp="1"/>
          </p:cNvSpPr>
          <p:nvPr>
            <p:ph type="sldNum" sz="quarter" idx="12"/>
          </p:nvPr>
        </p:nvSpPr>
        <p:spPr/>
        <p:txBody>
          <a:bodyPr/>
          <a:lstStyle/>
          <a:p>
            <a:fld id="{11A7A117-6245-4577-A370-63B21419AEBA}" type="slidenum">
              <a:rPr lang="en-US" smtClean="0"/>
              <a:t>‹#›</a:t>
            </a:fld>
            <a:endParaRPr lang="en-US"/>
          </a:p>
        </p:txBody>
      </p:sp>
    </p:spTree>
    <p:extLst>
      <p:ext uri="{BB962C8B-B14F-4D97-AF65-F5344CB8AC3E}">
        <p14:creationId xmlns:p14="http://schemas.microsoft.com/office/powerpoint/2010/main" val="6718752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267DA-AA54-3363-B029-A6D87218D3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E6A5217-6849-0A06-D74D-8D339590471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A373769-836C-D538-658F-397E4FEFE468}"/>
              </a:ext>
            </a:extLst>
          </p:cNvPr>
          <p:cNvSpPr>
            <a:spLocks noGrp="1"/>
          </p:cNvSpPr>
          <p:nvPr>
            <p:ph type="dt" sz="half" idx="10"/>
          </p:nvPr>
        </p:nvSpPr>
        <p:spPr/>
        <p:txBody>
          <a:bodyPr/>
          <a:lstStyle/>
          <a:p>
            <a:fld id="{1E2420D6-EAB3-4B66-A87E-D792F7E94936}" type="datetimeFigureOut">
              <a:rPr lang="en-US" smtClean="0"/>
              <a:t>12/17/2022</a:t>
            </a:fld>
            <a:endParaRPr lang="en-US"/>
          </a:p>
        </p:txBody>
      </p:sp>
      <p:sp>
        <p:nvSpPr>
          <p:cNvPr id="5" name="Footer Placeholder 4">
            <a:extLst>
              <a:ext uri="{FF2B5EF4-FFF2-40B4-BE49-F238E27FC236}">
                <a16:creationId xmlns:a16="http://schemas.microsoft.com/office/drawing/2014/main" id="{B1EAC2F2-49B2-8D34-A0DD-DECC4873F6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3A24E75-03E6-1B85-F9F4-68E70B7A7DAE}"/>
              </a:ext>
            </a:extLst>
          </p:cNvPr>
          <p:cNvSpPr>
            <a:spLocks noGrp="1"/>
          </p:cNvSpPr>
          <p:nvPr>
            <p:ph type="sldNum" sz="quarter" idx="12"/>
          </p:nvPr>
        </p:nvSpPr>
        <p:spPr/>
        <p:txBody>
          <a:bodyPr/>
          <a:lstStyle/>
          <a:p>
            <a:fld id="{11A7A117-6245-4577-A370-63B21419AEBA}" type="slidenum">
              <a:rPr lang="en-US" smtClean="0"/>
              <a:t>‹#›</a:t>
            </a:fld>
            <a:endParaRPr lang="en-US"/>
          </a:p>
        </p:txBody>
      </p:sp>
    </p:spTree>
    <p:extLst>
      <p:ext uri="{BB962C8B-B14F-4D97-AF65-F5344CB8AC3E}">
        <p14:creationId xmlns:p14="http://schemas.microsoft.com/office/powerpoint/2010/main" val="2296792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A25758-DAE8-EB2D-B57B-DE140E0D90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249394-AADE-A30D-986F-E8BBE84C933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DED48B-DEEF-E59F-67AF-D9B55859942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0C5FE4A-7B13-790C-AB12-B12BB9BD3B60}"/>
              </a:ext>
            </a:extLst>
          </p:cNvPr>
          <p:cNvSpPr>
            <a:spLocks noGrp="1"/>
          </p:cNvSpPr>
          <p:nvPr>
            <p:ph type="dt" sz="half" idx="10"/>
          </p:nvPr>
        </p:nvSpPr>
        <p:spPr/>
        <p:txBody>
          <a:bodyPr/>
          <a:lstStyle/>
          <a:p>
            <a:fld id="{1E2420D6-EAB3-4B66-A87E-D792F7E94936}" type="datetimeFigureOut">
              <a:rPr lang="en-US" smtClean="0"/>
              <a:t>12/17/2022</a:t>
            </a:fld>
            <a:endParaRPr lang="en-US"/>
          </a:p>
        </p:txBody>
      </p:sp>
      <p:sp>
        <p:nvSpPr>
          <p:cNvPr id="6" name="Footer Placeholder 5">
            <a:extLst>
              <a:ext uri="{FF2B5EF4-FFF2-40B4-BE49-F238E27FC236}">
                <a16:creationId xmlns:a16="http://schemas.microsoft.com/office/drawing/2014/main" id="{0B18EBAB-EE03-64AF-FB86-4E2469A76F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487F469-37C8-153A-51F6-0BA362D10069}"/>
              </a:ext>
            </a:extLst>
          </p:cNvPr>
          <p:cNvSpPr>
            <a:spLocks noGrp="1"/>
          </p:cNvSpPr>
          <p:nvPr>
            <p:ph type="sldNum" sz="quarter" idx="12"/>
          </p:nvPr>
        </p:nvSpPr>
        <p:spPr/>
        <p:txBody>
          <a:bodyPr/>
          <a:lstStyle/>
          <a:p>
            <a:fld id="{11A7A117-6245-4577-A370-63B21419AEBA}" type="slidenum">
              <a:rPr lang="en-US" smtClean="0"/>
              <a:t>‹#›</a:t>
            </a:fld>
            <a:endParaRPr lang="en-US"/>
          </a:p>
        </p:txBody>
      </p:sp>
    </p:spTree>
    <p:extLst>
      <p:ext uri="{BB962C8B-B14F-4D97-AF65-F5344CB8AC3E}">
        <p14:creationId xmlns:p14="http://schemas.microsoft.com/office/powerpoint/2010/main" val="37167975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F424C-3D65-32B5-8AD4-A28D6C665F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7D916CC-FBF5-57A6-BC57-5139921311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244FBD-DA3B-C2E9-52D6-7D7B6224B31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B2A4FD4-CD94-D83A-2BB1-DEBC6BC78AB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505868-AB84-C1DB-A3BA-2E2F4F62A8A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88A7ABC-35FB-9FEF-2391-11A8A4B88956}"/>
              </a:ext>
            </a:extLst>
          </p:cNvPr>
          <p:cNvSpPr>
            <a:spLocks noGrp="1"/>
          </p:cNvSpPr>
          <p:nvPr>
            <p:ph type="dt" sz="half" idx="10"/>
          </p:nvPr>
        </p:nvSpPr>
        <p:spPr/>
        <p:txBody>
          <a:bodyPr/>
          <a:lstStyle/>
          <a:p>
            <a:fld id="{1E2420D6-EAB3-4B66-A87E-D792F7E94936}" type="datetimeFigureOut">
              <a:rPr lang="en-US" smtClean="0"/>
              <a:t>12/17/2022</a:t>
            </a:fld>
            <a:endParaRPr lang="en-US"/>
          </a:p>
        </p:txBody>
      </p:sp>
      <p:sp>
        <p:nvSpPr>
          <p:cNvPr id="8" name="Footer Placeholder 7">
            <a:extLst>
              <a:ext uri="{FF2B5EF4-FFF2-40B4-BE49-F238E27FC236}">
                <a16:creationId xmlns:a16="http://schemas.microsoft.com/office/drawing/2014/main" id="{AA9F8DCE-C1F6-CAB4-997D-616018C880A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E343DBC-5C04-35CA-07A7-22902090275E}"/>
              </a:ext>
            </a:extLst>
          </p:cNvPr>
          <p:cNvSpPr>
            <a:spLocks noGrp="1"/>
          </p:cNvSpPr>
          <p:nvPr>
            <p:ph type="sldNum" sz="quarter" idx="12"/>
          </p:nvPr>
        </p:nvSpPr>
        <p:spPr/>
        <p:txBody>
          <a:bodyPr/>
          <a:lstStyle/>
          <a:p>
            <a:fld id="{11A7A117-6245-4577-A370-63B21419AEBA}" type="slidenum">
              <a:rPr lang="en-US" smtClean="0"/>
              <a:t>‹#›</a:t>
            </a:fld>
            <a:endParaRPr lang="en-US"/>
          </a:p>
        </p:txBody>
      </p:sp>
    </p:spTree>
    <p:extLst>
      <p:ext uri="{BB962C8B-B14F-4D97-AF65-F5344CB8AC3E}">
        <p14:creationId xmlns:p14="http://schemas.microsoft.com/office/powerpoint/2010/main" val="21480718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358138-D666-D09F-EB8C-EC2007F726E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3DA2517-71EC-F015-D90B-DDEFB10C8E6A}"/>
              </a:ext>
            </a:extLst>
          </p:cNvPr>
          <p:cNvSpPr>
            <a:spLocks noGrp="1"/>
          </p:cNvSpPr>
          <p:nvPr>
            <p:ph type="dt" sz="half" idx="10"/>
          </p:nvPr>
        </p:nvSpPr>
        <p:spPr/>
        <p:txBody>
          <a:bodyPr/>
          <a:lstStyle/>
          <a:p>
            <a:fld id="{1E2420D6-EAB3-4B66-A87E-D792F7E94936}" type="datetimeFigureOut">
              <a:rPr lang="en-US" smtClean="0"/>
              <a:t>12/17/2022</a:t>
            </a:fld>
            <a:endParaRPr lang="en-US"/>
          </a:p>
        </p:txBody>
      </p:sp>
      <p:sp>
        <p:nvSpPr>
          <p:cNvPr id="4" name="Footer Placeholder 3">
            <a:extLst>
              <a:ext uri="{FF2B5EF4-FFF2-40B4-BE49-F238E27FC236}">
                <a16:creationId xmlns:a16="http://schemas.microsoft.com/office/drawing/2014/main" id="{F94CBCFF-67A4-86AC-EAC9-BB4EB12B51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901D56F-8017-C149-8443-F19130209BE8}"/>
              </a:ext>
            </a:extLst>
          </p:cNvPr>
          <p:cNvSpPr>
            <a:spLocks noGrp="1"/>
          </p:cNvSpPr>
          <p:nvPr>
            <p:ph type="sldNum" sz="quarter" idx="12"/>
          </p:nvPr>
        </p:nvSpPr>
        <p:spPr/>
        <p:txBody>
          <a:bodyPr/>
          <a:lstStyle/>
          <a:p>
            <a:fld id="{11A7A117-6245-4577-A370-63B21419AEBA}" type="slidenum">
              <a:rPr lang="en-US" smtClean="0"/>
              <a:t>‹#›</a:t>
            </a:fld>
            <a:endParaRPr lang="en-US"/>
          </a:p>
        </p:txBody>
      </p:sp>
    </p:spTree>
    <p:extLst>
      <p:ext uri="{BB962C8B-B14F-4D97-AF65-F5344CB8AC3E}">
        <p14:creationId xmlns:p14="http://schemas.microsoft.com/office/powerpoint/2010/main" val="18049939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FC804D-FC62-9EF0-23DD-71AD58B2AC92}"/>
              </a:ext>
            </a:extLst>
          </p:cNvPr>
          <p:cNvSpPr>
            <a:spLocks noGrp="1"/>
          </p:cNvSpPr>
          <p:nvPr>
            <p:ph type="dt" sz="half" idx="10"/>
          </p:nvPr>
        </p:nvSpPr>
        <p:spPr/>
        <p:txBody>
          <a:bodyPr/>
          <a:lstStyle/>
          <a:p>
            <a:fld id="{1E2420D6-EAB3-4B66-A87E-D792F7E94936}" type="datetimeFigureOut">
              <a:rPr lang="en-US" smtClean="0"/>
              <a:t>12/17/2022</a:t>
            </a:fld>
            <a:endParaRPr lang="en-US"/>
          </a:p>
        </p:txBody>
      </p:sp>
      <p:sp>
        <p:nvSpPr>
          <p:cNvPr id="3" name="Footer Placeholder 2">
            <a:extLst>
              <a:ext uri="{FF2B5EF4-FFF2-40B4-BE49-F238E27FC236}">
                <a16:creationId xmlns:a16="http://schemas.microsoft.com/office/drawing/2014/main" id="{BD301B8E-418F-09BA-2506-CDE47F7ED15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2D89462-53F9-1BFB-AD45-DD679DFD6DB0}"/>
              </a:ext>
            </a:extLst>
          </p:cNvPr>
          <p:cNvSpPr>
            <a:spLocks noGrp="1"/>
          </p:cNvSpPr>
          <p:nvPr>
            <p:ph type="sldNum" sz="quarter" idx="12"/>
          </p:nvPr>
        </p:nvSpPr>
        <p:spPr/>
        <p:txBody>
          <a:bodyPr/>
          <a:lstStyle/>
          <a:p>
            <a:fld id="{11A7A117-6245-4577-A370-63B21419AEBA}" type="slidenum">
              <a:rPr lang="en-US" smtClean="0"/>
              <a:t>‹#›</a:t>
            </a:fld>
            <a:endParaRPr lang="en-US"/>
          </a:p>
        </p:txBody>
      </p:sp>
    </p:spTree>
    <p:extLst>
      <p:ext uri="{BB962C8B-B14F-4D97-AF65-F5344CB8AC3E}">
        <p14:creationId xmlns:p14="http://schemas.microsoft.com/office/powerpoint/2010/main" val="3968606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AE86D-6439-0F6B-2430-A9FA88FCB2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688BC36-B13D-5C9E-48D9-DAB4626431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550EC88-5BA9-2FF6-804C-128229A82F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B68929-C2C6-E9CC-0CBA-DF37AC456D98}"/>
              </a:ext>
            </a:extLst>
          </p:cNvPr>
          <p:cNvSpPr>
            <a:spLocks noGrp="1"/>
          </p:cNvSpPr>
          <p:nvPr>
            <p:ph type="dt" sz="half" idx="10"/>
          </p:nvPr>
        </p:nvSpPr>
        <p:spPr/>
        <p:txBody>
          <a:bodyPr/>
          <a:lstStyle/>
          <a:p>
            <a:fld id="{1E2420D6-EAB3-4B66-A87E-D792F7E94936}" type="datetimeFigureOut">
              <a:rPr lang="en-US" smtClean="0"/>
              <a:t>12/17/2022</a:t>
            </a:fld>
            <a:endParaRPr lang="en-US"/>
          </a:p>
        </p:txBody>
      </p:sp>
      <p:sp>
        <p:nvSpPr>
          <p:cNvPr id="6" name="Footer Placeholder 5">
            <a:extLst>
              <a:ext uri="{FF2B5EF4-FFF2-40B4-BE49-F238E27FC236}">
                <a16:creationId xmlns:a16="http://schemas.microsoft.com/office/drawing/2014/main" id="{2B60C8DF-8A0D-8D8A-CC78-46F6BE89B0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290FBE-248F-434C-F619-688B3080A4AC}"/>
              </a:ext>
            </a:extLst>
          </p:cNvPr>
          <p:cNvSpPr>
            <a:spLocks noGrp="1"/>
          </p:cNvSpPr>
          <p:nvPr>
            <p:ph type="sldNum" sz="quarter" idx="12"/>
          </p:nvPr>
        </p:nvSpPr>
        <p:spPr/>
        <p:txBody>
          <a:bodyPr/>
          <a:lstStyle/>
          <a:p>
            <a:fld id="{11A7A117-6245-4577-A370-63B21419AEBA}" type="slidenum">
              <a:rPr lang="en-US" smtClean="0"/>
              <a:t>‹#›</a:t>
            </a:fld>
            <a:endParaRPr lang="en-US"/>
          </a:p>
        </p:txBody>
      </p:sp>
    </p:spTree>
    <p:extLst>
      <p:ext uri="{BB962C8B-B14F-4D97-AF65-F5344CB8AC3E}">
        <p14:creationId xmlns:p14="http://schemas.microsoft.com/office/powerpoint/2010/main" val="5013482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0EDD6-205F-8E77-5082-16B6DB6233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46B1F52-1158-45FF-8913-E9B9B5DAB85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B236D9E-D3CC-A0F4-F8C1-C0915057D9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66D9718-E2D2-B53A-72C7-B62B574F40BB}"/>
              </a:ext>
            </a:extLst>
          </p:cNvPr>
          <p:cNvSpPr>
            <a:spLocks noGrp="1"/>
          </p:cNvSpPr>
          <p:nvPr>
            <p:ph type="dt" sz="half" idx="10"/>
          </p:nvPr>
        </p:nvSpPr>
        <p:spPr/>
        <p:txBody>
          <a:bodyPr/>
          <a:lstStyle/>
          <a:p>
            <a:fld id="{1E2420D6-EAB3-4B66-A87E-D792F7E94936}" type="datetimeFigureOut">
              <a:rPr lang="en-US" smtClean="0"/>
              <a:t>12/17/2022</a:t>
            </a:fld>
            <a:endParaRPr lang="en-US"/>
          </a:p>
        </p:txBody>
      </p:sp>
      <p:sp>
        <p:nvSpPr>
          <p:cNvPr id="6" name="Footer Placeholder 5">
            <a:extLst>
              <a:ext uri="{FF2B5EF4-FFF2-40B4-BE49-F238E27FC236}">
                <a16:creationId xmlns:a16="http://schemas.microsoft.com/office/drawing/2014/main" id="{5B7822A5-140C-C0D6-1E4F-B27DF66E5E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92FCE4-DC9F-E247-6031-0AC1811FFF78}"/>
              </a:ext>
            </a:extLst>
          </p:cNvPr>
          <p:cNvSpPr>
            <a:spLocks noGrp="1"/>
          </p:cNvSpPr>
          <p:nvPr>
            <p:ph type="sldNum" sz="quarter" idx="12"/>
          </p:nvPr>
        </p:nvSpPr>
        <p:spPr/>
        <p:txBody>
          <a:bodyPr/>
          <a:lstStyle/>
          <a:p>
            <a:fld id="{11A7A117-6245-4577-A370-63B21419AEBA}" type="slidenum">
              <a:rPr lang="en-US" smtClean="0"/>
              <a:t>‹#›</a:t>
            </a:fld>
            <a:endParaRPr lang="en-US"/>
          </a:p>
        </p:txBody>
      </p:sp>
    </p:spTree>
    <p:extLst>
      <p:ext uri="{BB962C8B-B14F-4D97-AF65-F5344CB8AC3E}">
        <p14:creationId xmlns:p14="http://schemas.microsoft.com/office/powerpoint/2010/main" val="33535982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88BD8-E265-3FCE-8D65-96B6E28AF0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37C844E-9163-4DEF-1668-75DBF2F9CC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1EAFDB-B3D8-4C0C-80E3-40F6D0ECB8C8}"/>
              </a:ext>
            </a:extLst>
          </p:cNvPr>
          <p:cNvSpPr>
            <a:spLocks noGrp="1"/>
          </p:cNvSpPr>
          <p:nvPr>
            <p:ph type="dt" sz="half" idx="10"/>
          </p:nvPr>
        </p:nvSpPr>
        <p:spPr/>
        <p:txBody>
          <a:bodyPr/>
          <a:lstStyle/>
          <a:p>
            <a:fld id="{1E2420D6-EAB3-4B66-A87E-D792F7E94936}" type="datetimeFigureOut">
              <a:rPr lang="en-US" smtClean="0"/>
              <a:t>12/17/2022</a:t>
            </a:fld>
            <a:endParaRPr lang="en-US"/>
          </a:p>
        </p:txBody>
      </p:sp>
      <p:sp>
        <p:nvSpPr>
          <p:cNvPr id="5" name="Footer Placeholder 4">
            <a:extLst>
              <a:ext uri="{FF2B5EF4-FFF2-40B4-BE49-F238E27FC236}">
                <a16:creationId xmlns:a16="http://schemas.microsoft.com/office/drawing/2014/main" id="{CAF415EC-09E1-B8F5-A208-8D0E52D478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B9022E-29DC-D97B-6043-07962CD2D9B2}"/>
              </a:ext>
            </a:extLst>
          </p:cNvPr>
          <p:cNvSpPr>
            <a:spLocks noGrp="1"/>
          </p:cNvSpPr>
          <p:nvPr>
            <p:ph type="sldNum" sz="quarter" idx="12"/>
          </p:nvPr>
        </p:nvSpPr>
        <p:spPr/>
        <p:txBody>
          <a:bodyPr/>
          <a:lstStyle/>
          <a:p>
            <a:fld id="{11A7A117-6245-4577-A370-63B21419AEBA}" type="slidenum">
              <a:rPr lang="en-US" smtClean="0"/>
              <a:t>‹#›</a:t>
            </a:fld>
            <a:endParaRPr lang="en-US"/>
          </a:p>
        </p:txBody>
      </p:sp>
    </p:spTree>
    <p:extLst>
      <p:ext uri="{BB962C8B-B14F-4D97-AF65-F5344CB8AC3E}">
        <p14:creationId xmlns:p14="http://schemas.microsoft.com/office/powerpoint/2010/main" val="12444970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05C1E8-F612-D920-D478-174CA66808F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15FE39-01C4-AAB9-3185-F55984329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F31E43-AEC8-3C37-F68F-3EFF109195D3}"/>
              </a:ext>
            </a:extLst>
          </p:cNvPr>
          <p:cNvSpPr>
            <a:spLocks noGrp="1"/>
          </p:cNvSpPr>
          <p:nvPr>
            <p:ph type="dt" sz="half" idx="10"/>
          </p:nvPr>
        </p:nvSpPr>
        <p:spPr/>
        <p:txBody>
          <a:bodyPr/>
          <a:lstStyle/>
          <a:p>
            <a:fld id="{1E2420D6-EAB3-4B66-A87E-D792F7E94936}" type="datetimeFigureOut">
              <a:rPr lang="en-US" smtClean="0"/>
              <a:t>12/17/2022</a:t>
            </a:fld>
            <a:endParaRPr lang="en-US"/>
          </a:p>
        </p:txBody>
      </p:sp>
      <p:sp>
        <p:nvSpPr>
          <p:cNvPr id="5" name="Footer Placeholder 4">
            <a:extLst>
              <a:ext uri="{FF2B5EF4-FFF2-40B4-BE49-F238E27FC236}">
                <a16:creationId xmlns:a16="http://schemas.microsoft.com/office/drawing/2014/main" id="{1A57B8BE-F6AA-8B2F-885A-957FEA3B78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DC5458-D1A2-E3EE-C5A3-40A3077664D1}"/>
              </a:ext>
            </a:extLst>
          </p:cNvPr>
          <p:cNvSpPr>
            <a:spLocks noGrp="1"/>
          </p:cNvSpPr>
          <p:nvPr>
            <p:ph type="sldNum" sz="quarter" idx="12"/>
          </p:nvPr>
        </p:nvSpPr>
        <p:spPr/>
        <p:txBody>
          <a:bodyPr/>
          <a:lstStyle/>
          <a:p>
            <a:fld id="{11A7A117-6245-4577-A370-63B21419AEBA}" type="slidenum">
              <a:rPr lang="en-US" smtClean="0"/>
              <a:t>‹#›</a:t>
            </a:fld>
            <a:endParaRPr lang="en-US"/>
          </a:p>
        </p:txBody>
      </p:sp>
    </p:spTree>
    <p:extLst>
      <p:ext uri="{BB962C8B-B14F-4D97-AF65-F5344CB8AC3E}">
        <p14:creationId xmlns:p14="http://schemas.microsoft.com/office/powerpoint/2010/main" val="2523072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00C31B-27E7-0CA9-28A1-4AAD3EA0F47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ACC93C2-CB0F-F43D-619F-811C51E3117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5DD5AB-A14C-B3A0-B020-1405C559C3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E2420D6-EAB3-4B66-A87E-D792F7E94936}" type="datetimeFigureOut">
              <a:rPr lang="en-US" smtClean="0"/>
              <a:t>12/17/2022</a:t>
            </a:fld>
            <a:endParaRPr lang="en-US"/>
          </a:p>
        </p:txBody>
      </p:sp>
      <p:sp>
        <p:nvSpPr>
          <p:cNvPr id="5" name="Footer Placeholder 4">
            <a:extLst>
              <a:ext uri="{FF2B5EF4-FFF2-40B4-BE49-F238E27FC236}">
                <a16:creationId xmlns:a16="http://schemas.microsoft.com/office/drawing/2014/main" id="{F520E723-D6D0-C1B6-11F1-75FEC32222B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F45E725-1B41-37D6-365D-915691049F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A7A117-6245-4577-A370-63B21419AEBA}" type="slidenum">
              <a:rPr lang="en-US" smtClean="0"/>
              <a:t>‹#›</a:t>
            </a:fld>
            <a:endParaRPr lang="en-US"/>
          </a:p>
        </p:txBody>
      </p:sp>
    </p:spTree>
    <p:extLst>
      <p:ext uri="{BB962C8B-B14F-4D97-AF65-F5344CB8AC3E}">
        <p14:creationId xmlns:p14="http://schemas.microsoft.com/office/powerpoint/2010/main" val="33301014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jpg"/></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F22A-B6D5-0655-57DE-50340B6ACA1A}"/>
              </a:ext>
            </a:extLst>
          </p:cNvPr>
          <p:cNvSpPr>
            <a:spLocks noGrp="1"/>
          </p:cNvSpPr>
          <p:nvPr>
            <p:ph type="title"/>
          </p:nvPr>
        </p:nvSpPr>
        <p:spPr>
          <a:xfrm>
            <a:off x="794215" y="297071"/>
            <a:ext cx="9910894" cy="867089"/>
          </a:xfrm>
        </p:spPr>
        <p:txBody>
          <a:bodyPr>
            <a:normAutofit/>
          </a:bodyPr>
          <a:lstStyle/>
          <a:p>
            <a:r>
              <a:rPr lang="en-US" sz="2800" b="1" dirty="0"/>
              <a:t>Current UES (including acquired entities) loss history</a:t>
            </a:r>
          </a:p>
        </p:txBody>
      </p:sp>
      <p:pic>
        <p:nvPicPr>
          <p:cNvPr id="1028" name="x__x0000_i1052">
            <a:extLst>
              <a:ext uri="{FF2B5EF4-FFF2-40B4-BE49-F238E27FC236}">
                <a16:creationId xmlns:a16="http://schemas.microsoft.com/office/drawing/2014/main" id="{0FC83A54-D359-2963-9940-A691D9E110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4215" y="2431262"/>
            <a:ext cx="10603570" cy="30276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7E969F0E-9141-A9E3-779D-0219F71FCF45}"/>
              </a:ext>
            </a:extLst>
          </p:cNvPr>
          <p:cNvSpPr txBox="1"/>
          <p:nvPr/>
        </p:nvSpPr>
        <p:spPr>
          <a:xfrm>
            <a:off x="555812" y="1209755"/>
            <a:ext cx="10841973" cy="923330"/>
          </a:xfrm>
          <a:prstGeom prst="rect">
            <a:avLst/>
          </a:prstGeom>
          <a:noFill/>
        </p:spPr>
        <p:txBody>
          <a:bodyPr wrap="square" rtlCol="0">
            <a:spAutoFit/>
          </a:bodyPr>
          <a:lstStyle/>
          <a:p>
            <a:pPr marL="285750" indent="-285750">
              <a:buFont typeface="Arial" panose="020B0604020202020204" pitchFamily="34" charset="0"/>
              <a:buChar char="•"/>
            </a:pPr>
            <a:r>
              <a:rPr lang="en-US" dirty="0"/>
              <a:t>Past three years show a continued trend of lower losses</a:t>
            </a:r>
          </a:p>
          <a:p>
            <a:pPr marL="285750" indent="-285750">
              <a:buFont typeface="Arial" panose="020B0604020202020204" pitchFamily="34" charset="0"/>
              <a:buChar char="•"/>
            </a:pPr>
            <a:r>
              <a:rPr lang="en-US" dirty="0"/>
              <a:t>UES is in a good position to take on high reward Captive Program based on loss mitigation efforts</a:t>
            </a:r>
          </a:p>
          <a:p>
            <a:pPr marL="285750" indent="-285750">
              <a:buFont typeface="Arial" panose="020B0604020202020204" pitchFamily="34" charset="0"/>
              <a:buChar char="•"/>
            </a:pPr>
            <a:r>
              <a:rPr lang="en-US" dirty="0"/>
              <a:t>UES has improved RM and Safety efforts: Fleet and new hire safety initiatives, training, Geotab implementation</a:t>
            </a:r>
          </a:p>
        </p:txBody>
      </p:sp>
    </p:spTree>
    <p:extLst>
      <p:ext uri="{BB962C8B-B14F-4D97-AF65-F5344CB8AC3E}">
        <p14:creationId xmlns:p14="http://schemas.microsoft.com/office/powerpoint/2010/main" val="664275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F22A-B6D5-0655-57DE-50340B6ACA1A}"/>
              </a:ext>
            </a:extLst>
          </p:cNvPr>
          <p:cNvSpPr>
            <a:spLocks noGrp="1"/>
          </p:cNvSpPr>
          <p:nvPr>
            <p:ph type="title"/>
          </p:nvPr>
        </p:nvSpPr>
        <p:spPr>
          <a:xfrm>
            <a:off x="794215" y="330627"/>
            <a:ext cx="9910894" cy="867089"/>
          </a:xfrm>
        </p:spPr>
        <p:txBody>
          <a:bodyPr>
            <a:normAutofit/>
          </a:bodyPr>
          <a:lstStyle/>
          <a:p>
            <a:r>
              <a:rPr lang="en-US" sz="2800" b="1" dirty="0">
                <a:effectLst/>
                <a:ea typeface="Calibri" panose="020F0502020204030204" pitchFamily="34" charset="0"/>
                <a:cs typeface="Calibri" panose="020F0502020204030204" pitchFamily="34" charset="0"/>
              </a:rPr>
              <a:t>Captive Considerations</a:t>
            </a:r>
            <a:endParaRPr lang="en-US" sz="3600" b="1" dirty="0"/>
          </a:p>
        </p:txBody>
      </p:sp>
      <p:sp>
        <p:nvSpPr>
          <p:cNvPr id="4" name="TextBox 3">
            <a:extLst>
              <a:ext uri="{FF2B5EF4-FFF2-40B4-BE49-F238E27FC236}">
                <a16:creationId xmlns:a16="http://schemas.microsoft.com/office/drawing/2014/main" id="{7E969F0E-9141-A9E3-779D-0219F71FCF45}"/>
              </a:ext>
            </a:extLst>
          </p:cNvPr>
          <p:cNvSpPr txBox="1"/>
          <p:nvPr/>
        </p:nvSpPr>
        <p:spPr>
          <a:xfrm>
            <a:off x="794215" y="1197716"/>
            <a:ext cx="10603570" cy="4955203"/>
          </a:xfrm>
          <a:prstGeom prst="rect">
            <a:avLst/>
          </a:prstGeom>
          <a:noFill/>
        </p:spPr>
        <p:txBody>
          <a:bodyPr wrap="square" rtlCol="0">
            <a:spAutoFit/>
          </a:bodyPr>
          <a:lstStyle/>
          <a:p>
            <a:pPr marL="342900" marR="0" lvl="0" indent="-342900">
              <a:spcBef>
                <a:spcPts val="0"/>
              </a:spcBef>
              <a:spcAft>
                <a:spcPts val="0"/>
              </a:spcAft>
              <a:buSzPts val="1000"/>
              <a:buFont typeface="Symbol" panose="05050102010706020507" pitchFamily="18" charset="2"/>
              <a:buChar char=""/>
              <a:tabLst>
                <a:tab pos="457200" algn="l"/>
              </a:tabLst>
            </a:pPr>
            <a:r>
              <a:rPr lang="en-US" sz="2000" dirty="0">
                <a:effectLst/>
                <a:ea typeface="Times New Roman" panose="02020603050405020304" pitchFamily="18" charset="0"/>
              </a:rPr>
              <a:t>UES’s 22/23 projected ultimate cost for losses within the Everest deductibles is $2.46M with $476k in paid claims and $1.98M in incurred but not reported (IBNR) losses</a:t>
            </a:r>
            <a:endParaRPr lang="en-US" sz="2000" dirty="0">
              <a:effectLst/>
              <a:ea typeface="Calibri" panose="020F050202020403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2000" dirty="0">
                <a:effectLst/>
                <a:ea typeface="Times New Roman" panose="02020603050405020304" pitchFamily="18" charset="0"/>
              </a:rPr>
              <a:t>UES expects the 23/24 loss projections to be around $3.56M based on most recent company claims performance and growth adjustment</a:t>
            </a:r>
            <a:endParaRPr lang="en-US" sz="2000" dirty="0">
              <a:effectLst/>
              <a:ea typeface="Calibri" panose="020F050202020403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2000" dirty="0">
                <a:effectLst/>
                <a:ea typeface="Times New Roman" panose="02020603050405020304" pitchFamily="18" charset="0"/>
              </a:rPr>
              <a:t>If UES joins the Olympus Group Captive and has $3.56M in losses, the savings compared to staying with Everest are ~$2,165,953</a:t>
            </a:r>
            <a:endParaRPr lang="en-US" sz="2000" dirty="0">
              <a:effectLst/>
              <a:ea typeface="Calibri" panose="020F050202020403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2000" dirty="0">
                <a:effectLst/>
                <a:ea typeface="Times New Roman" panose="02020603050405020304" pitchFamily="18" charset="0"/>
              </a:rPr>
              <a:t>If losses turn out to be as expected by the conservative Captive actuaries ($5.1M), UES still saves ~$1,456,273 compared to staying with Everest</a:t>
            </a:r>
            <a:endParaRPr lang="en-US" sz="2000" dirty="0">
              <a:effectLst/>
              <a:ea typeface="Calibri" panose="020F050202020403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2000" dirty="0">
                <a:effectLst/>
                <a:ea typeface="Times New Roman" panose="02020603050405020304" pitchFamily="18" charset="0"/>
              </a:rPr>
              <a:t>Even at the highest projected losses, staying with the Everest program doesn’t make UES better off. Everest’s program has unlimited loss potential for UES (no deductible cap) whereas the Captive has a known maximum cost of $11.7M</a:t>
            </a:r>
          </a:p>
          <a:p>
            <a:pPr marL="342900" marR="0" lvl="0" indent="-342900">
              <a:spcBef>
                <a:spcPts val="0"/>
              </a:spcBef>
              <a:spcAft>
                <a:spcPts val="0"/>
              </a:spcAft>
              <a:buSzPts val="1000"/>
              <a:buFont typeface="Symbol" panose="05050102010706020507" pitchFamily="18" charset="2"/>
              <a:buChar char=""/>
              <a:tabLst>
                <a:tab pos="457200" algn="l"/>
              </a:tabLst>
            </a:pPr>
            <a:r>
              <a:rPr lang="en-US" sz="2000" dirty="0">
                <a:effectLst/>
                <a:ea typeface="Times New Roman" panose="02020603050405020304" pitchFamily="18" charset="0"/>
              </a:rPr>
              <a:t>If UES performs as expected with favorable losses, the Captive future pricing will reflect rate decreases. The Captive prices UES based on its own loss history merits for the past five years. Traditional insurance prices coverage on a book portfolio basis and rate decreases are not realistic in this current insurance hard market environment </a:t>
            </a:r>
            <a:endParaRPr lang="en-US" sz="2000" dirty="0">
              <a:effectLst/>
              <a:ea typeface="Calibri" panose="020F0502020204030204" pitchFamily="34" charset="0"/>
            </a:endParaRPr>
          </a:p>
          <a:p>
            <a:pPr marL="342900" indent="-342900">
              <a:buSzPts val="1000"/>
              <a:buFont typeface="Symbol" panose="05050102010706020507" pitchFamily="18" charset="2"/>
              <a:buChar char=""/>
              <a:tabLst>
                <a:tab pos="457200" algn="l"/>
              </a:tabLst>
            </a:pPr>
            <a:endParaRPr lang="en-US" sz="1600" dirty="0">
              <a:effectLst/>
              <a:ea typeface="Calibri" panose="020F0502020204030204" pitchFamily="34" charset="0"/>
            </a:endParaRPr>
          </a:p>
        </p:txBody>
      </p:sp>
    </p:spTree>
    <p:extLst>
      <p:ext uri="{BB962C8B-B14F-4D97-AF65-F5344CB8AC3E}">
        <p14:creationId xmlns:p14="http://schemas.microsoft.com/office/powerpoint/2010/main" val="250305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F92AD53-9612-7AEA-7FB4-EFF2AB696F24}"/>
              </a:ext>
            </a:extLst>
          </p:cNvPr>
          <p:cNvSpPr txBox="1"/>
          <p:nvPr/>
        </p:nvSpPr>
        <p:spPr>
          <a:xfrm>
            <a:off x="838200" y="1331939"/>
            <a:ext cx="10515600" cy="3785652"/>
          </a:xfrm>
          <a:prstGeom prst="rect">
            <a:avLst/>
          </a:prstGeom>
          <a:noFill/>
        </p:spPr>
        <p:txBody>
          <a:bodyPr wrap="square">
            <a:spAutoFit/>
          </a:bodyPr>
          <a:lstStyle/>
          <a:p>
            <a:pPr marL="342900" marR="0" lvl="0" indent="-342900">
              <a:spcBef>
                <a:spcPts val="0"/>
              </a:spcBef>
              <a:spcAft>
                <a:spcPts val="0"/>
              </a:spcAft>
              <a:buSzPts val="1000"/>
              <a:buFont typeface="Symbol" panose="05050102010706020507" pitchFamily="18" charset="2"/>
              <a:buChar char=""/>
              <a:tabLst>
                <a:tab pos="457200" algn="l"/>
              </a:tabLst>
            </a:pPr>
            <a:r>
              <a:rPr lang="en-US" sz="2000" dirty="0">
                <a:effectLst/>
                <a:ea typeface="Times New Roman" panose="02020603050405020304" pitchFamily="18" charset="0"/>
              </a:rPr>
              <a:t>Better claims performance allows UES to generate investment income on unused premiums with returned dividends due in the future, reducing insurance cost at time of recap in 4 to 5 years</a:t>
            </a:r>
            <a:endParaRPr lang="en-US" sz="2000" dirty="0">
              <a:effectLst/>
              <a:ea typeface="Calibri" panose="020F050202020403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2000" dirty="0">
                <a:effectLst/>
                <a:ea typeface="Times New Roman" panose="02020603050405020304" pitchFamily="18" charset="0"/>
              </a:rPr>
              <a:t>Captive typically </a:t>
            </a:r>
            <a:r>
              <a:rPr lang="en-US" sz="2000">
                <a:effectLst/>
                <a:ea typeface="Times New Roman" panose="02020603050405020304" pitchFamily="18" charset="0"/>
              </a:rPr>
              <a:t>close claims </a:t>
            </a:r>
            <a:r>
              <a:rPr lang="en-US" sz="2000" dirty="0">
                <a:effectLst/>
                <a:ea typeface="Times New Roman" panose="02020603050405020304" pitchFamily="18" charset="0"/>
              </a:rPr>
              <a:t>at five years after completion of the policy period. Partial dividend distributions start as early as two to three years depending on Captive performance  </a:t>
            </a:r>
            <a:endParaRPr lang="en-US" sz="2000" dirty="0">
              <a:effectLst/>
              <a:ea typeface="Calibri" panose="020F0502020204030204" pitchFamily="34" charset="0"/>
            </a:endParaRPr>
          </a:p>
          <a:p>
            <a:pPr marL="342900" indent="-342900">
              <a:buSzPts val="1000"/>
              <a:buFont typeface="Symbol" panose="05050102010706020507" pitchFamily="18" charset="2"/>
              <a:buChar char=""/>
              <a:tabLst>
                <a:tab pos="457200" algn="l"/>
              </a:tabLst>
            </a:pPr>
            <a:r>
              <a:rPr lang="en-US" sz="2000" dirty="0">
                <a:effectLst/>
                <a:ea typeface="Times New Roman" panose="02020603050405020304" pitchFamily="18" charset="0"/>
              </a:rPr>
              <a:t>The group captive offer an aggregate maximum for losses within the deductible if losses are much higher than expected. Everest and Liberty do not offer a cap.</a:t>
            </a:r>
          </a:p>
          <a:p>
            <a:pPr marL="342900" indent="-342900">
              <a:buSzPts val="1000"/>
              <a:buFont typeface="Symbol" panose="05050102010706020507" pitchFamily="18" charset="2"/>
              <a:buChar char=""/>
              <a:tabLst>
                <a:tab pos="457200" algn="l"/>
              </a:tabLst>
            </a:pPr>
            <a:r>
              <a:rPr lang="en-US" sz="2000" dirty="0">
                <a:effectLst/>
                <a:ea typeface="Times New Roman" panose="02020603050405020304" pitchFamily="18" charset="0"/>
              </a:rPr>
              <a:t>Captive fixed costs of $2.485M are considerably lower than either Everest renewal option—$4.985M or $4.437M.</a:t>
            </a:r>
          </a:p>
          <a:p>
            <a:pPr marL="342900" indent="-342900">
              <a:buSzPts val="1000"/>
              <a:buFont typeface="Symbol" panose="05050102010706020507" pitchFamily="18" charset="2"/>
              <a:buChar char=""/>
              <a:tabLst>
                <a:tab pos="457200" algn="l"/>
              </a:tabLst>
            </a:pPr>
            <a:r>
              <a:rPr lang="en-US" sz="2000" dirty="0">
                <a:effectLst/>
                <a:ea typeface="Times New Roman" panose="02020603050405020304" pitchFamily="18" charset="0"/>
              </a:rPr>
              <a:t>Pay up-front Captive Collateral requirement: 50% of the unadjusted A fund for 3 years. After that, required collateral is adjusted based on 150% of current A fund against the average past three years posted collateral. Traditional insurance requires collateral every year for open policy terms and the amounts stack up. Refer to exhibits on next slide</a:t>
            </a:r>
          </a:p>
        </p:txBody>
      </p:sp>
      <p:sp>
        <p:nvSpPr>
          <p:cNvPr id="6" name="Title 1">
            <a:extLst>
              <a:ext uri="{FF2B5EF4-FFF2-40B4-BE49-F238E27FC236}">
                <a16:creationId xmlns:a16="http://schemas.microsoft.com/office/drawing/2014/main" id="{B92956B5-DE12-A088-8181-45329C7EED61}"/>
              </a:ext>
            </a:extLst>
          </p:cNvPr>
          <p:cNvSpPr>
            <a:spLocks noGrp="1"/>
          </p:cNvSpPr>
          <p:nvPr>
            <p:ph type="title"/>
          </p:nvPr>
        </p:nvSpPr>
        <p:spPr>
          <a:xfrm>
            <a:off x="838200" y="464850"/>
            <a:ext cx="9910894" cy="867089"/>
          </a:xfrm>
        </p:spPr>
        <p:txBody>
          <a:bodyPr>
            <a:normAutofit/>
          </a:bodyPr>
          <a:lstStyle/>
          <a:p>
            <a:r>
              <a:rPr lang="en-US" sz="2800" b="1" dirty="0">
                <a:effectLst/>
                <a:ea typeface="Calibri" panose="020F0502020204030204" pitchFamily="34" charset="0"/>
                <a:cs typeface="Calibri" panose="020F0502020204030204" pitchFamily="34" charset="0"/>
              </a:rPr>
              <a:t>Captive Considerations (continued) </a:t>
            </a:r>
            <a:endParaRPr lang="en-US" sz="2800" b="1" dirty="0"/>
          </a:p>
        </p:txBody>
      </p:sp>
    </p:spTree>
    <p:extLst>
      <p:ext uri="{BB962C8B-B14F-4D97-AF65-F5344CB8AC3E}">
        <p14:creationId xmlns:p14="http://schemas.microsoft.com/office/powerpoint/2010/main" val="4978168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3F281-65EF-8C79-7F16-F17590467114}"/>
              </a:ext>
            </a:extLst>
          </p:cNvPr>
          <p:cNvSpPr txBox="1">
            <a:spLocks/>
          </p:cNvSpPr>
          <p:nvPr/>
        </p:nvSpPr>
        <p:spPr>
          <a:xfrm>
            <a:off x="794215" y="475101"/>
            <a:ext cx="9910894" cy="867089"/>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b="1" dirty="0">
                <a:effectLst/>
                <a:ea typeface="Calibri" panose="020F0502020204030204" pitchFamily="34" charset="0"/>
                <a:cs typeface="Calibri" panose="020F0502020204030204" pitchFamily="34" charset="0"/>
              </a:rPr>
              <a:t>Captive Considerations (continued) </a:t>
            </a:r>
            <a:endParaRPr lang="en-US" sz="3600" b="1" dirty="0"/>
          </a:p>
        </p:txBody>
      </p:sp>
      <p:pic>
        <p:nvPicPr>
          <p:cNvPr id="2051" name="x_Picture 3">
            <a:extLst>
              <a:ext uri="{FF2B5EF4-FFF2-40B4-BE49-F238E27FC236}">
                <a16:creationId xmlns:a16="http://schemas.microsoft.com/office/drawing/2014/main" id="{CDD465C2-9AD8-662B-6A20-EB37246FC6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58706" y="1810604"/>
            <a:ext cx="4447960" cy="19691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47DAF8E9-7D70-E5E1-D941-15382E7849A9}"/>
              </a:ext>
            </a:extLst>
          </p:cNvPr>
          <p:cNvSpPr txBox="1"/>
          <p:nvPr/>
        </p:nvSpPr>
        <p:spPr>
          <a:xfrm>
            <a:off x="7058705" y="1187523"/>
            <a:ext cx="4447959" cy="646331"/>
          </a:xfrm>
          <a:prstGeom prst="rect">
            <a:avLst/>
          </a:prstGeom>
          <a:noFill/>
        </p:spPr>
        <p:txBody>
          <a:bodyPr wrap="square" rtlCol="0">
            <a:spAutoFit/>
          </a:bodyPr>
          <a:lstStyle/>
          <a:p>
            <a:pPr algn="ctr"/>
            <a:r>
              <a:rPr lang="en-US" dirty="0"/>
              <a:t>Collateral Look Ahead Comparison (illustration purposes)</a:t>
            </a:r>
          </a:p>
        </p:txBody>
      </p:sp>
      <p:pic>
        <p:nvPicPr>
          <p:cNvPr id="2052" name="x_Picture 4">
            <a:extLst>
              <a:ext uri="{FF2B5EF4-FFF2-40B4-BE49-F238E27FC236}">
                <a16:creationId xmlns:a16="http://schemas.microsoft.com/office/drawing/2014/main" id="{D5001DDC-636C-4D88-2670-69B89ABC4D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8705" y="4104467"/>
            <a:ext cx="4692829" cy="5967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7" descr="Table&#10;&#10;Description automatically generated">
            <a:extLst>
              <a:ext uri="{FF2B5EF4-FFF2-40B4-BE49-F238E27FC236}">
                <a16:creationId xmlns:a16="http://schemas.microsoft.com/office/drawing/2014/main" id="{9DC8E0BA-7B1F-7EA6-6E52-2CE7C1B8BE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639" y="1249911"/>
            <a:ext cx="5522100" cy="4803388"/>
          </a:xfrm>
          <a:prstGeom prst="rect">
            <a:avLst/>
          </a:prstGeom>
        </p:spPr>
      </p:pic>
    </p:spTree>
    <p:extLst>
      <p:ext uri="{BB962C8B-B14F-4D97-AF65-F5344CB8AC3E}">
        <p14:creationId xmlns:p14="http://schemas.microsoft.com/office/powerpoint/2010/main" val="2761539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x_Picture 1">
            <a:extLst>
              <a:ext uri="{FF2B5EF4-FFF2-40B4-BE49-F238E27FC236}">
                <a16:creationId xmlns:a16="http://schemas.microsoft.com/office/drawing/2014/main" id="{B9471C3E-04D1-AD70-E2CA-CA7A011744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33312" y="1283467"/>
            <a:ext cx="9725375" cy="5257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a:extLst>
              <a:ext uri="{FF2B5EF4-FFF2-40B4-BE49-F238E27FC236}">
                <a16:creationId xmlns:a16="http://schemas.microsoft.com/office/drawing/2014/main" id="{1209C351-77A7-9F37-96B1-C949D96E5680}"/>
              </a:ext>
            </a:extLst>
          </p:cNvPr>
          <p:cNvSpPr txBox="1">
            <a:spLocks/>
          </p:cNvSpPr>
          <p:nvPr/>
        </p:nvSpPr>
        <p:spPr>
          <a:xfrm>
            <a:off x="794215" y="416378"/>
            <a:ext cx="9910894" cy="867089"/>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b="1" dirty="0">
                <a:effectLst/>
                <a:latin typeface="Calibri Light (Headings)"/>
                <a:ea typeface="Calibri" panose="020F0502020204030204" pitchFamily="34" charset="0"/>
                <a:cs typeface="Calibri" panose="020F0502020204030204" pitchFamily="34" charset="0"/>
              </a:rPr>
              <a:t>23/24 Renewal Overall Options for General Liability, Workers Compensation, and Auto Liability</a:t>
            </a:r>
            <a:endParaRPr lang="en-US" b="1" dirty="0">
              <a:latin typeface="Calibri Light (Headings)"/>
            </a:endParaRPr>
          </a:p>
        </p:txBody>
      </p:sp>
    </p:spTree>
    <p:extLst>
      <p:ext uri="{BB962C8B-B14F-4D97-AF65-F5344CB8AC3E}">
        <p14:creationId xmlns:p14="http://schemas.microsoft.com/office/powerpoint/2010/main" val="41555813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TotalTime>
  <Words>465</Words>
  <Application>Microsoft Office PowerPoint</Application>
  <PresentationFormat>Widescreen</PresentationFormat>
  <Paragraphs>20</Paragraphs>
  <Slides>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Calibri Light (Headings)</vt:lpstr>
      <vt:lpstr>Symbol</vt:lpstr>
      <vt:lpstr>Office Theme</vt:lpstr>
      <vt:lpstr>Current UES (including acquired entities) loss history</vt:lpstr>
      <vt:lpstr>Captive Considerations</vt:lpstr>
      <vt:lpstr>Captive Considerations (continued) </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Current UES combined Loss History</dc:title>
  <dc:creator>Aaron Lavespere</dc:creator>
  <cp:lastModifiedBy>Aaron Lavespere</cp:lastModifiedBy>
  <cp:revision>6</cp:revision>
  <dcterms:created xsi:type="dcterms:W3CDTF">2022-12-14T19:54:38Z</dcterms:created>
  <dcterms:modified xsi:type="dcterms:W3CDTF">2022-12-17T15:49:19Z</dcterms:modified>
</cp:coreProperties>
</file>